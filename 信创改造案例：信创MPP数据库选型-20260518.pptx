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5"/>
  </p:handoutMasterIdLst>
  <p:sldIdLst>
    <p:sldId id="14997885" r:id="rId3"/>
    <p:sldId id="14999106" r:id="rId5"/>
    <p:sldId id="14999105" r:id="rId6"/>
    <p:sldId id="14999036" r:id="rId7"/>
    <p:sldId id="14999134" r:id="rId8"/>
    <p:sldId id="14999140" r:id="rId9"/>
    <p:sldId id="14999138" r:id="rId10"/>
    <p:sldId id="14999139" r:id="rId11"/>
    <p:sldId id="14999133" r:id="rId12"/>
    <p:sldId id="14999135" r:id="rId13"/>
    <p:sldId id="14999089" r:id="rId14"/>
    <p:sldId id="14999033" r:id="rId15"/>
    <p:sldId id="14999034" r:id="rId16"/>
    <p:sldId id="291" r:id="rId17"/>
    <p:sldId id="14999137" r:id="rId18"/>
    <p:sldId id="14999136" r:id="rId19"/>
    <p:sldId id="14999128" r:id="rId20"/>
    <p:sldId id="14999130" r:id="rId21"/>
    <p:sldId id="14999107" r:id="rId22"/>
    <p:sldId id="14999123" r:id="rId23"/>
    <p:sldId id="14999118" r:id="rId24"/>
  </p:sldIdLst>
  <p:sldSz cx="10160000" cy="5715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4" userDrawn="1">
          <p15:clr>
            <a:srgbClr val="A4A3A4"/>
          </p15:clr>
        </p15:guide>
        <p15:guide id="2" pos="337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ory Chase" initials="" lastIdx="5" clrIdx="0"/>
  <p:cmAuthor id="1" name="shiner wong" initials="sw" lastIdx="5" clrIdx="0"/>
  <p:cmAuthor id="2" name="18516" initials="1" lastIdx="1" clrIdx="1"/>
  <p:cmAuthor id="3" name="admin" initials="a" lastIdx="5" clrIdx="2"/>
  <p:cmAuthor id="4" name=" " initials="" lastIdx="1" clrIdx="3"/>
  <p:cmAuthor id="5" name="thinkpad" initials="t" lastIdx="1" clrIdx="4"/>
  <p:cmAuthor id="75" name="作者" initials="A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9F9B"/>
    <a:srgbClr val="6AC7EB"/>
    <a:srgbClr val="108FD0"/>
    <a:srgbClr val="FFFFFF"/>
    <a:srgbClr val="E0EBF5"/>
    <a:srgbClr val="4C9E89"/>
    <a:srgbClr val="EBB477"/>
    <a:srgbClr val="D3DB87"/>
    <a:srgbClr val="F4DE6E"/>
    <a:srgbClr val="1FAB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30" autoAdjust="0"/>
    <p:restoredTop sz="82790" autoAdjust="0"/>
  </p:normalViewPr>
  <p:slideViewPr>
    <p:cSldViewPr showGuides="1">
      <p:cViewPr varScale="1">
        <p:scale>
          <a:sx n="138" d="100"/>
          <a:sy n="138" d="100"/>
        </p:scale>
        <p:origin x="859" y="101"/>
      </p:cViewPr>
      <p:guideLst>
        <p:guide orient="horz" pos="2054"/>
        <p:guide pos="3376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-2952" y="-102"/>
      </p:cViewPr>
      <p:guideLst>
        <p:guide orient="horz" pos="3286"/>
        <p:guide pos="227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gs" Target="tags/tag1.xml"/><Relationship Id="rId3" Type="http://schemas.openxmlformats.org/officeDocument/2006/relationships/slide" Target="slides/slide1.xml"/><Relationship Id="rId29" Type="http://schemas.openxmlformats.org/officeDocument/2006/relationships/commentAuthors" Target="commentAuthors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package" Target="../embeddings/Workbook8.xlsx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package" Target="../embeddings/Workbook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200" b="1" i="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主要功能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c:rich>
      </c:tx>
      <c:layout>
        <c:manualLayout>
          <c:xMode val="edge"/>
          <c:yMode val="edge"/>
          <c:x val="0.0262860885493269"/>
          <c:y val="0.0257952695131735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基础功能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Sheet1!$B$2:$F$2</c:f>
              <c:numCache>
                <c:formatCode>General</c:formatCode>
                <c:ptCount val="5"/>
                <c:pt idx="0">
                  <c:v>14.1</c:v>
                </c:pt>
                <c:pt idx="1">
                  <c:v>13.7</c:v>
                </c:pt>
                <c:pt idx="2">
                  <c:v>13.5</c:v>
                </c:pt>
                <c:pt idx="3">
                  <c:v>13.9</c:v>
                </c:pt>
                <c:pt idx="4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高级功能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Sheet1!$B$3:$F$3</c:f>
              <c:numCache>
                <c:formatCode>General</c:formatCode>
                <c:ptCount val="5"/>
                <c:pt idx="0">
                  <c:v>16.7</c:v>
                </c:pt>
                <c:pt idx="1">
                  <c:v>16.7</c:v>
                </c:pt>
                <c:pt idx="2">
                  <c:v>16.7</c:v>
                </c:pt>
                <c:pt idx="3">
                  <c:v>16.7</c:v>
                </c:pt>
                <c:pt idx="4">
                  <c:v>14.9</c:v>
                </c:pt>
              </c:numCache>
            </c:numRef>
          </c:val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事务支持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Sheet1!$B$4:$F$4</c:f>
              <c:numCache>
                <c:formatCode>General</c:formatCode>
                <c:ptCount val="5"/>
                <c:pt idx="0">
                  <c:v>4.8</c:v>
                </c:pt>
                <c:pt idx="1">
                  <c:v>4.8</c:v>
                </c:pt>
                <c:pt idx="2">
                  <c:v>4.8</c:v>
                </c:pt>
                <c:pt idx="3">
                  <c:v>3.9</c:v>
                </c:pt>
                <c:pt idx="4">
                  <c:v>4.8</c:v>
                </c:pt>
              </c:numCache>
            </c:numRef>
          </c:val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运维监控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Sheet1!$B$5:$F$5</c:f>
              <c:numCache>
                <c:formatCode>General</c:formatCode>
                <c:ptCount val="5"/>
                <c:pt idx="0">
                  <c:v>5.5</c:v>
                </c:pt>
                <c:pt idx="1">
                  <c:v>5.5</c:v>
                </c:pt>
                <c:pt idx="2">
                  <c:v>5.5</c:v>
                </c:pt>
                <c:pt idx="3">
                  <c:v>5.5</c:v>
                </c:pt>
                <c:pt idx="4">
                  <c:v>5.5</c:v>
                </c:pt>
              </c:numCache>
            </c:numRef>
          </c:val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兼容性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Sheet1!$B$6:$F$6</c:f>
              <c:numCache>
                <c:formatCode>General</c:formatCode>
                <c:ptCount val="5"/>
                <c:pt idx="0">
                  <c:v>10.4</c:v>
                </c:pt>
                <c:pt idx="1">
                  <c:v>10.7</c:v>
                </c:pt>
                <c:pt idx="2">
                  <c:v>10.9</c:v>
                </c:pt>
                <c:pt idx="3">
                  <c:v>7.6</c:v>
                </c:pt>
                <c:pt idx="4">
                  <c:v>9.2</c:v>
                </c:pt>
              </c:numCache>
            </c:numRef>
          </c:val>
        </c:ser>
        <c:ser>
          <c:idx val="6"/>
          <c:order val="5"/>
          <c:tx>
            <c:strRef>
              <c:f>Sheet1!$A$7</c:f>
              <c:strCache>
                <c:ptCount val="1"/>
                <c:pt idx="0">
                  <c:v>可靠性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Sheet1!$B$7:$F$7</c:f>
              <c:numCache>
                <c:formatCode>General</c:formatCode>
                <c:ptCount val="5"/>
                <c:pt idx="0">
                  <c:v>7.1</c:v>
                </c:pt>
                <c:pt idx="1">
                  <c:v>7.3</c:v>
                </c:pt>
                <c:pt idx="2">
                  <c:v>7</c:v>
                </c:pt>
                <c:pt idx="3">
                  <c:v>7.6</c:v>
                </c:pt>
                <c:pt idx="4">
                  <c:v>7.6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09259312"/>
        <c:axId val="1309277072"/>
      </c:barChart>
      <c:lineChart>
        <c:grouping val="standard"/>
        <c:varyColors val="0"/>
        <c:ser>
          <c:idx val="5"/>
          <c:order val="6"/>
          <c:tx>
            <c:strRef>
              <c:f>Sheet1!$A$8</c:f>
              <c:strCache>
                <c:ptCount val="1"/>
                <c:pt idx="0">
                  <c:v>功能小计</c:v>
                </c:pt>
              </c:strCache>
            </c:strRef>
          </c:tx>
          <c:spPr>
            <a:ln w="0" cap="rnd">
              <a:solidFill>
                <a:schemeClr val="bg1">
                  <a:lumMod val="95000"/>
                </a:schemeClr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Sheet1!$B$8:$F$8</c:f>
              <c:numCache>
                <c:formatCode>General</c:formatCode>
                <c:ptCount val="5"/>
                <c:pt idx="0">
                  <c:v>58.6</c:v>
                </c:pt>
                <c:pt idx="1">
                  <c:v>58.7</c:v>
                </c:pt>
                <c:pt idx="2">
                  <c:v>58.4</c:v>
                </c:pt>
                <c:pt idx="3">
                  <c:v>55.2</c:v>
                </c:pt>
                <c:pt idx="4">
                  <c:v>55.5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309259312"/>
        <c:axId val="1309277072"/>
      </c:lineChart>
      <c:catAx>
        <c:axId val="13092593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309277072"/>
        <c:crosses val="autoZero"/>
        <c:auto val="1"/>
        <c:lblAlgn val="ctr"/>
        <c:lblOffset val="100"/>
        <c:noMultiLvlLbl val="0"/>
      </c:catAx>
      <c:valAx>
        <c:axId val="1309277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309259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6"/>
        <c:delete val="1"/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775bc3c-2c47-4988-ade2-b7ae6752ef37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100" b="1" i="0" u="none" strike="noStrike" kern="1200" cap="none" spc="0" normalizeH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zh-CN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主要功能</a:t>
            </a:r>
            <a:endParaRPr lang="zh-CN" altLang="en-US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c:rich>
      </c:tx>
      <c:layout>
        <c:manualLayout>
          <c:xMode val="edge"/>
          <c:yMode val="edge"/>
          <c:x val="0.0262860885493269"/>
          <c:y val="0.0257952695131735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基础功能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Sheet1!$B$2:$F$2</c:f>
              <c:numCache>
                <c:formatCode>General</c:formatCode>
                <c:ptCount val="5"/>
                <c:pt idx="0">
                  <c:v>13.9</c:v>
                </c:pt>
                <c:pt idx="1">
                  <c:v>13.7</c:v>
                </c:pt>
                <c:pt idx="2">
                  <c:v>13.5</c:v>
                </c:pt>
                <c:pt idx="3">
                  <c:v>13.8</c:v>
                </c:pt>
                <c:pt idx="4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事务支持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Sheet1!$B$3:$F$3</c:f>
              <c:numCache>
                <c:formatCode>General</c:formatCode>
                <c:ptCount val="5"/>
                <c:pt idx="0">
                  <c:v>4.8</c:v>
                </c:pt>
                <c:pt idx="1">
                  <c:v>4.8</c:v>
                </c:pt>
                <c:pt idx="2">
                  <c:v>4.8</c:v>
                </c:pt>
                <c:pt idx="3">
                  <c:v>3.9</c:v>
                </c:pt>
                <c:pt idx="4">
                  <c:v>4.8</c:v>
                </c:pt>
              </c:numCache>
            </c:numRef>
          </c:val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系统迁移功能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Sheet1!$B$4:$F$4</c:f>
              <c:numCache>
                <c:formatCode>General</c:formatCode>
                <c:ptCount val="5"/>
                <c:pt idx="0">
                  <c:v>8.8</c:v>
                </c:pt>
                <c:pt idx="1">
                  <c:v>9.7</c:v>
                </c:pt>
                <c:pt idx="2">
                  <c:v>9.6</c:v>
                </c:pt>
                <c:pt idx="3">
                  <c:v>7.1</c:v>
                </c:pt>
                <c:pt idx="4">
                  <c:v>8.2</c:v>
                </c:pt>
              </c:numCache>
            </c:numRef>
          </c:val>
        </c:ser>
        <c:ser>
          <c:idx val="3"/>
          <c:order val="3"/>
          <c:tx>
            <c:strRef>
              <c:f>Sheet1!$A$8</c:f>
              <c:strCache>
                <c:ptCount val="1"/>
                <c:pt idx="0">
                  <c:v>运维监控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Sheet1!$B$8:$F$8</c:f>
              <c:numCache>
                <c:formatCode>General</c:formatCode>
                <c:ptCount val="5"/>
                <c:pt idx="0">
                  <c:v>6.6</c:v>
                </c:pt>
                <c:pt idx="1">
                  <c:v>7.6</c:v>
                </c:pt>
                <c:pt idx="2">
                  <c:v>7.1</c:v>
                </c:pt>
                <c:pt idx="3">
                  <c:v>6.8</c:v>
                </c:pt>
                <c:pt idx="4">
                  <c:v>7.1</c:v>
                </c:pt>
              </c:numCache>
            </c:numRef>
          </c:val>
        </c:ser>
        <c:ser>
          <c:idx val="4"/>
          <c:order val="4"/>
          <c:tx>
            <c:strRef>
              <c:f>Sheet1!$A$13</c:f>
              <c:strCache>
                <c:ptCount val="1"/>
                <c:pt idx="0">
                  <c:v>可靠性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Sheet1!$B$13:$F$13</c:f>
              <c:numCache>
                <c:formatCode>General</c:formatCode>
                <c:ptCount val="5"/>
                <c:pt idx="0">
                  <c:v>9.4</c:v>
                </c:pt>
                <c:pt idx="1">
                  <c:v>9.7</c:v>
                </c:pt>
                <c:pt idx="2">
                  <c:v>9.5</c:v>
                </c:pt>
                <c:pt idx="3">
                  <c:v>9.7</c:v>
                </c:pt>
                <c:pt idx="4">
                  <c:v>9.8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9"/>
        <c:overlap val="100"/>
        <c:axId val="1309259312"/>
        <c:axId val="1309277072"/>
      </c:barChart>
      <c:lineChart>
        <c:grouping val="standard"/>
        <c:varyColors val="0"/>
        <c:ser>
          <c:idx val="6"/>
          <c:order val="5"/>
          <c:tx>
            <c:strRef>
              <c:f>Sheet1!$A$15</c:f>
              <c:strCache>
                <c:ptCount val="1"/>
                <c:pt idx="0">
                  <c:v>功能小计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bg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Sheet1!$B$15:$F$15</c:f>
              <c:numCache>
                <c:formatCode>General</c:formatCode>
                <c:ptCount val="5"/>
                <c:pt idx="0">
                  <c:v>43.5</c:v>
                </c:pt>
                <c:pt idx="1">
                  <c:v>45.5</c:v>
                </c:pt>
                <c:pt idx="2">
                  <c:v>44.5</c:v>
                </c:pt>
                <c:pt idx="3">
                  <c:v>41.3</c:v>
                </c:pt>
                <c:pt idx="4">
                  <c:v>43.4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309259312"/>
        <c:axId val="1309277072"/>
      </c:lineChart>
      <c:catAx>
        <c:axId val="13092593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309277072"/>
        <c:crosses val="autoZero"/>
        <c:auto val="1"/>
        <c:lblAlgn val="ctr"/>
        <c:lblOffset val="100"/>
        <c:noMultiLvlLbl val="0"/>
      </c:catAx>
      <c:valAx>
        <c:axId val="1309277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309259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5"/>
        <c:delete val="1"/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f0626fa-634f-4166-9368-138b1aef9e66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2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zh-CN" altLang="en-US" sz="1200" dirty="0"/>
              <a:t>主要功能</a:t>
            </a:r>
            <a:endParaRPr lang="zh-CN" altLang="en-US" sz="1200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基础功能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Sheet1!$B$2:$F$2</c:f>
              <c:numCache>
                <c:formatCode>General</c:formatCode>
                <c:ptCount val="5"/>
                <c:pt idx="0">
                  <c:v>13.9</c:v>
                </c:pt>
                <c:pt idx="1">
                  <c:v>13.7</c:v>
                </c:pt>
                <c:pt idx="2">
                  <c:v>13.5</c:v>
                </c:pt>
                <c:pt idx="3">
                  <c:v>13.8</c:v>
                </c:pt>
                <c:pt idx="4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事务支持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Sheet1!$B$3:$F$3</c:f>
              <c:numCache>
                <c:formatCode>General</c:formatCode>
                <c:ptCount val="5"/>
                <c:pt idx="0">
                  <c:v>4.8</c:v>
                </c:pt>
                <c:pt idx="1">
                  <c:v>4.8</c:v>
                </c:pt>
                <c:pt idx="2">
                  <c:v>4.8</c:v>
                </c:pt>
                <c:pt idx="3">
                  <c:v>3.9</c:v>
                </c:pt>
                <c:pt idx="4">
                  <c:v>4.8</c:v>
                </c:pt>
              </c:numCache>
            </c:numRef>
          </c:val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系统迁移功能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Sheet1!$B$4:$F$4</c:f>
              <c:numCache>
                <c:formatCode>General</c:formatCode>
                <c:ptCount val="5"/>
                <c:pt idx="0">
                  <c:v>8.8</c:v>
                </c:pt>
                <c:pt idx="1">
                  <c:v>9.7</c:v>
                </c:pt>
                <c:pt idx="2">
                  <c:v>9.6</c:v>
                </c:pt>
                <c:pt idx="3">
                  <c:v>7.1</c:v>
                </c:pt>
                <c:pt idx="4">
                  <c:v>8.2</c:v>
                </c:pt>
              </c:numCache>
            </c:numRef>
          </c:val>
        </c:ser>
        <c:ser>
          <c:idx val="3"/>
          <c:order val="3"/>
          <c:tx>
            <c:strRef>
              <c:f>Sheet1!$A$8</c:f>
              <c:strCache>
                <c:ptCount val="1"/>
                <c:pt idx="0">
                  <c:v>运维监控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Sheet1!$B$8:$F$8</c:f>
              <c:numCache>
                <c:formatCode>General</c:formatCode>
                <c:ptCount val="5"/>
                <c:pt idx="0">
                  <c:v>6.6</c:v>
                </c:pt>
                <c:pt idx="1">
                  <c:v>7.6</c:v>
                </c:pt>
                <c:pt idx="2">
                  <c:v>7.1</c:v>
                </c:pt>
                <c:pt idx="3">
                  <c:v>6.8</c:v>
                </c:pt>
                <c:pt idx="4">
                  <c:v>7.1</c:v>
                </c:pt>
              </c:numCache>
            </c:numRef>
          </c:val>
        </c:ser>
        <c:ser>
          <c:idx val="4"/>
          <c:order val="4"/>
          <c:tx>
            <c:strRef>
              <c:f>Sheet1!$A$13</c:f>
              <c:strCache>
                <c:ptCount val="1"/>
                <c:pt idx="0">
                  <c:v>可靠性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Sheet1!$B$13:$F$13</c:f>
              <c:numCache>
                <c:formatCode>General</c:formatCode>
                <c:ptCount val="5"/>
                <c:pt idx="0">
                  <c:v>9.4</c:v>
                </c:pt>
                <c:pt idx="1">
                  <c:v>9.7</c:v>
                </c:pt>
                <c:pt idx="2">
                  <c:v>9.5</c:v>
                </c:pt>
                <c:pt idx="3">
                  <c:v>9.7</c:v>
                </c:pt>
                <c:pt idx="4">
                  <c:v>9.8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9"/>
        <c:overlap val="100"/>
        <c:axId val="1309259312"/>
        <c:axId val="1309277072"/>
      </c:barChart>
      <c:lineChart>
        <c:grouping val="standard"/>
        <c:varyColors val="0"/>
        <c:ser>
          <c:idx val="6"/>
          <c:order val="5"/>
          <c:tx>
            <c:strRef>
              <c:f>Sheet1!$A$15</c:f>
              <c:strCache>
                <c:ptCount val="1"/>
                <c:pt idx="0">
                  <c:v>功能小计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bg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Sheet1!$B$15:$F$15</c:f>
              <c:numCache>
                <c:formatCode>General</c:formatCode>
                <c:ptCount val="5"/>
                <c:pt idx="0">
                  <c:v>43.5</c:v>
                </c:pt>
                <c:pt idx="1">
                  <c:v>45.5</c:v>
                </c:pt>
                <c:pt idx="2">
                  <c:v>44.5</c:v>
                </c:pt>
                <c:pt idx="3">
                  <c:v>41.3</c:v>
                </c:pt>
                <c:pt idx="4">
                  <c:v>43.4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309259312"/>
        <c:axId val="1309277072"/>
      </c:lineChart>
      <c:catAx>
        <c:axId val="13092593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309277072"/>
        <c:crosses val="autoZero"/>
        <c:auto val="1"/>
        <c:lblAlgn val="ctr"/>
        <c:lblOffset val="100"/>
        <c:noMultiLvlLbl val="0"/>
      </c:catAx>
      <c:valAx>
        <c:axId val="1309277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309259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5"/>
        <c:delete val="1"/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ad57f13-d0b3-4ec8-ac93-f66b7a97f53e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2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zh-CN" altLang="en-US" sz="1200" dirty="0"/>
              <a:t>主要性能</a:t>
            </a:r>
            <a:endParaRPr lang="zh-CN" altLang="en-US" sz="1200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stacked"/>
        <c:varyColors val="0"/>
        <c:ser>
          <c:idx val="5"/>
          <c:order val="0"/>
          <c:tx>
            <c:strRef>
              <c:f>Sheet1!$A$5</c:f>
              <c:strCache>
                <c:ptCount val="1"/>
                <c:pt idx="0">
                  <c:v>数据装载</c:v>
                </c:pt>
              </c:strCache>
            </c:strRef>
          </c:tx>
          <c:spPr>
            <a:solidFill>
              <a:schemeClr val="accent6"/>
            </a:solidFill>
            <a:ln w="25400"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Sheet1!$B$5:$F$5</c:f>
              <c:numCache>
                <c:formatCode>General</c:formatCode>
                <c:ptCount val="5"/>
                <c:pt idx="0">
                  <c:v>2.5</c:v>
                </c:pt>
                <c:pt idx="1">
                  <c:v>1.9</c:v>
                </c:pt>
                <c:pt idx="2">
                  <c:v>2.3</c:v>
                </c:pt>
                <c:pt idx="3">
                  <c:v>2.6</c:v>
                </c:pt>
                <c:pt idx="4">
                  <c:v>2.1</c:v>
                </c:pt>
              </c:numCache>
            </c:numRef>
          </c:val>
        </c:ser>
        <c:ser>
          <c:idx val="0"/>
          <c:order val="1"/>
          <c:tx>
            <c:strRef>
              <c:f>Sheet1!$A$7</c:f>
              <c:strCache>
                <c:ptCount val="1"/>
                <c:pt idx="0">
                  <c:v>资源分配</c:v>
                </c:pt>
              </c:strCache>
            </c:strRef>
          </c:tx>
          <c:spPr>
            <a:solidFill>
              <a:schemeClr val="accent1"/>
            </a:solidFill>
            <a:ln w="25400"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Sheet1!$B$7:$F$7</c:f>
              <c:numCache>
                <c:formatCode>General</c:formatCode>
                <c:ptCount val="5"/>
                <c:pt idx="0">
                  <c:v>2.1</c:v>
                </c:pt>
                <c:pt idx="1">
                  <c:v>1</c:v>
                </c:pt>
                <c:pt idx="2">
                  <c:v>1.5</c:v>
                </c:pt>
                <c:pt idx="3">
                  <c:v>1.8</c:v>
                </c:pt>
                <c:pt idx="4">
                  <c:v>1.2</c:v>
                </c:pt>
              </c:numCache>
            </c:numRef>
          </c:val>
        </c:ser>
        <c:ser>
          <c:idx val="1"/>
          <c:order val="2"/>
          <c:tx>
            <c:strRef>
              <c:f>Sheet1!$A$9</c:f>
              <c:strCache>
                <c:ptCount val="1"/>
                <c:pt idx="0">
                  <c:v>业务场景</c:v>
                </c:pt>
              </c:strCache>
            </c:strRef>
          </c:tx>
          <c:spPr>
            <a:solidFill>
              <a:schemeClr val="accent2"/>
            </a:solidFill>
            <a:ln w="25400"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Sheet1!$B$9:$F$9</c:f>
              <c:numCache>
                <c:formatCode>General</c:formatCode>
                <c:ptCount val="5"/>
                <c:pt idx="0">
                  <c:v>7.5</c:v>
                </c:pt>
                <c:pt idx="1">
                  <c:v>6.7</c:v>
                </c:pt>
                <c:pt idx="2">
                  <c:v>5.8</c:v>
                </c:pt>
                <c:pt idx="3">
                  <c:v>7.3</c:v>
                </c:pt>
                <c:pt idx="4">
                  <c:v>6.1</c:v>
                </c:pt>
              </c:numCache>
            </c:numRef>
          </c:val>
        </c:ser>
        <c:ser>
          <c:idx val="2"/>
          <c:order val="3"/>
          <c:tx>
            <c:strRef>
              <c:f>Sheet1!$A$10</c:f>
              <c:strCache>
                <c:ptCount val="1"/>
                <c:pt idx="0">
                  <c:v>TPC-H</c:v>
                </c:pt>
              </c:strCache>
            </c:strRef>
          </c:tx>
          <c:spPr>
            <a:solidFill>
              <a:schemeClr val="accent3"/>
            </a:solidFill>
            <a:ln w="25400"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Sheet1!$B$10:$F$10</c:f>
              <c:numCache>
                <c:formatCode>General</c:formatCode>
                <c:ptCount val="5"/>
                <c:pt idx="0">
                  <c:v>6</c:v>
                </c:pt>
                <c:pt idx="1">
                  <c:v>2.5</c:v>
                </c:pt>
                <c:pt idx="2">
                  <c:v>3.1</c:v>
                </c:pt>
                <c:pt idx="3">
                  <c:v>5.1</c:v>
                </c:pt>
                <c:pt idx="4">
                  <c:v>4</c:v>
                </c:pt>
              </c:numCache>
            </c:numRef>
          </c:val>
        </c:ser>
        <c:ser>
          <c:idx val="3"/>
          <c:order val="4"/>
          <c:tx>
            <c:strRef>
              <c:f>Sheet1!$A$11</c:f>
              <c:strCache>
                <c:ptCount val="1"/>
                <c:pt idx="0">
                  <c:v>备份还原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Sheet1!$B$11:$F$11</c:f>
              <c:numCache>
                <c:formatCode>General</c:formatCode>
                <c:ptCount val="5"/>
                <c:pt idx="0">
                  <c:v>3.1</c:v>
                </c:pt>
                <c:pt idx="1">
                  <c:v>2.9</c:v>
                </c:pt>
                <c:pt idx="2">
                  <c:v>3</c:v>
                </c:pt>
                <c:pt idx="3">
                  <c:v>2.4</c:v>
                </c:pt>
                <c:pt idx="4">
                  <c:v>1.8</c:v>
                </c:pt>
              </c:numCache>
            </c:numRef>
          </c:val>
        </c:ser>
        <c:ser>
          <c:idx val="4"/>
          <c:order val="5"/>
          <c:tx>
            <c:strRef>
              <c:f>Sheet1!$A$12</c:f>
              <c:strCache>
                <c:ptCount val="1"/>
                <c:pt idx="0">
                  <c:v>并发能力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Sheet1!$B$12:$F$12</c:f>
              <c:numCache>
                <c:formatCode>General</c:formatCode>
                <c:ptCount val="5"/>
                <c:pt idx="0">
                  <c:v>1.9</c:v>
                </c:pt>
                <c:pt idx="1">
                  <c:v>1.5</c:v>
                </c:pt>
                <c:pt idx="2">
                  <c:v>1</c:v>
                </c:pt>
                <c:pt idx="3">
                  <c:v>1.8</c:v>
                </c:pt>
                <c:pt idx="4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09259312"/>
        <c:axId val="1309277072"/>
      </c:barChart>
      <c:lineChart>
        <c:grouping val="standard"/>
        <c:varyColors val="0"/>
        <c:ser>
          <c:idx val="6"/>
          <c:order val="6"/>
          <c:tx>
            <c:strRef>
              <c:f>Sheet1!$A$16</c:f>
              <c:strCache>
                <c:ptCount val="1"/>
                <c:pt idx="0">
                  <c:v>性能小计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bg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Sheet1!$B$16:$F$16</c:f>
              <c:numCache>
                <c:formatCode>General</c:formatCode>
                <c:ptCount val="5"/>
                <c:pt idx="0">
                  <c:v>23.1</c:v>
                </c:pt>
                <c:pt idx="1">
                  <c:v>16.5</c:v>
                </c:pt>
                <c:pt idx="2">
                  <c:v>16.7</c:v>
                </c:pt>
                <c:pt idx="3">
                  <c:v>21</c:v>
                </c:pt>
                <c:pt idx="4">
                  <c:v>16.4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309259312"/>
        <c:axId val="1309277072"/>
      </c:lineChart>
      <c:catAx>
        <c:axId val="13092593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309277072"/>
        <c:crosses val="autoZero"/>
        <c:auto val="1"/>
        <c:lblAlgn val="ctr"/>
        <c:lblOffset val="100"/>
        <c:noMultiLvlLbl val="0"/>
      </c:catAx>
      <c:valAx>
        <c:axId val="1309277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309259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6"/>
        <c:delete val="1"/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6e49316-da7d-4905-b36b-1f0689cde1ea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DWS(s)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多表关联查询</c:v>
                </c:pt>
                <c:pt idx="1">
                  <c:v>大表关联大表</c:v>
                </c:pt>
                <c:pt idx="2">
                  <c:v>复杂业务逻辑</c:v>
                </c:pt>
                <c:pt idx="3">
                  <c:v>整体情况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16</c:v>
                </c:pt>
                <c:pt idx="2">
                  <c:v>63</c:v>
                </c:pt>
                <c:pt idx="3">
                  <c:v>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GP(s)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多表关联查询</c:v>
                </c:pt>
                <c:pt idx="1">
                  <c:v>大表关联大表</c:v>
                </c:pt>
                <c:pt idx="2">
                  <c:v>复杂业务逻辑</c:v>
                </c:pt>
                <c:pt idx="3">
                  <c:v>整体情况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57</c:v>
                </c:pt>
                <c:pt idx="1">
                  <c:v>75</c:v>
                </c:pt>
                <c:pt idx="2">
                  <c:v>91</c:v>
                </c:pt>
                <c:pt idx="3">
                  <c:v>223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718985136"/>
        <c:axId val="1718970256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性能提升(%)</c:v>
                </c:pt>
              </c:strCache>
            </c:strRef>
          </c:tx>
          <c:spPr>
            <a:ln w="34925" cap="rnd">
              <a:solidFill>
                <a:schemeClr val="tx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dLbl>
              <c:idx val="0"/>
              <c:layout>
                <c:manualLayout>
                  <c:x val="-4.8259696612041e-17"/>
                  <c:y val="-0.02994950246618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263237749702765"/>
                  <c:y val="-0.026621779969940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0.02994950246618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0131618874851385"/>
                  <c:y val="-0.0166386124812128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.0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多表关联查询</c:v>
                </c:pt>
                <c:pt idx="1">
                  <c:v>大表关联大表</c:v>
                </c:pt>
                <c:pt idx="2">
                  <c:v>复杂业务逻辑</c:v>
                </c:pt>
                <c:pt idx="3">
                  <c:v>整体情况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0.859649122807018</c:v>
                </c:pt>
                <c:pt idx="1">
                  <c:v>0.786666666666667</c:v>
                </c:pt>
                <c:pt idx="2">
                  <c:v>0.307692307692308</c:v>
                </c:pt>
                <c:pt idx="3">
                  <c:v>0.609865470852018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903203568"/>
        <c:axId val="1903201648"/>
        <c:extLst>
          <c:ext xmlns:c15="http://schemas.microsoft.com/office/drawing/2012/chart" uri="{02D57815-91ED-43cb-92C2-25804820EDAC}">
            <c15:filteredLine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占比(%)</c:v>
                      </c:pt>
                    </c:strCache>
                  </c:strRef>
                </c:tx>
                <c:spPr>
                  <a:ln w="34925" cap="rnd">
                    <a:solidFill>
                      <a:schemeClr val="accent4"/>
                    </a:solidFill>
                    <a:round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c:spPr>
                <c:marker>
                  <c:symbol val="none"/>
                </c:marker>
                <c:dLbls>
                  <c:delete val="1"/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多表关联查询</c:v>
                      </c:pt>
                      <c:pt idx="1">
                        <c:v>大表关联大表</c:v>
                      </c:pt>
                      <c:pt idx="2">
                        <c:v>复杂业务逻辑</c:v>
                      </c:pt>
                      <c:pt idx="3">
                        <c:v>整体情况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Sheet1!$E$2:$E$5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0.140350877192982</c:v>
                      </c:pt>
                      <c:pt idx="1">
                        <c:v>0.213333333333333</c:v>
                      </c:pt>
                      <c:pt idx="2">
                        <c:v>0.692307692307692</c:v>
                      </c:pt>
                      <c:pt idx="3">
                        <c:v>0.390134529147982</c:v>
                      </c:pt>
                    </c:numCache>
                  </c:numRef>
                </c:val>
                <c:smooth val="0"/>
              </c15:ser>
            </c15:filteredLineSeries>
          </c:ext>
        </c:extLst>
      </c:lineChart>
      <c:catAx>
        <c:axId val="1718985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18970256"/>
        <c:crosses val="autoZero"/>
        <c:auto val="1"/>
        <c:lblAlgn val="ctr"/>
        <c:lblOffset val="100"/>
        <c:noMultiLvlLbl val="0"/>
      </c:catAx>
      <c:valAx>
        <c:axId val="1718970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 dirty="0"/>
                  <a:t>平均</a:t>
                </a:r>
                <a:r>
                  <a:rPr lang="zh-CN" dirty="0"/>
                  <a:t>消耗时长（</a:t>
                </a:r>
                <a:r>
                  <a:rPr lang="en-US" dirty="0"/>
                  <a:t>s</a:t>
                </a:r>
                <a:r>
                  <a:rPr lang="zh-CN" dirty="0"/>
                  <a:t>）</a:t>
                </a:r>
                <a:endParaRPr lang="zh-CN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18985136"/>
        <c:crosses val="autoZero"/>
        <c:crossBetween val="between"/>
      </c:valAx>
      <c:catAx>
        <c:axId val="19032035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903201648"/>
        <c:crosses val="autoZero"/>
        <c:auto val="1"/>
        <c:lblAlgn val="ctr"/>
        <c:lblOffset val="100"/>
        <c:noMultiLvlLbl val="0"/>
      </c:catAx>
      <c:valAx>
        <c:axId val="1903201648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903203568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9586118-297c-4828-85e4-9941943c74c8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DWS(s)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多表关联查询</c:v>
                </c:pt>
                <c:pt idx="1">
                  <c:v>大表关联大表</c:v>
                </c:pt>
                <c:pt idx="2">
                  <c:v>复杂业务逻辑</c:v>
                </c:pt>
                <c:pt idx="3">
                  <c:v>整体情况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16</c:v>
                </c:pt>
                <c:pt idx="2">
                  <c:v>63</c:v>
                </c:pt>
                <c:pt idx="3">
                  <c:v>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GP(s)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多表关联查询</c:v>
                </c:pt>
                <c:pt idx="1">
                  <c:v>大表关联大表</c:v>
                </c:pt>
                <c:pt idx="2">
                  <c:v>复杂业务逻辑</c:v>
                </c:pt>
                <c:pt idx="3">
                  <c:v>整体情况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57</c:v>
                </c:pt>
                <c:pt idx="1">
                  <c:v>75</c:v>
                </c:pt>
                <c:pt idx="2">
                  <c:v>91</c:v>
                </c:pt>
                <c:pt idx="3">
                  <c:v>223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718985136"/>
        <c:axId val="1718970256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性能提升(%)</c:v>
                </c:pt>
              </c:strCache>
            </c:strRef>
          </c:tx>
          <c:spPr>
            <a:ln w="34925" cap="rnd">
              <a:solidFill>
                <a:schemeClr val="tx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dLbl>
              <c:idx val="0"/>
              <c:layout>
                <c:manualLayout>
                  <c:x val="-4.8259696612041e-17"/>
                  <c:y val="-0.02994950246618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263237749702765"/>
                  <c:y val="-0.026621779969940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0.02994950246618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0131618874851385"/>
                  <c:y val="-0.0166386124812128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.0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多表关联查询</c:v>
                </c:pt>
                <c:pt idx="1">
                  <c:v>大表关联大表</c:v>
                </c:pt>
                <c:pt idx="2">
                  <c:v>复杂业务逻辑</c:v>
                </c:pt>
                <c:pt idx="3">
                  <c:v>整体情况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0.859649122807018</c:v>
                </c:pt>
                <c:pt idx="1">
                  <c:v>0.786666666666667</c:v>
                </c:pt>
                <c:pt idx="2">
                  <c:v>0.307692307692308</c:v>
                </c:pt>
                <c:pt idx="3">
                  <c:v>0.609865470852018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903203568"/>
        <c:axId val="1903201648"/>
        <c:extLst>
          <c:ext xmlns:c15="http://schemas.microsoft.com/office/drawing/2012/chart" uri="{02D57815-91ED-43cb-92C2-25804820EDAC}">
            <c15:filteredLine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占比(%)</c:v>
                      </c:pt>
                    </c:strCache>
                  </c:strRef>
                </c:tx>
                <c:spPr>
                  <a:ln w="34925" cap="rnd">
                    <a:solidFill>
                      <a:schemeClr val="accent4"/>
                    </a:solidFill>
                    <a:round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c:spPr>
                <c:marker>
                  <c:symbol val="none"/>
                </c:marker>
                <c:dLbls>
                  <c:delete val="1"/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多表关联查询</c:v>
                      </c:pt>
                      <c:pt idx="1">
                        <c:v>大表关联大表</c:v>
                      </c:pt>
                      <c:pt idx="2">
                        <c:v>复杂业务逻辑</c:v>
                      </c:pt>
                      <c:pt idx="3">
                        <c:v>整体情况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Sheet1!$E$2:$E$5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0.140350877192982</c:v>
                      </c:pt>
                      <c:pt idx="1">
                        <c:v>0.213333333333333</c:v>
                      </c:pt>
                      <c:pt idx="2">
                        <c:v>0.692307692307692</c:v>
                      </c:pt>
                      <c:pt idx="3">
                        <c:v>0.390134529147982</c:v>
                      </c:pt>
                    </c:numCache>
                  </c:numRef>
                </c:val>
                <c:smooth val="0"/>
              </c15:ser>
            </c15:filteredLineSeries>
          </c:ext>
        </c:extLst>
      </c:lineChart>
      <c:catAx>
        <c:axId val="1718985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18970256"/>
        <c:crosses val="autoZero"/>
        <c:auto val="1"/>
        <c:lblAlgn val="ctr"/>
        <c:lblOffset val="100"/>
        <c:noMultiLvlLbl val="0"/>
      </c:catAx>
      <c:valAx>
        <c:axId val="1718970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 dirty="0"/>
                  <a:t>平均</a:t>
                </a:r>
                <a:r>
                  <a:rPr lang="zh-CN" dirty="0"/>
                  <a:t>消耗时长（</a:t>
                </a:r>
                <a:r>
                  <a:rPr lang="en-US" dirty="0"/>
                  <a:t>s</a:t>
                </a:r>
                <a:r>
                  <a:rPr lang="zh-CN" dirty="0"/>
                  <a:t>）</a:t>
                </a:r>
                <a:endParaRPr lang="zh-CN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18985136"/>
        <c:crosses val="autoZero"/>
        <c:crossBetween val="between"/>
      </c:valAx>
      <c:catAx>
        <c:axId val="19032035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903201648"/>
        <c:crosses val="autoZero"/>
        <c:auto val="1"/>
        <c:lblAlgn val="ctr"/>
        <c:lblOffset val="100"/>
        <c:noMultiLvlLbl val="0"/>
      </c:catAx>
      <c:valAx>
        <c:axId val="1903201648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903203568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44e9766-4d64-4c31-9494-f180efa137ae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基础功能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Sheet1!$B$2:$F$2</c:f>
              <c:numCache>
                <c:formatCode>General</c:formatCode>
                <c:ptCount val="5"/>
                <c:pt idx="0">
                  <c:v>13.9</c:v>
                </c:pt>
                <c:pt idx="1">
                  <c:v>13.7</c:v>
                </c:pt>
                <c:pt idx="2">
                  <c:v>13.5</c:v>
                </c:pt>
                <c:pt idx="3">
                  <c:v>13.8</c:v>
                </c:pt>
                <c:pt idx="4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事务支持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Sheet1!$B$3:$F$3</c:f>
              <c:numCache>
                <c:formatCode>General</c:formatCode>
                <c:ptCount val="5"/>
                <c:pt idx="0">
                  <c:v>4.8</c:v>
                </c:pt>
                <c:pt idx="1">
                  <c:v>4.8</c:v>
                </c:pt>
                <c:pt idx="2">
                  <c:v>4.8</c:v>
                </c:pt>
                <c:pt idx="3">
                  <c:v>3.9</c:v>
                </c:pt>
                <c:pt idx="4">
                  <c:v>4.8</c:v>
                </c:pt>
              </c:numCache>
            </c:numRef>
          </c:val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系统迁移功能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Sheet1!$B$4:$F$4</c:f>
              <c:numCache>
                <c:formatCode>General</c:formatCode>
                <c:ptCount val="5"/>
                <c:pt idx="0">
                  <c:v>8.8</c:v>
                </c:pt>
                <c:pt idx="1">
                  <c:v>9.7</c:v>
                </c:pt>
                <c:pt idx="2">
                  <c:v>9.6</c:v>
                </c:pt>
                <c:pt idx="3">
                  <c:v>7.1</c:v>
                </c:pt>
                <c:pt idx="4">
                  <c:v>8.2</c:v>
                </c:pt>
              </c:numCache>
            </c:numRef>
          </c:val>
        </c:ser>
        <c:ser>
          <c:idx val="3"/>
          <c:order val="3"/>
          <c:tx>
            <c:strRef>
              <c:f>Sheet1!$A$8</c:f>
              <c:strCache>
                <c:ptCount val="1"/>
                <c:pt idx="0">
                  <c:v>图形化运维监控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Sheet1!$B$8:$F$8</c:f>
              <c:numCache>
                <c:formatCode>General</c:formatCode>
                <c:ptCount val="5"/>
                <c:pt idx="0">
                  <c:v>6.6</c:v>
                </c:pt>
                <c:pt idx="1">
                  <c:v>7.6</c:v>
                </c:pt>
                <c:pt idx="2">
                  <c:v>7.1</c:v>
                </c:pt>
                <c:pt idx="3">
                  <c:v>6.8</c:v>
                </c:pt>
                <c:pt idx="4">
                  <c:v>7.1</c:v>
                </c:pt>
              </c:numCache>
            </c:numRef>
          </c:val>
        </c:ser>
        <c:ser>
          <c:idx val="4"/>
          <c:order val="4"/>
          <c:tx>
            <c:strRef>
              <c:f>Sheet1!$A$13</c:f>
              <c:strCache>
                <c:ptCount val="1"/>
                <c:pt idx="0">
                  <c:v>可靠性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Sheet1!$B$13:$F$13</c:f>
              <c:numCache>
                <c:formatCode>General</c:formatCode>
                <c:ptCount val="5"/>
                <c:pt idx="0">
                  <c:v>9.4</c:v>
                </c:pt>
                <c:pt idx="1">
                  <c:v>9.7</c:v>
                </c:pt>
                <c:pt idx="2">
                  <c:v>9.5</c:v>
                </c:pt>
                <c:pt idx="3">
                  <c:v>9.7</c:v>
                </c:pt>
                <c:pt idx="4">
                  <c:v>9.8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9"/>
        <c:overlap val="100"/>
        <c:axId val="1309259312"/>
        <c:axId val="1309277072"/>
      </c:barChart>
      <c:lineChart>
        <c:grouping val="standard"/>
        <c:varyColors val="0"/>
        <c:ser>
          <c:idx val="6"/>
          <c:order val="5"/>
          <c:tx>
            <c:strRef>
              <c:f>Sheet1!$A$15</c:f>
              <c:strCache>
                <c:ptCount val="1"/>
                <c:pt idx="0">
                  <c:v>功能小计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bg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Sheet1!$B$15:$F$15</c:f>
              <c:numCache>
                <c:formatCode>General</c:formatCode>
                <c:ptCount val="5"/>
                <c:pt idx="0">
                  <c:v>43.5</c:v>
                </c:pt>
                <c:pt idx="1">
                  <c:v>45.5</c:v>
                </c:pt>
                <c:pt idx="2">
                  <c:v>44.5</c:v>
                </c:pt>
                <c:pt idx="3">
                  <c:v>41.3</c:v>
                </c:pt>
                <c:pt idx="4">
                  <c:v>43.4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309259312"/>
        <c:axId val="1309277072"/>
      </c:lineChart>
      <c:catAx>
        <c:axId val="13092593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309277072"/>
        <c:crosses val="autoZero"/>
        <c:auto val="1"/>
        <c:lblAlgn val="ctr"/>
        <c:lblOffset val="100"/>
        <c:noMultiLvlLbl val="0"/>
      </c:catAx>
      <c:valAx>
        <c:axId val="1309277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309259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5"/>
        <c:delete val="1"/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b526706-e8d0-4b2d-a46c-cd47bc1d845e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5"/>
          <c:order val="0"/>
          <c:tx>
            <c:strRef>
              <c:f>Sheet1!$A$5</c:f>
              <c:strCache>
                <c:ptCount val="1"/>
                <c:pt idx="0">
                  <c:v>数据装载</c:v>
                </c:pt>
              </c:strCache>
            </c:strRef>
          </c:tx>
          <c:spPr>
            <a:solidFill>
              <a:schemeClr val="accent6"/>
            </a:solidFill>
            <a:ln w="25400"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Sheet1!$B$5:$F$5</c:f>
              <c:numCache>
                <c:formatCode>General</c:formatCode>
                <c:ptCount val="5"/>
                <c:pt idx="0">
                  <c:v>2.5</c:v>
                </c:pt>
                <c:pt idx="1">
                  <c:v>1.9</c:v>
                </c:pt>
                <c:pt idx="2">
                  <c:v>2.3</c:v>
                </c:pt>
                <c:pt idx="3">
                  <c:v>2.6</c:v>
                </c:pt>
                <c:pt idx="4">
                  <c:v>2.1</c:v>
                </c:pt>
              </c:numCache>
            </c:numRef>
          </c:val>
        </c:ser>
        <c:ser>
          <c:idx val="0"/>
          <c:order val="1"/>
          <c:tx>
            <c:strRef>
              <c:f>Sheet1!$A$7</c:f>
              <c:strCache>
                <c:ptCount val="1"/>
                <c:pt idx="0">
                  <c:v>资源分配</c:v>
                </c:pt>
              </c:strCache>
            </c:strRef>
          </c:tx>
          <c:spPr>
            <a:solidFill>
              <a:schemeClr val="accent1"/>
            </a:solidFill>
            <a:ln w="25400"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Sheet1!$B$7:$F$7</c:f>
              <c:numCache>
                <c:formatCode>General</c:formatCode>
                <c:ptCount val="5"/>
                <c:pt idx="0">
                  <c:v>2.1</c:v>
                </c:pt>
                <c:pt idx="1">
                  <c:v>1</c:v>
                </c:pt>
                <c:pt idx="2">
                  <c:v>1.5</c:v>
                </c:pt>
                <c:pt idx="3">
                  <c:v>1.8</c:v>
                </c:pt>
                <c:pt idx="4">
                  <c:v>1.2</c:v>
                </c:pt>
              </c:numCache>
            </c:numRef>
          </c:val>
        </c:ser>
        <c:ser>
          <c:idx val="1"/>
          <c:order val="2"/>
          <c:tx>
            <c:strRef>
              <c:f>Sheet1!$A$9</c:f>
              <c:strCache>
                <c:ptCount val="1"/>
                <c:pt idx="0">
                  <c:v>业务场景</c:v>
                </c:pt>
              </c:strCache>
            </c:strRef>
          </c:tx>
          <c:spPr>
            <a:solidFill>
              <a:schemeClr val="accent2"/>
            </a:solidFill>
            <a:ln w="25400"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Sheet1!$B$9:$F$9</c:f>
              <c:numCache>
                <c:formatCode>General</c:formatCode>
                <c:ptCount val="5"/>
                <c:pt idx="0">
                  <c:v>7.5</c:v>
                </c:pt>
                <c:pt idx="1">
                  <c:v>6.7</c:v>
                </c:pt>
                <c:pt idx="2">
                  <c:v>5.8</c:v>
                </c:pt>
                <c:pt idx="3">
                  <c:v>7.3</c:v>
                </c:pt>
                <c:pt idx="4">
                  <c:v>6.1</c:v>
                </c:pt>
              </c:numCache>
            </c:numRef>
          </c:val>
        </c:ser>
        <c:ser>
          <c:idx val="2"/>
          <c:order val="3"/>
          <c:tx>
            <c:strRef>
              <c:f>Sheet1!$A$10</c:f>
              <c:strCache>
                <c:ptCount val="1"/>
                <c:pt idx="0">
                  <c:v>TPC-H</c:v>
                </c:pt>
              </c:strCache>
            </c:strRef>
          </c:tx>
          <c:spPr>
            <a:solidFill>
              <a:schemeClr val="accent3"/>
            </a:solidFill>
            <a:ln w="25400"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Sheet1!$B$10:$F$10</c:f>
              <c:numCache>
                <c:formatCode>General</c:formatCode>
                <c:ptCount val="5"/>
                <c:pt idx="0">
                  <c:v>6</c:v>
                </c:pt>
                <c:pt idx="1">
                  <c:v>2.5</c:v>
                </c:pt>
                <c:pt idx="2">
                  <c:v>3.1</c:v>
                </c:pt>
                <c:pt idx="3">
                  <c:v>5.1</c:v>
                </c:pt>
                <c:pt idx="4">
                  <c:v>4</c:v>
                </c:pt>
              </c:numCache>
            </c:numRef>
          </c:val>
        </c:ser>
        <c:ser>
          <c:idx val="3"/>
          <c:order val="4"/>
          <c:tx>
            <c:strRef>
              <c:f>Sheet1!$A$11</c:f>
              <c:strCache>
                <c:ptCount val="1"/>
                <c:pt idx="0">
                  <c:v>备份还原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Sheet1!$B$11:$F$11</c:f>
              <c:numCache>
                <c:formatCode>General</c:formatCode>
                <c:ptCount val="5"/>
                <c:pt idx="0">
                  <c:v>3.1</c:v>
                </c:pt>
                <c:pt idx="1">
                  <c:v>2.9</c:v>
                </c:pt>
                <c:pt idx="2">
                  <c:v>3</c:v>
                </c:pt>
                <c:pt idx="3">
                  <c:v>2.4</c:v>
                </c:pt>
                <c:pt idx="4">
                  <c:v>1.8</c:v>
                </c:pt>
              </c:numCache>
            </c:numRef>
          </c:val>
        </c:ser>
        <c:ser>
          <c:idx val="4"/>
          <c:order val="5"/>
          <c:tx>
            <c:strRef>
              <c:f>Sheet1!$A$12</c:f>
              <c:strCache>
                <c:ptCount val="1"/>
                <c:pt idx="0">
                  <c:v>并发能力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Sheet1!$B$1:$F$1</c:f>
              <c:strCache>
                <c:ptCount val="5"/>
                <c:pt idx="0">
                  <c:v>DWS</c:v>
                </c:pt>
                <c:pt idx="1">
                  <c:v>厂商1</c:v>
                </c:pt>
                <c:pt idx="2">
                  <c:v>厂商2</c:v>
                </c:pt>
                <c:pt idx="3">
                  <c:v>厂商3</c:v>
                </c:pt>
                <c:pt idx="4">
                  <c:v>厂商4</c:v>
                </c:pt>
              </c:strCache>
            </c:strRef>
          </c:cat>
          <c:val>
            <c:numRef>
              <c:f>Sheet1!$B$12:$F$12</c:f>
              <c:numCache>
                <c:formatCode>General</c:formatCode>
                <c:ptCount val="5"/>
                <c:pt idx="0">
                  <c:v>1.9</c:v>
                </c:pt>
                <c:pt idx="1">
                  <c:v>1.5</c:v>
                </c:pt>
                <c:pt idx="2">
                  <c:v>1</c:v>
                </c:pt>
                <c:pt idx="3">
                  <c:v>1.8</c:v>
                </c:pt>
                <c:pt idx="4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09259312"/>
        <c:axId val="1309277072"/>
      </c:barChart>
      <c:lineChart>
        <c:grouping val="standard"/>
        <c:varyColors val="0"/>
        <c:ser>
          <c:idx val="6"/>
          <c:order val="6"/>
          <c:tx>
            <c:strRef>
              <c:f>Sheet1!$A$16</c:f>
              <c:strCache>
                <c:ptCount val="1"/>
                <c:pt idx="0">
                  <c:v>性能小计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bg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Sheet1!$B$16:$F$16</c:f>
              <c:numCache>
                <c:formatCode>General</c:formatCode>
                <c:ptCount val="5"/>
                <c:pt idx="0">
                  <c:v>23.1</c:v>
                </c:pt>
                <c:pt idx="1">
                  <c:v>16.5</c:v>
                </c:pt>
                <c:pt idx="2">
                  <c:v>16.7</c:v>
                </c:pt>
                <c:pt idx="3">
                  <c:v>21</c:v>
                </c:pt>
                <c:pt idx="4">
                  <c:v>16.4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309259312"/>
        <c:axId val="1309277072"/>
      </c:lineChart>
      <c:catAx>
        <c:axId val="13092593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309277072"/>
        <c:crosses val="autoZero"/>
        <c:auto val="1"/>
        <c:lblAlgn val="ctr"/>
        <c:lblOffset val="100"/>
        <c:noMultiLvlLbl val="0"/>
      </c:catAx>
      <c:valAx>
        <c:axId val="1309277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309259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6"/>
        <c:delete val="1"/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545bbb8-1ec4-4215-87ca-40eacc244a4f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DWS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Sheet1!$A$2:$A$7</c:f>
              <c:strCache>
                <c:ptCount val="6"/>
                <c:pt idx="0">
                  <c:v>并发能力</c:v>
                </c:pt>
                <c:pt idx="1">
                  <c:v>TPC-H</c:v>
                </c:pt>
                <c:pt idx="2">
                  <c:v>数据装载</c:v>
                </c:pt>
                <c:pt idx="3">
                  <c:v>备份还原</c:v>
                </c:pt>
                <c:pt idx="4">
                  <c:v>资源分配</c:v>
                </c:pt>
                <c:pt idx="5">
                  <c:v>业务场景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4.8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厂商1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Sheet1!$A$2:$A$7</c:f>
              <c:strCache>
                <c:ptCount val="6"/>
                <c:pt idx="0">
                  <c:v>并发能力</c:v>
                </c:pt>
                <c:pt idx="1">
                  <c:v>TPC-H</c:v>
                </c:pt>
                <c:pt idx="2">
                  <c:v>数据装载</c:v>
                </c:pt>
                <c:pt idx="3">
                  <c:v>备份还原</c:v>
                </c:pt>
                <c:pt idx="4">
                  <c:v>资源分配</c:v>
                </c:pt>
                <c:pt idx="5">
                  <c:v>业务场景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2</c:v>
                </c:pt>
                <c:pt idx="5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厂商2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Sheet1!$A$2:$A$7</c:f>
              <c:strCache>
                <c:ptCount val="6"/>
                <c:pt idx="0">
                  <c:v>并发能力</c:v>
                </c:pt>
                <c:pt idx="1">
                  <c:v>TPC-H</c:v>
                </c:pt>
                <c:pt idx="2">
                  <c:v>数据装载</c:v>
                </c:pt>
                <c:pt idx="3">
                  <c:v>备份还原</c:v>
                </c:pt>
                <c:pt idx="4">
                  <c:v>资源分配</c:v>
                </c:pt>
                <c:pt idx="5">
                  <c:v>业务场景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</c:v>
                </c:pt>
                <c:pt idx="1">
                  <c:v>3</c:v>
                </c:pt>
                <c:pt idx="2">
                  <c:v>4</c:v>
                </c:pt>
                <c:pt idx="3">
                  <c:v>4</c:v>
                </c:pt>
                <c:pt idx="4">
                  <c:v>3</c:v>
                </c:pt>
                <c:pt idx="5">
                  <c:v>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厂商3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Sheet1!$A$2:$A$7</c:f>
              <c:strCache>
                <c:ptCount val="6"/>
                <c:pt idx="0">
                  <c:v>并发能力</c:v>
                </c:pt>
                <c:pt idx="1">
                  <c:v>TPC-H</c:v>
                </c:pt>
                <c:pt idx="2">
                  <c:v>数据装载</c:v>
                </c:pt>
                <c:pt idx="3">
                  <c:v>备份还原</c:v>
                </c:pt>
                <c:pt idx="4">
                  <c:v>资源分配</c:v>
                </c:pt>
                <c:pt idx="5">
                  <c:v>业务场景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4.8</c:v>
                </c:pt>
                <c:pt idx="1">
                  <c:v>4.8</c:v>
                </c:pt>
                <c:pt idx="2">
                  <c:v>5</c:v>
                </c:pt>
                <c:pt idx="3">
                  <c:v>2</c:v>
                </c:pt>
                <c:pt idx="4">
                  <c:v>4</c:v>
                </c:pt>
                <c:pt idx="5">
                  <c:v>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厂商4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Sheet1!$A$2:$A$7</c:f>
              <c:strCache>
                <c:ptCount val="6"/>
                <c:pt idx="0">
                  <c:v>并发能力</c:v>
                </c:pt>
                <c:pt idx="1">
                  <c:v>TPC-H</c:v>
                </c:pt>
                <c:pt idx="2">
                  <c:v>数据装载</c:v>
                </c:pt>
                <c:pt idx="3">
                  <c:v>备份还原</c:v>
                </c:pt>
                <c:pt idx="4">
                  <c:v>资源分配</c:v>
                </c:pt>
                <c:pt idx="5">
                  <c:v>业务场景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07044856"/>
        <c:axId val="707048776"/>
      </c:radarChart>
      <c:catAx>
        <c:axId val="707044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+mn-cs"/>
              </a:defRPr>
            </a:pPr>
          </a:p>
        </c:txPr>
        <c:crossAx val="707048776"/>
        <c:crosses val="autoZero"/>
        <c:auto val="1"/>
        <c:lblAlgn val="ctr"/>
        <c:lblOffset val="100"/>
        <c:noMultiLvlLbl val="0"/>
      </c:catAx>
      <c:valAx>
        <c:axId val="70704877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50000"/>
                  <a:lumOff val="50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+mn-cs"/>
              </a:defRPr>
            </a:pPr>
          </a:p>
        </c:txPr>
        <c:crossAx val="7070448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f9d1ddc-552d-4e26-a0ac-ede71fe840ea}"/>
      </c:ext>
    </c:extLst>
  </c:chart>
  <c:spPr>
    <a:noFill/>
    <a:ln>
      <a:noFill/>
    </a:ln>
    <a:effectLst/>
  </c:spPr>
  <c:txPr>
    <a:bodyPr/>
    <a:lstStyle/>
    <a:p>
      <a:pPr>
        <a:defRPr lang="zh-CN">
          <a:latin typeface="思源黑体 CN Light" panose="020B0300000000000000" charset="-122"/>
          <a:ea typeface="思源黑体 CN Light" panose="020B0300000000000000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2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3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3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2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2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217238-EB3F-482D-96C5-77C5BA3BED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4CE1C-36BA-4729-A413-0792F846B61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9CA3E0-9DB8-41F5-910E-2A5126D62C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E48436-0FB3-437D-A7CB-173ED19F20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48436-0FB3-437D-A7CB-173ED19F20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48436-0FB3-437D-A7CB-173ED19F20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48436-0FB3-437D-A7CB-173ED19F20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48436-0FB3-437D-A7CB-173ED19F20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48436-0FB3-437D-A7CB-173ED19F20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48436-0FB3-437D-A7CB-173ED19F20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48436-0FB3-437D-A7CB-173ED19F20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dirty="0"/>
              <a:t>图表数据解读与说明：</a:t>
            </a:r>
            <a:endParaRPr lang="en-US" altLang="zh-CN" dirty="0"/>
          </a:p>
          <a:p>
            <a:pPr algn="l"/>
            <a:r>
              <a:rPr lang="zh-CN" altLang="en-US" dirty="0"/>
              <a:t>在主要功能方面，</a:t>
            </a:r>
            <a:r>
              <a:rPr lang="en-US" altLang="zh-CN" dirty="0"/>
              <a:t>DWS</a:t>
            </a:r>
            <a:r>
              <a:rPr lang="zh-CN" altLang="en-US" dirty="0"/>
              <a:t>整体表现中等，其中：</a:t>
            </a:r>
            <a:endParaRPr lang="en-US" altLang="zh-CN" dirty="0"/>
          </a:p>
          <a:p>
            <a:pPr algn="l"/>
            <a:r>
              <a:rPr lang="en-US" altLang="zh-CN" dirty="0"/>
              <a:t>1</a:t>
            </a:r>
            <a:r>
              <a:rPr lang="zh-CN" altLang="en-US" dirty="0"/>
              <a:t>）基础功能：差异很小，在数据模型变更验证项，</a:t>
            </a:r>
            <a:r>
              <a:rPr lang="en-US" altLang="zh-CN" dirty="0"/>
              <a:t>DWS</a:t>
            </a:r>
            <a:r>
              <a:rPr lang="zh-CN" altLang="en-US" dirty="0"/>
              <a:t>性能上具有一定优势；</a:t>
            </a:r>
            <a:endParaRPr lang="en-US" altLang="zh-CN" dirty="0"/>
          </a:p>
          <a:p>
            <a:pPr algn="l"/>
            <a:r>
              <a:rPr lang="en-US" altLang="zh-CN" dirty="0"/>
              <a:t>2</a:t>
            </a:r>
            <a:r>
              <a:rPr lang="zh-CN" altLang="en-US" dirty="0"/>
              <a:t>）事务支持（行级锁）：厂商</a:t>
            </a:r>
            <a:r>
              <a:rPr lang="en-US" altLang="zh-CN" dirty="0"/>
              <a:t>3</a:t>
            </a:r>
            <a:r>
              <a:rPr lang="zh-CN" altLang="en-US" dirty="0"/>
              <a:t>支持较弱；</a:t>
            </a:r>
            <a:endParaRPr lang="en-US" altLang="zh-CN" dirty="0"/>
          </a:p>
          <a:p>
            <a:pPr algn="l"/>
            <a:r>
              <a:rPr lang="en-US" altLang="zh-CN" dirty="0"/>
              <a:t>3</a:t>
            </a:r>
            <a:r>
              <a:rPr lang="zh-CN" altLang="en-US" dirty="0"/>
              <a:t>）系统迁移功能：厂商</a:t>
            </a:r>
            <a:r>
              <a:rPr lang="en-US" altLang="zh-CN" dirty="0"/>
              <a:t>3</a:t>
            </a:r>
            <a:r>
              <a:rPr lang="zh-CN" altLang="en-US" dirty="0"/>
              <a:t>因为异构，整体表现较差，</a:t>
            </a:r>
            <a:r>
              <a:rPr lang="en-US" altLang="zh-CN" dirty="0"/>
              <a:t>DWS</a:t>
            </a:r>
            <a:r>
              <a:rPr lang="zh-CN" altLang="en-US" dirty="0"/>
              <a:t>在其数据迁移项上具有一定的性能优势；</a:t>
            </a:r>
            <a:endParaRPr lang="en-US" altLang="zh-CN" dirty="0"/>
          </a:p>
          <a:p>
            <a:pPr algn="l"/>
            <a:r>
              <a:rPr lang="en-US" altLang="zh-CN" dirty="0"/>
              <a:t>4</a:t>
            </a:r>
            <a:r>
              <a:rPr lang="zh-CN" altLang="en-US" dirty="0"/>
              <a:t>）图形化监控运维和可靠性方面差异不大，</a:t>
            </a:r>
            <a:r>
              <a:rPr lang="en-US" altLang="zh-CN" dirty="0"/>
              <a:t>DWS</a:t>
            </a:r>
            <a:r>
              <a:rPr lang="zh-CN" altLang="en-US" dirty="0"/>
              <a:t>因架构不同，在评分指标上表现稍弱一些；</a:t>
            </a:r>
            <a:endParaRPr lang="en-US" altLang="zh-CN" dirty="0"/>
          </a:p>
          <a:p>
            <a:r>
              <a:rPr lang="zh-CN" altLang="en-US" dirty="0"/>
              <a:t>在主要性能方面，</a:t>
            </a:r>
            <a:r>
              <a:rPr lang="en-US" altLang="zh-CN" dirty="0"/>
              <a:t>DWS</a:t>
            </a:r>
            <a:r>
              <a:rPr lang="zh-CN" altLang="en-US" dirty="0"/>
              <a:t>整体表现优异，其中：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TPC-H</a:t>
            </a:r>
            <a:r>
              <a:rPr lang="zh-CN" altLang="en-US" dirty="0"/>
              <a:t>：</a:t>
            </a:r>
            <a:r>
              <a:rPr lang="en-US" altLang="zh-CN" dirty="0"/>
              <a:t>3T</a:t>
            </a:r>
            <a:r>
              <a:rPr lang="zh-CN" altLang="en-US" dirty="0"/>
              <a:t>数据，</a:t>
            </a:r>
            <a:r>
              <a:rPr lang="en-US" altLang="zh-CN" dirty="0"/>
              <a:t>22</a:t>
            </a:r>
            <a:r>
              <a:rPr lang="zh-CN" altLang="en-US" dirty="0"/>
              <a:t>条</a:t>
            </a:r>
            <a:r>
              <a:rPr lang="en-US" altLang="zh-CN" dirty="0" err="1"/>
              <a:t>sql</a:t>
            </a:r>
            <a:r>
              <a:rPr lang="zh-CN" altLang="en-US" dirty="0"/>
              <a:t>总耗时，平均</a:t>
            </a:r>
            <a:r>
              <a:rPr lang="en-US" altLang="zh-CN" dirty="0"/>
              <a:t>470s</a:t>
            </a:r>
            <a:r>
              <a:rPr lang="zh-CN" altLang="en-US" dirty="0"/>
              <a:t>（</a:t>
            </a:r>
            <a:r>
              <a:rPr lang="en-US" altLang="zh-CN" dirty="0"/>
              <a:t>7min50s</a:t>
            </a:r>
            <a:r>
              <a:rPr lang="zh-CN" altLang="en-US" dirty="0"/>
              <a:t>），排名第一；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）业务场景：</a:t>
            </a:r>
            <a:r>
              <a:rPr lang="en-US" altLang="zh-CN" dirty="0"/>
              <a:t>6</a:t>
            </a:r>
            <a:r>
              <a:rPr lang="zh-CN" altLang="en-US" dirty="0"/>
              <a:t>个场景，排名均为前</a:t>
            </a:r>
            <a:r>
              <a:rPr lang="en-US" altLang="zh-CN" dirty="0"/>
              <a:t>3</a:t>
            </a:r>
            <a:r>
              <a:rPr lang="zh-CN" altLang="en-US" dirty="0"/>
              <a:t>名；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）资源分配：查询效率下降率仅为</a:t>
            </a:r>
            <a:r>
              <a:rPr lang="en-US" altLang="zh-CN" dirty="0"/>
              <a:t>6.8%</a:t>
            </a:r>
            <a:r>
              <a:rPr lang="zh-CN" altLang="en-US" dirty="0"/>
              <a:t>，排名第一；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）数据装载：</a:t>
            </a:r>
            <a:r>
              <a:rPr lang="en-US" altLang="zh-CN" dirty="0"/>
              <a:t>155GB</a:t>
            </a:r>
            <a:r>
              <a:rPr lang="zh-CN" altLang="en-US" dirty="0"/>
              <a:t>（</a:t>
            </a:r>
            <a:r>
              <a:rPr lang="en-US" altLang="zh-CN" dirty="0"/>
              <a:t>8</a:t>
            </a:r>
            <a:r>
              <a:rPr lang="zh-CN" altLang="en-US" dirty="0"/>
              <a:t>亿记录数）数据量，耗时</a:t>
            </a:r>
            <a:r>
              <a:rPr lang="en-US" altLang="zh-CN" dirty="0"/>
              <a:t>1min58s</a:t>
            </a:r>
            <a:r>
              <a:rPr lang="zh-CN" altLang="en-US" dirty="0"/>
              <a:t>，平均速率达</a:t>
            </a:r>
            <a:r>
              <a:rPr lang="en-US" altLang="zh-CN" dirty="0"/>
              <a:t>600w</a:t>
            </a:r>
            <a:r>
              <a:rPr lang="zh-CN" altLang="en-US" dirty="0"/>
              <a:t>记录数</a:t>
            </a:r>
            <a:r>
              <a:rPr lang="en-US" altLang="zh-CN" dirty="0"/>
              <a:t>/s</a:t>
            </a:r>
            <a:r>
              <a:rPr lang="zh-CN" altLang="en-US" dirty="0"/>
              <a:t>，排名第二；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）并发能力：在</a:t>
            </a:r>
            <a:r>
              <a:rPr lang="en-US" altLang="zh-CN" dirty="0"/>
              <a:t>20</a:t>
            </a:r>
            <a:r>
              <a:rPr lang="zh-CN" altLang="en-US" dirty="0"/>
              <a:t>并发的场景下，排名第一；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48436-0FB3-437D-A7CB-173ED19F20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dirty="0"/>
              <a:t>图表数据解读与说明：</a:t>
            </a:r>
            <a:endParaRPr lang="en-US" altLang="zh-CN" dirty="0"/>
          </a:p>
          <a:p>
            <a:pPr algn="l"/>
            <a:r>
              <a:rPr lang="zh-CN" altLang="en-US" dirty="0"/>
              <a:t>在主要功能方面，</a:t>
            </a:r>
            <a:r>
              <a:rPr lang="en-US" altLang="zh-CN" dirty="0"/>
              <a:t>DWS</a:t>
            </a:r>
            <a:r>
              <a:rPr lang="zh-CN" altLang="en-US" dirty="0"/>
              <a:t>整体表现中等，其中：</a:t>
            </a:r>
            <a:endParaRPr lang="en-US" altLang="zh-CN" dirty="0"/>
          </a:p>
          <a:p>
            <a:pPr algn="l"/>
            <a:r>
              <a:rPr lang="en-US" altLang="zh-CN" dirty="0"/>
              <a:t>1</a:t>
            </a:r>
            <a:r>
              <a:rPr lang="zh-CN" altLang="en-US" dirty="0"/>
              <a:t>）基础功能：差异很小，在数据模型变更验证项，</a:t>
            </a:r>
            <a:r>
              <a:rPr lang="en-US" altLang="zh-CN" dirty="0"/>
              <a:t>DWS</a:t>
            </a:r>
            <a:r>
              <a:rPr lang="zh-CN" altLang="en-US" dirty="0"/>
              <a:t>性能上具有一定优势；</a:t>
            </a:r>
            <a:endParaRPr lang="en-US" altLang="zh-CN" dirty="0"/>
          </a:p>
          <a:p>
            <a:pPr algn="l"/>
            <a:r>
              <a:rPr lang="en-US" altLang="zh-CN" dirty="0"/>
              <a:t>2</a:t>
            </a:r>
            <a:r>
              <a:rPr lang="zh-CN" altLang="en-US" dirty="0"/>
              <a:t>）事务支持（行级锁）：厂商</a:t>
            </a:r>
            <a:r>
              <a:rPr lang="en-US" altLang="zh-CN" dirty="0"/>
              <a:t>3</a:t>
            </a:r>
            <a:r>
              <a:rPr lang="zh-CN" altLang="en-US" dirty="0"/>
              <a:t>支持较弱；</a:t>
            </a:r>
            <a:endParaRPr lang="en-US" altLang="zh-CN" dirty="0"/>
          </a:p>
          <a:p>
            <a:pPr algn="l"/>
            <a:r>
              <a:rPr lang="en-US" altLang="zh-CN" dirty="0"/>
              <a:t>3</a:t>
            </a:r>
            <a:r>
              <a:rPr lang="zh-CN" altLang="en-US" dirty="0"/>
              <a:t>）系统迁移功能：厂商</a:t>
            </a:r>
            <a:r>
              <a:rPr lang="en-US" altLang="zh-CN" dirty="0"/>
              <a:t>3</a:t>
            </a:r>
            <a:r>
              <a:rPr lang="zh-CN" altLang="en-US" dirty="0"/>
              <a:t>因为异构，整体表现较差，</a:t>
            </a:r>
            <a:r>
              <a:rPr lang="en-US" altLang="zh-CN" dirty="0"/>
              <a:t>DWS</a:t>
            </a:r>
            <a:r>
              <a:rPr lang="zh-CN" altLang="en-US" dirty="0"/>
              <a:t>在其数据迁移项上具有一定的性能优势；</a:t>
            </a:r>
            <a:endParaRPr lang="en-US" altLang="zh-CN" dirty="0"/>
          </a:p>
          <a:p>
            <a:pPr algn="l"/>
            <a:r>
              <a:rPr lang="en-US" altLang="zh-CN" dirty="0"/>
              <a:t>4</a:t>
            </a:r>
            <a:r>
              <a:rPr lang="zh-CN" altLang="en-US" dirty="0"/>
              <a:t>）图形化监控运维和可靠性方面差异不大，</a:t>
            </a:r>
            <a:r>
              <a:rPr lang="en-US" altLang="zh-CN" dirty="0"/>
              <a:t>DWS</a:t>
            </a:r>
            <a:r>
              <a:rPr lang="zh-CN" altLang="en-US" dirty="0"/>
              <a:t>因架构不同，在评分指标上表现稍弱一些；</a:t>
            </a:r>
            <a:endParaRPr lang="en-US" altLang="zh-CN" dirty="0"/>
          </a:p>
          <a:p>
            <a:r>
              <a:rPr lang="zh-CN" altLang="en-US" dirty="0"/>
              <a:t>在主要性能方面，</a:t>
            </a:r>
            <a:r>
              <a:rPr lang="en-US" altLang="zh-CN" dirty="0"/>
              <a:t>DWS</a:t>
            </a:r>
            <a:r>
              <a:rPr lang="zh-CN" altLang="en-US" dirty="0"/>
              <a:t>整体表现优异，其中：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TPC-H</a:t>
            </a:r>
            <a:r>
              <a:rPr lang="zh-CN" altLang="en-US" dirty="0"/>
              <a:t>：</a:t>
            </a:r>
            <a:r>
              <a:rPr lang="en-US" altLang="zh-CN" dirty="0"/>
              <a:t>3T</a:t>
            </a:r>
            <a:r>
              <a:rPr lang="zh-CN" altLang="en-US" dirty="0"/>
              <a:t>数据，</a:t>
            </a:r>
            <a:r>
              <a:rPr lang="en-US" altLang="zh-CN" dirty="0"/>
              <a:t>22</a:t>
            </a:r>
            <a:r>
              <a:rPr lang="zh-CN" altLang="en-US" dirty="0"/>
              <a:t>条</a:t>
            </a:r>
            <a:r>
              <a:rPr lang="en-US" altLang="zh-CN" dirty="0" err="1"/>
              <a:t>sql</a:t>
            </a:r>
            <a:r>
              <a:rPr lang="zh-CN" altLang="en-US" dirty="0"/>
              <a:t>总耗时，平均</a:t>
            </a:r>
            <a:r>
              <a:rPr lang="en-US" altLang="zh-CN" dirty="0"/>
              <a:t>470s</a:t>
            </a:r>
            <a:r>
              <a:rPr lang="zh-CN" altLang="en-US" dirty="0"/>
              <a:t>（</a:t>
            </a:r>
            <a:r>
              <a:rPr lang="en-US" altLang="zh-CN" dirty="0"/>
              <a:t>7min50s</a:t>
            </a:r>
            <a:r>
              <a:rPr lang="zh-CN" altLang="en-US" dirty="0"/>
              <a:t>），排名第一；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）业务场景：</a:t>
            </a:r>
            <a:r>
              <a:rPr lang="en-US" altLang="zh-CN" dirty="0"/>
              <a:t>6</a:t>
            </a:r>
            <a:r>
              <a:rPr lang="zh-CN" altLang="en-US" dirty="0"/>
              <a:t>个场景，排名均为前</a:t>
            </a:r>
            <a:r>
              <a:rPr lang="en-US" altLang="zh-CN" dirty="0"/>
              <a:t>3</a:t>
            </a:r>
            <a:r>
              <a:rPr lang="zh-CN" altLang="en-US" dirty="0"/>
              <a:t>名；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）资源分配：查询效率下降率仅为</a:t>
            </a:r>
            <a:r>
              <a:rPr lang="en-US" altLang="zh-CN" dirty="0"/>
              <a:t>6.8%</a:t>
            </a:r>
            <a:r>
              <a:rPr lang="zh-CN" altLang="en-US" dirty="0"/>
              <a:t>，排名第一；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）数据装载：</a:t>
            </a:r>
            <a:r>
              <a:rPr lang="en-US" altLang="zh-CN" dirty="0"/>
              <a:t>155GB</a:t>
            </a:r>
            <a:r>
              <a:rPr lang="zh-CN" altLang="en-US" dirty="0"/>
              <a:t>（</a:t>
            </a:r>
            <a:r>
              <a:rPr lang="en-US" altLang="zh-CN" dirty="0"/>
              <a:t>8</a:t>
            </a:r>
            <a:r>
              <a:rPr lang="zh-CN" altLang="en-US" dirty="0"/>
              <a:t>亿记录数）数据量，耗时</a:t>
            </a:r>
            <a:r>
              <a:rPr lang="en-US" altLang="zh-CN" dirty="0"/>
              <a:t>1min58s</a:t>
            </a:r>
            <a:r>
              <a:rPr lang="zh-CN" altLang="en-US" dirty="0"/>
              <a:t>，平均速率达</a:t>
            </a:r>
            <a:r>
              <a:rPr lang="en-US" altLang="zh-CN" dirty="0"/>
              <a:t>600w</a:t>
            </a:r>
            <a:r>
              <a:rPr lang="zh-CN" altLang="en-US" dirty="0"/>
              <a:t>记录数</a:t>
            </a:r>
            <a:r>
              <a:rPr lang="en-US" altLang="zh-CN" dirty="0"/>
              <a:t>/s</a:t>
            </a:r>
            <a:r>
              <a:rPr lang="zh-CN" altLang="en-US" dirty="0"/>
              <a:t>，排名第二；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）并发能力：在</a:t>
            </a:r>
            <a:r>
              <a:rPr lang="en-US" altLang="zh-CN" dirty="0"/>
              <a:t>20</a:t>
            </a:r>
            <a:r>
              <a:rPr lang="zh-CN" altLang="en-US" dirty="0"/>
              <a:t>并发的场景下，排名第一；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48436-0FB3-437D-A7CB-173ED19F20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48436-0FB3-437D-A7CB-173ED19F20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48436-0FB3-437D-A7CB-173ED19F20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48436-0FB3-437D-A7CB-173ED19F20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48436-0FB3-437D-A7CB-173ED19F20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48436-0FB3-437D-A7CB-173ED19F20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48436-0FB3-437D-A7CB-173ED19F20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dirty="0"/>
              <a:t>图表数据解读与说明：</a:t>
            </a:r>
            <a:endParaRPr lang="en-US" altLang="zh-CN" dirty="0"/>
          </a:p>
          <a:p>
            <a:pPr algn="l"/>
            <a:r>
              <a:rPr lang="zh-CN" altLang="en-US" dirty="0"/>
              <a:t>在主要功能方面，</a:t>
            </a:r>
            <a:r>
              <a:rPr lang="en-US" altLang="zh-CN" dirty="0"/>
              <a:t>DWS</a:t>
            </a:r>
            <a:r>
              <a:rPr lang="zh-CN" altLang="en-US" dirty="0"/>
              <a:t>整体表现中等，其中：</a:t>
            </a:r>
            <a:endParaRPr lang="en-US" altLang="zh-CN" dirty="0"/>
          </a:p>
          <a:p>
            <a:pPr algn="l"/>
            <a:r>
              <a:rPr lang="en-US" altLang="zh-CN" dirty="0"/>
              <a:t>1</a:t>
            </a:r>
            <a:r>
              <a:rPr lang="zh-CN" altLang="en-US" dirty="0"/>
              <a:t>）基础功能：差异很小，在数据模型变更验证项，</a:t>
            </a:r>
            <a:r>
              <a:rPr lang="en-US" altLang="zh-CN" dirty="0"/>
              <a:t>DWS</a:t>
            </a:r>
            <a:r>
              <a:rPr lang="zh-CN" altLang="en-US" dirty="0"/>
              <a:t>性能上具有一定优势；</a:t>
            </a:r>
            <a:endParaRPr lang="en-US" altLang="zh-CN" dirty="0"/>
          </a:p>
          <a:p>
            <a:pPr algn="l"/>
            <a:r>
              <a:rPr lang="en-US" altLang="zh-CN" dirty="0"/>
              <a:t>2</a:t>
            </a:r>
            <a:r>
              <a:rPr lang="zh-CN" altLang="en-US" dirty="0"/>
              <a:t>）事务支持（行级锁）：厂商</a:t>
            </a:r>
            <a:r>
              <a:rPr lang="en-US" altLang="zh-CN" dirty="0"/>
              <a:t>3</a:t>
            </a:r>
            <a:r>
              <a:rPr lang="zh-CN" altLang="en-US" dirty="0"/>
              <a:t>支持较弱；</a:t>
            </a:r>
            <a:endParaRPr lang="en-US" altLang="zh-CN" dirty="0"/>
          </a:p>
          <a:p>
            <a:pPr algn="l"/>
            <a:r>
              <a:rPr lang="en-US" altLang="zh-CN" dirty="0"/>
              <a:t>3</a:t>
            </a:r>
            <a:r>
              <a:rPr lang="zh-CN" altLang="en-US" dirty="0"/>
              <a:t>）系统迁移功能：厂商</a:t>
            </a:r>
            <a:r>
              <a:rPr lang="en-US" altLang="zh-CN" dirty="0"/>
              <a:t>3</a:t>
            </a:r>
            <a:r>
              <a:rPr lang="zh-CN" altLang="en-US" dirty="0"/>
              <a:t>因为异构，整体表现较差，</a:t>
            </a:r>
            <a:r>
              <a:rPr lang="en-US" altLang="zh-CN" dirty="0"/>
              <a:t>DWS</a:t>
            </a:r>
            <a:r>
              <a:rPr lang="zh-CN" altLang="en-US" dirty="0"/>
              <a:t>在其数据迁移项上具有一定的性能优势；</a:t>
            </a:r>
            <a:endParaRPr lang="en-US" altLang="zh-CN" dirty="0"/>
          </a:p>
          <a:p>
            <a:pPr algn="l"/>
            <a:r>
              <a:rPr lang="en-US" altLang="zh-CN" dirty="0"/>
              <a:t>4</a:t>
            </a:r>
            <a:r>
              <a:rPr lang="zh-CN" altLang="en-US" dirty="0"/>
              <a:t>）图形化监控运维和可靠性方面差异不大，</a:t>
            </a:r>
            <a:r>
              <a:rPr lang="en-US" altLang="zh-CN" dirty="0"/>
              <a:t>DWS</a:t>
            </a:r>
            <a:r>
              <a:rPr lang="zh-CN" altLang="en-US" dirty="0"/>
              <a:t>因架构不同，在评分指标上表现稍弱一些；</a:t>
            </a:r>
            <a:endParaRPr lang="en-US" altLang="zh-CN" dirty="0"/>
          </a:p>
          <a:p>
            <a:r>
              <a:rPr lang="zh-CN" altLang="en-US" dirty="0"/>
              <a:t>在主要性能方面，</a:t>
            </a:r>
            <a:r>
              <a:rPr lang="en-US" altLang="zh-CN" dirty="0"/>
              <a:t>DWS</a:t>
            </a:r>
            <a:r>
              <a:rPr lang="zh-CN" altLang="en-US" dirty="0"/>
              <a:t>整体表现优异，其中：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TPC-H</a:t>
            </a:r>
            <a:r>
              <a:rPr lang="zh-CN" altLang="en-US" dirty="0"/>
              <a:t>：</a:t>
            </a:r>
            <a:r>
              <a:rPr lang="en-US" altLang="zh-CN" dirty="0"/>
              <a:t>3T</a:t>
            </a:r>
            <a:r>
              <a:rPr lang="zh-CN" altLang="en-US" dirty="0"/>
              <a:t>数据，</a:t>
            </a:r>
            <a:r>
              <a:rPr lang="en-US" altLang="zh-CN" dirty="0"/>
              <a:t>22</a:t>
            </a:r>
            <a:r>
              <a:rPr lang="zh-CN" altLang="en-US" dirty="0"/>
              <a:t>条</a:t>
            </a:r>
            <a:r>
              <a:rPr lang="en-US" altLang="zh-CN" dirty="0" err="1"/>
              <a:t>sql</a:t>
            </a:r>
            <a:r>
              <a:rPr lang="zh-CN" altLang="en-US" dirty="0"/>
              <a:t>总耗时，平均</a:t>
            </a:r>
            <a:r>
              <a:rPr lang="en-US" altLang="zh-CN" dirty="0"/>
              <a:t>470s</a:t>
            </a:r>
            <a:r>
              <a:rPr lang="zh-CN" altLang="en-US" dirty="0"/>
              <a:t>（</a:t>
            </a:r>
            <a:r>
              <a:rPr lang="en-US" altLang="zh-CN" dirty="0"/>
              <a:t>7min50s</a:t>
            </a:r>
            <a:r>
              <a:rPr lang="zh-CN" altLang="en-US" dirty="0"/>
              <a:t>），排名第一；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）业务场景：</a:t>
            </a:r>
            <a:r>
              <a:rPr lang="en-US" altLang="zh-CN" dirty="0"/>
              <a:t>6</a:t>
            </a:r>
            <a:r>
              <a:rPr lang="zh-CN" altLang="en-US" dirty="0"/>
              <a:t>个场景，排名均为前</a:t>
            </a:r>
            <a:r>
              <a:rPr lang="en-US" altLang="zh-CN" dirty="0"/>
              <a:t>3</a:t>
            </a:r>
            <a:r>
              <a:rPr lang="zh-CN" altLang="en-US" dirty="0"/>
              <a:t>名；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）资源分配：查询效率下降率仅为</a:t>
            </a:r>
            <a:r>
              <a:rPr lang="en-US" altLang="zh-CN" dirty="0"/>
              <a:t>6.8%</a:t>
            </a:r>
            <a:r>
              <a:rPr lang="zh-CN" altLang="en-US" dirty="0"/>
              <a:t>，排名第一；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）数据装载：</a:t>
            </a:r>
            <a:r>
              <a:rPr lang="en-US" altLang="zh-CN" dirty="0"/>
              <a:t>155GB</a:t>
            </a:r>
            <a:r>
              <a:rPr lang="zh-CN" altLang="en-US" dirty="0"/>
              <a:t>（</a:t>
            </a:r>
            <a:r>
              <a:rPr lang="en-US" altLang="zh-CN" dirty="0"/>
              <a:t>8</a:t>
            </a:r>
            <a:r>
              <a:rPr lang="zh-CN" altLang="en-US" dirty="0"/>
              <a:t>亿记录数）数据量，耗时</a:t>
            </a:r>
            <a:r>
              <a:rPr lang="en-US" altLang="zh-CN" dirty="0"/>
              <a:t>1min58s</a:t>
            </a:r>
            <a:r>
              <a:rPr lang="zh-CN" altLang="en-US" dirty="0"/>
              <a:t>，平均速率达</a:t>
            </a:r>
            <a:r>
              <a:rPr lang="en-US" altLang="zh-CN" dirty="0"/>
              <a:t>600w</a:t>
            </a:r>
            <a:r>
              <a:rPr lang="zh-CN" altLang="en-US" dirty="0"/>
              <a:t>记录数</a:t>
            </a:r>
            <a:r>
              <a:rPr lang="en-US" altLang="zh-CN" dirty="0"/>
              <a:t>/s</a:t>
            </a:r>
            <a:r>
              <a:rPr lang="zh-CN" altLang="en-US" dirty="0"/>
              <a:t>，排名第二；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）并发能力：在</a:t>
            </a:r>
            <a:r>
              <a:rPr lang="en-US" altLang="zh-CN" dirty="0"/>
              <a:t>20</a:t>
            </a:r>
            <a:r>
              <a:rPr lang="zh-CN" altLang="en-US" dirty="0"/>
              <a:t>并发的场景下，排名第一；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48436-0FB3-437D-A7CB-173ED19F20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dirty="0"/>
              <a:t>图表数据解读与说明：</a:t>
            </a:r>
            <a:endParaRPr lang="en-US" altLang="zh-CN" dirty="0"/>
          </a:p>
          <a:p>
            <a:pPr algn="l"/>
            <a:r>
              <a:rPr lang="zh-CN" altLang="en-US" dirty="0"/>
              <a:t>在主要功能方面，</a:t>
            </a:r>
            <a:r>
              <a:rPr lang="en-US" altLang="zh-CN" dirty="0"/>
              <a:t>DWS</a:t>
            </a:r>
            <a:r>
              <a:rPr lang="zh-CN" altLang="en-US" dirty="0"/>
              <a:t>整体表现中等，其中：</a:t>
            </a:r>
            <a:endParaRPr lang="en-US" altLang="zh-CN" dirty="0"/>
          </a:p>
          <a:p>
            <a:pPr algn="l"/>
            <a:r>
              <a:rPr lang="en-US" altLang="zh-CN" dirty="0"/>
              <a:t>1</a:t>
            </a:r>
            <a:r>
              <a:rPr lang="zh-CN" altLang="en-US" dirty="0"/>
              <a:t>）基础功能：差异很小，在数据模型变更验证项，</a:t>
            </a:r>
            <a:r>
              <a:rPr lang="en-US" altLang="zh-CN" dirty="0"/>
              <a:t>DWS</a:t>
            </a:r>
            <a:r>
              <a:rPr lang="zh-CN" altLang="en-US" dirty="0"/>
              <a:t>性能上具有一定优势；</a:t>
            </a:r>
            <a:endParaRPr lang="en-US" altLang="zh-CN" dirty="0"/>
          </a:p>
          <a:p>
            <a:pPr algn="l"/>
            <a:r>
              <a:rPr lang="en-US" altLang="zh-CN" dirty="0"/>
              <a:t>2</a:t>
            </a:r>
            <a:r>
              <a:rPr lang="zh-CN" altLang="en-US" dirty="0"/>
              <a:t>）事务支持（行级锁）：厂商</a:t>
            </a:r>
            <a:r>
              <a:rPr lang="en-US" altLang="zh-CN" dirty="0"/>
              <a:t>3</a:t>
            </a:r>
            <a:r>
              <a:rPr lang="zh-CN" altLang="en-US" dirty="0"/>
              <a:t>支持较弱；</a:t>
            </a:r>
            <a:endParaRPr lang="en-US" altLang="zh-CN" dirty="0"/>
          </a:p>
          <a:p>
            <a:pPr algn="l"/>
            <a:r>
              <a:rPr lang="en-US" altLang="zh-CN" dirty="0"/>
              <a:t>3</a:t>
            </a:r>
            <a:r>
              <a:rPr lang="zh-CN" altLang="en-US" dirty="0"/>
              <a:t>）系统迁移功能：厂商</a:t>
            </a:r>
            <a:r>
              <a:rPr lang="en-US" altLang="zh-CN" dirty="0"/>
              <a:t>3</a:t>
            </a:r>
            <a:r>
              <a:rPr lang="zh-CN" altLang="en-US" dirty="0"/>
              <a:t>因为异构，整体表现较差，</a:t>
            </a:r>
            <a:r>
              <a:rPr lang="en-US" altLang="zh-CN" dirty="0"/>
              <a:t>DWS</a:t>
            </a:r>
            <a:r>
              <a:rPr lang="zh-CN" altLang="en-US" dirty="0"/>
              <a:t>在其数据迁移项上具有一定的性能优势；</a:t>
            </a:r>
            <a:endParaRPr lang="en-US" altLang="zh-CN" dirty="0"/>
          </a:p>
          <a:p>
            <a:pPr algn="l"/>
            <a:r>
              <a:rPr lang="en-US" altLang="zh-CN" dirty="0"/>
              <a:t>4</a:t>
            </a:r>
            <a:r>
              <a:rPr lang="zh-CN" altLang="en-US" dirty="0"/>
              <a:t>）图形化监控运维和可靠性方面差异不大，</a:t>
            </a:r>
            <a:r>
              <a:rPr lang="en-US" altLang="zh-CN" dirty="0"/>
              <a:t>DWS</a:t>
            </a:r>
            <a:r>
              <a:rPr lang="zh-CN" altLang="en-US" dirty="0"/>
              <a:t>因架构不同，在评分指标上表现稍弱一些；</a:t>
            </a:r>
            <a:endParaRPr lang="en-US" altLang="zh-CN" dirty="0"/>
          </a:p>
          <a:p>
            <a:r>
              <a:rPr lang="zh-CN" altLang="en-US" dirty="0"/>
              <a:t>在主要性能方面，</a:t>
            </a:r>
            <a:r>
              <a:rPr lang="en-US" altLang="zh-CN" dirty="0"/>
              <a:t>DWS</a:t>
            </a:r>
            <a:r>
              <a:rPr lang="zh-CN" altLang="en-US" dirty="0"/>
              <a:t>整体表现优异，其中：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TPC-H</a:t>
            </a:r>
            <a:r>
              <a:rPr lang="zh-CN" altLang="en-US" dirty="0"/>
              <a:t>：</a:t>
            </a:r>
            <a:r>
              <a:rPr lang="en-US" altLang="zh-CN" dirty="0"/>
              <a:t>3T</a:t>
            </a:r>
            <a:r>
              <a:rPr lang="zh-CN" altLang="en-US" dirty="0"/>
              <a:t>数据，</a:t>
            </a:r>
            <a:r>
              <a:rPr lang="en-US" altLang="zh-CN" dirty="0"/>
              <a:t>22</a:t>
            </a:r>
            <a:r>
              <a:rPr lang="zh-CN" altLang="en-US" dirty="0"/>
              <a:t>条</a:t>
            </a:r>
            <a:r>
              <a:rPr lang="en-US" altLang="zh-CN" dirty="0" err="1"/>
              <a:t>sql</a:t>
            </a:r>
            <a:r>
              <a:rPr lang="zh-CN" altLang="en-US" dirty="0"/>
              <a:t>总耗时，平均</a:t>
            </a:r>
            <a:r>
              <a:rPr lang="en-US" altLang="zh-CN" dirty="0"/>
              <a:t>470s</a:t>
            </a:r>
            <a:r>
              <a:rPr lang="zh-CN" altLang="en-US" dirty="0"/>
              <a:t>（</a:t>
            </a:r>
            <a:r>
              <a:rPr lang="en-US" altLang="zh-CN" dirty="0"/>
              <a:t>7min50s</a:t>
            </a:r>
            <a:r>
              <a:rPr lang="zh-CN" altLang="en-US" dirty="0"/>
              <a:t>），排名第一；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）业务场景：</a:t>
            </a:r>
            <a:r>
              <a:rPr lang="en-US" altLang="zh-CN" dirty="0"/>
              <a:t>6</a:t>
            </a:r>
            <a:r>
              <a:rPr lang="zh-CN" altLang="en-US" dirty="0"/>
              <a:t>个场景，排名均为前</a:t>
            </a:r>
            <a:r>
              <a:rPr lang="en-US" altLang="zh-CN" dirty="0"/>
              <a:t>3</a:t>
            </a:r>
            <a:r>
              <a:rPr lang="zh-CN" altLang="en-US" dirty="0"/>
              <a:t>名；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）资源分配：查询效率下降率仅为</a:t>
            </a:r>
            <a:r>
              <a:rPr lang="en-US" altLang="zh-CN" dirty="0"/>
              <a:t>6.8%</a:t>
            </a:r>
            <a:r>
              <a:rPr lang="zh-CN" altLang="en-US" dirty="0"/>
              <a:t>，排名第一；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）数据装载：</a:t>
            </a:r>
            <a:r>
              <a:rPr lang="en-US" altLang="zh-CN" dirty="0"/>
              <a:t>155GB</a:t>
            </a:r>
            <a:r>
              <a:rPr lang="zh-CN" altLang="en-US" dirty="0"/>
              <a:t>（</a:t>
            </a:r>
            <a:r>
              <a:rPr lang="en-US" altLang="zh-CN" dirty="0"/>
              <a:t>8</a:t>
            </a:r>
            <a:r>
              <a:rPr lang="zh-CN" altLang="en-US" dirty="0"/>
              <a:t>亿记录数）数据量，耗时</a:t>
            </a:r>
            <a:r>
              <a:rPr lang="en-US" altLang="zh-CN" dirty="0"/>
              <a:t>1min58s</a:t>
            </a:r>
            <a:r>
              <a:rPr lang="zh-CN" altLang="en-US" dirty="0"/>
              <a:t>，平均速率达</a:t>
            </a:r>
            <a:r>
              <a:rPr lang="en-US" altLang="zh-CN" dirty="0"/>
              <a:t>600w</a:t>
            </a:r>
            <a:r>
              <a:rPr lang="zh-CN" altLang="en-US" dirty="0"/>
              <a:t>记录数</a:t>
            </a:r>
            <a:r>
              <a:rPr lang="en-US" altLang="zh-CN" dirty="0"/>
              <a:t>/s</a:t>
            </a:r>
            <a:r>
              <a:rPr lang="zh-CN" altLang="en-US" dirty="0"/>
              <a:t>，排名第二；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）并发能力：在</a:t>
            </a:r>
            <a:r>
              <a:rPr lang="en-US" altLang="zh-CN" dirty="0"/>
              <a:t>20</a:t>
            </a:r>
            <a:r>
              <a:rPr lang="zh-CN" altLang="en-US" dirty="0"/>
              <a:t>并发的场景下，排名第一；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48436-0FB3-437D-A7CB-173ED19F20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48436-0FB3-437D-A7CB-173ED19F20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 userDrawn="1"/>
        </p:nvSpPr>
        <p:spPr>
          <a:xfrm>
            <a:off x="0" y="0"/>
            <a:ext cx="10160000" cy="571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sp>
        <p:nvSpPr>
          <p:cNvPr id="59" name="椭圆 37"/>
          <p:cNvSpPr/>
          <p:nvPr userDrawn="1"/>
        </p:nvSpPr>
        <p:spPr>
          <a:xfrm rot="17471892" flipH="1">
            <a:off x="1477875" y="-3012208"/>
            <a:ext cx="9248188" cy="8092738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500" dirty="0"/>
          </a:p>
        </p:txBody>
      </p:sp>
      <p:sp>
        <p:nvSpPr>
          <p:cNvPr id="49" name="椭圆 37"/>
          <p:cNvSpPr/>
          <p:nvPr userDrawn="1"/>
        </p:nvSpPr>
        <p:spPr>
          <a:xfrm>
            <a:off x="-2943580" y="-544832"/>
            <a:ext cx="9248188" cy="8092738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500" dirty="0"/>
          </a:p>
        </p:txBody>
      </p:sp>
      <p:sp>
        <p:nvSpPr>
          <p:cNvPr id="35" name="椭圆 34"/>
          <p:cNvSpPr/>
          <p:nvPr userDrawn="1"/>
        </p:nvSpPr>
        <p:spPr>
          <a:xfrm rot="19463381">
            <a:off x="6326483" y="-821650"/>
            <a:ext cx="5283547" cy="4599663"/>
          </a:xfrm>
          <a:custGeom>
            <a:avLst/>
            <a:gdLst>
              <a:gd name="connsiteX0" fmla="*/ 0 w 8503920"/>
              <a:gd name="connsiteY0" fmla="*/ 3048000 h 6096000"/>
              <a:gd name="connsiteX1" fmla="*/ 4251960 w 8503920"/>
              <a:gd name="connsiteY1" fmla="*/ 0 h 6096000"/>
              <a:gd name="connsiteX2" fmla="*/ 8503920 w 8503920"/>
              <a:gd name="connsiteY2" fmla="*/ 3048000 h 6096000"/>
              <a:gd name="connsiteX3" fmla="*/ 4251960 w 8503920"/>
              <a:gd name="connsiteY3" fmla="*/ 6096000 h 6096000"/>
              <a:gd name="connsiteX4" fmla="*/ 0 w 8503920"/>
              <a:gd name="connsiteY4" fmla="*/ 3048000 h 6096000"/>
              <a:gd name="connsiteX0-1" fmla="*/ 0 w 8505037"/>
              <a:gd name="connsiteY0-2" fmla="*/ 2997252 h 6096078"/>
              <a:gd name="connsiteX1-3" fmla="*/ 4253077 w 8505037"/>
              <a:gd name="connsiteY1-4" fmla="*/ 40 h 6096078"/>
              <a:gd name="connsiteX2-5" fmla="*/ 8505037 w 8505037"/>
              <a:gd name="connsiteY2-6" fmla="*/ 3048040 h 6096078"/>
              <a:gd name="connsiteX3-7" fmla="*/ 4253077 w 8505037"/>
              <a:gd name="connsiteY3-8" fmla="*/ 6096040 h 6096078"/>
              <a:gd name="connsiteX4-9" fmla="*/ 0 w 8505037"/>
              <a:gd name="connsiteY4-10" fmla="*/ 2997252 h 6096078"/>
              <a:gd name="connsiteX0-11" fmla="*/ 105873 w 8610910"/>
              <a:gd name="connsiteY0-12" fmla="*/ 2997247 h 6096073"/>
              <a:gd name="connsiteX1-13" fmla="*/ 4358950 w 8610910"/>
              <a:gd name="connsiteY1-14" fmla="*/ 35 h 6096073"/>
              <a:gd name="connsiteX2-15" fmla="*/ 8610910 w 8610910"/>
              <a:gd name="connsiteY2-16" fmla="*/ 3048035 h 6096073"/>
              <a:gd name="connsiteX3-17" fmla="*/ 4358950 w 8610910"/>
              <a:gd name="connsiteY3-18" fmla="*/ 6096035 h 6096073"/>
              <a:gd name="connsiteX4-19" fmla="*/ 105873 w 8610910"/>
              <a:gd name="connsiteY4-20" fmla="*/ 2997247 h 6096073"/>
              <a:gd name="connsiteX0-21" fmla="*/ 1055 w 8506092"/>
              <a:gd name="connsiteY0-22" fmla="*/ 2997237 h 5085656"/>
              <a:gd name="connsiteX1-23" fmla="*/ 4254132 w 8506092"/>
              <a:gd name="connsiteY1-24" fmla="*/ 25 h 5085656"/>
              <a:gd name="connsiteX2-25" fmla="*/ 8506092 w 8506092"/>
              <a:gd name="connsiteY2-26" fmla="*/ 3048025 h 5085656"/>
              <a:gd name="connsiteX3-27" fmla="*/ 4640444 w 8506092"/>
              <a:gd name="connsiteY3-28" fmla="*/ 5085513 h 5085656"/>
              <a:gd name="connsiteX4-29" fmla="*/ 1055 w 8506092"/>
              <a:gd name="connsiteY4-30" fmla="*/ 2997237 h 5085656"/>
              <a:gd name="connsiteX0-31" fmla="*/ 1055 w 8506092"/>
              <a:gd name="connsiteY0-32" fmla="*/ 2997237 h 5519588"/>
              <a:gd name="connsiteX1-33" fmla="*/ 4254132 w 8506092"/>
              <a:gd name="connsiteY1-34" fmla="*/ 25 h 5519588"/>
              <a:gd name="connsiteX2-35" fmla="*/ 8506092 w 8506092"/>
              <a:gd name="connsiteY2-36" fmla="*/ 3048025 h 5519588"/>
              <a:gd name="connsiteX3-37" fmla="*/ 4640444 w 8506092"/>
              <a:gd name="connsiteY3-38" fmla="*/ 5085513 h 5519588"/>
              <a:gd name="connsiteX4-39" fmla="*/ 1055 w 8506092"/>
              <a:gd name="connsiteY4-40" fmla="*/ 2997237 h 5519588"/>
              <a:gd name="connsiteX0-41" fmla="*/ 72966 w 8578003"/>
              <a:gd name="connsiteY0-42" fmla="*/ 2997244 h 5519595"/>
              <a:gd name="connsiteX1-43" fmla="*/ 4326043 w 8578003"/>
              <a:gd name="connsiteY1-44" fmla="*/ 32 h 5519595"/>
              <a:gd name="connsiteX2-45" fmla="*/ 8578003 w 8578003"/>
              <a:gd name="connsiteY2-46" fmla="*/ 3048032 h 5519595"/>
              <a:gd name="connsiteX3-47" fmla="*/ 4712355 w 8578003"/>
              <a:gd name="connsiteY3-48" fmla="*/ 5085520 h 5519595"/>
              <a:gd name="connsiteX4-49" fmla="*/ 72966 w 8578003"/>
              <a:gd name="connsiteY4-50" fmla="*/ 2997244 h 55195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78003" h="5519595">
                <a:moveTo>
                  <a:pt x="72966" y="2997244"/>
                </a:moveTo>
                <a:cubicBezTo>
                  <a:pt x="-543503" y="1629289"/>
                  <a:pt x="2908537" y="-8433"/>
                  <a:pt x="4326043" y="32"/>
                </a:cubicBezTo>
                <a:cubicBezTo>
                  <a:pt x="5743549" y="8497"/>
                  <a:pt x="8578003" y="1364668"/>
                  <a:pt x="8578003" y="3048032"/>
                </a:cubicBezTo>
                <a:cubicBezTo>
                  <a:pt x="8578003" y="4731396"/>
                  <a:pt x="4998032" y="6307879"/>
                  <a:pt x="4712355" y="5085520"/>
                </a:cubicBezTo>
                <a:cubicBezTo>
                  <a:pt x="4426678" y="3863161"/>
                  <a:pt x="689435" y="4365199"/>
                  <a:pt x="72966" y="2997244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80000"/>
                </a:schemeClr>
              </a:gs>
              <a:gs pos="100000">
                <a:schemeClr val="accent5">
                  <a:alpha val="80000"/>
                </a:schemeClr>
              </a:gs>
              <a:gs pos="70000">
                <a:schemeClr val="accent3">
                  <a:alpha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37" name="椭圆 34"/>
          <p:cNvSpPr/>
          <p:nvPr userDrawn="1"/>
        </p:nvSpPr>
        <p:spPr>
          <a:xfrm rot="19463381">
            <a:off x="-2942391" y="2586328"/>
            <a:ext cx="5283547" cy="4599663"/>
          </a:xfrm>
          <a:custGeom>
            <a:avLst/>
            <a:gdLst>
              <a:gd name="connsiteX0" fmla="*/ 0 w 8503920"/>
              <a:gd name="connsiteY0" fmla="*/ 3048000 h 6096000"/>
              <a:gd name="connsiteX1" fmla="*/ 4251960 w 8503920"/>
              <a:gd name="connsiteY1" fmla="*/ 0 h 6096000"/>
              <a:gd name="connsiteX2" fmla="*/ 8503920 w 8503920"/>
              <a:gd name="connsiteY2" fmla="*/ 3048000 h 6096000"/>
              <a:gd name="connsiteX3" fmla="*/ 4251960 w 8503920"/>
              <a:gd name="connsiteY3" fmla="*/ 6096000 h 6096000"/>
              <a:gd name="connsiteX4" fmla="*/ 0 w 8503920"/>
              <a:gd name="connsiteY4" fmla="*/ 3048000 h 6096000"/>
              <a:gd name="connsiteX0-1" fmla="*/ 0 w 8505037"/>
              <a:gd name="connsiteY0-2" fmla="*/ 2997252 h 6096078"/>
              <a:gd name="connsiteX1-3" fmla="*/ 4253077 w 8505037"/>
              <a:gd name="connsiteY1-4" fmla="*/ 40 h 6096078"/>
              <a:gd name="connsiteX2-5" fmla="*/ 8505037 w 8505037"/>
              <a:gd name="connsiteY2-6" fmla="*/ 3048040 h 6096078"/>
              <a:gd name="connsiteX3-7" fmla="*/ 4253077 w 8505037"/>
              <a:gd name="connsiteY3-8" fmla="*/ 6096040 h 6096078"/>
              <a:gd name="connsiteX4-9" fmla="*/ 0 w 8505037"/>
              <a:gd name="connsiteY4-10" fmla="*/ 2997252 h 6096078"/>
              <a:gd name="connsiteX0-11" fmla="*/ 105873 w 8610910"/>
              <a:gd name="connsiteY0-12" fmla="*/ 2997247 h 6096073"/>
              <a:gd name="connsiteX1-13" fmla="*/ 4358950 w 8610910"/>
              <a:gd name="connsiteY1-14" fmla="*/ 35 h 6096073"/>
              <a:gd name="connsiteX2-15" fmla="*/ 8610910 w 8610910"/>
              <a:gd name="connsiteY2-16" fmla="*/ 3048035 h 6096073"/>
              <a:gd name="connsiteX3-17" fmla="*/ 4358950 w 8610910"/>
              <a:gd name="connsiteY3-18" fmla="*/ 6096035 h 6096073"/>
              <a:gd name="connsiteX4-19" fmla="*/ 105873 w 8610910"/>
              <a:gd name="connsiteY4-20" fmla="*/ 2997247 h 6096073"/>
              <a:gd name="connsiteX0-21" fmla="*/ 1055 w 8506092"/>
              <a:gd name="connsiteY0-22" fmla="*/ 2997237 h 5085656"/>
              <a:gd name="connsiteX1-23" fmla="*/ 4254132 w 8506092"/>
              <a:gd name="connsiteY1-24" fmla="*/ 25 h 5085656"/>
              <a:gd name="connsiteX2-25" fmla="*/ 8506092 w 8506092"/>
              <a:gd name="connsiteY2-26" fmla="*/ 3048025 h 5085656"/>
              <a:gd name="connsiteX3-27" fmla="*/ 4640444 w 8506092"/>
              <a:gd name="connsiteY3-28" fmla="*/ 5085513 h 5085656"/>
              <a:gd name="connsiteX4-29" fmla="*/ 1055 w 8506092"/>
              <a:gd name="connsiteY4-30" fmla="*/ 2997237 h 5085656"/>
              <a:gd name="connsiteX0-31" fmla="*/ 1055 w 8506092"/>
              <a:gd name="connsiteY0-32" fmla="*/ 2997237 h 5519588"/>
              <a:gd name="connsiteX1-33" fmla="*/ 4254132 w 8506092"/>
              <a:gd name="connsiteY1-34" fmla="*/ 25 h 5519588"/>
              <a:gd name="connsiteX2-35" fmla="*/ 8506092 w 8506092"/>
              <a:gd name="connsiteY2-36" fmla="*/ 3048025 h 5519588"/>
              <a:gd name="connsiteX3-37" fmla="*/ 4640444 w 8506092"/>
              <a:gd name="connsiteY3-38" fmla="*/ 5085513 h 5519588"/>
              <a:gd name="connsiteX4-39" fmla="*/ 1055 w 8506092"/>
              <a:gd name="connsiteY4-40" fmla="*/ 2997237 h 5519588"/>
              <a:gd name="connsiteX0-41" fmla="*/ 72966 w 8578003"/>
              <a:gd name="connsiteY0-42" fmla="*/ 2997244 h 5519595"/>
              <a:gd name="connsiteX1-43" fmla="*/ 4326043 w 8578003"/>
              <a:gd name="connsiteY1-44" fmla="*/ 32 h 5519595"/>
              <a:gd name="connsiteX2-45" fmla="*/ 8578003 w 8578003"/>
              <a:gd name="connsiteY2-46" fmla="*/ 3048032 h 5519595"/>
              <a:gd name="connsiteX3-47" fmla="*/ 4712355 w 8578003"/>
              <a:gd name="connsiteY3-48" fmla="*/ 5085520 h 5519595"/>
              <a:gd name="connsiteX4-49" fmla="*/ 72966 w 8578003"/>
              <a:gd name="connsiteY4-50" fmla="*/ 2997244 h 55195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78003" h="5519595">
                <a:moveTo>
                  <a:pt x="72966" y="2997244"/>
                </a:moveTo>
                <a:cubicBezTo>
                  <a:pt x="-543503" y="1629289"/>
                  <a:pt x="2908537" y="-8433"/>
                  <a:pt x="4326043" y="32"/>
                </a:cubicBezTo>
                <a:cubicBezTo>
                  <a:pt x="5743549" y="8497"/>
                  <a:pt x="8578003" y="1364668"/>
                  <a:pt x="8578003" y="3048032"/>
                </a:cubicBezTo>
                <a:cubicBezTo>
                  <a:pt x="8578003" y="4731396"/>
                  <a:pt x="4998032" y="6307879"/>
                  <a:pt x="4712355" y="5085520"/>
                </a:cubicBezTo>
                <a:cubicBezTo>
                  <a:pt x="4426678" y="3863161"/>
                  <a:pt x="689435" y="4365199"/>
                  <a:pt x="72966" y="2997244"/>
                </a:cubicBezTo>
                <a:close/>
              </a:path>
            </a:pathLst>
          </a:custGeom>
          <a:gradFill flip="none" rotWithShape="1">
            <a:gsLst>
              <a:gs pos="68000">
                <a:schemeClr val="accent1"/>
              </a:gs>
              <a:gs pos="0">
                <a:schemeClr val="accent5"/>
              </a:gs>
              <a:gs pos="33000">
                <a:schemeClr val="accent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38" name="椭圆 37"/>
          <p:cNvSpPr/>
          <p:nvPr userDrawn="1"/>
        </p:nvSpPr>
        <p:spPr>
          <a:xfrm>
            <a:off x="5163689" y="356293"/>
            <a:ext cx="7188619" cy="6290487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60000"/>
                </a:schemeClr>
              </a:gs>
              <a:gs pos="100000">
                <a:schemeClr val="accent5">
                  <a:alpha val="60000"/>
                </a:schemeClr>
              </a:gs>
              <a:gs pos="70000">
                <a:schemeClr val="accent3">
                  <a:alpha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500" dirty="0"/>
          </a:p>
        </p:txBody>
      </p:sp>
      <p:sp>
        <p:nvSpPr>
          <p:cNvPr id="51" name="椭圆 37"/>
          <p:cNvSpPr/>
          <p:nvPr userDrawn="1"/>
        </p:nvSpPr>
        <p:spPr>
          <a:xfrm rot="12210284">
            <a:off x="-2574005" y="-2501052"/>
            <a:ext cx="6514354" cy="5714688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  <a:gd name="connsiteX0-61" fmla="*/ 1276306 w 8559308"/>
              <a:gd name="connsiteY0-62" fmla="*/ 3736886 h 7508615"/>
              <a:gd name="connsiteX1-63" fmla="*/ 4917807 w 8559308"/>
              <a:gd name="connsiteY1-64" fmla="*/ 89446 h 7508615"/>
              <a:gd name="connsiteX2-65" fmla="*/ 8559308 w 8559308"/>
              <a:gd name="connsiteY2-66" fmla="*/ 3736886 h 7508615"/>
              <a:gd name="connsiteX3-67" fmla="*/ 4917807 w 8559308"/>
              <a:gd name="connsiteY3-68" fmla="*/ 7384326 h 7508615"/>
              <a:gd name="connsiteX4-69" fmla="*/ 1276306 w 8559308"/>
              <a:gd name="connsiteY4-70" fmla="*/ 3736886 h 75086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59308" h="7508615">
                <a:moveTo>
                  <a:pt x="1276306" y="3736886"/>
                </a:moveTo>
                <a:cubicBezTo>
                  <a:pt x="-2234531" y="2127967"/>
                  <a:pt x="2337702" y="-520154"/>
                  <a:pt x="4917807" y="89446"/>
                </a:cubicBezTo>
                <a:cubicBezTo>
                  <a:pt x="7497912" y="699046"/>
                  <a:pt x="8559308" y="1722461"/>
                  <a:pt x="8559308" y="3736886"/>
                </a:cubicBezTo>
                <a:cubicBezTo>
                  <a:pt x="8559308" y="5751311"/>
                  <a:pt x="5608152" y="8075206"/>
                  <a:pt x="4917807" y="7384326"/>
                </a:cubicBezTo>
                <a:cubicBezTo>
                  <a:pt x="4227462" y="6693446"/>
                  <a:pt x="4787143" y="5345805"/>
                  <a:pt x="1276306" y="3736886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500" dirty="0"/>
          </a:p>
        </p:txBody>
      </p:sp>
      <p:sp>
        <p:nvSpPr>
          <p:cNvPr id="88" name="椭圆 87"/>
          <p:cNvSpPr/>
          <p:nvPr userDrawn="1"/>
        </p:nvSpPr>
        <p:spPr>
          <a:xfrm>
            <a:off x="-763805" y="1408433"/>
            <a:ext cx="2453317" cy="2453317"/>
          </a:xfrm>
          <a:prstGeom prst="ellipse">
            <a:avLst/>
          </a:pr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bg2"/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500"/>
          </a:p>
        </p:txBody>
      </p:sp>
      <p:sp>
        <p:nvSpPr>
          <p:cNvPr id="89" name="椭圆 88"/>
          <p:cNvSpPr/>
          <p:nvPr userDrawn="1"/>
        </p:nvSpPr>
        <p:spPr>
          <a:xfrm>
            <a:off x="7699608" y="2659848"/>
            <a:ext cx="2362276" cy="2362276"/>
          </a:xfrm>
          <a:prstGeom prst="ellipse">
            <a:avLst/>
          </a:pr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bg2"/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500"/>
          </a:p>
        </p:txBody>
      </p:sp>
      <p:grpSp>
        <p:nvGrpSpPr>
          <p:cNvPr id="83" name="组合 82"/>
          <p:cNvGrpSpPr/>
          <p:nvPr userDrawn="1"/>
        </p:nvGrpSpPr>
        <p:grpSpPr>
          <a:xfrm>
            <a:off x="3166044" y="3516100"/>
            <a:ext cx="3827912" cy="424593"/>
            <a:chOff x="6196426" y="4074695"/>
            <a:chExt cx="4593494" cy="509512"/>
          </a:xfrm>
        </p:grpSpPr>
        <p:sp>
          <p:nvSpPr>
            <p:cNvPr id="84" name="矩形: 圆角 83"/>
            <p:cNvSpPr/>
            <p:nvPr userDrawn="1"/>
          </p:nvSpPr>
          <p:spPr>
            <a:xfrm>
              <a:off x="6196426" y="4074695"/>
              <a:ext cx="4593494" cy="50951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  <p:pic>
          <p:nvPicPr>
            <p:cNvPr id="85" name="图片 8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37682" y="4167878"/>
              <a:ext cx="3710981" cy="321597"/>
            </a:xfrm>
            <a:prstGeom prst="rect">
              <a:avLst/>
            </a:prstGeom>
          </p:spPr>
        </p:pic>
      </p:grpSp>
      <p:sp>
        <p:nvSpPr>
          <p:cNvPr id="61" name="椭圆 60"/>
          <p:cNvSpPr/>
          <p:nvPr userDrawn="1"/>
        </p:nvSpPr>
        <p:spPr>
          <a:xfrm>
            <a:off x="7555679" y="4004040"/>
            <a:ext cx="1354667" cy="1354667"/>
          </a:xfrm>
          <a:prstGeom prst="ellipse">
            <a:avLst/>
          </a:prstGeom>
          <a:gradFill flip="none" rotWithShape="1">
            <a:gsLst>
              <a:gs pos="35000">
                <a:schemeClr val="accent1">
                  <a:alpha val="60000"/>
                </a:schemeClr>
              </a:gs>
              <a:gs pos="83000">
                <a:schemeClr val="bg1"/>
              </a:gs>
              <a:gs pos="100000">
                <a:schemeClr val="accent5">
                  <a:alpha val="60000"/>
                </a:schemeClr>
              </a:gs>
              <a:gs pos="70000">
                <a:schemeClr val="accent3">
                  <a:alpha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500"/>
          </a:p>
        </p:txBody>
      </p:sp>
      <p:grpSp>
        <p:nvGrpSpPr>
          <p:cNvPr id="62" name="组合 61"/>
          <p:cNvGrpSpPr/>
          <p:nvPr userDrawn="1"/>
        </p:nvGrpSpPr>
        <p:grpSpPr>
          <a:xfrm>
            <a:off x="988347" y="1857224"/>
            <a:ext cx="8183306" cy="2010648"/>
            <a:chOff x="1091873" y="2360846"/>
            <a:chExt cx="9819967" cy="2412777"/>
          </a:xfrm>
        </p:grpSpPr>
        <p:grpSp>
          <p:nvGrpSpPr>
            <p:cNvPr id="63" name="组合 62"/>
            <p:cNvGrpSpPr/>
            <p:nvPr userDrawn="1"/>
          </p:nvGrpSpPr>
          <p:grpSpPr>
            <a:xfrm>
              <a:off x="1091873" y="2511249"/>
              <a:ext cx="3152486" cy="2262374"/>
              <a:chOff x="1235051" y="2551889"/>
              <a:chExt cx="3152486" cy="2262374"/>
            </a:xfrm>
          </p:grpSpPr>
          <p:sp>
            <p:nvSpPr>
              <p:cNvPr id="80" name="文本框 79"/>
              <p:cNvSpPr txBox="1"/>
              <p:nvPr userDrawn="1"/>
            </p:nvSpPr>
            <p:spPr>
              <a:xfrm>
                <a:off x="1235051" y="2856804"/>
                <a:ext cx="2874847" cy="1957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5000" dirty="0">
                    <a:solidFill>
                      <a:schemeClr val="bg1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</a:rPr>
                  <a:t>HELLO_</a:t>
                </a:r>
                <a:endParaRPr lang="zh-CN" altLang="en-US" sz="5000" dirty="0">
                  <a:solidFill>
                    <a:schemeClr val="bg1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  <p:sp>
            <p:nvSpPr>
              <p:cNvPr id="82" name="文本框 81"/>
              <p:cNvSpPr txBox="1"/>
              <p:nvPr userDrawn="1"/>
            </p:nvSpPr>
            <p:spPr>
              <a:xfrm>
                <a:off x="1235051" y="2551889"/>
                <a:ext cx="3152486" cy="4186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1665" dirty="0">
                    <a:solidFill>
                      <a:schemeClr val="bg1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</a:rPr>
                  <a:t>呈现数据</a:t>
                </a:r>
                <a:r>
                  <a:rPr lang="zh-CN" altLang="en-US" sz="1665" b="1" dirty="0">
                    <a:solidFill>
                      <a:schemeClr val="accent2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</a:rPr>
                  <a:t>智能</a:t>
                </a:r>
                <a:r>
                  <a:rPr lang="zh-CN" altLang="en-US" sz="1665" kern="1200" dirty="0">
                    <a:solidFill>
                      <a:schemeClr val="bg1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  <a:cs typeface="+mn-cs"/>
                  </a:rPr>
                  <a:t>简约</a:t>
                </a:r>
                <a:r>
                  <a:rPr lang="zh-CN" altLang="en-US" sz="1665" dirty="0">
                    <a:solidFill>
                      <a:schemeClr val="bg1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</a:rPr>
                  <a:t>之美</a:t>
                </a:r>
                <a:endParaRPr lang="zh-CN" altLang="en-US" sz="1665" dirty="0">
                  <a:solidFill>
                    <a:schemeClr val="bg1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</p:grpSp>
        <p:sp>
          <p:nvSpPr>
            <p:cNvPr id="66" name="文本框 65"/>
            <p:cNvSpPr txBox="1"/>
            <p:nvPr userDrawn="1"/>
          </p:nvSpPr>
          <p:spPr>
            <a:xfrm>
              <a:off x="3817299" y="2360846"/>
              <a:ext cx="7094541" cy="158812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flat" dir="t"/>
              </a:scene3d>
              <a:sp3d prstMaterial="matte">
                <a:bevelT w="0" h="0"/>
                <a:bevelB w="0" h="0"/>
              </a:sp3d>
            </a:bodyPr>
            <a:lstStyle/>
            <a:p>
              <a:r>
                <a:rPr lang="en-US" altLang="zh-CN" sz="8000" dirty="0">
                  <a:gradFill flip="none" rotWithShape="1">
                    <a:gsLst>
                      <a:gs pos="84000">
                        <a:schemeClr val="accent2"/>
                      </a:gs>
                      <a:gs pos="46000">
                        <a:schemeClr val="bg1"/>
                      </a:gs>
                      <a:gs pos="93000">
                        <a:schemeClr val="bg2"/>
                      </a:gs>
                      <a:gs pos="99000">
                        <a:schemeClr val="bg1"/>
                      </a:gs>
                      <a:gs pos="28000">
                        <a:schemeClr val="accent5"/>
                      </a:gs>
                      <a:gs pos="19000">
                        <a:schemeClr val="bg2"/>
                      </a:gs>
                      <a:gs pos="75000">
                        <a:schemeClr val="bg2"/>
                      </a:gs>
                      <a:gs pos="0">
                        <a:schemeClr val="bg1"/>
                      </a:gs>
                    </a:gsLst>
                    <a:path path="circle">
                      <a:fillToRect t="100000" r="100000"/>
                    </a:path>
                    <a:tileRect l="-100000" b="-100000"/>
                  </a:gradFill>
                  <a:effectLst>
                    <a:outerShdw blurRad="50800" dist="38100" dir="2700000" sx="101000" sy="101000" algn="tl" rotWithShape="0">
                      <a:schemeClr val="accent1">
                        <a:alpha val="60000"/>
                      </a:schemeClr>
                    </a:outerShdw>
                  </a:effectLst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Dataknown</a:t>
              </a:r>
              <a:endParaRPr lang="zh-CN" altLang="en-US" sz="8000" dirty="0">
                <a:gradFill flip="none" rotWithShape="1">
                  <a:gsLst>
                    <a:gs pos="84000">
                      <a:schemeClr val="accent2"/>
                    </a:gs>
                    <a:gs pos="46000">
                      <a:schemeClr val="bg1"/>
                    </a:gs>
                    <a:gs pos="93000">
                      <a:schemeClr val="bg2"/>
                    </a:gs>
                    <a:gs pos="99000">
                      <a:schemeClr val="bg1"/>
                    </a:gs>
                    <a:gs pos="28000">
                      <a:schemeClr val="accent5"/>
                    </a:gs>
                    <a:gs pos="19000">
                      <a:schemeClr val="bg2"/>
                    </a:gs>
                    <a:gs pos="75000">
                      <a:schemeClr val="bg2"/>
                    </a:gs>
                    <a:gs pos="0">
                      <a:schemeClr val="bg1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effectLst>
                  <a:outerShdw blurRad="50800" dist="38100" dir="2700000" sx="101000" sy="101000" algn="tl" rotWithShape="0">
                    <a:schemeClr val="accent1">
                      <a:alpha val="60000"/>
                    </a:scheme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 userDrawn="1"/>
        </p:nvSpPr>
        <p:spPr>
          <a:xfrm>
            <a:off x="0" y="0"/>
            <a:ext cx="10160000" cy="571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sp>
        <p:nvSpPr>
          <p:cNvPr id="59" name="椭圆 37"/>
          <p:cNvSpPr/>
          <p:nvPr userDrawn="1"/>
        </p:nvSpPr>
        <p:spPr>
          <a:xfrm rot="17471892" flipH="1">
            <a:off x="1477875" y="-3012208"/>
            <a:ext cx="9248188" cy="8092738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500" dirty="0"/>
          </a:p>
        </p:txBody>
      </p:sp>
      <p:sp>
        <p:nvSpPr>
          <p:cNvPr id="49" name="椭圆 37"/>
          <p:cNvSpPr/>
          <p:nvPr userDrawn="1"/>
        </p:nvSpPr>
        <p:spPr>
          <a:xfrm>
            <a:off x="-2943580" y="-544832"/>
            <a:ext cx="9248188" cy="8092738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500" dirty="0"/>
          </a:p>
        </p:txBody>
      </p:sp>
      <p:sp>
        <p:nvSpPr>
          <p:cNvPr id="35" name="椭圆 34"/>
          <p:cNvSpPr/>
          <p:nvPr userDrawn="1"/>
        </p:nvSpPr>
        <p:spPr>
          <a:xfrm rot="19463381">
            <a:off x="6326483" y="-821650"/>
            <a:ext cx="5283547" cy="4599663"/>
          </a:xfrm>
          <a:custGeom>
            <a:avLst/>
            <a:gdLst>
              <a:gd name="connsiteX0" fmla="*/ 0 w 8503920"/>
              <a:gd name="connsiteY0" fmla="*/ 3048000 h 6096000"/>
              <a:gd name="connsiteX1" fmla="*/ 4251960 w 8503920"/>
              <a:gd name="connsiteY1" fmla="*/ 0 h 6096000"/>
              <a:gd name="connsiteX2" fmla="*/ 8503920 w 8503920"/>
              <a:gd name="connsiteY2" fmla="*/ 3048000 h 6096000"/>
              <a:gd name="connsiteX3" fmla="*/ 4251960 w 8503920"/>
              <a:gd name="connsiteY3" fmla="*/ 6096000 h 6096000"/>
              <a:gd name="connsiteX4" fmla="*/ 0 w 8503920"/>
              <a:gd name="connsiteY4" fmla="*/ 3048000 h 6096000"/>
              <a:gd name="connsiteX0-1" fmla="*/ 0 w 8505037"/>
              <a:gd name="connsiteY0-2" fmla="*/ 2997252 h 6096078"/>
              <a:gd name="connsiteX1-3" fmla="*/ 4253077 w 8505037"/>
              <a:gd name="connsiteY1-4" fmla="*/ 40 h 6096078"/>
              <a:gd name="connsiteX2-5" fmla="*/ 8505037 w 8505037"/>
              <a:gd name="connsiteY2-6" fmla="*/ 3048040 h 6096078"/>
              <a:gd name="connsiteX3-7" fmla="*/ 4253077 w 8505037"/>
              <a:gd name="connsiteY3-8" fmla="*/ 6096040 h 6096078"/>
              <a:gd name="connsiteX4-9" fmla="*/ 0 w 8505037"/>
              <a:gd name="connsiteY4-10" fmla="*/ 2997252 h 6096078"/>
              <a:gd name="connsiteX0-11" fmla="*/ 105873 w 8610910"/>
              <a:gd name="connsiteY0-12" fmla="*/ 2997247 h 6096073"/>
              <a:gd name="connsiteX1-13" fmla="*/ 4358950 w 8610910"/>
              <a:gd name="connsiteY1-14" fmla="*/ 35 h 6096073"/>
              <a:gd name="connsiteX2-15" fmla="*/ 8610910 w 8610910"/>
              <a:gd name="connsiteY2-16" fmla="*/ 3048035 h 6096073"/>
              <a:gd name="connsiteX3-17" fmla="*/ 4358950 w 8610910"/>
              <a:gd name="connsiteY3-18" fmla="*/ 6096035 h 6096073"/>
              <a:gd name="connsiteX4-19" fmla="*/ 105873 w 8610910"/>
              <a:gd name="connsiteY4-20" fmla="*/ 2997247 h 6096073"/>
              <a:gd name="connsiteX0-21" fmla="*/ 1055 w 8506092"/>
              <a:gd name="connsiteY0-22" fmla="*/ 2997237 h 5085656"/>
              <a:gd name="connsiteX1-23" fmla="*/ 4254132 w 8506092"/>
              <a:gd name="connsiteY1-24" fmla="*/ 25 h 5085656"/>
              <a:gd name="connsiteX2-25" fmla="*/ 8506092 w 8506092"/>
              <a:gd name="connsiteY2-26" fmla="*/ 3048025 h 5085656"/>
              <a:gd name="connsiteX3-27" fmla="*/ 4640444 w 8506092"/>
              <a:gd name="connsiteY3-28" fmla="*/ 5085513 h 5085656"/>
              <a:gd name="connsiteX4-29" fmla="*/ 1055 w 8506092"/>
              <a:gd name="connsiteY4-30" fmla="*/ 2997237 h 5085656"/>
              <a:gd name="connsiteX0-31" fmla="*/ 1055 w 8506092"/>
              <a:gd name="connsiteY0-32" fmla="*/ 2997237 h 5519588"/>
              <a:gd name="connsiteX1-33" fmla="*/ 4254132 w 8506092"/>
              <a:gd name="connsiteY1-34" fmla="*/ 25 h 5519588"/>
              <a:gd name="connsiteX2-35" fmla="*/ 8506092 w 8506092"/>
              <a:gd name="connsiteY2-36" fmla="*/ 3048025 h 5519588"/>
              <a:gd name="connsiteX3-37" fmla="*/ 4640444 w 8506092"/>
              <a:gd name="connsiteY3-38" fmla="*/ 5085513 h 5519588"/>
              <a:gd name="connsiteX4-39" fmla="*/ 1055 w 8506092"/>
              <a:gd name="connsiteY4-40" fmla="*/ 2997237 h 5519588"/>
              <a:gd name="connsiteX0-41" fmla="*/ 72966 w 8578003"/>
              <a:gd name="connsiteY0-42" fmla="*/ 2997244 h 5519595"/>
              <a:gd name="connsiteX1-43" fmla="*/ 4326043 w 8578003"/>
              <a:gd name="connsiteY1-44" fmla="*/ 32 h 5519595"/>
              <a:gd name="connsiteX2-45" fmla="*/ 8578003 w 8578003"/>
              <a:gd name="connsiteY2-46" fmla="*/ 3048032 h 5519595"/>
              <a:gd name="connsiteX3-47" fmla="*/ 4712355 w 8578003"/>
              <a:gd name="connsiteY3-48" fmla="*/ 5085520 h 5519595"/>
              <a:gd name="connsiteX4-49" fmla="*/ 72966 w 8578003"/>
              <a:gd name="connsiteY4-50" fmla="*/ 2997244 h 55195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78003" h="5519595">
                <a:moveTo>
                  <a:pt x="72966" y="2997244"/>
                </a:moveTo>
                <a:cubicBezTo>
                  <a:pt x="-543503" y="1629289"/>
                  <a:pt x="2908537" y="-8433"/>
                  <a:pt x="4326043" y="32"/>
                </a:cubicBezTo>
                <a:cubicBezTo>
                  <a:pt x="5743549" y="8497"/>
                  <a:pt x="8578003" y="1364668"/>
                  <a:pt x="8578003" y="3048032"/>
                </a:cubicBezTo>
                <a:cubicBezTo>
                  <a:pt x="8578003" y="4731396"/>
                  <a:pt x="4998032" y="6307879"/>
                  <a:pt x="4712355" y="5085520"/>
                </a:cubicBezTo>
                <a:cubicBezTo>
                  <a:pt x="4426678" y="3863161"/>
                  <a:pt x="689435" y="4365199"/>
                  <a:pt x="72966" y="2997244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80000"/>
                </a:schemeClr>
              </a:gs>
              <a:gs pos="100000">
                <a:schemeClr val="accent5">
                  <a:alpha val="80000"/>
                </a:schemeClr>
              </a:gs>
              <a:gs pos="70000">
                <a:schemeClr val="accent3">
                  <a:alpha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37" name="椭圆 34"/>
          <p:cNvSpPr/>
          <p:nvPr userDrawn="1"/>
        </p:nvSpPr>
        <p:spPr>
          <a:xfrm rot="19463381">
            <a:off x="-2942391" y="2586328"/>
            <a:ext cx="5283547" cy="4599663"/>
          </a:xfrm>
          <a:custGeom>
            <a:avLst/>
            <a:gdLst>
              <a:gd name="connsiteX0" fmla="*/ 0 w 8503920"/>
              <a:gd name="connsiteY0" fmla="*/ 3048000 h 6096000"/>
              <a:gd name="connsiteX1" fmla="*/ 4251960 w 8503920"/>
              <a:gd name="connsiteY1" fmla="*/ 0 h 6096000"/>
              <a:gd name="connsiteX2" fmla="*/ 8503920 w 8503920"/>
              <a:gd name="connsiteY2" fmla="*/ 3048000 h 6096000"/>
              <a:gd name="connsiteX3" fmla="*/ 4251960 w 8503920"/>
              <a:gd name="connsiteY3" fmla="*/ 6096000 h 6096000"/>
              <a:gd name="connsiteX4" fmla="*/ 0 w 8503920"/>
              <a:gd name="connsiteY4" fmla="*/ 3048000 h 6096000"/>
              <a:gd name="connsiteX0-1" fmla="*/ 0 w 8505037"/>
              <a:gd name="connsiteY0-2" fmla="*/ 2997252 h 6096078"/>
              <a:gd name="connsiteX1-3" fmla="*/ 4253077 w 8505037"/>
              <a:gd name="connsiteY1-4" fmla="*/ 40 h 6096078"/>
              <a:gd name="connsiteX2-5" fmla="*/ 8505037 w 8505037"/>
              <a:gd name="connsiteY2-6" fmla="*/ 3048040 h 6096078"/>
              <a:gd name="connsiteX3-7" fmla="*/ 4253077 w 8505037"/>
              <a:gd name="connsiteY3-8" fmla="*/ 6096040 h 6096078"/>
              <a:gd name="connsiteX4-9" fmla="*/ 0 w 8505037"/>
              <a:gd name="connsiteY4-10" fmla="*/ 2997252 h 6096078"/>
              <a:gd name="connsiteX0-11" fmla="*/ 105873 w 8610910"/>
              <a:gd name="connsiteY0-12" fmla="*/ 2997247 h 6096073"/>
              <a:gd name="connsiteX1-13" fmla="*/ 4358950 w 8610910"/>
              <a:gd name="connsiteY1-14" fmla="*/ 35 h 6096073"/>
              <a:gd name="connsiteX2-15" fmla="*/ 8610910 w 8610910"/>
              <a:gd name="connsiteY2-16" fmla="*/ 3048035 h 6096073"/>
              <a:gd name="connsiteX3-17" fmla="*/ 4358950 w 8610910"/>
              <a:gd name="connsiteY3-18" fmla="*/ 6096035 h 6096073"/>
              <a:gd name="connsiteX4-19" fmla="*/ 105873 w 8610910"/>
              <a:gd name="connsiteY4-20" fmla="*/ 2997247 h 6096073"/>
              <a:gd name="connsiteX0-21" fmla="*/ 1055 w 8506092"/>
              <a:gd name="connsiteY0-22" fmla="*/ 2997237 h 5085656"/>
              <a:gd name="connsiteX1-23" fmla="*/ 4254132 w 8506092"/>
              <a:gd name="connsiteY1-24" fmla="*/ 25 h 5085656"/>
              <a:gd name="connsiteX2-25" fmla="*/ 8506092 w 8506092"/>
              <a:gd name="connsiteY2-26" fmla="*/ 3048025 h 5085656"/>
              <a:gd name="connsiteX3-27" fmla="*/ 4640444 w 8506092"/>
              <a:gd name="connsiteY3-28" fmla="*/ 5085513 h 5085656"/>
              <a:gd name="connsiteX4-29" fmla="*/ 1055 w 8506092"/>
              <a:gd name="connsiteY4-30" fmla="*/ 2997237 h 5085656"/>
              <a:gd name="connsiteX0-31" fmla="*/ 1055 w 8506092"/>
              <a:gd name="connsiteY0-32" fmla="*/ 2997237 h 5519588"/>
              <a:gd name="connsiteX1-33" fmla="*/ 4254132 w 8506092"/>
              <a:gd name="connsiteY1-34" fmla="*/ 25 h 5519588"/>
              <a:gd name="connsiteX2-35" fmla="*/ 8506092 w 8506092"/>
              <a:gd name="connsiteY2-36" fmla="*/ 3048025 h 5519588"/>
              <a:gd name="connsiteX3-37" fmla="*/ 4640444 w 8506092"/>
              <a:gd name="connsiteY3-38" fmla="*/ 5085513 h 5519588"/>
              <a:gd name="connsiteX4-39" fmla="*/ 1055 w 8506092"/>
              <a:gd name="connsiteY4-40" fmla="*/ 2997237 h 5519588"/>
              <a:gd name="connsiteX0-41" fmla="*/ 72966 w 8578003"/>
              <a:gd name="connsiteY0-42" fmla="*/ 2997244 h 5519595"/>
              <a:gd name="connsiteX1-43" fmla="*/ 4326043 w 8578003"/>
              <a:gd name="connsiteY1-44" fmla="*/ 32 h 5519595"/>
              <a:gd name="connsiteX2-45" fmla="*/ 8578003 w 8578003"/>
              <a:gd name="connsiteY2-46" fmla="*/ 3048032 h 5519595"/>
              <a:gd name="connsiteX3-47" fmla="*/ 4712355 w 8578003"/>
              <a:gd name="connsiteY3-48" fmla="*/ 5085520 h 5519595"/>
              <a:gd name="connsiteX4-49" fmla="*/ 72966 w 8578003"/>
              <a:gd name="connsiteY4-50" fmla="*/ 2997244 h 55195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78003" h="5519595">
                <a:moveTo>
                  <a:pt x="72966" y="2997244"/>
                </a:moveTo>
                <a:cubicBezTo>
                  <a:pt x="-543503" y="1629289"/>
                  <a:pt x="2908537" y="-8433"/>
                  <a:pt x="4326043" y="32"/>
                </a:cubicBezTo>
                <a:cubicBezTo>
                  <a:pt x="5743549" y="8497"/>
                  <a:pt x="8578003" y="1364668"/>
                  <a:pt x="8578003" y="3048032"/>
                </a:cubicBezTo>
                <a:cubicBezTo>
                  <a:pt x="8578003" y="4731396"/>
                  <a:pt x="4998032" y="6307879"/>
                  <a:pt x="4712355" y="5085520"/>
                </a:cubicBezTo>
                <a:cubicBezTo>
                  <a:pt x="4426678" y="3863161"/>
                  <a:pt x="689435" y="4365199"/>
                  <a:pt x="72966" y="2997244"/>
                </a:cubicBezTo>
                <a:close/>
              </a:path>
            </a:pathLst>
          </a:custGeom>
          <a:gradFill flip="none" rotWithShape="1">
            <a:gsLst>
              <a:gs pos="68000">
                <a:schemeClr val="accent1"/>
              </a:gs>
              <a:gs pos="0">
                <a:schemeClr val="accent5"/>
              </a:gs>
              <a:gs pos="33000">
                <a:schemeClr val="accent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38" name="椭圆 37"/>
          <p:cNvSpPr/>
          <p:nvPr userDrawn="1"/>
        </p:nvSpPr>
        <p:spPr>
          <a:xfrm>
            <a:off x="5163689" y="356293"/>
            <a:ext cx="7188619" cy="6290487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60000"/>
                </a:schemeClr>
              </a:gs>
              <a:gs pos="100000">
                <a:schemeClr val="accent5">
                  <a:alpha val="60000"/>
                </a:schemeClr>
              </a:gs>
              <a:gs pos="70000">
                <a:schemeClr val="accent3">
                  <a:alpha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500" dirty="0"/>
          </a:p>
        </p:txBody>
      </p:sp>
      <p:sp>
        <p:nvSpPr>
          <p:cNvPr id="51" name="椭圆 37"/>
          <p:cNvSpPr/>
          <p:nvPr userDrawn="1"/>
        </p:nvSpPr>
        <p:spPr>
          <a:xfrm rot="12210284">
            <a:off x="-2574005" y="-2501052"/>
            <a:ext cx="6514354" cy="5714688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  <a:gd name="connsiteX0-61" fmla="*/ 1276306 w 8559308"/>
              <a:gd name="connsiteY0-62" fmla="*/ 3736886 h 7508615"/>
              <a:gd name="connsiteX1-63" fmla="*/ 4917807 w 8559308"/>
              <a:gd name="connsiteY1-64" fmla="*/ 89446 h 7508615"/>
              <a:gd name="connsiteX2-65" fmla="*/ 8559308 w 8559308"/>
              <a:gd name="connsiteY2-66" fmla="*/ 3736886 h 7508615"/>
              <a:gd name="connsiteX3-67" fmla="*/ 4917807 w 8559308"/>
              <a:gd name="connsiteY3-68" fmla="*/ 7384326 h 7508615"/>
              <a:gd name="connsiteX4-69" fmla="*/ 1276306 w 8559308"/>
              <a:gd name="connsiteY4-70" fmla="*/ 3736886 h 75086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59308" h="7508615">
                <a:moveTo>
                  <a:pt x="1276306" y="3736886"/>
                </a:moveTo>
                <a:cubicBezTo>
                  <a:pt x="-2234531" y="2127967"/>
                  <a:pt x="2337702" y="-520154"/>
                  <a:pt x="4917807" y="89446"/>
                </a:cubicBezTo>
                <a:cubicBezTo>
                  <a:pt x="7497912" y="699046"/>
                  <a:pt x="8559308" y="1722461"/>
                  <a:pt x="8559308" y="3736886"/>
                </a:cubicBezTo>
                <a:cubicBezTo>
                  <a:pt x="8559308" y="5751311"/>
                  <a:pt x="5608152" y="8075206"/>
                  <a:pt x="4917807" y="7384326"/>
                </a:cubicBezTo>
                <a:cubicBezTo>
                  <a:pt x="4227462" y="6693446"/>
                  <a:pt x="4787143" y="5345805"/>
                  <a:pt x="1276306" y="3736886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 userDrawn="1"/>
        </p:nvSpPr>
        <p:spPr>
          <a:xfrm>
            <a:off x="0" y="0"/>
            <a:ext cx="10160000" cy="571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sp>
        <p:nvSpPr>
          <p:cNvPr id="59" name="椭圆 37"/>
          <p:cNvSpPr/>
          <p:nvPr userDrawn="1"/>
        </p:nvSpPr>
        <p:spPr>
          <a:xfrm rot="17471892" flipH="1">
            <a:off x="1477875" y="-3012208"/>
            <a:ext cx="9248188" cy="8092738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500" dirty="0"/>
          </a:p>
        </p:txBody>
      </p:sp>
      <p:sp>
        <p:nvSpPr>
          <p:cNvPr id="49" name="椭圆 37"/>
          <p:cNvSpPr/>
          <p:nvPr userDrawn="1"/>
        </p:nvSpPr>
        <p:spPr>
          <a:xfrm>
            <a:off x="-2943580" y="-544832"/>
            <a:ext cx="7905576" cy="8092738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500" dirty="0"/>
          </a:p>
        </p:txBody>
      </p:sp>
      <p:sp>
        <p:nvSpPr>
          <p:cNvPr id="35" name="椭圆 34"/>
          <p:cNvSpPr/>
          <p:nvPr userDrawn="1"/>
        </p:nvSpPr>
        <p:spPr>
          <a:xfrm rot="19463381">
            <a:off x="6326483" y="-821650"/>
            <a:ext cx="5283547" cy="4599663"/>
          </a:xfrm>
          <a:custGeom>
            <a:avLst/>
            <a:gdLst>
              <a:gd name="connsiteX0" fmla="*/ 0 w 8503920"/>
              <a:gd name="connsiteY0" fmla="*/ 3048000 h 6096000"/>
              <a:gd name="connsiteX1" fmla="*/ 4251960 w 8503920"/>
              <a:gd name="connsiteY1" fmla="*/ 0 h 6096000"/>
              <a:gd name="connsiteX2" fmla="*/ 8503920 w 8503920"/>
              <a:gd name="connsiteY2" fmla="*/ 3048000 h 6096000"/>
              <a:gd name="connsiteX3" fmla="*/ 4251960 w 8503920"/>
              <a:gd name="connsiteY3" fmla="*/ 6096000 h 6096000"/>
              <a:gd name="connsiteX4" fmla="*/ 0 w 8503920"/>
              <a:gd name="connsiteY4" fmla="*/ 3048000 h 6096000"/>
              <a:gd name="connsiteX0-1" fmla="*/ 0 w 8505037"/>
              <a:gd name="connsiteY0-2" fmla="*/ 2997252 h 6096078"/>
              <a:gd name="connsiteX1-3" fmla="*/ 4253077 w 8505037"/>
              <a:gd name="connsiteY1-4" fmla="*/ 40 h 6096078"/>
              <a:gd name="connsiteX2-5" fmla="*/ 8505037 w 8505037"/>
              <a:gd name="connsiteY2-6" fmla="*/ 3048040 h 6096078"/>
              <a:gd name="connsiteX3-7" fmla="*/ 4253077 w 8505037"/>
              <a:gd name="connsiteY3-8" fmla="*/ 6096040 h 6096078"/>
              <a:gd name="connsiteX4-9" fmla="*/ 0 w 8505037"/>
              <a:gd name="connsiteY4-10" fmla="*/ 2997252 h 6096078"/>
              <a:gd name="connsiteX0-11" fmla="*/ 105873 w 8610910"/>
              <a:gd name="connsiteY0-12" fmla="*/ 2997247 h 6096073"/>
              <a:gd name="connsiteX1-13" fmla="*/ 4358950 w 8610910"/>
              <a:gd name="connsiteY1-14" fmla="*/ 35 h 6096073"/>
              <a:gd name="connsiteX2-15" fmla="*/ 8610910 w 8610910"/>
              <a:gd name="connsiteY2-16" fmla="*/ 3048035 h 6096073"/>
              <a:gd name="connsiteX3-17" fmla="*/ 4358950 w 8610910"/>
              <a:gd name="connsiteY3-18" fmla="*/ 6096035 h 6096073"/>
              <a:gd name="connsiteX4-19" fmla="*/ 105873 w 8610910"/>
              <a:gd name="connsiteY4-20" fmla="*/ 2997247 h 6096073"/>
              <a:gd name="connsiteX0-21" fmla="*/ 1055 w 8506092"/>
              <a:gd name="connsiteY0-22" fmla="*/ 2997237 h 5085656"/>
              <a:gd name="connsiteX1-23" fmla="*/ 4254132 w 8506092"/>
              <a:gd name="connsiteY1-24" fmla="*/ 25 h 5085656"/>
              <a:gd name="connsiteX2-25" fmla="*/ 8506092 w 8506092"/>
              <a:gd name="connsiteY2-26" fmla="*/ 3048025 h 5085656"/>
              <a:gd name="connsiteX3-27" fmla="*/ 4640444 w 8506092"/>
              <a:gd name="connsiteY3-28" fmla="*/ 5085513 h 5085656"/>
              <a:gd name="connsiteX4-29" fmla="*/ 1055 w 8506092"/>
              <a:gd name="connsiteY4-30" fmla="*/ 2997237 h 5085656"/>
              <a:gd name="connsiteX0-31" fmla="*/ 1055 w 8506092"/>
              <a:gd name="connsiteY0-32" fmla="*/ 2997237 h 5519588"/>
              <a:gd name="connsiteX1-33" fmla="*/ 4254132 w 8506092"/>
              <a:gd name="connsiteY1-34" fmla="*/ 25 h 5519588"/>
              <a:gd name="connsiteX2-35" fmla="*/ 8506092 w 8506092"/>
              <a:gd name="connsiteY2-36" fmla="*/ 3048025 h 5519588"/>
              <a:gd name="connsiteX3-37" fmla="*/ 4640444 w 8506092"/>
              <a:gd name="connsiteY3-38" fmla="*/ 5085513 h 5519588"/>
              <a:gd name="connsiteX4-39" fmla="*/ 1055 w 8506092"/>
              <a:gd name="connsiteY4-40" fmla="*/ 2997237 h 5519588"/>
              <a:gd name="connsiteX0-41" fmla="*/ 72966 w 8578003"/>
              <a:gd name="connsiteY0-42" fmla="*/ 2997244 h 5519595"/>
              <a:gd name="connsiteX1-43" fmla="*/ 4326043 w 8578003"/>
              <a:gd name="connsiteY1-44" fmla="*/ 32 h 5519595"/>
              <a:gd name="connsiteX2-45" fmla="*/ 8578003 w 8578003"/>
              <a:gd name="connsiteY2-46" fmla="*/ 3048032 h 5519595"/>
              <a:gd name="connsiteX3-47" fmla="*/ 4712355 w 8578003"/>
              <a:gd name="connsiteY3-48" fmla="*/ 5085520 h 5519595"/>
              <a:gd name="connsiteX4-49" fmla="*/ 72966 w 8578003"/>
              <a:gd name="connsiteY4-50" fmla="*/ 2997244 h 55195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78003" h="5519595">
                <a:moveTo>
                  <a:pt x="72966" y="2997244"/>
                </a:moveTo>
                <a:cubicBezTo>
                  <a:pt x="-543503" y="1629289"/>
                  <a:pt x="2908537" y="-8433"/>
                  <a:pt x="4326043" y="32"/>
                </a:cubicBezTo>
                <a:cubicBezTo>
                  <a:pt x="5743549" y="8497"/>
                  <a:pt x="8578003" y="1364668"/>
                  <a:pt x="8578003" y="3048032"/>
                </a:cubicBezTo>
                <a:cubicBezTo>
                  <a:pt x="8578003" y="4731396"/>
                  <a:pt x="4998032" y="6307879"/>
                  <a:pt x="4712355" y="5085520"/>
                </a:cubicBezTo>
                <a:cubicBezTo>
                  <a:pt x="4426678" y="3863161"/>
                  <a:pt x="689435" y="4365199"/>
                  <a:pt x="72966" y="2997244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80000"/>
                </a:schemeClr>
              </a:gs>
              <a:gs pos="100000">
                <a:schemeClr val="accent5">
                  <a:alpha val="80000"/>
                </a:schemeClr>
              </a:gs>
              <a:gs pos="70000">
                <a:schemeClr val="accent3">
                  <a:alpha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37" name="椭圆 34"/>
          <p:cNvSpPr/>
          <p:nvPr userDrawn="1"/>
        </p:nvSpPr>
        <p:spPr>
          <a:xfrm rot="19463381">
            <a:off x="-2942391" y="2586328"/>
            <a:ext cx="5283547" cy="4599663"/>
          </a:xfrm>
          <a:custGeom>
            <a:avLst/>
            <a:gdLst>
              <a:gd name="connsiteX0" fmla="*/ 0 w 8503920"/>
              <a:gd name="connsiteY0" fmla="*/ 3048000 h 6096000"/>
              <a:gd name="connsiteX1" fmla="*/ 4251960 w 8503920"/>
              <a:gd name="connsiteY1" fmla="*/ 0 h 6096000"/>
              <a:gd name="connsiteX2" fmla="*/ 8503920 w 8503920"/>
              <a:gd name="connsiteY2" fmla="*/ 3048000 h 6096000"/>
              <a:gd name="connsiteX3" fmla="*/ 4251960 w 8503920"/>
              <a:gd name="connsiteY3" fmla="*/ 6096000 h 6096000"/>
              <a:gd name="connsiteX4" fmla="*/ 0 w 8503920"/>
              <a:gd name="connsiteY4" fmla="*/ 3048000 h 6096000"/>
              <a:gd name="connsiteX0-1" fmla="*/ 0 w 8505037"/>
              <a:gd name="connsiteY0-2" fmla="*/ 2997252 h 6096078"/>
              <a:gd name="connsiteX1-3" fmla="*/ 4253077 w 8505037"/>
              <a:gd name="connsiteY1-4" fmla="*/ 40 h 6096078"/>
              <a:gd name="connsiteX2-5" fmla="*/ 8505037 w 8505037"/>
              <a:gd name="connsiteY2-6" fmla="*/ 3048040 h 6096078"/>
              <a:gd name="connsiteX3-7" fmla="*/ 4253077 w 8505037"/>
              <a:gd name="connsiteY3-8" fmla="*/ 6096040 h 6096078"/>
              <a:gd name="connsiteX4-9" fmla="*/ 0 w 8505037"/>
              <a:gd name="connsiteY4-10" fmla="*/ 2997252 h 6096078"/>
              <a:gd name="connsiteX0-11" fmla="*/ 105873 w 8610910"/>
              <a:gd name="connsiteY0-12" fmla="*/ 2997247 h 6096073"/>
              <a:gd name="connsiteX1-13" fmla="*/ 4358950 w 8610910"/>
              <a:gd name="connsiteY1-14" fmla="*/ 35 h 6096073"/>
              <a:gd name="connsiteX2-15" fmla="*/ 8610910 w 8610910"/>
              <a:gd name="connsiteY2-16" fmla="*/ 3048035 h 6096073"/>
              <a:gd name="connsiteX3-17" fmla="*/ 4358950 w 8610910"/>
              <a:gd name="connsiteY3-18" fmla="*/ 6096035 h 6096073"/>
              <a:gd name="connsiteX4-19" fmla="*/ 105873 w 8610910"/>
              <a:gd name="connsiteY4-20" fmla="*/ 2997247 h 6096073"/>
              <a:gd name="connsiteX0-21" fmla="*/ 1055 w 8506092"/>
              <a:gd name="connsiteY0-22" fmla="*/ 2997237 h 5085656"/>
              <a:gd name="connsiteX1-23" fmla="*/ 4254132 w 8506092"/>
              <a:gd name="connsiteY1-24" fmla="*/ 25 h 5085656"/>
              <a:gd name="connsiteX2-25" fmla="*/ 8506092 w 8506092"/>
              <a:gd name="connsiteY2-26" fmla="*/ 3048025 h 5085656"/>
              <a:gd name="connsiteX3-27" fmla="*/ 4640444 w 8506092"/>
              <a:gd name="connsiteY3-28" fmla="*/ 5085513 h 5085656"/>
              <a:gd name="connsiteX4-29" fmla="*/ 1055 w 8506092"/>
              <a:gd name="connsiteY4-30" fmla="*/ 2997237 h 5085656"/>
              <a:gd name="connsiteX0-31" fmla="*/ 1055 w 8506092"/>
              <a:gd name="connsiteY0-32" fmla="*/ 2997237 h 5519588"/>
              <a:gd name="connsiteX1-33" fmla="*/ 4254132 w 8506092"/>
              <a:gd name="connsiteY1-34" fmla="*/ 25 h 5519588"/>
              <a:gd name="connsiteX2-35" fmla="*/ 8506092 w 8506092"/>
              <a:gd name="connsiteY2-36" fmla="*/ 3048025 h 5519588"/>
              <a:gd name="connsiteX3-37" fmla="*/ 4640444 w 8506092"/>
              <a:gd name="connsiteY3-38" fmla="*/ 5085513 h 5519588"/>
              <a:gd name="connsiteX4-39" fmla="*/ 1055 w 8506092"/>
              <a:gd name="connsiteY4-40" fmla="*/ 2997237 h 5519588"/>
              <a:gd name="connsiteX0-41" fmla="*/ 72966 w 8578003"/>
              <a:gd name="connsiteY0-42" fmla="*/ 2997244 h 5519595"/>
              <a:gd name="connsiteX1-43" fmla="*/ 4326043 w 8578003"/>
              <a:gd name="connsiteY1-44" fmla="*/ 32 h 5519595"/>
              <a:gd name="connsiteX2-45" fmla="*/ 8578003 w 8578003"/>
              <a:gd name="connsiteY2-46" fmla="*/ 3048032 h 5519595"/>
              <a:gd name="connsiteX3-47" fmla="*/ 4712355 w 8578003"/>
              <a:gd name="connsiteY3-48" fmla="*/ 5085520 h 5519595"/>
              <a:gd name="connsiteX4-49" fmla="*/ 72966 w 8578003"/>
              <a:gd name="connsiteY4-50" fmla="*/ 2997244 h 55195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78003" h="5519595">
                <a:moveTo>
                  <a:pt x="72966" y="2997244"/>
                </a:moveTo>
                <a:cubicBezTo>
                  <a:pt x="-543503" y="1629289"/>
                  <a:pt x="2908537" y="-8433"/>
                  <a:pt x="4326043" y="32"/>
                </a:cubicBezTo>
                <a:cubicBezTo>
                  <a:pt x="5743549" y="8497"/>
                  <a:pt x="8578003" y="1364668"/>
                  <a:pt x="8578003" y="3048032"/>
                </a:cubicBezTo>
                <a:cubicBezTo>
                  <a:pt x="8578003" y="4731396"/>
                  <a:pt x="4998032" y="6307879"/>
                  <a:pt x="4712355" y="5085520"/>
                </a:cubicBezTo>
                <a:cubicBezTo>
                  <a:pt x="4426678" y="3863161"/>
                  <a:pt x="689435" y="4365199"/>
                  <a:pt x="72966" y="2997244"/>
                </a:cubicBezTo>
                <a:close/>
              </a:path>
            </a:pathLst>
          </a:custGeom>
          <a:gradFill flip="none" rotWithShape="1">
            <a:gsLst>
              <a:gs pos="68000">
                <a:schemeClr val="accent1"/>
              </a:gs>
              <a:gs pos="0">
                <a:schemeClr val="accent5"/>
              </a:gs>
              <a:gs pos="33000">
                <a:schemeClr val="accent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38" name="椭圆 37"/>
          <p:cNvSpPr/>
          <p:nvPr userDrawn="1"/>
        </p:nvSpPr>
        <p:spPr>
          <a:xfrm>
            <a:off x="5163689" y="356293"/>
            <a:ext cx="7188619" cy="6290487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60000"/>
                </a:schemeClr>
              </a:gs>
              <a:gs pos="100000">
                <a:schemeClr val="accent5">
                  <a:alpha val="60000"/>
                </a:schemeClr>
              </a:gs>
              <a:gs pos="70000">
                <a:schemeClr val="accent3">
                  <a:alpha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500" dirty="0"/>
          </a:p>
        </p:txBody>
      </p:sp>
      <p:sp>
        <p:nvSpPr>
          <p:cNvPr id="51" name="椭圆 37"/>
          <p:cNvSpPr/>
          <p:nvPr userDrawn="1"/>
        </p:nvSpPr>
        <p:spPr>
          <a:xfrm rot="12210284">
            <a:off x="-2574005" y="-2501052"/>
            <a:ext cx="6514354" cy="5714688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  <a:gd name="connsiteX0-61" fmla="*/ 1276306 w 8559308"/>
              <a:gd name="connsiteY0-62" fmla="*/ 3736886 h 7508615"/>
              <a:gd name="connsiteX1-63" fmla="*/ 4917807 w 8559308"/>
              <a:gd name="connsiteY1-64" fmla="*/ 89446 h 7508615"/>
              <a:gd name="connsiteX2-65" fmla="*/ 8559308 w 8559308"/>
              <a:gd name="connsiteY2-66" fmla="*/ 3736886 h 7508615"/>
              <a:gd name="connsiteX3-67" fmla="*/ 4917807 w 8559308"/>
              <a:gd name="connsiteY3-68" fmla="*/ 7384326 h 7508615"/>
              <a:gd name="connsiteX4-69" fmla="*/ 1276306 w 8559308"/>
              <a:gd name="connsiteY4-70" fmla="*/ 3736886 h 75086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59308" h="7508615">
                <a:moveTo>
                  <a:pt x="1276306" y="3736886"/>
                </a:moveTo>
                <a:cubicBezTo>
                  <a:pt x="-2234531" y="2127967"/>
                  <a:pt x="2337702" y="-520154"/>
                  <a:pt x="4917807" y="89446"/>
                </a:cubicBezTo>
                <a:cubicBezTo>
                  <a:pt x="7497912" y="699046"/>
                  <a:pt x="8559308" y="1722461"/>
                  <a:pt x="8559308" y="3736886"/>
                </a:cubicBezTo>
                <a:cubicBezTo>
                  <a:pt x="8559308" y="5751311"/>
                  <a:pt x="5608152" y="8075206"/>
                  <a:pt x="4917807" y="7384326"/>
                </a:cubicBezTo>
                <a:cubicBezTo>
                  <a:pt x="4227462" y="6693446"/>
                  <a:pt x="4787143" y="5345805"/>
                  <a:pt x="1276306" y="3736886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500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736600"/>
            <a:ext cx="10160000" cy="475298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5" name="梯形 4"/>
          <p:cNvSpPr/>
          <p:nvPr userDrawn="1"/>
        </p:nvSpPr>
        <p:spPr>
          <a:xfrm>
            <a:off x="7471966" y="0"/>
            <a:ext cx="3733800" cy="749389"/>
          </a:xfrm>
          <a:prstGeom prst="trapezoid">
            <a:avLst>
              <a:gd name="adj" fmla="val 8091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909" y="181124"/>
            <a:ext cx="1648123" cy="4064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 userDrawn="1"/>
        </p:nvSpPr>
        <p:spPr>
          <a:xfrm>
            <a:off x="0" y="0"/>
            <a:ext cx="10160000" cy="571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sp>
        <p:nvSpPr>
          <p:cNvPr id="59" name="椭圆 37"/>
          <p:cNvSpPr/>
          <p:nvPr userDrawn="1"/>
        </p:nvSpPr>
        <p:spPr>
          <a:xfrm rot="17471892" flipH="1">
            <a:off x="1477875" y="-3012208"/>
            <a:ext cx="9248188" cy="8092738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500" dirty="0"/>
          </a:p>
        </p:txBody>
      </p:sp>
      <p:sp>
        <p:nvSpPr>
          <p:cNvPr id="49" name="椭圆 37"/>
          <p:cNvSpPr/>
          <p:nvPr userDrawn="1"/>
        </p:nvSpPr>
        <p:spPr>
          <a:xfrm>
            <a:off x="-2943580" y="-544832"/>
            <a:ext cx="7905576" cy="8092738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500" dirty="0"/>
          </a:p>
        </p:txBody>
      </p:sp>
      <p:sp>
        <p:nvSpPr>
          <p:cNvPr id="35" name="椭圆 34"/>
          <p:cNvSpPr/>
          <p:nvPr userDrawn="1"/>
        </p:nvSpPr>
        <p:spPr>
          <a:xfrm rot="19463381">
            <a:off x="6326483" y="-821650"/>
            <a:ext cx="5283547" cy="4599663"/>
          </a:xfrm>
          <a:custGeom>
            <a:avLst/>
            <a:gdLst>
              <a:gd name="connsiteX0" fmla="*/ 0 w 8503920"/>
              <a:gd name="connsiteY0" fmla="*/ 3048000 h 6096000"/>
              <a:gd name="connsiteX1" fmla="*/ 4251960 w 8503920"/>
              <a:gd name="connsiteY1" fmla="*/ 0 h 6096000"/>
              <a:gd name="connsiteX2" fmla="*/ 8503920 w 8503920"/>
              <a:gd name="connsiteY2" fmla="*/ 3048000 h 6096000"/>
              <a:gd name="connsiteX3" fmla="*/ 4251960 w 8503920"/>
              <a:gd name="connsiteY3" fmla="*/ 6096000 h 6096000"/>
              <a:gd name="connsiteX4" fmla="*/ 0 w 8503920"/>
              <a:gd name="connsiteY4" fmla="*/ 3048000 h 6096000"/>
              <a:gd name="connsiteX0-1" fmla="*/ 0 w 8505037"/>
              <a:gd name="connsiteY0-2" fmla="*/ 2997252 h 6096078"/>
              <a:gd name="connsiteX1-3" fmla="*/ 4253077 w 8505037"/>
              <a:gd name="connsiteY1-4" fmla="*/ 40 h 6096078"/>
              <a:gd name="connsiteX2-5" fmla="*/ 8505037 w 8505037"/>
              <a:gd name="connsiteY2-6" fmla="*/ 3048040 h 6096078"/>
              <a:gd name="connsiteX3-7" fmla="*/ 4253077 w 8505037"/>
              <a:gd name="connsiteY3-8" fmla="*/ 6096040 h 6096078"/>
              <a:gd name="connsiteX4-9" fmla="*/ 0 w 8505037"/>
              <a:gd name="connsiteY4-10" fmla="*/ 2997252 h 6096078"/>
              <a:gd name="connsiteX0-11" fmla="*/ 105873 w 8610910"/>
              <a:gd name="connsiteY0-12" fmla="*/ 2997247 h 6096073"/>
              <a:gd name="connsiteX1-13" fmla="*/ 4358950 w 8610910"/>
              <a:gd name="connsiteY1-14" fmla="*/ 35 h 6096073"/>
              <a:gd name="connsiteX2-15" fmla="*/ 8610910 w 8610910"/>
              <a:gd name="connsiteY2-16" fmla="*/ 3048035 h 6096073"/>
              <a:gd name="connsiteX3-17" fmla="*/ 4358950 w 8610910"/>
              <a:gd name="connsiteY3-18" fmla="*/ 6096035 h 6096073"/>
              <a:gd name="connsiteX4-19" fmla="*/ 105873 w 8610910"/>
              <a:gd name="connsiteY4-20" fmla="*/ 2997247 h 6096073"/>
              <a:gd name="connsiteX0-21" fmla="*/ 1055 w 8506092"/>
              <a:gd name="connsiteY0-22" fmla="*/ 2997237 h 5085656"/>
              <a:gd name="connsiteX1-23" fmla="*/ 4254132 w 8506092"/>
              <a:gd name="connsiteY1-24" fmla="*/ 25 h 5085656"/>
              <a:gd name="connsiteX2-25" fmla="*/ 8506092 w 8506092"/>
              <a:gd name="connsiteY2-26" fmla="*/ 3048025 h 5085656"/>
              <a:gd name="connsiteX3-27" fmla="*/ 4640444 w 8506092"/>
              <a:gd name="connsiteY3-28" fmla="*/ 5085513 h 5085656"/>
              <a:gd name="connsiteX4-29" fmla="*/ 1055 w 8506092"/>
              <a:gd name="connsiteY4-30" fmla="*/ 2997237 h 5085656"/>
              <a:gd name="connsiteX0-31" fmla="*/ 1055 w 8506092"/>
              <a:gd name="connsiteY0-32" fmla="*/ 2997237 h 5519588"/>
              <a:gd name="connsiteX1-33" fmla="*/ 4254132 w 8506092"/>
              <a:gd name="connsiteY1-34" fmla="*/ 25 h 5519588"/>
              <a:gd name="connsiteX2-35" fmla="*/ 8506092 w 8506092"/>
              <a:gd name="connsiteY2-36" fmla="*/ 3048025 h 5519588"/>
              <a:gd name="connsiteX3-37" fmla="*/ 4640444 w 8506092"/>
              <a:gd name="connsiteY3-38" fmla="*/ 5085513 h 5519588"/>
              <a:gd name="connsiteX4-39" fmla="*/ 1055 w 8506092"/>
              <a:gd name="connsiteY4-40" fmla="*/ 2997237 h 5519588"/>
              <a:gd name="connsiteX0-41" fmla="*/ 72966 w 8578003"/>
              <a:gd name="connsiteY0-42" fmla="*/ 2997244 h 5519595"/>
              <a:gd name="connsiteX1-43" fmla="*/ 4326043 w 8578003"/>
              <a:gd name="connsiteY1-44" fmla="*/ 32 h 5519595"/>
              <a:gd name="connsiteX2-45" fmla="*/ 8578003 w 8578003"/>
              <a:gd name="connsiteY2-46" fmla="*/ 3048032 h 5519595"/>
              <a:gd name="connsiteX3-47" fmla="*/ 4712355 w 8578003"/>
              <a:gd name="connsiteY3-48" fmla="*/ 5085520 h 5519595"/>
              <a:gd name="connsiteX4-49" fmla="*/ 72966 w 8578003"/>
              <a:gd name="connsiteY4-50" fmla="*/ 2997244 h 55195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78003" h="5519595">
                <a:moveTo>
                  <a:pt x="72966" y="2997244"/>
                </a:moveTo>
                <a:cubicBezTo>
                  <a:pt x="-543503" y="1629289"/>
                  <a:pt x="2908537" y="-8433"/>
                  <a:pt x="4326043" y="32"/>
                </a:cubicBezTo>
                <a:cubicBezTo>
                  <a:pt x="5743549" y="8497"/>
                  <a:pt x="8578003" y="1364668"/>
                  <a:pt x="8578003" y="3048032"/>
                </a:cubicBezTo>
                <a:cubicBezTo>
                  <a:pt x="8578003" y="4731396"/>
                  <a:pt x="4998032" y="6307879"/>
                  <a:pt x="4712355" y="5085520"/>
                </a:cubicBezTo>
                <a:cubicBezTo>
                  <a:pt x="4426678" y="3863161"/>
                  <a:pt x="689435" y="4365199"/>
                  <a:pt x="72966" y="2997244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80000"/>
                </a:schemeClr>
              </a:gs>
              <a:gs pos="100000">
                <a:schemeClr val="accent5">
                  <a:alpha val="80000"/>
                </a:schemeClr>
              </a:gs>
              <a:gs pos="70000">
                <a:schemeClr val="accent3">
                  <a:alpha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37" name="椭圆 34"/>
          <p:cNvSpPr/>
          <p:nvPr userDrawn="1"/>
        </p:nvSpPr>
        <p:spPr>
          <a:xfrm rot="19463381">
            <a:off x="-2942391" y="2586328"/>
            <a:ext cx="5283547" cy="4599663"/>
          </a:xfrm>
          <a:custGeom>
            <a:avLst/>
            <a:gdLst>
              <a:gd name="connsiteX0" fmla="*/ 0 w 8503920"/>
              <a:gd name="connsiteY0" fmla="*/ 3048000 h 6096000"/>
              <a:gd name="connsiteX1" fmla="*/ 4251960 w 8503920"/>
              <a:gd name="connsiteY1" fmla="*/ 0 h 6096000"/>
              <a:gd name="connsiteX2" fmla="*/ 8503920 w 8503920"/>
              <a:gd name="connsiteY2" fmla="*/ 3048000 h 6096000"/>
              <a:gd name="connsiteX3" fmla="*/ 4251960 w 8503920"/>
              <a:gd name="connsiteY3" fmla="*/ 6096000 h 6096000"/>
              <a:gd name="connsiteX4" fmla="*/ 0 w 8503920"/>
              <a:gd name="connsiteY4" fmla="*/ 3048000 h 6096000"/>
              <a:gd name="connsiteX0-1" fmla="*/ 0 w 8505037"/>
              <a:gd name="connsiteY0-2" fmla="*/ 2997252 h 6096078"/>
              <a:gd name="connsiteX1-3" fmla="*/ 4253077 w 8505037"/>
              <a:gd name="connsiteY1-4" fmla="*/ 40 h 6096078"/>
              <a:gd name="connsiteX2-5" fmla="*/ 8505037 w 8505037"/>
              <a:gd name="connsiteY2-6" fmla="*/ 3048040 h 6096078"/>
              <a:gd name="connsiteX3-7" fmla="*/ 4253077 w 8505037"/>
              <a:gd name="connsiteY3-8" fmla="*/ 6096040 h 6096078"/>
              <a:gd name="connsiteX4-9" fmla="*/ 0 w 8505037"/>
              <a:gd name="connsiteY4-10" fmla="*/ 2997252 h 6096078"/>
              <a:gd name="connsiteX0-11" fmla="*/ 105873 w 8610910"/>
              <a:gd name="connsiteY0-12" fmla="*/ 2997247 h 6096073"/>
              <a:gd name="connsiteX1-13" fmla="*/ 4358950 w 8610910"/>
              <a:gd name="connsiteY1-14" fmla="*/ 35 h 6096073"/>
              <a:gd name="connsiteX2-15" fmla="*/ 8610910 w 8610910"/>
              <a:gd name="connsiteY2-16" fmla="*/ 3048035 h 6096073"/>
              <a:gd name="connsiteX3-17" fmla="*/ 4358950 w 8610910"/>
              <a:gd name="connsiteY3-18" fmla="*/ 6096035 h 6096073"/>
              <a:gd name="connsiteX4-19" fmla="*/ 105873 w 8610910"/>
              <a:gd name="connsiteY4-20" fmla="*/ 2997247 h 6096073"/>
              <a:gd name="connsiteX0-21" fmla="*/ 1055 w 8506092"/>
              <a:gd name="connsiteY0-22" fmla="*/ 2997237 h 5085656"/>
              <a:gd name="connsiteX1-23" fmla="*/ 4254132 w 8506092"/>
              <a:gd name="connsiteY1-24" fmla="*/ 25 h 5085656"/>
              <a:gd name="connsiteX2-25" fmla="*/ 8506092 w 8506092"/>
              <a:gd name="connsiteY2-26" fmla="*/ 3048025 h 5085656"/>
              <a:gd name="connsiteX3-27" fmla="*/ 4640444 w 8506092"/>
              <a:gd name="connsiteY3-28" fmla="*/ 5085513 h 5085656"/>
              <a:gd name="connsiteX4-29" fmla="*/ 1055 w 8506092"/>
              <a:gd name="connsiteY4-30" fmla="*/ 2997237 h 5085656"/>
              <a:gd name="connsiteX0-31" fmla="*/ 1055 w 8506092"/>
              <a:gd name="connsiteY0-32" fmla="*/ 2997237 h 5519588"/>
              <a:gd name="connsiteX1-33" fmla="*/ 4254132 w 8506092"/>
              <a:gd name="connsiteY1-34" fmla="*/ 25 h 5519588"/>
              <a:gd name="connsiteX2-35" fmla="*/ 8506092 w 8506092"/>
              <a:gd name="connsiteY2-36" fmla="*/ 3048025 h 5519588"/>
              <a:gd name="connsiteX3-37" fmla="*/ 4640444 w 8506092"/>
              <a:gd name="connsiteY3-38" fmla="*/ 5085513 h 5519588"/>
              <a:gd name="connsiteX4-39" fmla="*/ 1055 w 8506092"/>
              <a:gd name="connsiteY4-40" fmla="*/ 2997237 h 5519588"/>
              <a:gd name="connsiteX0-41" fmla="*/ 72966 w 8578003"/>
              <a:gd name="connsiteY0-42" fmla="*/ 2997244 h 5519595"/>
              <a:gd name="connsiteX1-43" fmla="*/ 4326043 w 8578003"/>
              <a:gd name="connsiteY1-44" fmla="*/ 32 h 5519595"/>
              <a:gd name="connsiteX2-45" fmla="*/ 8578003 w 8578003"/>
              <a:gd name="connsiteY2-46" fmla="*/ 3048032 h 5519595"/>
              <a:gd name="connsiteX3-47" fmla="*/ 4712355 w 8578003"/>
              <a:gd name="connsiteY3-48" fmla="*/ 5085520 h 5519595"/>
              <a:gd name="connsiteX4-49" fmla="*/ 72966 w 8578003"/>
              <a:gd name="connsiteY4-50" fmla="*/ 2997244 h 55195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78003" h="5519595">
                <a:moveTo>
                  <a:pt x="72966" y="2997244"/>
                </a:moveTo>
                <a:cubicBezTo>
                  <a:pt x="-543503" y="1629289"/>
                  <a:pt x="2908537" y="-8433"/>
                  <a:pt x="4326043" y="32"/>
                </a:cubicBezTo>
                <a:cubicBezTo>
                  <a:pt x="5743549" y="8497"/>
                  <a:pt x="8578003" y="1364668"/>
                  <a:pt x="8578003" y="3048032"/>
                </a:cubicBezTo>
                <a:cubicBezTo>
                  <a:pt x="8578003" y="4731396"/>
                  <a:pt x="4998032" y="6307879"/>
                  <a:pt x="4712355" y="5085520"/>
                </a:cubicBezTo>
                <a:cubicBezTo>
                  <a:pt x="4426678" y="3863161"/>
                  <a:pt x="689435" y="4365199"/>
                  <a:pt x="72966" y="2997244"/>
                </a:cubicBezTo>
                <a:close/>
              </a:path>
            </a:pathLst>
          </a:custGeom>
          <a:gradFill flip="none" rotWithShape="1">
            <a:gsLst>
              <a:gs pos="68000">
                <a:schemeClr val="accent1"/>
              </a:gs>
              <a:gs pos="0">
                <a:schemeClr val="accent5"/>
              </a:gs>
              <a:gs pos="33000">
                <a:schemeClr val="accent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38" name="椭圆 37"/>
          <p:cNvSpPr/>
          <p:nvPr userDrawn="1"/>
        </p:nvSpPr>
        <p:spPr>
          <a:xfrm>
            <a:off x="5163689" y="356293"/>
            <a:ext cx="7188619" cy="6290487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60000"/>
                </a:schemeClr>
              </a:gs>
              <a:gs pos="100000">
                <a:schemeClr val="accent5">
                  <a:alpha val="60000"/>
                </a:schemeClr>
              </a:gs>
              <a:gs pos="70000">
                <a:schemeClr val="accent3">
                  <a:alpha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500" dirty="0"/>
          </a:p>
        </p:txBody>
      </p:sp>
      <p:sp>
        <p:nvSpPr>
          <p:cNvPr id="51" name="椭圆 37"/>
          <p:cNvSpPr/>
          <p:nvPr userDrawn="1"/>
        </p:nvSpPr>
        <p:spPr>
          <a:xfrm rot="12210284">
            <a:off x="-2574005" y="-2501052"/>
            <a:ext cx="6514354" cy="5714688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  <a:gd name="connsiteX0-61" fmla="*/ 1276306 w 8559308"/>
              <a:gd name="connsiteY0-62" fmla="*/ 3736886 h 7508615"/>
              <a:gd name="connsiteX1-63" fmla="*/ 4917807 w 8559308"/>
              <a:gd name="connsiteY1-64" fmla="*/ 89446 h 7508615"/>
              <a:gd name="connsiteX2-65" fmla="*/ 8559308 w 8559308"/>
              <a:gd name="connsiteY2-66" fmla="*/ 3736886 h 7508615"/>
              <a:gd name="connsiteX3-67" fmla="*/ 4917807 w 8559308"/>
              <a:gd name="connsiteY3-68" fmla="*/ 7384326 h 7508615"/>
              <a:gd name="connsiteX4-69" fmla="*/ 1276306 w 8559308"/>
              <a:gd name="connsiteY4-70" fmla="*/ 3736886 h 75086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59308" h="7508615">
                <a:moveTo>
                  <a:pt x="1276306" y="3736886"/>
                </a:moveTo>
                <a:cubicBezTo>
                  <a:pt x="-2234531" y="2127967"/>
                  <a:pt x="2337702" y="-520154"/>
                  <a:pt x="4917807" y="89446"/>
                </a:cubicBezTo>
                <a:cubicBezTo>
                  <a:pt x="7497912" y="699046"/>
                  <a:pt x="8559308" y="1722461"/>
                  <a:pt x="8559308" y="3736886"/>
                </a:cubicBezTo>
                <a:cubicBezTo>
                  <a:pt x="8559308" y="5751311"/>
                  <a:pt x="5608152" y="8075206"/>
                  <a:pt x="4917807" y="7384326"/>
                </a:cubicBezTo>
                <a:cubicBezTo>
                  <a:pt x="4227462" y="6693446"/>
                  <a:pt x="4787143" y="5345805"/>
                  <a:pt x="1276306" y="3736886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500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722722"/>
            <a:ext cx="10160000" cy="46359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5" name="梯形 4"/>
          <p:cNvSpPr/>
          <p:nvPr userDrawn="1"/>
        </p:nvSpPr>
        <p:spPr>
          <a:xfrm>
            <a:off x="-1223521" y="0"/>
            <a:ext cx="2676821" cy="722722"/>
          </a:xfrm>
          <a:prstGeom prst="trapezoid">
            <a:avLst>
              <a:gd name="adj" fmla="val 8091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95" y="5456489"/>
            <a:ext cx="702013" cy="1731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 userDrawn="1"/>
        </p:nvSpPr>
        <p:spPr>
          <a:xfrm>
            <a:off x="0" y="0"/>
            <a:ext cx="10160000" cy="571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sp>
        <p:nvSpPr>
          <p:cNvPr id="59" name="椭圆 37"/>
          <p:cNvSpPr/>
          <p:nvPr userDrawn="1"/>
        </p:nvSpPr>
        <p:spPr>
          <a:xfrm rot="17471892" flipH="1">
            <a:off x="1477875" y="-3012208"/>
            <a:ext cx="9248188" cy="8092738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500" dirty="0"/>
          </a:p>
        </p:txBody>
      </p:sp>
      <p:sp>
        <p:nvSpPr>
          <p:cNvPr id="49" name="椭圆 37"/>
          <p:cNvSpPr/>
          <p:nvPr userDrawn="1"/>
        </p:nvSpPr>
        <p:spPr>
          <a:xfrm>
            <a:off x="-2943580" y="-544832"/>
            <a:ext cx="7905576" cy="8092738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500" dirty="0"/>
          </a:p>
        </p:txBody>
      </p:sp>
      <p:sp>
        <p:nvSpPr>
          <p:cNvPr id="35" name="椭圆 34"/>
          <p:cNvSpPr/>
          <p:nvPr userDrawn="1"/>
        </p:nvSpPr>
        <p:spPr>
          <a:xfrm rot="19463381">
            <a:off x="6326483" y="-821650"/>
            <a:ext cx="5283547" cy="4599663"/>
          </a:xfrm>
          <a:custGeom>
            <a:avLst/>
            <a:gdLst>
              <a:gd name="connsiteX0" fmla="*/ 0 w 8503920"/>
              <a:gd name="connsiteY0" fmla="*/ 3048000 h 6096000"/>
              <a:gd name="connsiteX1" fmla="*/ 4251960 w 8503920"/>
              <a:gd name="connsiteY1" fmla="*/ 0 h 6096000"/>
              <a:gd name="connsiteX2" fmla="*/ 8503920 w 8503920"/>
              <a:gd name="connsiteY2" fmla="*/ 3048000 h 6096000"/>
              <a:gd name="connsiteX3" fmla="*/ 4251960 w 8503920"/>
              <a:gd name="connsiteY3" fmla="*/ 6096000 h 6096000"/>
              <a:gd name="connsiteX4" fmla="*/ 0 w 8503920"/>
              <a:gd name="connsiteY4" fmla="*/ 3048000 h 6096000"/>
              <a:gd name="connsiteX0-1" fmla="*/ 0 w 8505037"/>
              <a:gd name="connsiteY0-2" fmla="*/ 2997252 h 6096078"/>
              <a:gd name="connsiteX1-3" fmla="*/ 4253077 w 8505037"/>
              <a:gd name="connsiteY1-4" fmla="*/ 40 h 6096078"/>
              <a:gd name="connsiteX2-5" fmla="*/ 8505037 w 8505037"/>
              <a:gd name="connsiteY2-6" fmla="*/ 3048040 h 6096078"/>
              <a:gd name="connsiteX3-7" fmla="*/ 4253077 w 8505037"/>
              <a:gd name="connsiteY3-8" fmla="*/ 6096040 h 6096078"/>
              <a:gd name="connsiteX4-9" fmla="*/ 0 w 8505037"/>
              <a:gd name="connsiteY4-10" fmla="*/ 2997252 h 6096078"/>
              <a:gd name="connsiteX0-11" fmla="*/ 105873 w 8610910"/>
              <a:gd name="connsiteY0-12" fmla="*/ 2997247 h 6096073"/>
              <a:gd name="connsiteX1-13" fmla="*/ 4358950 w 8610910"/>
              <a:gd name="connsiteY1-14" fmla="*/ 35 h 6096073"/>
              <a:gd name="connsiteX2-15" fmla="*/ 8610910 w 8610910"/>
              <a:gd name="connsiteY2-16" fmla="*/ 3048035 h 6096073"/>
              <a:gd name="connsiteX3-17" fmla="*/ 4358950 w 8610910"/>
              <a:gd name="connsiteY3-18" fmla="*/ 6096035 h 6096073"/>
              <a:gd name="connsiteX4-19" fmla="*/ 105873 w 8610910"/>
              <a:gd name="connsiteY4-20" fmla="*/ 2997247 h 6096073"/>
              <a:gd name="connsiteX0-21" fmla="*/ 1055 w 8506092"/>
              <a:gd name="connsiteY0-22" fmla="*/ 2997237 h 5085656"/>
              <a:gd name="connsiteX1-23" fmla="*/ 4254132 w 8506092"/>
              <a:gd name="connsiteY1-24" fmla="*/ 25 h 5085656"/>
              <a:gd name="connsiteX2-25" fmla="*/ 8506092 w 8506092"/>
              <a:gd name="connsiteY2-26" fmla="*/ 3048025 h 5085656"/>
              <a:gd name="connsiteX3-27" fmla="*/ 4640444 w 8506092"/>
              <a:gd name="connsiteY3-28" fmla="*/ 5085513 h 5085656"/>
              <a:gd name="connsiteX4-29" fmla="*/ 1055 w 8506092"/>
              <a:gd name="connsiteY4-30" fmla="*/ 2997237 h 5085656"/>
              <a:gd name="connsiteX0-31" fmla="*/ 1055 w 8506092"/>
              <a:gd name="connsiteY0-32" fmla="*/ 2997237 h 5519588"/>
              <a:gd name="connsiteX1-33" fmla="*/ 4254132 w 8506092"/>
              <a:gd name="connsiteY1-34" fmla="*/ 25 h 5519588"/>
              <a:gd name="connsiteX2-35" fmla="*/ 8506092 w 8506092"/>
              <a:gd name="connsiteY2-36" fmla="*/ 3048025 h 5519588"/>
              <a:gd name="connsiteX3-37" fmla="*/ 4640444 w 8506092"/>
              <a:gd name="connsiteY3-38" fmla="*/ 5085513 h 5519588"/>
              <a:gd name="connsiteX4-39" fmla="*/ 1055 w 8506092"/>
              <a:gd name="connsiteY4-40" fmla="*/ 2997237 h 5519588"/>
              <a:gd name="connsiteX0-41" fmla="*/ 72966 w 8578003"/>
              <a:gd name="connsiteY0-42" fmla="*/ 2997244 h 5519595"/>
              <a:gd name="connsiteX1-43" fmla="*/ 4326043 w 8578003"/>
              <a:gd name="connsiteY1-44" fmla="*/ 32 h 5519595"/>
              <a:gd name="connsiteX2-45" fmla="*/ 8578003 w 8578003"/>
              <a:gd name="connsiteY2-46" fmla="*/ 3048032 h 5519595"/>
              <a:gd name="connsiteX3-47" fmla="*/ 4712355 w 8578003"/>
              <a:gd name="connsiteY3-48" fmla="*/ 5085520 h 5519595"/>
              <a:gd name="connsiteX4-49" fmla="*/ 72966 w 8578003"/>
              <a:gd name="connsiteY4-50" fmla="*/ 2997244 h 55195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78003" h="5519595">
                <a:moveTo>
                  <a:pt x="72966" y="2997244"/>
                </a:moveTo>
                <a:cubicBezTo>
                  <a:pt x="-543503" y="1629289"/>
                  <a:pt x="2908537" y="-8433"/>
                  <a:pt x="4326043" y="32"/>
                </a:cubicBezTo>
                <a:cubicBezTo>
                  <a:pt x="5743549" y="8497"/>
                  <a:pt x="8578003" y="1364668"/>
                  <a:pt x="8578003" y="3048032"/>
                </a:cubicBezTo>
                <a:cubicBezTo>
                  <a:pt x="8578003" y="4731396"/>
                  <a:pt x="4998032" y="6307879"/>
                  <a:pt x="4712355" y="5085520"/>
                </a:cubicBezTo>
                <a:cubicBezTo>
                  <a:pt x="4426678" y="3863161"/>
                  <a:pt x="689435" y="4365199"/>
                  <a:pt x="72966" y="2997244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80000"/>
                </a:schemeClr>
              </a:gs>
              <a:gs pos="100000">
                <a:schemeClr val="accent5">
                  <a:alpha val="80000"/>
                </a:schemeClr>
              </a:gs>
              <a:gs pos="70000">
                <a:schemeClr val="accent3">
                  <a:alpha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37" name="椭圆 34"/>
          <p:cNvSpPr/>
          <p:nvPr userDrawn="1"/>
        </p:nvSpPr>
        <p:spPr>
          <a:xfrm rot="19463381">
            <a:off x="-2942391" y="2586328"/>
            <a:ext cx="5283547" cy="4599663"/>
          </a:xfrm>
          <a:custGeom>
            <a:avLst/>
            <a:gdLst>
              <a:gd name="connsiteX0" fmla="*/ 0 w 8503920"/>
              <a:gd name="connsiteY0" fmla="*/ 3048000 h 6096000"/>
              <a:gd name="connsiteX1" fmla="*/ 4251960 w 8503920"/>
              <a:gd name="connsiteY1" fmla="*/ 0 h 6096000"/>
              <a:gd name="connsiteX2" fmla="*/ 8503920 w 8503920"/>
              <a:gd name="connsiteY2" fmla="*/ 3048000 h 6096000"/>
              <a:gd name="connsiteX3" fmla="*/ 4251960 w 8503920"/>
              <a:gd name="connsiteY3" fmla="*/ 6096000 h 6096000"/>
              <a:gd name="connsiteX4" fmla="*/ 0 w 8503920"/>
              <a:gd name="connsiteY4" fmla="*/ 3048000 h 6096000"/>
              <a:gd name="connsiteX0-1" fmla="*/ 0 w 8505037"/>
              <a:gd name="connsiteY0-2" fmla="*/ 2997252 h 6096078"/>
              <a:gd name="connsiteX1-3" fmla="*/ 4253077 w 8505037"/>
              <a:gd name="connsiteY1-4" fmla="*/ 40 h 6096078"/>
              <a:gd name="connsiteX2-5" fmla="*/ 8505037 w 8505037"/>
              <a:gd name="connsiteY2-6" fmla="*/ 3048040 h 6096078"/>
              <a:gd name="connsiteX3-7" fmla="*/ 4253077 w 8505037"/>
              <a:gd name="connsiteY3-8" fmla="*/ 6096040 h 6096078"/>
              <a:gd name="connsiteX4-9" fmla="*/ 0 w 8505037"/>
              <a:gd name="connsiteY4-10" fmla="*/ 2997252 h 6096078"/>
              <a:gd name="connsiteX0-11" fmla="*/ 105873 w 8610910"/>
              <a:gd name="connsiteY0-12" fmla="*/ 2997247 h 6096073"/>
              <a:gd name="connsiteX1-13" fmla="*/ 4358950 w 8610910"/>
              <a:gd name="connsiteY1-14" fmla="*/ 35 h 6096073"/>
              <a:gd name="connsiteX2-15" fmla="*/ 8610910 w 8610910"/>
              <a:gd name="connsiteY2-16" fmla="*/ 3048035 h 6096073"/>
              <a:gd name="connsiteX3-17" fmla="*/ 4358950 w 8610910"/>
              <a:gd name="connsiteY3-18" fmla="*/ 6096035 h 6096073"/>
              <a:gd name="connsiteX4-19" fmla="*/ 105873 w 8610910"/>
              <a:gd name="connsiteY4-20" fmla="*/ 2997247 h 6096073"/>
              <a:gd name="connsiteX0-21" fmla="*/ 1055 w 8506092"/>
              <a:gd name="connsiteY0-22" fmla="*/ 2997237 h 5085656"/>
              <a:gd name="connsiteX1-23" fmla="*/ 4254132 w 8506092"/>
              <a:gd name="connsiteY1-24" fmla="*/ 25 h 5085656"/>
              <a:gd name="connsiteX2-25" fmla="*/ 8506092 w 8506092"/>
              <a:gd name="connsiteY2-26" fmla="*/ 3048025 h 5085656"/>
              <a:gd name="connsiteX3-27" fmla="*/ 4640444 w 8506092"/>
              <a:gd name="connsiteY3-28" fmla="*/ 5085513 h 5085656"/>
              <a:gd name="connsiteX4-29" fmla="*/ 1055 w 8506092"/>
              <a:gd name="connsiteY4-30" fmla="*/ 2997237 h 5085656"/>
              <a:gd name="connsiteX0-31" fmla="*/ 1055 w 8506092"/>
              <a:gd name="connsiteY0-32" fmla="*/ 2997237 h 5519588"/>
              <a:gd name="connsiteX1-33" fmla="*/ 4254132 w 8506092"/>
              <a:gd name="connsiteY1-34" fmla="*/ 25 h 5519588"/>
              <a:gd name="connsiteX2-35" fmla="*/ 8506092 w 8506092"/>
              <a:gd name="connsiteY2-36" fmla="*/ 3048025 h 5519588"/>
              <a:gd name="connsiteX3-37" fmla="*/ 4640444 w 8506092"/>
              <a:gd name="connsiteY3-38" fmla="*/ 5085513 h 5519588"/>
              <a:gd name="connsiteX4-39" fmla="*/ 1055 w 8506092"/>
              <a:gd name="connsiteY4-40" fmla="*/ 2997237 h 5519588"/>
              <a:gd name="connsiteX0-41" fmla="*/ 72966 w 8578003"/>
              <a:gd name="connsiteY0-42" fmla="*/ 2997244 h 5519595"/>
              <a:gd name="connsiteX1-43" fmla="*/ 4326043 w 8578003"/>
              <a:gd name="connsiteY1-44" fmla="*/ 32 h 5519595"/>
              <a:gd name="connsiteX2-45" fmla="*/ 8578003 w 8578003"/>
              <a:gd name="connsiteY2-46" fmla="*/ 3048032 h 5519595"/>
              <a:gd name="connsiteX3-47" fmla="*/ 4712355 w 8578003"/>
              <a:gd name="connsiteY3-48" fmla="*/ 5085520 h 5519595"/>
              <a:gd name="connsiteX4-49" fmla="*/ 72966 w 8578003"/>
              <a:gd name="connsiteY4-50" fmla="*/ 2997244 h 55195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78003" h="5519595">
                <a:moveTo>
                  <a:pt x="72966" y="2997244"/>
                </a:moveTo>
                <a:cubicBezTo>
                  <a:pt x="-543503" y="1629289"/>
                  <a:pt x="2908537" y="-8433"/>
                  <a:pt x="4326043" y="32"/>
                </a:cubicBezTo>
                <a:cubicBezTo>
                  <a:pt x="5743549" y="8497"/>
                  <a:pt x="8578003" y="1364668"/>
                  <a:pt x="8578003" y="3048032"/>
                </a:cubicBezTo>
                <a:cubicBezTo>
                  <a:pt x="8578003" y="4731396"/>
                  <a:pt x="4998032" y="6307879"/>
                  <a:pt x="4712355" y="5085520"/>
                </a:cubicBezTo>
                <a:cubicBezTo>
                  <a:pt x="4426678" y="3863161"/>
                  <a:pt x="689435" y="4365199"/>
                  <a:pt x="72966" y="2997244"/>
                </a:cubicBezTo>
                <a:close/>
              </a:path>
            </a:pathLst>
          </a:custGeom>
          <a:gradFill flip="none" rotWithShape="1">
            <a:gsLst>
              <a:gs pos="68000">
                <a:schemeClr val="accent1"/>
              </a:gs>
              <a:gs pos="0">
                <a:schemeClr val="accent5"/>
              </a:gs>
              <a:gs pos="33000">
                <a:schemeClr val="accent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38" name="椭圆 37"/>
          <p:cNvSpPr/>
          <p:nvPr userDrawn="1"/>
        </p:nvSpPr>
        <p:spPr>
          <a:xfrm>
            <a:off x="5163689" y="356293"/>
            <a:ext cx="7188619" cy="6290487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60000"/>
                </a:schemeClr>
              </a:gs>
              <a:gs pos="100000">
                <a:schemeClr val="accent5">
                  <a:alpha val="60000"/>
                </a:schemeClr>
              </a:gs>
              <a:gs pos="70000">
                <a:schemeClr val="accent3">
                  <a:alpha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500" dirty="0"/>
          </a:p>
        </p:txBody>
      </p:sp>
      <p:sp>
        <p:nvSpPr>
          <p:cNvPr id="51" name="椭圆 37"/>
          <p:cNvSpPr/>
          <p:nvPr userDrawn="1"/>
        </p:nvSpPr>
        <p:spPr>
          <a:xfrm rot="12210284">
            <a:off x="-2574005" y="-2501052"/>
            <a:ext cx="6514354" cy="5714688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  <a:gd name="connsiteX0-61" fmla="*/ 1276306 w 8559308"/>
              <a:gd name="connsiteY0-62" fmla="*/ 3736886 h 7508615"/>
              <a:gd name="connsiteX1-63" fmla="*/ 4917807 w 8559308"/>
              <a:gd name="connsiteY1-64" fmla="*/ 89446 h 7508615"/>
              <a:gd name="connsiteX2-65" fmla="*/ 8559308 w 8559308"/>
              <a:gd name="connsiteY2-66" fmla="*/ 3736886 h 7508615"/>
              <a:gd name="connsiteX3-67" fmla="*/ 4917807 w 8559308"/>
              <a:gd name="connsiteY3-68" fmla="*/ 7384326 h 7508615"/>
              <a:gd name="connsiteX4-69" fmla="*/ 1276306 w 8559308"/>
              <a:gd name="connsiteY4-70" fmla="*/ 3736886 h 75086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59308" h="7508615">
                <a:moveTo>
                  <a:pt x="1276306" y="3736886"/>
                </a:moveTo>
                <a:cubicBezTo>
                  <a:pt x="-2234531" y="2127967"/>
                  <a:pt x="2337702" y="-520154"/>
                  <a:pt x="4917807" y="89446"/>
                </a:cubicBezTo>
                <a:cubicBezTo>
                  <a:pt x="7497912" y="699046"/>
                  <a:pt x="8559308" y="1722461"/>
                  <a:pt x="8559308" y="3736886"/>
                </a:cubicBezTo>
                <a:cubicBezTo>
                  <a:pt x="8559308" y="5751311"/>
                  <a:pt x="5608152" y="8075206"/>
                  <a:pt x="4917807" y="7384326"/>
                </a:cubicBezTo>
                <a:cubicBezTo>
                  <a:pt x="4227462" y="6693446"/>
                  <a:pt x="4787143" y="5345805"/>
                  <a:pt x="1276306" y="3736886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500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1676400"/>
            <a:ext cx="10160000" cy="403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-293585" y="719863"/>
            <a:ext cx="1459836" cy="337852"/>
            <a:chOff x="-517722" y="602904"/>
            <a:chExt cx="2468913" cy="571384"/>
          </a:xfrm>
        </p:grpSpPr>
        <p:sp>
          <p:nvSpPr>
            <p:cNvPr id="12" name="矩形: 圆角 11"/>
            <p:cNvSpPr/>
            <p:nvPr userDrawn="1"/>
          </p:nvSpPr>
          <p:spPr>
            <a:xfrm>
              <a:off x="-517722" y="602904"/>
              <a:ext cx="2468913" cy="57138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  <p:pic>
          <p:nvPicPr>
            <p:cNvPr id="14" name="图片 13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4137" y="701010"/>
              <a:ext cx="1561451" cy="385068"/>
            </a:xfrm>
            <a:prstGeom prst="rect">
              <a:avLst/>
            </a:prstGeom>
          </p:spPr>
        </p:pic>
      </p:grpSp>
      <p:sp>
        <p:nvSpPr>
          <p:cNvPr id="4" name="椭圆 3"/>
          <p:cNvSpPr/>
          <p:nvPr userDrawn="1"/>
        </p:nvSpPr>
        <p:spPr>
          <a:xfrm>
            <a:off x="1428343" y="841063"/>
            <a:ext cx="95453" cy="9545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357174" y="71434"/>
            <a:ext cx="2456219" cy="3099008"/>
          </a:xfrm>
          <a:prstGeom prst="rect">
            <a:avLst/>
          </a:prstGeom>
        </p:spPr>
      </p:pic>
      <p:sp>
        <p:nvSpPr>
          <p:cNvPr id="20" name="矩形 19"/>
          <p:cNvSpPr/>
          <p:nvPr userDrawn="1"/>
        </p:nvSpPr>
        <p:spPr>
          <a:xfrm>
            <a:off x="1305393" y="3060491"/>
            <a:ext cx="724525" cy="724525"/>
          </a:xfrm>
          <a:prstGeom prst="rect">
            <a:avLst/>
          </a:prstGeom>
          <a:solidFill>
            <a:srgbClr val="0E62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21" name="矩形 20"/>
          <p:cNvSpPr/>
          <p:nvPr userDrawn="1"/>
        </p:nvSpPr>
        <p:spPr>
          <a:xfrm>
            <a:off x="2283918" y="3060491"/>
            <a:ext cx="724525" cy="724525"/>
          </a:xfrm>
          <a:prstGeom prst="rect">
            <a:avLst/>
          </a:prstGeom>
          <a:solidFill>
            <a:srgbClr val="108F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22" name="矩形 21"/>
          <p:cNvSpPr/>
          <p:nvPr userDrawn="1"/>
        </p:nvSpPr>
        <p:spPr>
          <a:xfrm>
            <a:off x="3262443" y="3060491"/>
            <a:ext cx="724525" cy="724525"/>
          </a:xfrm>
          <a:prstGeom prst="rect">
            <a:avLst/>
          </a:prstGeom>
          <a:solidFill>
            <a:srgbClr val="6AC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23" name="矩形 22"/>
          <p:cNvSpPr/>
          <p:nvPr userDrawn="1"/>
        </p:nvSpPr>
        <p:spPr>
          <a:xfrm>
            <a:off x="1305393" y="4012991"/>
            <a:ext cx="724525" cy="724525"/>
          </a:xfrm>
          <a:prstGeom prst="rect">
            <a:avLst/>
          </a:prstGeom>
          <a:solidFill>
            <a:srgbClr val="F396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24" name="矩形 23"/>
          <p:cNvSpPr/>
          <p:nvPr userDrawn="1"/>
        </p:nvSpPr>
        <p:spPr>
          <a:xfrm>
            <a:off x="2283918" y="4012991"/>
            <a:ext cx="724525" cy="724525"/>
          </a:xfrm>
          <a:prstGeom prst="rect">
            <a:avLst/>
          </a:prstGeom>
          <a:solidFill>
            <a:srgbClr val="EDBE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25" name="矩形 24"/>
          <p:cNvSpPr/>
          <p:nvPr userDrawn="1"/>
        </p:nvSpPr>
        <p:spPr>
          <a:xfrm>
            <a:off x="3262443" y="4012991"/>
            <a:ext cx="724525" cy="724525"/>
          </a:xfrm>
          <a:prstGeom prst="rect">
            <a:avLst/>
          </a:prstGeom>
          <a:solidFill>
            <a:srgbClr val="F4E9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7960" y="590850"/>
            <a:ext cx="1566606" cy="1972482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01987" y="590850"/>
            <a:ext cx="1566606" cy="1972482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976015" y="590850"/>
            <a:ext cx="1566606" cy="1972482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627960" y="2652610"/>
            <a:ext cx="1566606" cy="1972482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301988" y="2652610"/>
            <a:ext cx="1566606" cy="1972482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976016" y="2652610"/>
            <a:ext cx="1566606" cy="1972482"/>
          </a:xfrm>
          <a:prstGeom prst="rect">
            <a:avLst/>
          </a:prstGeom>
        </p:spPr>
      </p:pic>
      <p:sp>
        <p:nvSpPr>
          <p:cNvPr id="15" name="文本框 14"/>
          <p:cNvSpPr txBox="1"/>
          <p:nvPr userDrawn="1"/>
        </p:nvSpPr>
        <p:spPr>
          <a:xfrm>
            <a:off x="2781868" y="4737516"/>
            <a:ext cx="5258788" cy="938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"/>
            </a:scene3d>
            <a:sp3d prstMaterial="matte">
              <a:bevelT w="0" h="0"/>
              <a:bevelB w="0" h="0"/>
            </a:sp3d>
          </a:bodyPr>
          <a:lstStyle/>
          <a:p>
            <a:r>
              <a:rPr lang="en-US" altLang="zh-CN" sz="5500" dirty="0">
                <a:gradFill flip="none" rotWithShape="1">
                  <a:gsLst>
                    <a:gs pos="84000">
                      <a:schemeClr val="accent2"/>
                    </a:gs>
                    <a:gs pos="46000">
                      <a:schemeClr val="bg1"/>
                    </a:gs>
                    <a:gs pos="93000">
                      <a:schemeClr val="bg2"/>
                    </a:gs>
                    <a:gs pos="99000">
                      <a:schemeClr val="bg1"/>
                    </a:gs>
                    <a:gs pos="28000">
                      <a:schemeClr val="accent5"/>
                    </a:gs>
                    <a:gs pos="19000">
                      <a:schemeClr val="bg2"/>
                    </a:gs>
                    <a:gs pos="75000">
                      <a:schemeClr val="bg2"/>
                    </a:gs>
                    <a:gs pos="0">
                      <a:schemeClr val="bg1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effectLst>
                  <a:outerShdw blurRad="50800" dist="38100" dir="2700000" sx="101000" sy="101000" algn="tl" rotWithShape="0">
                    <a:schemeClr val="accent1">
                      <a:alpha val="60000"/>
                    </a:scheme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INTELLIGENCE</a:t>
            </a:r>
            <a:endParaRPr lang="zh-CN" altLang="en-US" sz="5500" dirty="0">
              <a:gradFill flip="none" rotWithShape="1">
                <a:gsLst>
                  <a:gs pos="84000">
                    <a:schemeClr val="accent2"/>
                  </a:gs>
                  <a:gs pos="46000">
                    <a:schemeClr val="bg1"/>
                  </a:gs>
                  <a:gs pos="93000">
                    <a:schemeClr val="bg2"/>
                  </a:gs>
                  <a:gs pos="99000">
                    <a:schemeClr val="bg1"/>
                  </a:gs>
                  <a:gs pos="28000">
                    <a:schemeClr val="accent5"/>
                  </a:gs>
                  <a:gs pos="19000">
                    <a:schemeClr val="bg2"/>
                  </a:gs>
                  <a:gs pos="75000">
                    <a:schemeClr val="bg2"/>
                  </a:gs>
                  <a:gs pos="0">
                    <a:schemeClr val="bg1"/>
                  </a:gs>
                </a:gsLst>
                <a:path path="circle">
                  <a:fillToRect t="100000" r="100000"/>
                </a:path>
                <a:tileRect l="-100000" b="-100000"/>
              </a:gradFill>
              <a:effectLst>
                <a:outerShdw blurRad="50800" dist="38100" dir="2700000" sx="101000" sy="101000" algn="tl" rotWithShape="0">
                  <a:schemeClr val="accent1">
                    <a:alpha val="60000"/>
                  </a:scheme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 userDrawn="1"/>
        </p:nvSpPr>
        <p:spPr>
          <a:xfrm>
            <a:off x="0" y="0"/>
            <a:ext cx="10160000" cy="571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sp>
        <p:nvSpPr>
          <p:cNvPr id="59" name="椭圆 37"/>
          <p:cNvSpPr/>
          <p:nvPr userDrawn="1"/>
        </p:nvSpPr>
        <p:spPr>
          <a:xfrm rot="17471892" flipH="1">
            <a:off x="1477875" y="-3012208"/>
            <a:ext cx="9248188" cy="8092738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500" dirty="0"/>
          </a:p>
        </p:txBody>
      </p:sp>
      <p:sp>
        <p:nvSpPr>
          <p:cNvPr id="49" name="椭圆 37"/>
          <p:cNvSpPr/>
          <p:nvPr userDrawn="1"/>
        </p:nvSpPr>
        <p:spPr>
          <a:xfrm>
            <a:off x="-2943580" y="-544832"/>
            <a:ext cx="9248188" cy="8092738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500" dirty="0"/>
          </a:p>
        </p:txBody>
      </p:sp>
      <p:sp>
        <p:nvSpPr>
          <p:cNvPr id="35" name="椭圆 34"/>
          <p:cNvSpPr/>
          <p:nvPr userDrawn="1"/>
        </p:nvSpPr>
        <p:spPr>
          <a:xfrm rot="19463381">
            <a:off x="6326483" y="-821650"/>
            <a:ext cx="5283547" cy="4599663"/>
          </a:xfrm>
          <a:custGeom>
            <a:avLst/>
            <a:gdLst>
              <a:gd name="connsiteX0" fmla="*/ 0 w 8503920"/>
              <a:gd name="connsiteY0" fmla="*/ 3048000 h 6096000"/>
              <a:gd name="connsiteX1" fmla="*/ 4251960 w 8503920"/>
              <a:gd name="connsiteY1" fmla="*/ 0 h 6096000"/>
              <a:gd name="connsiteX2" fmla="*/ 8503920 w 8503920"/>
              <a:gd name="connsiteY2" fmla="*/ 3048000 h 6096000"/>
              <a:gd name="connsiteX3" fmla="*/ 4251960 w 8503920"/>
              <a:gd name="connsiteY3" fmla="*/ 6096000 h 6096000"/>
              <a:gd name="connsiteX4" fmla="*/ 0 w 8503920"/>
              <a:gd name="connsiteY4" fmla="*/ 3048000 h 6096000"/>
              <a:gd name="connsiteX0-1" fmla="*/ 0 w 8505037"/>
              <a:gd name="connsiteY0-2" fmla="*/ 2997252 h 6096078"/>
              <a:gd name="connsiteX1-3" fmla="*/ 4253077 w 8505037"/>
              <a:gd name="connsiteY1-4" fmla="*/ 40 h 6096078"/>
              <a:gd name="connsiteX2-5" fmla="*/ 8505037 w 8505037"/>
              <a:gd name="connsiteY2-6" fmla="*/ 3048040 h 6096078"/>
              <a:gd name="connsiteX3-7" fmla="*/ 4253077 w 8505037"/>
              <a:gd name="connsiteY3-8" fmla="*/ 6096040 h 6096078"/>
              <a:gd name="connsiteX4-9" fmla="*/ 0 w 8505037"/>
              <a:gd name="connsiteY4-10" fmla="*/ 2997252 h 6096078"/>
              <a:gd name="connsiteX0-11" fmla="*/ 105873 w 8610910"/>
              <a:gd name="connsiteY0-12" fmla="*/ 2997247 h 6096073"/>
              <a:gd name="connsiteX1-13" fmla="*/ 4358950 w 8610910"/>
              <a:gd name="connsiteY1-14" fmla="*/ 35 h 6096073"/>
              <a:gd name="connsiteX2-15" fmla="*/ 8610910 w 8610910"/>
              <a:gd name="connsiteY2-16" fmla="*/ 3048035 h 6096073"/>
              <a:gd name="connsiteX3-17" fmla="*/ 4358950 w 8610910"/>
              <a:gd name="connsiteY3-18" fmla="*/ 6096035 h 6096073"/>
              <a:gd name="connsiteX4-19" fmla="*/ 105873 w 8610910"/>
              <a:gd name="connsiteY4-20" fmla="*/ 2997247 h 6096073"/>
              <a:gd name="connsiteX0-21" fmla="*/ 1055 w 8506092"/>
              <a:gd name="connsiteY0-22" fmla="*/ 2997237 h 5085656"/>
              <a:gd name="connsiteX1-23" fmla="*/ 4254132 w 8506092"/>
              <a:gd name="connsiteY1-24" fmla="*/ 25 h 5085656"/>
              <a:gd name="connsiteX2-25" fmla="*/ 8506092 w 8506092"/>
              <a:gd name="connsiteY2-26" fmla="*/ 3048025 h 5085656"/>
              <a:gd name="connsiteX3-27" fmla="*/ 4640444 w 8506092"/>
              <a:gd name="connsiteY3-28" fmla="*/ 5085513 h 5085656"/>
              <a:gd name="connsiteX4-29" fmla="*/ 1055 w 8506092"/>
              <a:gd name="connsiteY4-30" fmla="*/ 2997237 h 5085656"/>
              <a:gd name="connsiteX0-31" fmla="*/ 1055 w 8506092"/>
              <a:gd name="connsiteY0-32" fmla="*/ 2997237 h 5519588"/>
              <a:gd name="connsiteX1-33" fmla="*/ 4254132 w 8506092"/>
              <a:gd name="connsiteY1-34" fmla="*/ 25 h 5519588"/>
              <a:gd name="connsiteX2-35" fmla="*/ 8506092 w 8506092"/>
              <a:gd name="connsiteY2-36" fmla="*/ 3048025 h 5519588"/>
              <a:gd name="connsiteX3-37" fmla="*/ 4640444 w 8506092"/>
              <a:gd name="connsiteY3-38" fmla="*/ 5085513 h 5519588"/>
              <a:gd name="connsiteX4-39" fmla="*/ 1055 w 8506092"/>
              <a:gd name="connsiteY4-40" fmla="*/ 2997237 h 5519588"/>
              <a:gd name="connsiteX0-41" fmla="*/ 72966 w 8578003"/>
              <a:gd name="connsiteY0-42" fmla="*/ 2997244 h 5519595"/>
              <a:gd name="connsiteX1-43" fmla="*/ 4326043 w 8578003"/>
              <a:gd name="connsiteY1-44" fmla="*/ 32 h 5519595"/>
              <a:gd name="connsiteX2-45" fmla="*/ 8578003 w 8578003"/>
              <a:gd name="connsiteY2-46" fmla="*/ 3048032 h 5519595"/>
              <a:gd name="connsiteX3-47" fmla="*/ 4712355 w 8578003"/>
              <a:gd name="connsiteY3-48" fmla="*/ 5085520 h 5519595"/>
              <a:gd name="connsiteX4-49" fmla="*/ 72966 w 8578003"/>
              <a:gd name="connsiteY4-50" fmla="*/ 2997244 h 55195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78003" h="5519595">
                <a:moveTo>
                  <a:pt x="72966" y="2997244"/>
                </a:moveTo>
                <a:cubicBezTo>
                  <a:pt x="-543503" y="1629289"/>
                  <a:pt x="2908537" y="-8433"/>
                  <a:pt x="4326043" y="32"/>
                </a:cubicBezTo>
                <a:cubicBezTo>
                  <a:pt x="5743549" y="8497"/>
                  <a:pt x="8578003" y="1364668"/>
                  <a:pt x="8578003" y="3048032"/>
                </a:cubicBezTo>
                <a:cubicBezTo>
                  <a:pt x="8578003" y="4731396"/>
                  <a:pt x="4998032" y="6307879"/>
                  <a:pt x="4712355" y="5085520"/>
                </a:cubicBezTo>
                <a:cubicBezTo>
                  <a:pt x="4426678" y="3863161"/>
                  <a:pt x="689435" y="4365199"/>
                  <a:pt x="72966" y="2997244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80000"/>
                </a:schemeClr>
              </a:gs>
              <a:gs pos="100000">
                <a:schemeClr val="accent5">
                  <a:alpha val="80000"/>
                </a:schemeClr>
              </a:gs>
              <a:gs pos="70000">
                <a:schemeClr val="accent3">
                  <a:alpha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37" name="椭圆 34"/>
          <p:cNvSpPr/>
          <p:nvPr userDrawn="1"/>
        </p:nvSpPr>
        <p:spPr>
          <a:xfrm rot="19463381">
            <a:off x="-2942391" y="2586328"/>
            <a:ext cx="5283547" cy="4599663"/>
          </a:xfrm>
          <a:custGeom>
            <a:avLst/>
            <a:gdLst>
              <a:gd name="connsiteX0" fmla="*/ 0 w 8503920"/>
              <a:gd name="connsiteY0" fmla="*/ 3048000 h 6096000"/>
              <a:gd name="connsiteX1" fmla="*/ 4251960 w 8503920"/>
              <a:gd name="connsiteY1" fmla="*/ 0 h 6096000"/>
              <a:gd name="connsiteX2" fmla="*/ 8503920 w 8503920"/>
              <a:gd name="connsiteY2" fmla="*/ 3048000 h 6096000"/>
              <a:gd name="connsiteX3" fmla="*/ 4251960 w 8503920"/>
              <a:gd name="connsiteY3" fmla="*/ 6096000 h 6096000"/>
              <a:gd name="connsiteX4" fmla="*/ 0 w 8503920"/>
              <a:gd name="connsiteY4" fmla="*/ 3048000 h 6096000"/>
              <a:gd name="connsiteX0-1" fmla="*/ 0 w 8505037"/>
              <a:gd name="connsiteY0-2" fmla="*/ 2997252 h 6096078"/>
              <a:gd name="connsiteX1-3" fmla="*/ 4253077 w 8505037"/>
              <a:gd name="connsiteY1-4" fmla="*/ 40 h 6096078"/>
              <a:gd name="connsiteX2-5" fmla="*/ 8505037 w 8505037"/>
              <a:gd name="connsiteY2-6" fmla="*/ 3048040 h 6096078"/>
              <a:gd name="connsiteX3-7" fmla="*/ 4253077 w 8505037"/>
              <a:gd name="connsiteY3-8" fmla="*/ 6096040 h 6096078"/>
              <a:gd name="connsiteX4-9" fmla="*/ 0 w 8505037"/>
              <a:gd name="connsiteY4-10" fmla="*/ 2997252 h 6096078"/>
              <a:gd name="connsiteX0-11" fmla="*/ 105873 w 8610910"/>
              <a:gd name="connsiteY0-12" fmla="*/ 2997247 h 6096073"/>
              <a:gd name="connsiteX1-13" fmla="*/ 4358950 w 8610910"/>
              <a:gd name="connsiteY1-14" fmla="*/ 35 h 6096073"/>
              <a:gd name="connsiteX2-15" fmla="*/ 8610910 w 8610910"/>
              <a:gd name="connsiteY2-16" fmla="*/ 3048035 h 6096073"/>
              <a:gd name="connsiteX3-17" fmla="*/ 4358950 w 8610910"/>
              <a:gd name="connsiteY3-18" fmla="*/ 6096035 h 6096073"/>
              <a:gd name="connsiteX4-19" fmla="*/ 105873 w 8610910"/>
              <a:gd name="connsiteY4-20" fmla="*/ 2997247 h 6096073"/>
              <a:gd name="connsiteX0-21" fmla="*/ 1055 w 8506092"/>
              <a:gd name="connsiteY0-22" fmla="*/ 2997237 h 5085656"/>
              <a:gd name="connsiteX1-23" fmla="*/ 4254132 w 8506092"/>
              <a:gd name="connsiteY1-24" fmla="*/ 25 h 5085656"/>
              <a:gd name="connsiteX2-25" fmla="*/ 8506092 w 8506092"/>
              <a:gd name="connsiteY2-26" fmla="*/ 3048025 h 5085656"/>
              <a:gd name="connsiteX3-27" fmla="*/ 4640444 w 8506092"/>
              <a:gd name="connsiteY3-28" fmla="*/ 5085513 h 5085656"/>
              <a:gd name="connsiteX4-29" fmla="*/ 1055 w 8506092"/>
              <a:gd name="connsiteY4-30" fmla="*/ 2997237 h 5085656"/>
              <a:gd name="connsiteX0-31" fmla="*/ 1055 w 8506092"/>
              <a:gd name="connsiteY0-32" fmla="*/ 2997237 h 5519588"/>
              <a:gd name="connsiteX1-33" fmla="*/ 4254132 w 8506092"/>
              <a:gd name="connsiteY1-34" fmla="*/ 25 h 5519588"/>
              <a:gd name="connsiteX2-35" fmla="*/ 8506092 w 8506092"/>
              <a:gd name="connsiteY2-36" fmla="*/ 3048025 h 5519588"/>
              <a:gd name="connsiteX3-37" fmla="*/ 4640444 w 8506092"/>
              <a:gd name="connsiteY3-38" fmla="*/ 5085513 h 5519588"/>
              <a:gd name="connsiteX4-39" fmla="*/ 1055 w 8506092"/>
              <a:gd name="connsiteY4-40" fmla="*/ 2997237 h 5519588"/>
              <a:gd name="connsiteX0-41" fmla="*/ 72966 w 8578003"/>
              <a:gd name="connsiteY0-42" fmla="*/ 2997244 h 5519595"/>
              <a:gd name="connsiteX1-43" fmla="*/ 4326043 w 8578003"/>
              <a:gd name="connsiteY1-44" fmla="*/ 32 h 5519595"/>
              <a:gd name="connsiteX2-45" fmla="*/ 8578003 w 8578003"/>
              <a:gd name="connsiteY2-46" fmla="*/ 3048032 h 5519595"/>
              <a:gd name="connsiteX3-47" fmla="*/ 4712355 w 8578003"/>
              <a:gd name="connsiteY3-48" fmla="*/ 5085520 h 5519595"/>
              <a:gd name="connsiteX4-49" fmla="*/ 72966 w 8578003"/>
              <a:gd name="connsiteY4-50" fmla="*/ 2997244 h 55195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78003" h="5519595">
                <a:moveTo>
                  <a:pt x="72966" y="2997244"/>
                </a:moveTo>
                <a:cubicBezTo>
                  <a:pt x="-543503" y="1629289"/>
                  <a:pt x="2908537" y="-8433"/>
                  <a:pt x="4326043" y="32"/>
                </a:cubicBezTo>
                <a:cubicBezTo>
                  <a:pt x="5743549" y="8497"/>
                  <a:pt x="8578003" y="1364668"/>
                  <a:pt x="8578003" y="3048032"/>
                </a:cubicBezTo>
                <a:cubicBezTo>
                  <a:pt x="8578003" y="4731396"/>
                  <a:pt x="4998032" y="6307879"/>
                  <a:pt x="4712355" y="5085520"/>
                </a:cubicBezTo>
                <a:cubicBezTo>
                  <a:pt x="4426678" y="3863161"/>
                  <a:pt x="689435" y="4365199"/>
                  <a:pt x="72966" y="2997244"/>
                </a:cubicBezTo>
                <a:close/>
              </a:path>
            </a:pathLst>
          </a:custGeom>
          <a:gradFill flip="none" rotWithShape="1">
            <a:gsLst>
              <a:gs pos="68000">
                <a:schemeClr val="accent1"/>
              </a:gs>
              <a:gs pos="0">
                <a:schemeClr val="accent5"/>
              </a:gs>
              <a:gs pos="33000">
                <a:schemeClr val="accent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38" name="椭圆 37"/>
          <p:cNvSpPr/>
          <p:nvPr userDrawn="1"/>
        </p:nvSpPr>
        <p:spPr>
          <a:xfrm>
            <a:off x="5163689" y="356293"/>
            <a:ext cx="7188619" cy="6290487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626343" h="7548584">
                <a:moveTo>
                  <a:pt x="1343341" y="3776855"/>
                </a:moveTo>
                <a:cubicBezTo>
                  <a:pt x="-2324419" y="1118322"/>
                  <a:pt x="2404737" y="-480185"/>
                  <a:pt x="4984842" y="129415"/>
                </a:cubicBezTo>
                <a:cubicBezTo>
                  <a:pt x="7564947" y="739015"/>
                  <a:pt x="8626343" y="1762430"/>
                  <a:pt x="8626343" y="3776855"/>
                </a:cubicBezTo>
                <a:cubicBezTo>
                  <a:pt x="8626343" y="5791280"/>
                  <a:pt x="5675187" y="8115175"/>
                  <a:pt x="4984842" y="7424295"/>
                </a:cubicBezTo>
                <a:cubicBezTo>
                  <a:pt x="4294497" y="6733415"/>
                  <a:pt x="5011101" y="6435388"/>
                  <a:pt x="1343341" y="3776855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60000"/>
                </a:schemeClr>
              </a:gs>
              <a:gs pos="100000">
                <a:schemeClr val="accent5">
                  <a:alpha val="60000"/>
                </a:schemeClr>
              </a:gs>
              <a:gs pos="70000">
                <a:schemeClr val="accent3">
                  <a:alpha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500" dirty="0"/>
          </a:p>
        </p:txBody>
      </p:sp>
      <p:sp>
        <p:nvSpPr>
          <p:cNvPr id="51" name="椭圆 37"/>
          <p:cNvSpPr/>
          <p:nvPr userDrawn="1"/>
        </p:nvSpPr>
        <p:spPr>
          <a:xfrm rot="12210284">
            <a:off x="-2574005" y="-2501052"/>
            <a:ext cx="6514354" cy="5714688"/>
          </a:xfrm>
          <a:custGeom>
            <a:avLst/>
            <a:gdLst>
              <a:gd name="connsiteX0" fmla="*/ 0 w 7283001"/>
              <a:gd name="connsiteY0" fmla="*/ 3647440 h 7294880"/>
              <a:gd name="connsiteX1" fmla="*/ 3641501 w 7283001"/>
              <a:gd name="connsiteY1" fmla="*/ 0 h 7294880"/>
              <a:gd name="connsiteX2" fmla="*/ 7283002 w 7283001"/>
              <a:gd name="connsiteY2" fmla="*/ 3647440 h 7294880"/>
              <a:gd name="connsiteX3" fmla="*/ 3641501 w 7283001"/>
              <a:gd name="connsiteY3" fmla="*/ 7294880 h 7294880"/>
              <a:gd name="connsiteX4" fmla="*/ 0 w 7283001"/>
              <a:gd name="connsiteY4" fmla="*/ 3647440 h 7294880"/>
              <a:gd name="connsiteX0-1" fmla="*/ 0 w 7283002"/>
              <a:gd name="connsiteY0-2" fmla="*/ 3647440 h 7294880"/>
              <a:gd name="connsiteX1-3" fmla="*/ 3641501 w 7283002"/>
              <a:gd name="connsiteY1-4" fmla="*/ 0 h 7294880"/>
              <a:gd name="connsiteX2-5" fmla="*/ 7283002 w 7283002"/>
              <a:gd name="connsiteY2-6" fmla="*/ 3647440 h 7294880"/>
              <a:gd name="connsiteX3-7" fmla="*/ 3641501 w 7283002"/>
              <a:gd name="connsiteY3-8" fmla="*/ 7294880 h 7294880"/>
              <a:gd name="connsiteX4-9" fmla="*/ 0 w 7283002"/>
              <a:gd name="connsiteY4-10" fmla="*/ 3647440 h 7294880"/>
              <a:gd name="connsiteX0-11" fmla="*/ 0 w 7283002"/>
              <a:gd name="connsiteY0-12" fmla="*/ 3961777 h 7609217"/>
              <a:gd name="connsiteX1-13" fmla="*/ 3641501 w 7283002"/>
              <a:gd name="connsiteY1-14" fmla="*/ 314337 h 7609217"/>
              <a:gd name="connsiteX2-15" fmla="*/ 7283002 w 7283002"/>
              <a:gd name="connsiteY2-16" fmla="*/ 3961777 h 7609217"/>
              <a:gd name="connsiteX3-17" fmla="*/ 3641501 w 7283002"/>
              <a:gd name="connsiteY3-18" fmla="*/ 7609217 h 7609217"/>
              <a:gd name="connsiteX4-19" fmla="*/ 0 w 7283002"/>
              <a:gd name="connsiteY4-20" fmla="*/ 3961777 h 7609217"/>
              <a:gd name="connsiteX0-21" fmla="*/ 0 w 7283002"/>
              <a:gd name="connsiteY0-22" fmla="*/ 3727312 h 7374752"/>
              <a:gd name="connsiteX1-23" fmla="*/ 3641501 w 7283002"/>
              <a:gd name="connsiteY1-24" fmla="*/ 79872 h 7374752"/>
              <a:gd name="connsiteX2-25" fmla="*/ 7283002 w 7283002"/>
              <a:gd name="connsiteY2-26" fmla="*/ 3727312 h 7374752"/>
              <a:gd name="connsiteX3-27" fmla="*/ 3641501 w 7283002"/>
              <a:gd name="connsiteY3-28" fmla="*/ 7374752 h 7374752"/>
              <a:gd name="connsiteX4-29" fmla="*/ 0 w 7283002"/>
              <a:gd name="connsiteY4-30" fmla="*/ 3727312 h 7374752"/>
              <a:gd name="connsiteX0-31" fmla="*/ 107156 w 7390158"/>
              <a:gd name="connsiteY0-32" fmla="*/ 3715815 h 7363255"/>
              <a:gd name="connsiteX1-33" fmla="*/ 3748657 w 7390158"/>
              <a:gd name="connsiteY1-34" fmla="*/ 68375 h 7363255"/>
              <a:gd name="connsiteX2-35" fmla="*/ 7390158 w 7390158"/>
              <a:gd name="connsiteY2-36" fmla="*/ 3715815 h 7363255"/>
              <a:gd name="connsiteX3-37" fmla="*/ 3748657 w 7390158"/>
              <a:gd name="connsiteY3-38" fmla="*/ 7363255 h 7363255"/>
              <a:gd name="connsiteX4-39" fmla="*/ 107156 w 7390158"/>
              <a:gd name="connsiteY4-40" fmla="*/ 3715815 h 7363255"/>
              <a:gd name="connsiteX0-41" fmla="*/ 1343341 w 8626343"/>
              <a:gd name="connsiteY0-42" fmla="*/ 3776855 h 7424295"/>
              <a:gd name="connsiteX1-43" fmla="*/ 4984842 w 8626343"/>
              <a:gd name="connsiteY1-44" fmla="*/ 129415 h 7424295"/>
              <a:gd name="connsiteX2-45" fmla="*/ 8626343 w 8626343"/>
              <a:gd name="connsiteY2-46" fmla="*/ 3776855 h 7424295"/>
              <a:gd name="connsiteX3-47" fmla="*/ 4984842 w 8626343"/>
              <a:gd name="connsiteY3-48" fmla="*/ 7424295 h 7424295"/>
              <a:gd name="connsiteX4-49" fmla="*/ 1343341 w 8626343"/>
              <a:gd name="connsiteY4-50" fmla="*/ 3776855 h 7424295"/>
              <a:gd name="connsiteX0-51" fmla="*/ 1343341 w 8626343"/>
              <a:gd name="connsiteY0-52" fmla="*/ 3776855 h 7548584"/>
              <a:gd name="connsiteX1-53" fmla="*/ 4984842 w 8626343"/>
              <a:gd name="connsiteY1-54" fmla="*/ 129415 h 7548584"/>
              <a:gd name="connsiteX2-55" fmla="*/ 8626343 w 8626343"/>
              <a:gd name="connsiteY2-56" fmla="*/ 3776855 h 7548584"/>
              <a:gd name="connsiteX3-57" fmla="*/ 4984842 w 8626343"/>
              <a:gd name="connsiteY3-58" fmla="*/ 7424295 h 7548584"/>
              <a:gd name="connsiteX4-59" fmla="*/ 1343341 w 8626343"/>
              <a:gd name="connsiteY4-60" fmla="*/ 3776855 h 7548584"/>
              <a:gd name="connsiteX0-61" fmla="*/ 1276306 w 8559308"/>
              <a:gd name="connsiteY0-62" fmla="*/ 3736886 h 7508615"/>
              <a:gd name="connsiteX1-63" fmla="*/ 4917807 w 8559308"/>
              <a:gd name="connsiteY1-64" fmla="*/ 89446 h 7508615"/>
              <a:gd name="connsiteX2-65" fmla="*/ 8559308 w 8559308"/>
              <a:gd name="connsiteY2-66" fmla="*/ 3736886 h 7508615"/>
              <a:gd name="connsiteX3-67" fmla="*/ 4917807 w 8559308"/>
              <a:gd name="connsiteY3-68" fmla="*/ 7384326 h 7508615"/>
              <a:gd name="connsiteX4-69" fmla="*/ 1276306 w 8559308"/>
              <a:gd name="connsiteY4-70" fmla="*/ 3736886 h 75086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59308" h="7508615">
                <a:moveTo>
                  <a:pt x="1276306" y="3736886"/>
                </a:moveTo>
                <a:cubicBezTo>
                  <a:pt x="-2234531" y="2127967"/>
                  <a:pt x="2337702" y="-520154"/>
                  <a:pt x="4917807" y="89446"/>
                </a:cubicBezTo>
                <a:cubicBezTo>
                  <a:pt x="7497912" y="699046"/>
                  <a:pt x="8559308" y="1722461"/>
                  <a:pt x="8559308" y="3736886"/>
                </a:cubicBezTo>
                <a:cubicBezTo>
                  <a:pt x="8559308" y="5751311"/>
                  <a:pt x="5608152" y="8075206"/>
                  <a:pt x="4917807" y="7384326"/>
                </a:cubicBezTo>
                <a:cubicBezTo>
                  <a:pt x="4227462" y="6693446"/>
                  <a:pt x="4787143" y="5345805"/>
                  <a:pt x="1276306" y="3736886"/>
                </a:cubicBezTo>
                <a:close/>
              </a:path>
            </a:pathLst>
          </a:custGeom>
          <a:gradFill flip="none" rotWithShape="1">
            <a:gsLst>
              <a:gs pos="35000">
                <a:schemeClr val="accent1">
                  <a:alpha val="20000"/>
                </a:schemeClr>
              </a:gs>
              <a:gs pos="0">
                <a:schemeClr val="accent5">
                  <a:alpha val="70000"/>
                </a:schemeClr>
              </a:gs>
              <a:gs pos="70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500" dirty="0"/>
          </a:p>
        </p:txBody>
      </p:sp>
      <p:pic>
        <p:nvPicPr>
          <p:cNvPr id="83" name="图片 8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6661" y="1058102"/>
            <a:ext cx="12222358" cy="4184351"/>
          </a:xfrm>
          <a:prstGeom prst="rect">
            <a:avLst/>
          </a:prstGeom>
        </p:spPr>
      </p:pic>
      <p:grpSp>
        <p:nvGrpSpPr>
          <p:cNvPr id="79" name="组合 78"/>
          <p:cNvGrpSpPr/>
          <p:nvPr userDrawn="1"/>
        </p:nvGrpSpPr>
        <p:grpSpPr>
          <a:xfrm>
            <a:off x="1308297" y="1551133"/>
            <a:ext cx="6523781" cy="2488420"/>
            <a:chOff x="1569956" y="1861359"/>
            <a:chExt cx="7828537" cy="2986104"/>
          </a:xfrm>
        </p:grpSpPr>
        <p:pic>
          <p:nvPicPr>
            <p:cNvPr id="47" name="图片 46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9956" y="1861359"/>
              <a:ext cx="2463673" cy="607765"/>
            </a:xfrm>
            <a:prstGeom prst="rect">
              <a:avLst/>
            </a:prstGeom>
          </p:spPr>
        </p:pic>
        <p:grpSp>
          <p:nvGrpSpPr>
            <p:cNvPr id="78" name="组合 77"/>
            <p:cNvGrpSpPr/>
            <p:nvPr userDrawn="1"/>
          </p:nvGrpSpPr>
          <p:grpSpPr>
            <a:xfrm>
              <a:off x="2802512" y="4244144"/>
              <a:ext cx="6595981" cy="603319"/>
              <a:chOff x="2802512" y="4244144"/>
              <a:chExt cx="6595981" cy="603319"/>
            </a:xfrm>
          </p:grpSpPr>
          <p:sp>
            <p:nvSpPr>
              <p:cNvPr id="53" name="文本框 52"/>
              <p:cNvSpPr txBox="1"/>
              <p:nvPr userDrawn="1"/>
            </p:nvSpPr>
            <p:spPr>
              <a:xfrm>
                <a:off x="3775392" y="4244144"/>
                <a:ext cx="4650224" cy="60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665" dirty="0">
                    <a:solidFill>
                      <a:schemeClr val="bg1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</a:rPr>
                  <a:t>呈现数据管理</a:t>
                </a:r>
                <a:r>
                  <a:rPr lang="zh-CN" altLang="en-US" sz="2665" b="1" dirty="0">
                    <a:solidFill>
                      <a:schemeClr val="accent2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</a:rPr>
                  <a:t>智能</a:t>
                </a:r>
                <a:r>
                  <a:rPr lang="zh-CN" altLang="en-US" sz="2665" dirty="0">
                    <a:solidFill>
                      <a:schemeClr val="bg1"/>
                    </a:solidFill>
                    <a:latin typeface="字魂58号-创中黑" panose="00000500000000000000" pitchFamily="2" charset="-122"/>
                    <a:ea typeface="字魂58号-创中黑" panose="00000500000000000000" pitchFamily="2" charset="-122"/>
                  </a:rPr>
                  <a:t>之美</a:t>
                </a:r>
                <a:endParaRPr lang="zh-CN" altLang="en-US" sz="2665" dirty="0">
                  <a:solidFill>
                    <a:schemeClr val="bg1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  <p:grpSp>
            <p:nvGrpSpPr>
              <p:cNvPr id="70" name="组合 69"/>
              <p:cNvGrpSpPr/>
              <p:nvPr userDrawn="1"/>
            </p:nvGrpSpPr>
            <p:grpSpPr>
              <a:xfrm>
                <a:off x="2802512" y="4477674"/>
                <a:ext cx="1081170" cy="117713"/>
                <a:chOff x="2804029" y="4478351"/>
                <a:chExt cx="1081170" cy="117713"/>
              </a:xfrm>
              <a:gradFill>
                <a:gsLst>
                  <a:gs pos="0">
                    <a:schemeClr val="accent6">
                      <a:alpha val="0"/>
                    </a:schemeClr>
                  </a:gs>
                  <a:gs pos="56000">
                    <a:schemeClr val="accent4">
                      <a:alpha val="50000"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</p:grpSpPr>
            <p:sp>
              <p:nvSpPr>
                <p:cNvPr id="60" name="平行四边形 59"/>
                <p:cNvSpPr/>
                <p:nvPr userDrawn="1"/>
              </p:nvSpPr>
              <p:spPr>
                <a:xfrm flipH="1">
                  <a:off x="3668616" y="4478351"/>
                  <a:ext cx="216583" cy="117713"/>
                </a:xfrm>
                <a:prstGeom prst="parallelogram">
                  <a:avLst>
                    <a:gd name="adj" fmla="val 6991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00"/>
                </a:p>
              </p:txBody>
            </p:sp>
            <p:sp>
              <p:nvSpPr>
                <p:cNvPr id="64" name="平行四边形 63"/>
                <p:cNvSpPr/>
                <p:nvPr userDrawn="1"/>
              </p:nvSpPr>
              <p:spPr>
                <a:xfrm flipH="1">
                  <a:off x="3495697" y="4478351"/>
                  <a:ext cx="216583" cy="117713"/>
                </a:xfrm>
                <a:prstGeom prst="parallelogram">
                  <a:avLst>
                    <a:gd name="adj" fmla="val 6991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00"/>
                </a:p>
              </p:txBody>
            </p:sp>
            <p:sp>
              <p:nvSpPr>
                <p:cNvPr id="65" name="平行四边形 64"/>
                <p:cNvSpPr/>
                <p:nvPr userDrawn="1"/>
              </p:nvSpPr>
              <p:spPr>
                <a:xfrm flipH="1">
                  <a:off x="3322780" y="4478351"/>
                  <a:ext cx="216583" cy="117713"/>
                </a:xfrm>
                <a:prstGeom prst="parallelogram">
                  <a:avLst>
                    <a:gd name="adj" fmla="val 6991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00"/>
                </a:p>
              </p:txBody>
            </p:sp>
            <p:sp>
              <p:nvSpPr>
                <p:cNvPr id="67" name="平行四边形 66"/>
                <p:cNvSpPr/>
                <p:nvPr userDrawn="1"/>
              </p:nvSpPr>
              <p:spPr>
                <a:xfrm flipH="1">
                  <a:off x="3149863" y="4478351"/>
                  <a:ext cx="216583" cy="117713"/>
                </a:xfrm>
                <a:prstGeom prst="parallelogram">
                  <a:avLst>
                    <a:gd name="adj" fmla="val 6991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00"/>
                </a:p>
              </p:txBody>
            </p:sp>
            <p:sp>
              <p:nvSpPr>
                <p:cNvPr id="68" name="平行四边形 67"/>
                <p:cNvSpPr/>
                <p:nvPr userDrawn="1"/>
              </p:nvSpPr>
              <p:spPr>
                <a:xfrm flipH="1">
                  <a:off x="2976946" y="4478351"/>
                  <a:ext cx="216583" cy="117713"/>
                </a:xfrm>
                <a:prstGeom prst="parallelogram">
                  <a:avLst>
                    <a:gd name="adj" fmla="val 6991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00"/>
                </a:p>
              </p:txBody>
            </p:sp>
            <p:sp>
              <p:nvSpPr>
                <p:cNvPr id="69" name="平行四边形 68"/>
                <p:cNvSpPr/>
                <p:nvPr userDrawn="1"/>
              </p:nvSpPr>
              <p:spPr>
                <a:xfrm flipH="1">
                  <a:off x="2804029" y="4478351"/>
                  <a:ext cx="216583" cy="117713"/>
                </a:xfrm>
                <a:prstGeom prst="parallelogram">
                  <a:avLst>
                    <a:gd name="adj" fmla="val 6991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00"/>
                </a:p>
              </p:txBody>
            </p:sp>
          </p:grpSp>
          <p:grpSp>
            <p:nvGrpSpPr>
              <p:cNvPr id="71" name="组合 70"/>
              <p:cNvGrpSpPr/>
              <p:nvPr userDrawn="1"/>
            </p:nvGrpSpPr>
            <p:grpSpPr>
              <a:xfrm flipH="1">
                <a:off x="8317323" y="4477674"/>
                <a:ext cx="1081170" cy="117713"/>
                <a:chOff x="2804029" y="4478351"/>
                <a:chExt cx="1081170" cy="117713"/>
              </a:xfrm>
              <a:gradFill>
                <a:gsLst>
                  <a:gs pos="0">
                    <a:schemeClr val="accent6">
                      <a:alpha val="0"/>
                    </a:schemeClr>
                  </a:gs>
                  <a:gs pos="56000">
                    <a:schemeClr val="accent4">
                      <a:alpha val="50000"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</p:grpSpPr>
            <p:sp>
              <p:nvSpPr>
                <p:cNvPr id="72" name="平行四边形 71"/>
                <p:cNvSpPr/>
                <p:nvPr userDrawn="1"/>
              </p:nvSpPr>
              <p:spPr>
                <a:xfrm flipH="1">
                  <a:off x="3668616" y="4478351"/>
                  <a:ext cx="216583" cy="117713"/>
                </a:xfrm>
                <a:prstGeom prst="parallelogram">
                  <a:avLst>
                    <a:gd name="adj" fmla="val 6991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00"/>
                </a:p>
              </p:txBody>
            </p:sp>
            <p:sp>
              <p:nvSpPr>
                <p:cNvPr id="73" name="平行四边形 72"/>
                <p:cNvSpPr/>
                <p:nvPr userDrawn="1"/>
              </p:nvSpPr>
              <p:spPr>
                <a:xfrm flipH="1">
                  <a:off x="3495697" y="4478351"/>
                  <a:ext cx="216583" cy="117713"/>
                </a:xfrm>
                <a:prstGeom prst="parallelogram">
                  <a:avLst>
                    <a:gd name="adj" fmla="val 6991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00"/>
                </a:p>
              </p:txBody>
            </p:sp>
            <p:sp>
              <p:nvSpPr>
                <p:cNvPr id="74" name="平行四边形 73"/>
                <p:cNvSpPr/>
                <p:nvPr userDrawn="1"/>
              </p:nvSpPr>
              <p:spPr>
                <a:xfrm flipH="1">
                  <a:off x="3322780" y="4478351"/>
                  <a:ext cx="216583" cy="117713"/>
                </a:xfrm>
                <a:prstGeom prst="parallelogram">
                  <a:avLst>
                    <a:gd name="adj" fmla="val 6991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00"/>
                </a:p>
              </p:txBody>
            </p:sp>
            <p:sp>
              <p:nvSpPr>
                <p:cNvPr id="75" name="平行四边形 74"/>
                <p:cNvSpPr/>
                <p:nvPr userDrawn="1"/>
              </p:nvSpPr>
              <p:spPr>
                <a:xfrm flipH="1">
                  <a:off x="3149863" y="4478351"/>
                  <a:ext cx="216583" cy="117713"/>
                </a:xfrm>
                <a:prstGeom prst="parallelogram">
                  <a:avLst>
                    <a:gd name="adj" fmla="val 6991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00"/>
                </a:p>
              </p:txBody>
            </p:sp>
            <p:sp>
              <p:nvSpPr>
                <p:cNvPr id="76" name="平行四边形 75"/>
                <p:cNvSpPr/>
                <p:nvPr userDrawn="1"/>
              </p:nvSpPr>
              <p:spPr>
                <a:xfrm flipH="1">
                  <a:off x="2976946" y="4478351"/>
                  <a:ext cx="216583" cy="117713"/>
                </a:xfrm>
                <a:prstGeom prst="parallelogram">
                  <a:avLst>
                    <a:gd name="adj" fmla="val 6991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00"/>
                </a:p>
              </p:txBody>
            </p:sp>
            <p:sp>
              <p:nvSpPr>
                <p:cNvPr id="77" name="平行四边形 76"/>
                <p:cNvSpPr/>
                <p:nvPr userDrawn="1"/>
              </p:nvSpPr>
              <p:spPr>
                <a:xfrm flipH="1">
                  <a:off x="2804029" y="4478351"/>
                  <a:ext cx="216583" cy="117713"/>
                </a:xfrm>
                <a:prstGeom prst="parallelogram">
                  <a:avLst>
                    <a:gd name="adj" fmla="val 6991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00"/>
                </a:p>
              </p:txBody>
            </p:sp>
          </p:grp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8500" y="304271"/>
            <a:ext cx="8763000" cy="110463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标题-空白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older 2"/>
          <p:cNvSpPr>
            <a:spLocks noGrp="1"/>
          </p:cNvSpPr>
          <p:nvPr>
            <p:ph type="title"/>
          </p:nvPr>
        </p:nvSpPr>
        <p:spPr>
          <a:xfrm>
            <a:off x="0" y="148167"/>
            <a:ext cx="10159996" cy="376171"/>
          </a:xfrm>
        </p:spPr>
        <p:txBody>
          <a:bodyPr lIns="0" tIns="0" rIns="0" bIns="0"/>
          <a:lstStyle>
            <a:lvl1pPr algn="ctr">
              <a:defRPr sz="2445" b="1" i="0">
                <a:solidFill>
                  <a:srgbClr val="0846A3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 dirty="0"/>
          </a:p>
        </p:txBody>
      </p:sp>
      <p:sp>
        <p:nvSpPr>
          <p:cNvPr id="10" name="object 2"/>
          <p:cNvSpPr/>
          <p:nvPr userDrawn="1"/>
        </p:nvSpPr>
        <p:spPr>
          <a:xfrm>
            <a:off x="5952" y="2645766"/>
            <a:ext cx="10154044" cy="3069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16" name="object 10"/>
          <p:cNvSpPr/>
          <p:nvPr userDrawn="1"/>
        </p:nvSpPr>
        <p:spPr>
          <a:xfrm>
            <a:off x="4806806" y="656167"/>
            <a:ext cx="546806" cy="0"/>
          </a:xfrm>
          <a:custGeom>
            <a:avLst/>
            <a:gdLst/>
            <a:ahLst/>
            <a:cxnLst/>
            <a:rect l="l" t="t" r="r" b="b"/>
            <a:pathLst>
              <a:path w="492125">
                <a:moveTo>
                  <a:pt x="0" y="0"/>
                </a:moveTo>
                <a:lnTo>
                  <a:pt x="491670" y="0"/>
                </a:lnTo>
              </a:path>
            </a:pathLst>
          </a:custGeom>
          <a:ln w="100499">
            <a:solidFill>
              <a:srgbClr val="E69137"/>
            </a:solidFill>
          </a:ln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5" name="object 28"/>
          <p:cNvSpPr/>
          <p:nvPr userDrawn="1"/>
        </p:nvSpPr>
        <p:spPr>
          <a:xfrm>
            <a:off x="1048000" y="-689417"/>
            <a:ext cx="1400000" cy="1400000"/>
          </a:xfrm>
          <a:custGeom>
            <a:avLst/>
            <a:gdLst/>
            <a:ahLst/>
            <a:cxnLst/>
            <a:rect l="l" t="t" r="r" b="b"/>
            <a:pathLst>
              <a:path w="1314450" h="1314450">
                <a:moveTo>
                  <a:pt x="657051" y="1314105"/>
                </a:moveTo>
                <a:lnTo>
                  <a:pt x="701127" y="1312650"/>
                </a:lnTo>
                <a:lnTo>
                  <a:pt x="744424" y="1308347"/>
                </a:lnTo>
                <a:lnTo>
                  <a:pt x="786850" y="1301287"/>
                </a:lnTo>
                <a:lnTo>
                  <a:pt x="828314" y="1291563"/>
                </a:lnTo>
                <a:lnTo>
                  <a:pt x="868723" y="1279265"/>
                </a:lnTo>
                <a:lnTo>
                  <a:pt x="907984" y="1264488"/>
                </a:lnTo>
                <a:lnTo>
                  <a:pt x="946007" y="1247322"/>
                </a:lnTo>
                <a:lnTo>
                  <a:pt x="982699" y="1227859"/>
                </a:lnTo>
                <a:lnTo>
                  <a:pt x="1017970" y="1206191"/>
                </a:lnTo>
                <a:lnTo>
                  <a:pt x="1051724" y="1182412"/>
                </a:lnTo>
                <a:lnTo>
                  <a:pt x="1083873" y="1156611"/>
                </a:lnTo>
                <a:lnTo>
                  <a:pt x="1114323" y="1128882"/>
                </a:lnTo>
                <a:lnTo>
                  <a:pt x="1142981" y="1099316"/>
                </a:lnTo>
                <a:lnTo>
                  <a:pt x="1169758" y="1068005"/>
                </a:lnTo>
                <a:lnTo>
                  <a:pt x="1194559" y="1035042"/>
                </a:lnTo>
                <a:lnTo>
                  <a:pt x="1217295" y="1000519"/>
                </a:lnTo>
                <a:lnTo>
                  <a:pt x="1237871" y="964526"/>
                </a:lnTo>
                <a:lnTo>
                  <a:pt x="1256197" y="927157"/>
                </a:lnTo>
                <a:lnTo>
                  <a:pt x="1272181" y="888503"/>
                </a:lnTo>
                <a:lnTo>
                  <a:pt x="1285730" y="848656"/>
                </a:lnTo>
                <a:lnTo>
                  <a:pt x="1296751" y="807709"/>
                </a:lnTo>
                <a:lnTo>
                  <a:pt x="1305156" y="765752"/>
                </a:lnTo>
                <a:lnTo>
                  <a:pt x="1310849" y="722879"/>
                </a:lnTo>
                <a:lnTo>
                  <a:pt x="1313739" y="679182"/>
                </a:lnTo>
                <a:lnTo>
                  <a:pt x="1314105" y="657052"/>
                </a:lnTo>
                <a:lnTo>
                  <a:pt x="1313739" y="634923"/>
                </a:lnTo>
                <a:lnTo>
                  <a:pt x="1310849" y="591226"/>
                </a:lnTo>
                <a:lnTo>
                  <a:pt x="1305156" y="548353"/>
                </a:lnTo>
                <a:lnTo>
                  <a:pt x="1296751" y="506397"/>
                </a:lnTo>
                <a:lnTo>
                  <a:pt x="1285730" y="465449"/>
                </a:lnTo>
                <a:lnTo>
                  <a:pt x="1272181" y="425603"/>
                </a:lnTo>
                <a:lnTo>
                  <a:pt x="1256197" y="386949"/>
                </a:lnTo>
                <a:lnTo>
                  <a:pt x="1237871" y="349580"/>
                </a:lnTo>
                <a:lnTo>
                  <a:pt x="1217295" y="313587"/>
                </a:lnTo>
                <a:lnTo>
                  <a:pt x="1194559" y="279063"/>
                </a:lnTo>
                <a:lnTo>
                  <a:pt x="1169758" y="246100"/>
                </a:lnTo>
                <a:lnTo>
                  <a:pt x="1142981" y="214790"/>
                </a:lnTo>
                <a:lnTo>
                  <a:pt x="1114323" y="185224"/>
                </a:lnTo>
                <a:lnTo>
                  <a:pt x="1083873" y="157494"/>
                </a:lnTo>
                <a:lnTo>
                  <a:pt x="1051724" y="131694"/>
                </a:lnTo>
                <a:lnTo>
                  <a:pt x="1017970" y="107914"/>
                </a:lnTo>
                <a:lnTo>
                  <a:pt x="982699" y="86246"/>
                </a:lnTo>
                <a:lnTo>
                  <a:pt x="946007" y="66783"/>
                </a:lnTo>
                <a:lnTo>
                  <a:pt x="907984" y="49617"/>
                </a:lnTo>
                <a:lnTo>
                  <a:pt x="868723" y="34839"/>
                </a:lnTo>
                <a:lnTo>
                  <a:pt x="828314" y="22542"/>
                </a:lnTo>
                <a:lnTo>
                  <a:pt x="786850" y="12818"/>
                </a:lnTo>
                <a:lnTo>
                  <a:pt x="744424" y="5758"/>
                </a:lnTo>
                <a:lnTo>
                  <a:pt x="701127" y="1454"/>
                </a:lnTo>
                <a:lnTo>
                  <a:pt x="657051" y="0"/>
                </a:lnTo>
                <a:lnTo>
                  <a:pt x="634923" y="365"/>
                </a:lnTo>
                <a:lnTo>
                  <a:pt x="591225" y="3255"/>
                </a:lnTo>
                <a:lnTo>
                  <a:pt x="548351" y="8949"/>
                </a:lnTo>
                <a:lnTo>
                  <a:pt x="506395" y="17353"/>
                </a:lnTo>
                <a:lnTo>
                  <a:pt x="465449" y="28375"/>
                </a:lnTo>
                <a:lnTo>
                  <a:pt x="425601" y="41924"/>
                </a:lnTo>
                <a:lnTo>
                  <a:pt x="386948" y="57907"/>
                </a:lnTo>
                <a:lnTo>
                  <a:pt x="349578" y="76233"/>
                </a:lnTo>
                <a:lnTo>
                  <a:pt x="313585" y="96810"/>
                </a:lnTo>
                <a:lnTo>
                  <a:pt x="279062" y="119545"/>
                </a:lnTo>
                <a:lnTo>
                  <a:pt x="246099" y="144347"/>
                </a:lnTo>
                <a:lnTo>
                  <a:pt x="214788" y="171124"/>
                </a:lnTo>
                <a:lnTo>
                  <a:pt x="185223" y="199783"/>
                </a:lnTo>
                <a:lnTo>
                  <a:pt x="157493" y="230232"/>
                </a:lnTo>
                <a:lnTo>
                  <a:pt x="131692" y="262381"/>
                </a:lnTo>
                <a:lnTo>
                  <a:pt x="107913" y="296136"/>
                </a:lnTo>
                <a:lnTo>
                  <a:pt x="86245" y="331406"/>
                </a:lnTo>
                <a:lnTo>
                  <a:pt x="66783" y="368098"/>
                </a:lnTo>
                <a:lnTo>
                  <a:pt x="49616" y="406121"/>
                </a:lnTo>
                <a:lnTo>
                  <a:pt x="34839" y="445383"/>
                </a:lnTo>
                <a:lnTo>
                  <a:pt x="22541" y="485791"/>
                </a:lnTo>
                <a:lnTo>
                  <a:pt x="12817" y="527254"/>
                </a:lnTo>
                <a:lnTo>
                  <a:pt x="5757" y="569680"/>
                </a:lnTo>
                <a:lnTo>
                  <a:pt x="1454" y="612977"/>
                </a:lnTo>
                <a:lnTo>
                  <a:pt x="0" y="657052"/>
                </a:lnTo>
                <a:lnTo>
                  <a:pt x="364" y="679182"/>
                </a:lnTo>
                <a:lnTo>
                  <a:pt x="3255" y="722879"/>
                </a:lnTo>
                <a:lnTo>
                  <a:pt x="8949" y="765752"/>
                </a:lnTo>
                <a:lnTo>
                  <a:pt x="17351" y="807709"/>
                </a:lnTo>
                <a:lnTo>
                  <a:pt x="28374" y="848656"/>
                </a:lnTo>
                <a:lnTo>
                  <a:pt x="41924" y="888503"/>
                </a:lnTo>
                <a:lnTo>
                  <a:pt x="57906" y="927157"/>
                </a:lnTo>
                <a:lnTo>
                  <a:pt x="76233" y="964526"/>
                </a:lnTo>
                <a:lnTo>
                  <a:pt x="96809" y="1000519"/>
                </a:lnTo>
                <a:lnTo>
                  <a:pt x="119544" y="1035042"/>
                </a:lnTo>
                <a:lnTo>
                  <a:pt x="144346" y="1068005"/>
                </a:lnTo>
                <a:lnTo>
                  <a:pt x="171123" y="1099316"/>
                </a:lnTo>
                <a:lnTo>
                  <a:pt x="199781" y="1128882"/>
                </a:lnTo>
                <a:lnTo>
                  <a:pt x="230231" y="1156611"/>
                </a:lnTo>
                <a:lnTo>
                  <a:pt x="262380" y="1182412"/>
                </a:lnTo>
                <a:lnTo>
                  <a:pt x="296134" y="1206191"/>
                </a:lnTo>
                <a:lnTo>
                  <a:pt x="331404" y="1227859"/>
                </a:lnTo>
                <a:lnTo>
                  <a:pt x="368096" y="1247322"/>
                </a:lnTo>
                <a:lnTo>
                  <a:pt x="406120" y="1264488"/>
                </a:lnTo>
                <a:lnTo>
                  <a:pt x="445381" y="1279265"/>
                </a:lnTo>
                <a:lnTo>
                  <a:pt x="485790" y="1291563"/>
                </a:lnTo>
                <a:lnTo>
                  <a:pt x="527253" y="1301287"/>
                </a:lnTo>
                <a:lnTo>
                  <a:pt x="569680" y="1308347"/>
                </a:lnTo>
                <a:lnTo>
                  <a:pt x="612976" y="1312650"/>
                </a:lnTo>
                <a:lnTo>
                  <a:pt x="657051" y="1314105"/>
                </a:lnTo>
                <a:close/>
              </a:path>
            </a:pathLst>
          </a:custGeom>
          <a:ln w="19050">
            <a:solidFill>
              <a:srgbClr val="E4EDF6"/>
            </a:solidFill>
          </a:ln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6" name="object 28"/>
          <p:cNvSpPr/>
          <p:nvPr userDrawn="1"/>
        </p:nvSpPr>
        <p:spPr>
          <a:xfrm>
            <a:off x="748000" y="-989417"/>
            <a:ext cx="2000000" cy="2000000"/>
          </a:xfrm>
          <a:custGeom>
            <a:avLst/>
            <a:gdLst/>
            <a:ahLst/>
            <a:cxnLst/>
            <a:rect l="l" t="t" r="r" b="b"/>
            <a:pathLst>
              <a:path w="1314450" h="1314450">
                <a:moveTo>
                  <a:pt x="657051" y="1314105"/>
                </a:moveTo>
                <a:lnTo>
                  <a:pt x="701127" y="1312650"/>
                </a:lnTo>
                <a:lnTo>
                  <a:pt x="744424" y="1308347"/>
                </a:lnTo>
                <a:lnTo>
                  <a:pt x="786850" y="1301287"/>
                </a:lnTo>
                <a:lnTo>
                  <a:pt x="828314" y="1291563"/>
                </a:lnTo>
                <a:lnTo>
                  <a:pt x="868723" y="1279265"/>
                </a:lnTo>
                <a:lnTo>
                  <a:pt x="907984" y="1264488"/>
                </a:lnTo>
                <a:lnTo>
                  <a:pt x="946007" y="1247322"/>
                </a:lnTo>
                <a:lnTo>
                  <a:pt x="982699" y="1227859"/>
                </a:lnTo>
                <a:lnTo>
                  <a:pt x="1017970" y="1206191"/>
                </a:lnTo>
                <a:lnTo>
                  <a:pt x="1051724" y="1182412"/>
                </a:lnTo>
                <a:lnTo>
                  <a:pt x="1083873" y="1156611"/>
                </a:lnTo>
                <a:lnTo>
                  <a:pt x="1114323" y="1128882"/>
                </a:lnTo>
                <a:lnTo>
                  <a:pt x="1142981" y="1099316"/>
                </a:lnTo>
                <a:lnTo>
                  <a:pt x="1169758" y="1068005"/>
                </a:lnTo>
                <a:lnTo>
                  <a:pt x="1194559" y="1035042"/>
                </a:lnTo>
                <a:lnTo>
                  <a:pt x="1217295" y="1000519"/>
                </a:lnTo>
                <a:lnTo>
                  <a:pt x="1237871" y="964526"/>
                </a:lnTo>
                <a:lnTo>
                  <a:pt x="1256197" y="927157"/>
                </a:lnTo>
                <a:lnTo>
                  <a:pt x="1272181" y="888503"/>
                </a:lnTo>
                <a:lnTo>
                  <a:pt x="1285730" y="848656"/>
                </a:lnTo>
                <a:lnTo>
                  <a:pt x="1296751" y="807709"/>
                </a:lnTo>
                <a:lnTo>
                  <a:pt x="1305156" y="765752"/>
                </a:lnTo>
                <a:lnTo>
                  <a:pt x="1310849" y="722879"/>
                </a:lnTo>
                <a:lnTo>
                  <a:pt x="1313739" y="679182"/>
                </a:lnTo>
                <a:lnTo>
                  <a:pt x="1314105" y="657052"/>
                </a:lnTo>
                <a:lnTo>
                  <a:pt x="1313739" y="634923"/>
                </a:lnTo>
                <a:lnTo>
                  <a:pt x="1310849" y="591226"/>
                </a:lnTo>
                <a:lnTo>
                  <a:pt x="1305156" y="548353"/>
                </a:lnTo>
                <a:lnTo>
                  <a:pt x="1296751" y="506397"/>
                </a:lnTo>
                <a:lnTo>
                  <a:pt x="1285730" y="465449"/>
                </a:lnTo>
                <a:lnTo>
                  <a:pt x="1272181" y="425603"/>
                </a:lnTo>
                <a:lnTo>
                  <a:pt x="1256197" y="386949"/>
                </a:lnTo>
                <a:lnTo>
                  <a:pt x="1237871" y="349580"/>
                </a:lnTo>
                <a:lnTo>
                  <a:pt x="1217295" y="313587"/>
                </a:lnTo>
                <a:lnTo>
                  <a:pt x="1194559" y="279063"/>
                </a:lnTo>
                <a:lnTo>
                  <a:pt x="1169758" y="246100"/>
                </a:lnTo>
                <a:lnTo>
                  <a:pt x="1142981" y="214790"/>
                </a:lnTo>
                <a:lnTo>
                  <a:pt x="1114323" y="185224"/>
                </a:lnTo>
                <a:lnTo>
                  <a:pt x="1083873" y="157494"/>
                </a:lnTo>
                <a:lnTo>
                  <a:pt x="1051724" y="131694"/>
                </a:lnTo>
                <a:lnTo>
                  <a:pt x="1017970" y="107914"/>
                </a:lnTo>
                <a:lnTo>
                  <a:pt x="982699" y="86246"/>
                </a:lnTo>
                <a:lnTo>
                  <a:pt x="946007" y="66783"/>
                </a:lnTo>
                <a:lnTo>
                  <a:pt x="907984" y="49617"/>
                </a:lnTo>
                <a:lnTo>
                  <a:pt x="868723" y="34839"/>
                </a:lnTo>
                <a:lnTo>
                  <a:pt x="828314" y="22542"/>
                </a:lnTo>
                <a:lnTo>
                  <a:pt x="786850" y="12818"/>
                </a:lnTo>
                <a:lnTo>
                  <a:pt x="744424" y="5758"/>
                </a:lnTo>
                <a:lnTo>
                  <a:pt x="701127" y="1454"/>
                </a:lnTo>
                <a:lnTo>
                  <a:pt x="657051" y="0"/>
                </a:lnTo>
                <a:lnTo>
                  <a:pt x="634923" y="365"/>
                </a:lnTo>
                <a:lnTo>
                  <a:pt x="591225" y="3255"/>
                </a:lnTo>
                <a:lnTo>
                  <a:pt x="548351" y="8949"/>
                </a:lnTo>
                <a:lnTo>
                  <a:pt x="506395" y="17353"/>
                </a:lnTo>
                <a:lnTo>
                  <a:pt x="465449" y="28375"/>
                </a:lnTo>
                <a:lnTo>
                  <a:pt x="425601" y="41924"/>
                </a:lnTo>
                <a:lnTo>
                  <a:pt x="386948" y="57907"/>
                </a:lnTo>
                <a:lnTo>
                  <a:pt x="349578" y="76233"/>
                </a:lnTo>
                <a:lnTo>
                  <a:pt x="313585" y="96810"/>
                </a:lnTo>
                <a:lnTo>
                  <a:pt x="279062" y="119545"/>
                </a:lnTo>
                <a:lnTo>
                  <a:pt x="246099" y="144347"/>
                </a:lnTo>
                <a:lnTo>
                  <a:pt x="214788" y="171124"/>
                </a:lnTo>
                <a:lnTo>
                  <a:pt x="185223" y="199783"/>
                </a:lnTo>
                <a:lnTo>
                  <a:pt x="157493" y="230232"/>
                </a:lnTo>
                <a:lnTo>
                  <a:pt x="131692" y="262381"/>
                </a:lnTo>
                <a:lnTo>
                  <a:pt x="107913" y="296136"/>
                </a:lnTo>
                <a:lnTo>
                  <a:pt x="86245" y="331406"/>
                </a:lnTo>
                <a:lnTo>
                  <a:pt x="66783" y="368098"/>
                </a:lnTo>
                <a:lnTo>
                  <a:pt x="49616" y="406121"/>
                </a:lnTo>
                <a:lnTo>
                  <a:pt x="34839" y="445383"/>
                </a:lnTo>
                <a:lnTo>
                  <a:pt x="22541" y="485791"/>
                </a:lnTo>
                <a:lnTo>
                  <a:pt x="12817" y="527254"/>
                </a:lnTo>
                <a:lnTo>
                  <a:pt x="5757" y="569680"/>
                </a:lnTo>
                <a:lnTo>
                  <a:pt x="1454" y="612977"/>
                </a:lnTo>
                <a:lnTo>
                  <a:pt x="0" y="657052"/>
                </a:lnTo>
                <a:lnTo>
                  <a:pt x="364" y="679182"/>
                </a:lnTo>
                <a:lnTo>
                  <a:pt x="3255" y="722879"/>
                </a:lnTo>
                <a:lnTo>
                  <a:pt x="8949" y="765752"/>
                </a:lnTo>
                <a:lnTo>
                  <a:pt x="17351" y="807709"/>
                </a:lnTo>
                <a:lnTo>
                  <a:pt x="28374" y="848656"/>
                </a:lnTo>
                <a:lnTo>
                  <a:pt x="41924" y="888503"/>
                </a:lnTo>
                <a:lnTo>
                  <a:pt x="57906" y="927157"/>
                </a:lnTo>
                <a:lnTo>
                  <a:pt x="76233" y="964526"/>
                </a:lnTo>
                <a:lnTo>
                  <a:pt x="96809" y="1000519"/>
                </a:lnTo>
                <a:lnTo>
                  <a:pt x="119544" y="1035042"/>
                </a:lnTo>
                <a:lnTo>
                  <a:pt x="144346" y="1068005"/>
                </a:lnTo>
                <a:lnTo>
                  <a:pt x="171123" y="1099316"/>
                </a:lnTo>
                <a:lnTo>
                  <a:pt x="199781" y="1128882"/>
                </a:lnTo>
                <a:lnTo>
                  <a:pt x="230231" y="1156611"/>
                </a:lnTo>
                <a:lnTo>
                  <a:pt x="262380" y="1182412"/>
                </a:lnTo>
                <a:lnTo>
                  <a:pt x="296134" y="1206191"/>
                </a:lnTo>
                <a:lnTo>
                  <a:pt x="331404" y="1227859"/>
                </a:lnTo>
                <a:lnTo>
                  <a:pt x="368096" y="1247322"/>
                </a:lnTo>
                <a:lnTo>
                  <a:pt x="406120" y="1264488"/>
                </a:lnTo>
                <a:lnTo>
                  <a:pt x="445381" y="1279265"/>
                </a:lnTo>
                <a:lnTo>
                  <a:pt x="485790" y="1291563"/>
                </a:lnTo>
                <a:lnTo>
                  <a:pt x="527253" y="1301287"/>
                </a:lnTo>
                <a:lnTo>
                  <a:pt x="569680" y="1308347"/>
                </a:lnTo>
                <a:lnTo>
                  <a:pt x="612976" y="1312650"/>
                </a:lnTo>
                <a:lnTo>
                  <a:pt x="657051" y="1314105"/>
                </a:lnTo>
                <a:close/>
              </a:path>
            </a:pathLst>
          </a:custGeom>
          <a:ln w="19050">
            <a:solidFill>
              <a:srgbClr val="E4EDF6"/>
            </a:solidFill>
          </a:ln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7" name="object 28"/>
          <p:cNvSpPr/>
          <p:nvPr userDrawn="1"/>
        </p:nvSpPr>
        <p:spPr>
          <a:xfrm>
            <a:off x="448000" y="-1289417"/>
            <a:ext cx="2600000" cy="2600000"/>
          </a:xfrm>
          <a:custGeom>
            <a:avLst/>
            <a:gdLst/>
            <a:ahLst/>
            <a:cxnLst/>
            <a:rect l="l" t="t" r="r" b="b"/>
            <a:pathLst>
              <a:path w="1314450" h="1314450">
                <a:moveTo>
                  <a:pt x="657051" y="1314105"/>
                </a:moveTo>
                <a:lnTo>
                  <a:pt x="701127" y="1312650"/>
                </a:lnTo>
                <a:lnTo>
                  <a:pt x="744424" y="1308347"/>
                </a:lnTo>
                <a:lnTo>
                  <a:pt x="786850" y="1301287"/>
                </a:lnTo>
                <a:lnTo>
                  <a:pt x="828314" y="1291563"/>
                </a:lnTo>
                <a:lnTo>
                  <a:pt x="868723" y="1279265"/>
                </a:lnTo>
                <a:lnTo>
                  <a:pt x="907984" y="1264488"/>
                </a:lnTo>
                <a:lnTo>
                  <a:pt x="946007" y="1247322"/>
                </a:lnTo>
                <a:lnTo>
                  <a:pt x="982699" y="1227859"/>
                </a:lnTo>
                <a:lnTo>
                  <a:pt x="1017970" y="1206191"/>
                </a:lnTo>
                <a:lnTo>
                  <a:pt x="1051724" y="1182412"/>
                </a:lnTo>
                <a:lnTo>
                  <a:pt x="1083873" y="1156611"/>
                </a:lnTo>
                <a:lnTo>
                  <a:pt x="1114323" y="1128882"/>
                </a:lnTo>
                <a:lnTo>
                  <a:pt x="1142981" y="1099316"/>
                </a:lnTo>
                <a:lnTo>
                  <a:pt x="1169758" y="1068005"/>
                </a:lnTo>
                <a:lnTo>
                  <a:pt x="1194559" y="1035042"/>
                </a:lnTo>
                <a:lnTo>
                  <a:pt x="1217295" y="1000519"/>
                </a:lnTo>
                <a:lnTo>
                  <a:pt x="1237871" y="964526"/>
                </a:lnTo>
                <a:lnTo>
                  <a:pt x="1256197" y="927157"/>
                </a:lnTo>
                <a:lnTo>
                  <a:pt x="1272181" y="888503"/>
                </a:lnTo>
                <a:lnTo>
                  <a:pt x="1285730" y="848656"/>
                </a:lnTo>
                <a:lnTo>
                  <a:pt x="1296751" y="807709"/>
                </a:lnTo>
                <a:lnTo>
                  <a:pt x="1305156" y="765752"/>
                </a:lnTo>
                <a:lnTo>
                  <a:pt x="1310849" y="722879"/>
                </a:lnTo>
                <a:lnTo>
                  <a:pt x="1313739" y="679182"/>
                </a:lnTo>
                <a:lnTo>
                  <a:pt x="1314105" y="657052"/>
                </a:lnTo>
                <a:lnTo>
                  <a:pt x="1313739" y="634923"/>
                </a:lnTo>
                <a:lnTo>
                  <a:pt x="1310849" y="591226"/>
                </a:lnTo>
                <a:lnTo>
                  <a:pt x="1305156" y="548353"/>
                </a:lnTo>
                <a:lnTo>
                  <a:pt x="1296751" y="506397"/>
                </a:lnTo>
                <a:lnTo>
                  <a:pt x="1285730" y="465449"/>
                </a:lnTo>
                <a:lnTo>
                  <a:pt x="1272181" y="425603"/>
                </a:lnTo>
                <a:lnTo>
                  <a:pt x="1256197" y="386949"/>
                </a:lnTo>
                <a:lnTo>
                  <a:pt x="1237871" y="349580"/>
                </a:lnTo>
                <a:lnTo>
                  <a:pt x="1217295" y="313587"/>
                </a:lnTo>
                <a:lnTo>
                  <a:pt x="1194559" y="279063"/>
                </a:lnTo>
                <a:lnTo>
                  <a:pt x="1169758" y="246100"/>
                </a:lnTo>
                <a:lnTo>
                  <a:pt x="1142981" y="214790"/>
                </a:lnTo>
                <a:lnTo>
                  <a:pt x="1114323" y="185224"/>
                </a:lnTo>
                <a:lnTo>
                  <a:pt x="1083873" y="157494"/>
                </a:lnTo>
                <a:lnTo>
                  <a:pt x="1051724" y="131694"/>
                </a:lnTo>
                <a:lnTo>
                  <a:pt x="1017970" y="107914"/>
                </a:lnTo>
                <a:lnTo>
                  <a:pt x="982699" y="86246"/>
                </a:lnTo>
                <a:lnTo>
                  <a:pt x="946007" y="66783"/>
                </a:lnTo>
                <a:lnTo>
                  <a:pt x="907984" y="49617"/>
                </a:lnTo>
                <a:lnTo>
                  <a:pt x="868723" y="34839"/>
                </a:lnTo>
                <a:lnTo>
                  <a:pt x="828314" y="22542"/>
                </a:lnTo>
                <a:lnTo>
                  <a:pt x="786850" y="12818"/>
                </a:lnTo>
                <a:lnTo>
                  <a:pt x="744424" y="5758"/>
                </a:lnTo>
                <a:lnTo>
                  <a:pt x="701127" y="1454"/>
                </a:lnTo>
                <a:lnTo>
                  <a:pt x="657051" y="0"/>
                </a:lnTo>
                <a:lnTo>
                  <a:pt x="634923" y="365"/>
                </a:lnTo>
                <a:lnTo>
                  <a:pt x="591225" y="3255"/>
                </a:lnTo>
                <a:lnTo>
                  <a:pt x="548351" y="8949"/>
                </a:lnTo>
                <a:lnTo>
                  <a:pt x="506395" y="17353"/>
                </a:lnTo>
                <a:lnTo>
                  <a:pt x="465449" y="28375"/>
                </a:lnTo>
                <a:lnTo>
                  <a:pt x="425601" y="41924"/>
                </a:lnTo>
                <a:lnTo>
                  <a:pt x="386948" y="57907"/>
                </a:lnTo>
                <a:lnTo>
                  <a:pt x="349578" y="76233"/>
                </a:lnTo>
                <a:lnTo>
                  <a:pt x="313585" y="96810"/>
                </a:lnTo>
                <a:lnTo>
                  <a:pt x="279062" y="119545"/>
                </a:lnTo>
                <a:lnTo>
                  <a:pt x="246099" y="144347"/>
                </a:lnTo>
                <a:lnTo>
                  <a:pt x="214788" y="171124"/>
                </a:lnTo>
                <a:lnTo>
                  <a:pt x="185223" y="199783"/>
                </a:lnTo>
                <a:lnTo>
                  <a:pt x="157493" y="230232"/>
                </a:lnTo>
                <a:lnTo>
                  <a:pt x="131692" y="262381"/>
                </a:lnTo>
                <a:lnTo>
                  <a:pt x="107913" y="296136"/>
                </a:lnTo>
                <a:lnTo>
                  <a:pt x="86245" y="331406"/>
                </a:lnTo>
                <a:lnTo>
                  <a:pt x="66783" y="368098"/>
                </a:lnTo>
                <a:lnTo>
                  <a:pt x="49616" y="406121"/>
                </a:lnTo>
                <a:lnTo>
                  <a:pt x="34839" y="445383"/>
                </a:lnTo>
                <a:lnTo>
                  <a:pt x="22541" y="485791"/>
                </a:lnTo>
                <a:lnTo>
                  <a:pt x="12817" y="527254"/>
                </a:lnTo>
                <a:lnTo>
                  <a:pt x="5757" y="569680"/>
                </a:lnTo>
                <a:lnTo>
                  <a:pt x="1454" y="612977"/>
                </a:lnTo>
                <a:lnTo>
                  <a:pt x="0" y="657052"/>
                </a:lnTo>
                <a:lnTo>
                  <a:pt x="364" y="679182"/>
                </a:lnTo>
                <a:lnTo>
                  <a:pt x="3255" y="722879"/>
                </a:lnTo>
                <a:lnTo>
                  <a:pt x="8949" y="765752"/>
                </a:lnTo>
                <a:lnTo>
                  <a:pt x="17351" y="807709"/>
                </a:lnTo>
                <a:lnTo>
                  <a:pt x="28374" y="848656"/>
                </a:lnTo>
                <a:lnTo>
                  <a:pt x="41924" y="888503"/>
                </a:lnTo>
                <a:lnTo>
                  <a:pt x="57906" y="927157"/>
                </a:lnTo>
                <a:lnTo>
                  <a:pt x="76233" y="964526"/>
                </a:lnTo>
                <a:lnTo>
                  <a:pt x="96809" y="1000519"/>
                </a:lnTo>
                <a:lnTo>
                  <a:pt x="119544" y="1035042"/>
                </a:lnTo>
                <a:lnTo>
                  <a:pt x="144346" y="1068005"/>
                </a:lnTo>
                <a:lnTo>
                  <a:pt x="171123" y="1099316"/>
                </a:lnTo>
                <a:lnTo>
                  <a:pt x="199781" y="1128882"/>
                </a:lnTo>
                <a:lnTo>
                  <a:pt x="230231" y="1156611"/>
                </a:lnTo>
                <a:lnTo>
                  <a:pt x="262380" y="1182412"/>
                </a:lnTo>
                <a:lnTo>
                  <a:pt x="296134" y="1206191"/>
                </a:lnTo>
                <a:lnTo>
                  <a:pt x="331404" y="1227859"/>
                </a:lnTo>
                <a:lnTo>
                  <a:pt x="368096" y="1247322"/>
                </a:lnTo>
                <a:lnTo>
                  <a:pt x="406120" y="1264488"/>
                </a:lnTo>
                <a:lnTo>
                  <a:pt x="445381" y="1279265"/>
                </a:lnTo>
                <a:lnTo>
                  <a:pt x="485790" y="1291563"/>
                </a:lnTo>
                <a:lnTo>
                  <a:pt x="527253" y="1301287"/>
                </a:lnTo>
                <a:lnTo>
                  <a:pt x="569680" y="1308347"/>
                </a:lnTo>
                <a:lnTo>
                  <a:pt x="612976" y="1312650"/>
                </a:lnTo>
                <a:lnTo>
                  <a:pt x="657051" y="1314105"/>
                </a:lnTo>
                <a:close/>
              </a:path>
            </a:pathLst>
          </a:custGeom>
          <a:ln w="19050">
            <a:solidFill>
              <a:srgbClr val="E4EDF6"/>
            </a:solidFill>
          </a:ln>
        </p:spPr>
        <p:txBody>
          <a:bodyPr wrap="square" lIns="0" tIns="0" rIns="0" bIns="0" rtlCol="0"/>
          <a:lstStyle/>
          <a:p>
            <a:endParaRPr sz="200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98500" y="5296959"/>
            <a:ext cx="2286000" cy="304271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365500" y="5296959"/>
            <a:ext cx="3429000" cy="30427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175500" y="5296959"/>
            <a:ext cx="2286000" cy="304271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8"/>
          <p:cNvSpPr txBox="1"/>
          <p:nvPr/>
        </p:nvSpPr>
        <p:spPr>
          <a:xfrm>
            <a:off x="4607113" y="5463945"/>
            <a:ext cx="945771" cy="220510"/>
          </a:xfrm>
          <a:prstGeom prst="rect">
            <a:avLst/>
          </a:prstGeom>
          <a:ln w="12700">
            <a:miter lim="400000"/>
          </a:ln>
        </p:spPr>
        <p:txBody>
          <a:bodyPr wrap="none" lIns="38099" rIns="38099">
            <a:spAutoFit/>
          </a:bodyPr>
          <a:lstStyle>
            <a:lvl1pPr algn="ctr">
              <a:defRPr sz="1000">
                <a:solidFill>
                  <a:srgbClr val="D9D9D9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</a:lstStyle>
          <a:p>
            <a:pPr hangingPunct="0"/>
            <a:r>
              <a:rPr sz="835" kern="0" dirty="0"/>
              <a:t>© </a:t>
            </a:r>
            <a:r>
              <a:rPr lang="en-US" sz="835" kern="0" dirty="0"/>
              <a:t>RUISDATA</a:t>
            </a:r>
            <a:r>
              <a:rPr sz="835" kern="0" dirty="0"/>
              <a:t> </a:t>
            </a:r>
            <a:r>
              <a:rPr lang="en-US" altLang="zh-CN" sz="835" kern="0" dirty="0"/>
              <a:t>2018</a:t>
            </a:r>
            <a:endParaRPr sz="835" kern="0" dirty="0"/>
          </a:p>
        </p:txBody>
      </p:sp>
      <p:sp>
        <p:nvSpPr>
          <p:cNvPr id="11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9777389" y="5402259"/>
            <a:ext cx="228047" cy="22436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9"/>
          <p:cNvSpPr txBox="1"/>
          <p:nvPr userDrawn="1"/>
        </p:nvSpPr>
        <p:spPr>
          <a:xfrm>
            <a:off x="593656" y="68992"/>
            <a:ext cx="6220169" cy="533400"/>
          </a:xfrm>
          <a:prstGeom prst="rect">
            <a:avLst/>
          </a:prstGeom>
        </p:spPr>
        <p:txBody>
          <a:bodyPr vert="horz" lIns="76200" tIns="38100" rIns="76200" bIns="381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kumimoji="1" lang="zh-CN" altLang="en-US" sz="1665" dirty="0">
              <a:solidFill>
                <a:srgbClr val="25689F"/>
              </a:solidFill>
              <a:latin typeface="Arial" panose="020B0604020202020204" pitchFamily="34" charset="0"/>
              <a:ea typeface="黑体" panose="02010609060101010101" charset="-122"/>
              <a:sym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-104031" y="147884"/>
            <a:ext cx="603301" cy="271491"/>
            <a:chOff x="-124838" y="177460"/>
            <a:chExt cx="723961" cy="325789"/>
          </a:xfrm>
        </p:grpSpPr>
        <p:sp>
          <p:nvSpPr>
            <p:cNvPr id="16" name="平行四边形 15"/>
            <p:cNvSpPr/>
            <p:nvPr/>
          </p:nvSpPr>
          <p:spPr>
            <a:xfrm>
              <a:off x="-124838" y="177460"/>
              <a:ext cx="425930" cy="325787"/>
            </a:xfrm>
            <a:prstGeom prst="parallelogram">
              <a:avLst>
                <a:gd name="adj" fmla="val 33704"/>
              </a:avLst>
            </a:prstGeom>
            <a:solidFill>
              <a:srgbClr val="CCA5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  <p:sp>
          <p:nvSpPr>
            <p:cNvPr id="17" name="平行四边形 16"/>
            <p:cNvSpPr/>
            <p:nvPr/>
          </p:nvSpPr>
          <p:spPr>
            <a:xfrm>
              <a:off x="259326" y="318496"/>
              <a:ext cx="113266" cy="184753"/>
            </a:xfrm>
            <a:prstGeom prst="parallelogram">
              <a:avLst>
                <a:gd name="adj" fmla="val 58162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2591" y="318495"/>
              <a:ext cx="113266" cy="184753"/>
            </a:xfrm>
            <a:prstGeom prst="parallelogram">
              <a:avLst>
                <a:gd name="adj" fmla="val 58162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  <p:sp>
          <p:nvSpPr>
            <p:cNvPr id="19" name="平行四边形 18"/>
            <p:cNvSpPr/>
            <p:nvPr/>
          </p:nvSpPr>
          <p:spPr>
            <a:xfrm>
              <a:off x="485857" y="318494"/>
              <a:ext cx="113266" cy="184753"/>
            </a:xfrm>
            <a:prstGeom prst="parallelogram">
              <a:avLst>
                <a:gd name="adj" fmla="val 5816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</p:grp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4444" y="107851"/>
            <a:ext cx="1735503" cy="3729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-1973179" y="2093494"/>
            <a:ext cx="409073" cy="4090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10" name="矩形 9"/>
          <p:cNvSpPr/>
          <p:nvPr userDrawn="1"/>
        </p:nvSpPr>
        <p:spPr>
          <a:xfrm>
            <a:off x="-1371600" y="2093494"/>
            <a:ext cx="409073" cy="409073"/>
          </a:xfrm>
          <a:prstGeom prst="rect">
            <a:avLst/>
          </a:prstGeom>
          <a:solidFill>
            <a:srgbClr val="CCA5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11" name="矩形 10"/>
          <p:cNvSpPr/>
          <p:nvPr userDrawn="1"/>
        </p:nvSpPr>
        <p:spPr>
          <a:xfrm>
            <a:off x="-749968" y="2093494"/>
            <a:ext cx="409073" cy="40907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12" name="矩形 11"/>
          <p:cNvSpPr/>
          <p:nvPr userDrawn="1"/>
        </p:nvSpPr>
        <p:spPr>
          <a:xfrm>
            <a:off x="-1973179" y="2646947"/>
            <a:ext cx="409073" cy="4090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13" name="矩形 12"/>
          <p:cNvSpPr/>
          <p:nvPr userDrawn="1"/>
        </p:nvSpPr>
        <p:spPr>
          <a:xfrm>
            <a:off x="-1371600" y="2646947"/>
            <a:ext cx="409073" cy="409073"/>
          </a:xfrm>
          <a:prstGeom prst="rect">
            <a:avLst/>
          </a:prstGeom>
          <a:solidFill>
            <a:srgbClr val="EFE1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21" name="矩形 20"/>
          <p:cNvSpPr/>
          <p:nvPr userDrawn="1"/>
        </p:nvSpPr>
        <p:spPr>
          <a:xfrm>
            <a:off x="-749968" y="2646947"/>
            <a:ext cx="409073" cy="40907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22" name="矩形 21"/>
          <p:cNvSpPr/>
          <p:nvPr userDrawn="1"/>
        </p:nvSpPr>
        <p:spPr>
          <a:xfrm>
            <a:off x="-1973179" y="3200399"/>
            <a:ext cx="409073" cy="4090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23" name="矩形 22"/>
          <p:cNvSpPr/>
          <p:nvPr userDrawn="1"/>
        </p:nvSpPr>
        <p:spPr>
          <a:xfrm>
            <a:off x="-1371600" y="3200399"/>
            <a:ext cx="409073" cy="409073"/>
          </a:xfrm>
          <a:prstGeom prst="rect">
            <a:avLst/>
          </a:prstGeom>
          <a:solidFill>
            <a:srgbClr val="FF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24" name="矩形 23"/>
          <p:cNvSpPr/>
          <p:nvPr userDrawn="1"/>
        </p:nvSpPr>
        <p:spPr>
          <a:xfrm>
            <a:off x="-749968" y="3200399"/>
            <a:ext cx="409073" cy="4090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175500" y="5296959"/>
            <a:ext cx="2286000" cy="304271"/>
          </a:xfrm>
        </p:spPr>
        <p:txBody>
          <a:bodyPr/>
          <a:lstStyle>
            <a:lvl1pPr>
              <a:defRPr/>
            </a:lvl1pPr>
          </a:lstStyle>
          <a:p>
            <a:r>
              <a:rPr kumimoji="1" lang="zh-CN" altLang="en-US" dirty="0"/>
              <a:t>第</a:t>
            </a:r>
            <a:fld id="{FC3A101E-BA8F-4222-9DA2-FC150FEADB86}" type="slidenum">
              <a:rPr kumimoji="1" lang="zh-CN" altLang="en-US" dirty="0" smtClean="0"/>
            </a:fld>
            <a:r>
              <a:rPr kumimoji="1" lang="zh-CN" altLang="en-US" dirty="0"/>
              <a:t>页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738" y="1775355"/>
            <a:ext cx="6479700" cy="12250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477" y="3238500"/>
            <a:ext cx="5336223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81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6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43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24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05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67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159" y="5296959"/>
            <a:ext cx="1778741" cy="304271"/>
          </a:xfrm>
        </p:spPr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04585" y="5296959"/>
            <a:ext cx="2414006" cy="30427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63277" y="5296959"/>
            <a:ext cx="1778741" cy="304271"/>
          </a:xfrm>
        </p:spPr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28866"/>
            <a:ext cx="9144000" cy="952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333501"/>
            <a:ext cx="9144000" cy="3771636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  <a:lvl2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2pPr>
            <a:lvl3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3pPr>
            <a:lvl4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4pPr>
            <a:lvl5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8000" y="5296960"/>
            <a:ext cx="2370667" cy="304271"/>
          </a:xfrm>
          <a:prstGeom prst="rect">
            <a:avLst/>
          </a:prstGeom>
        </p:spPr>
        <p:txBody>
          <a:bodyPr/>
          <a:lstStyle/>
          <a:p>
            <a:fld id="{A8A0D9C4-1682-0D47-9A31-B81EFB35A0C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71334" y="5296960"/>
            <a:ext cx="3217333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81333" y="5296960"/>
            <a:ext cx="2370667" cy="304271"/>
          </a:xfrm>
          <a:prstGeom prst="rect">
            <a:avLst/>
          </a:prstGeom>
        </p:spPr>
        <p:txBody>
          <a:bodyPr/>
          <a:lstStyle/>
          <a:p>
            <a:fld id="{19A780EF-AAF0-1E40-BD08-B944B3668A0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/>
        </p:nvGrpSpPr>
        <p:grpSpPr>
          <a:xfrm>
            <a:off x="-2943580" y="-3589933"/>
            <a:ext cx="15295888" cy="11137838"/>
            <a:chOff x="-3532296" y="-4307920"/>
            <a:chExt cx="18355065" cy="13365406"/>
          </a:xfrm>
        </p:grpSpPr>
        <p:sp>
          <p:nvSpPr>
            <p:cNvPr id="15" name="矩形 14"/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 dirty="0"/>
            </a:p>
          </p:txBody>
        </p:sp>
        <p:sp>
          <p:nvSpPr>
            <p:cNvPr id="17" name="椭圆 37"/>
            <p:cNvSpPr/>
            <p:nvPr userDrawn="1"/>
          </p:nvSpPr>
          <p:spPr>
            <a:xfrm rot="17471892" flipH="1">
              <a:off x="1773450" y="-3614650"/>
              <a:ext cx="11097826" cy="9711285"/>
            </a:xfrm>
            <a:custGeom>
              <a:avLst/>
              <a:gdLst>
                <a:gd name="connsiteX0" fmla="*/ 0 w 7283001"/>
                <a:gd name="connsiteY0" fmla="*/ 3647440 h 7294880"/>
                <a:gd name="connsiteX1" fmla="*/ 3641501 w 7283001"/>
                <a:gd name="connsiteY1" fmla="*/ 0 h 7294880"/>
                <a:gd name="connsiteX2" fmla="*/ 7283002 w 7283001"/>
                <a:gd name="connsiteY2" fmla="*/ 3647440 h 7294880"/>
                <a:gd name="connsiteX3" fmla="*/ 3641501 w 7283001"/>
                <a:gd name="connsiteY3" fmla="*/ 7294880 h 7294880"/>
                <a:gd name="connsiteX4" fmla="*/ 0 w 7283001"/>
                <a:gd name="connsiteY4" fmla="*/ 3647440 h 7294880"/>
                <a:gd name="connsiteX0-1" fmla="*/ 0 w 7283002"/>
                <a:gd name="connsiteY0-2" fmla="*/ 3647440 h 7294880"/>
                <a:gd name="connsiteX1-3" fmla="*/ 3641501 w 7283002"/>
                <a:gd name="connsiteY1-4" fmla="*/ 0 h 7294880"/>
                <a:gd name="connsiteX2-5" fmla="*/ 7283002 w 7283002"/>
                <a:gd name="connsiteY2-6" fmla="*/ 3647440 h 7294880"/>
                <a:gd name="connsiteX3-7" fmla="*/ 3641501 w 7283002"/>
                <a:gd name="connsiteY3-8" fmla="*/ 7294880 h 7294880"/>
                <a:gd name="connsiteX4-9" fmla="*/ 0 w 7283002"/>
                <a:gd name="connsiteY4-10" fmla="*/ 3647440 h 7294880"/>
                <a:gd name="connsiteX0-11" fmla="*/ 0 w 7283002"/>
                <a:gd name="connsiteY0-12" fmla="*/ 3961777 h 7609217"/>
                <a:gd name="connsiteX1-13" fmla="*/ 3641501 w 7283002"/>
                <a:gd name="connsiteY1-14" fmla="*/ 314337 h 7609217"/>
                <a:gd name="connsiteX2-15" fmla="*/ 7283002 w 7283002"/>
                <a:gd name="connsiteY2-16" fmla="*/ 3961777 h 7609217"/>
                <a:gd name="connsiteX3-17" fmla="*/ 3641501 w 7283002"/>
                <a:gd name="connsiteY3-18" fmla="*/ 7609217 h 7609217"/>
                <a:gd name="connsiteX4-19" fmla="*/ 0 w 7283002"/>
                <a:gd name="connsiteY4-20" fmla="*/ 3961777 h 7609217"/>
                <a:gd name="connsiteX0-21" fmla="*/ 0 w 7283002"/>
                <a:gd name="connsiteY0-22" fmla="*/ 3727312 h 7374752"/>
                <a:gd name="connsiteX1-23" fmla="*/ 3641501 w 7283002"/>
                <a:gd name="connsiteY1-24" fmla="*/ 79872 h 7374752"/>
                <a:gd name="connsiteX2-25" fmla="*/ 7283002 w 7283002"/>
                <a:gd name="connsiteY2-26" fmla="*/ 3727312 h 7374752"/>
                <a:gd name="connsiteX3-27" fmla="*/ 3641501 w 7283002"/>
                <a:gd name="connsiteY3-28" fmla="*/ 7374752 h 7374752"/>
                <a:gd name="connsiteX4-29" fmla="*/ 0 w 7283002"/>
                <a:gd name="connsiteY4-30" fmla="*/ 3727312 h 7374752"/>
                <a:gd name="connsiteX0-31" fmla="*/ 107156 w 7390158"/>
                <a:gd name="connsiteY0-32" fmla="*/ 3715815 h 7363255"/>
                <a:gd name="connsiteX1-33" fmla="*/ 3748657 w 7390158"/>
                <a:gd name="connsiteY1-34" fmla="*/ 68375 h 7363255"/>
                <a:gd name="connsiteX2-35" fmla="*/ 7390158 w 7390158"/>
                <a:gd name="connsiteY2-36" fmla="*/ 3715815 h 7363255"/>
                <a:gd name="connsiteX3-37" fmla="*/ 3748657 w 7390158"/>
                <a:gd name="connsiteY3-38" fmla="*/ 7363255 h 7363255"/>
                <a:gd name="connsiteX4-39" fmla="*/ 107156 w 7390158"/>
                <a:gd name="connsiteY4-40" fmla="*/ 3715815 h 7363255"/>
                <a:gd name="connsiteX0-41" fmla="*/ 1343341 w 8626343"/>
                <a:gd name="connsiteY0-42" fmla="*/ 3776855 h 7424295"/>
                <a:gd name="connsiteX1-43" fmla="*/ 4984842 w 8626343"/>
                <a:gd name="connsiteY1-44" fmla="*/ 129415 h 7424295"/>
                <a:gd name="connsiteX2-45" fmla="*/ 8626343 w 8626343"/>
                <a:gd name="connsiteY2-46" fmla="*/ 3776855 h 7424295"/>
                <a:gd name="connsiteX3-47" fmla="*/ 4984842 w 8626343"/>
                <a:gd name="connsiteY3-48" fmla="*/ 7424295 h 7424295"/>
                <a:gd name="connsiteX4-49" fmla="*/ 1343341 w 8626343"/>
                <a:gd name="connsiteY4-50" fmla="*/ 3776855 h 7424295"/>
                <a:gd name="connsiteX0-51" fmla="*/ 1343341 w 8626343"/>
                <a:gd name="connsiteY0-52" fmla="*/ 3776855 h 7548584"/>
                <a:gd name="connsiteX1-53" fmla="*/ 4984842 w 8626343"/>
                <a:gd name="connsiteY1-54" fmla="*/ 129415 h 7548584"/>
                <a:gd name="connsiteX2-55" fmla="*/ 8626343 w 8626343"/>
                <a:gd name="connsiteY2-56" fmla="*/ 3776855 h 7548584"/>
                <a:gd name="connsiteX3-57" fmla="*/ 4984842 w 8626343"/>
                <a:gd name="connsiteY3-58" fmla="*/ 7424295 h 7548584"/>
                <a:gd name="connsiteX4-59" fmla="*/ 1343341 w 8626343"/>
                <a:gd name="connsiteY4-60" fmla="*/ 3776855 h 75485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626343" h="7548584">
                  <a:moveTo>
                    <a:pt x="1343341" y="3776855"/>
                  </a:moveTo>
                  <a:cubicBezTo>
                    <a:pt x="-2324419" y="1118322"/>
                    <a:pt x="2404737" y="-480185"/>
                    <a:pt x="4984842" y="129415"/>
                  </a:cubicBezTo>
                  <a:cubicBezTo>
                    <a:pt x="7564947" y="739015"/>
                    <a:pt x="8626343" y="1762430"/>
                    <a:pt x="8626343" y="3776855"/>
                  </a:cubicBezTo>
                  <a:cubicBezTo>
                    <a:pt x="8626343" y="5791280"/>
                    <a:pt x="5675187" y="8115175"/>
                    <a:pt x="4984842" y="7424295"/>
                  </a:cubicBezTo>
                  <a:cubicBezTo>
                    <a:pt x="4294497" y="6733415"/>
                    <a:pt x="5011101" y="6435388"/>
                    <a:pt x="1343341" y="3776855"/>
                  </a:cubicBezTo>
                  <a:close/>
                </a:path>
              </a:pathLst>
            </a:custGeom>
            <a:gradFill flip="none" rotWithShape="1">
              <a:gsLst>
                <a:gs pos="35000">
                  <a:schemeClr val="accent2">
                    <a:alpha val="20000"/>
                  </a:schemeClr>
                </a:gs>
                <a:gs pos="0">
                  <a:schemeClr val="accent4">
                    <a:lumMod val="20000"/>
                    <a:lumOff val="80000"/>
                    <a:alpha val="20000"/>
                  </a:schemeClr>
                </a:gs>
                <a:gs pos="70000">
                  <a:schemeClr val="accent4">
                    <a:alpha val="2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500" dirty="0"/>
            </a:p>
          </p:txBody>
        </p:sp>
        <p:sp>
          <p:nvSpPr>
            <p:cNvPr id="18" name="椭圆 37"/>
            <p:cNvSpPr/>
            <p:nvPr userDrawn="1"/>
          </p:nvSpPr>
          <p:spPr>
            <a:xfrm>
              <a:off x="-3532296" y="-653799"/>
              <a:ext cx="11097826" cy="9711285"/>
            </a:xfrm>
            <a:custGeom>
              <a:avLst/>
              <a:gdLst>
                <a:gd name="connsiteX0" fmla="*/ 0 w 7283001"/>
                <a:gd name="connsiteY0" fmla="*/ 3647440 h 7294880"/>
                <a:gd name="connsiteX1" fmla="*/ 3641501 w 7283001"/>
                <a:gd name="connsiteY1" fmla="*/ 0 h 7294880"/>
                <a:gd name="connsiteX2" fmla="*/ 7283002 w 7283001"/>
                <a:gd name="connsiteY2" fmla="*/ 3647440 h 7294880"/>
                <a:gd name="connsiteX3" fmla="*/ 3641501 w 7283001"/>
                <a:gd name="connsiteY3" fmla="*/ 7294880 h 7294880"/>
                <a:gd name="connsiteX4" fmla="*/ 0 w 7283001"/>
                <a:gd name="connsiteY4" fmla="*/ 3647440 h 7294880"/>
                <a:gd name="connsiteX0-1" fmla="*/ 0 w 7283002"/>
                <a:gd name="connsiteY0-2" fmla="*/ 3647440 h 7294880"/>
                <a:gd name="connsiteX1-3" fmla="*/ 3641501 w 7283002"/>
                <a:gd name="connsiteY1-4" fmla="*/ 0 h 7294880"/>
                <a:gd name="connsiteX2-5" fmla="*/ 7283002 w 7283002"/>
                <a:gd name="connsiteY2-6" fmla="*/ 3647440 h 7294880"/>
                <a:gd name="connsiteX3-7" fmla="*/ 3641501 w 7283002"/>
                <a:gd name="connsiteY3-8" fmla="*/ 7294880 h 7294880"/>
                <a:gd name="connsiteX4-9" fmla="*/ 0 w 7283002"/>
                <a:gd name="connsiteY4-10" fmla="*/ 3647440 h 7294880"/>
                <a:gd name="connsiteX0-11" fmla="*/ 0 w 7283002"/>
                <a:gd name="connsiteY0-12" fmla="*/ 3961777 h 7609217"/>
                <a:gd name="connsiteX1-13" fmla="*/ 3641501 w 7283002"/>
                <a:gd name="connsiteY1-14" fmla="*/ 314337 h 7609217"/>
                <a:gd name="connsiteX2-15" fmla="*/ 7283002 w 7283002"/>
                <a:gd name="connsiteY2-16" fmla="*/ 3961777 h 7609217"/>
                <a:gd name="connsiteX3-17" fmla="*/ 3641501 w 7283002"/>
                <a:gd name="connsiteY3-18" fmla="*/ 7609217 h 7609217"/>
                <a:gd name="connsiteX4-19" fmla="*/ 0 w 7283002"/>
                <a:gd name="connsiteY4-20" fmla="*/ 3961777 h 7609217"/>
                <a:gd name="connsiteX0-21" fmla="*/ 0 w 7283002"/>
                <a:gd name="connsiteY0-22" fmla="*/ 3727312 h 7374752"/>
                <a:gd name="connsiteX1-23" fmla="*/ 3641501 w 7283002"/>
                <a:gd name="connsiteY1-24" fmla="*/ 79872 h 7374752"/>
                <a:gd name="connsiteX2-25" fmla="*/ 7283002 w 7283002"/>
                <a:gd name="connsiteY2-26" fmla="*/ 3727312 h 7374752"/>
                <a:gd name="connsiteX3-27" fmla="*/ 3641501 w 7283002"/>
                <a:gd name="connsiteY3-28" fmla="*/ 7374752 h 7374752"/>
                <a:gd name="connsiteX4-29" fmla="*/ 0 w 7283002"/>
                <a:gd name="connsiteY4-30" fmla="*/ 3727312 h 7374752"/>
                <a:gd name="connsiteX0-31" fmla="*/ 107156 w 7390158"/>
                <a:gd name="connsiteY0-32" fmla="*/ 3715815 h 7363255"/>
                <a:gd name="connsiteX1-33" fmla="*/ 3748657 w 7390158"/>
                <a:gd name="connsiteY1-34" fmla="*/ 68375 h 7363255"/>
                <a:gd name="connsiteX2-35" fmla="*/ 7390158 w 7390158"/>
                <a:gd name="connsiteY2-36" fmla="*/ 3715815 h 7363255"/>
                <a:gd name="connsiteX3-37" fmla="*/ 3748657 w 7390158"/>
                <a:gd name="connsiteY3-38" fmla="*/ 7363255 h 7363255"/>
                <a:gd name="connsiteX4-39" fmla="*/ 107156 w 7390158"/>
                <a:gd name="connsiteY4-40" fmla="*/ 3715815 h 7363255"/>
                <a:gd name="connsiteX0-41" fmla="*/ 1343341 w 8626343"/>
                <a:gd name="connsiteY0-42" fmla="*/ 3776855 h 7424295"/>
                <a:gd name="connsiteX1-43" fmla="*/ 4984842 w 8626343"/>
                <a:gd name="connsiteY1-44" fmla="*/ 129415 h 7424295"/>
                <a:gd name="connsiteX2-45" fmla="*/ 8626343 w 8626343"/>
                <a:gd name="connsiteY2-46" fmla="*/ 3776855 h 7424295"/>
                <a:gd name="connsiteX3-47" fmla="*/ 4984842 w 8626343"/>
                <a:gd name="connsiteY3-48" fmla="*/ 7424295 h 7424295"/>
                <a:gd name="connsiteX4-49" fmla="*/ 1343341 w 8626343"/>
                <a:gd name="connsiteY4-50" fmla="*/ 3776855 h 7424295"/>
                <a:gd name="connsiteX0-51" fmla="*/ 1343341 w 8626343"/>
                <a:gd name="connsiteY0-52" fmla="*/ 3776855 h 7548584"/>
                <a:gd name="connsiteX1-53" fmla="*/ 4984842 w 8626343"/>
                <a:gd name="connsiteY1-54" fmla="*/ 129415 h 7548584"/>
                <a:gd name="connsiteX2-55" fmla="*/ 8626343 w 8626343"/>
                <a:gd name="connsiteY2-56" fmla="*/ 3776855 h 7548584"/>
                <a:gd name="connsiteX3-57" fmla="*/ 4984842 w 8626343"/>
                <a:gd name="connsiteY3-58" fmla="*/ 7424295 h 7548584"/>
                <a:gd name="connsiteX4-59" fmla="*/ 1343341 w 8626343"/>
                <a:gd name="connsiteY4-60" fmla="*/ 3776855 h 75485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626343" h="7548584">
                  <a:moveTo>
                    <a:pt x="1343341" y="3776855"/>
                  </a:moveTo>
                  <a:cubicBezTo>
                    <a:pt x="-2324419" y="1118322"/>
                    <a:pt x="2404737" y="-480185"/>
                    <a:pt x="4984842" y="129415"/>
                  </a:cubicBezTo>
                  <a:cubicBezTo>
                    <a:pt x="7564947" y="739015"/>
                    <a:pt x="8626343" y="1762430"/>
                    <a:pt x="8626343" y="3776855"/>
                  </a:cubicBezTo>
                  <a:cubicBezTo>
                    <a:pt x="8626343" y="5791280"/>
                    <a:pt x="5675187" y="8115175"/>
                    <a:pt x="4984842" y="7424295"/>
                  </a:cubicBezTo>
                  <a:cubicBezTo>
                    <a:pt x="4294497" y="6733415"/>
                    <a:pt x="5011101" y="6435388"/>
                    <a:pt x="1343341" y="3776855"/>
                  </a:cubicBezTo>
                  <a:close/>
                </a:path>
              </a:pathLst>
            </a:custGeom>
            <a:gradFill flip="none" rotWithShape="1">
              <a:gsLst>
                <a:gs pos="35000">
                  <a:schemeClr val="accent2">
                    <a:alpha val="20000"/>
                  </a:schemeClr>
                </a:gs>
                <a:gs pos="0">
                  <a:schemeClr val="accent2">
                    <a:lumMod val="20000"/>
                    <a:lumOff val="80000"/>
                    <a:alpha val="70000"/>
                  </a:schemeClr>
                </a:gs>
                <a:gs pos="70000">
                  <a:schemeClr val="accent4">
                    <a:alpha val="2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500" dirty="0"/>
            </a:p>
          </p:txBody>
        </p:sp>
        <p:sp>
          <p:nvSpPr>
            <p:cNvPr id="19" name="椭圆 34"/>
            <p:cNvSpPr/>
            <p:nvPr userDrawn="1"/>
          </p:nvSpPr>
          <p:spPr>
            <a:xfrm rot="19463381">
              <a:off x="7591780" y="-985980"/>
              <a:ext cx="6340256" cy="5519595"/>
            </a:xfrm>
            <a:custGeom>
              <a:avLst/>
              <a:gdLst>
                <a:gd name="connsiteX0" fmla="*/ 0 w 8503920"/>
                <a:gd name="connsiteY0" fmla="*/ 3048000 h 6096000"/>
                <a:gd name="connsiteX1" fmla="*/ 4251960 w 8503920"/>
                <a:gd name="connsiteY1" fmla="*/ 0 h 6096000"/>
                <a:gd name="connsiteX2" fmla="*/ 8503920 w 8503920"/>
                <a:gd name="connsiteY2" fmla="*/ 3048000 h 6096000"/>
                <a:gd name="connsiteX3" fmla="*/ 4251960 w 8503920"/>
                <a:gd name="connsiteY3" fmla="*/ 6096000 h 6096000"/>
                <a:gd name="connsiteX4" fmla="*/ 0 w 8503920"/>
                <a:gd name="connsiteY4" fmla="*/ 3048000 h 6096000"/>
                <a:gd name="connsiteX0-1" fmla="*/ 0 w 8505037"/>
                <a:gd name="connsiteY0-2" fmla="*/ 2997252 h 6096078"/>
                <a:gd name="connsiteX1-3" fmla="*/ 4253077 w 8505037"/>
                <a:gd name="connsiteY1-4" fmla="*/ 40 h 6096078"/>
                <a:gd name="connsiteX2-5" fmla="*/ 8505037 w 8505037"/>
                <a:gd name="connsiteY2-6" fmla="*/ 3048040 h 6096078"/>
                <a:gd name="connsiteX3-7" fmla="*/ 4253077 w 8505037"/>
                <a:gd name="connsiteY3-8" fmla="*/ 6096040 h 6096078"/>
                <a:gd name="connsiteX4-9" fmla="*/ 0 w 8505037"/>
                <a:gd name="connsiteY4-10" fmla="*/ 2997252 h 6096078"/>
                <a:gd name="connsiteX0-11" fmla="*/ 105873 w 8610910"/>
                <a:gd name="connsiteY0-12" fmla="*/ 2997247 h 6096073"/>
                <a:gd name="connsiteX1-13" fmla="*/ 4358950 w 8610910"/>
                <a:gd name="connsiteY1-14" fmla="*/ 35 h 6096073"/>
                <a:gd name="connsiteX2-15" fmla="*/ 8610910 w 8610910"/>
                <a:gd name="connsiteY2-16" fmla="*/ 3048035 h 6096073"/>
                <a:gd name="connsiteX3-17" fmla="*/ 4358950 w 8610910"/>
                <a:gd name="connsiteY3-18" fmla="*/ 6096035 h 6096073"/>
                <a:gd name="connsiteX4-19" fmla="*/ 105873 w 8610910"/>
                <a:gd name="connsiteY4-20" fmla="*/ 2997247 h 6096073"/>
                <a:gd name="connsiteX0-21" fmla="*/ 1055 w 8506092"/>
                <a:gd name="connsiteY0-22" fmla="*/ 2997237 h 5085656"/>
                <a:gd name="connsiteX1-23" fmla="*/ 4254132 w 8506092"/>
                <a:gd name="connsiteY1-24" fmla="*/ 25 h 5085656"/>
                <a:gd name="connsiteX2-25" fmla="*/ 8506092 w 8506092"/>
                <a:gd name="connsiteY2-26" fmla="*/ 3048025 h 5085656"/>
                <a:gd name="connsiteX3-27" fmla="*/ 4640444 w 8506092"/>
                <a:gd name="connsiteY3-28" fmla="*/ 5085513 h 5085656"/>
                <a:gd name="connsiteX4-29" fmla="*/ 1055 w 8506092"/>
                <a:gd name="connsiteY4-30" fmla="*/ 2997237 h 5085656"/>
                <a:gd name="connsiteX0-31" fmla="*/ 1055 w 8506092"/>
                <a:gd name="connsiteY0-32" fmla="*/ 2997237 h 5519588"/>
                <a:gd name="connsiteX1-33" fmla="*/ 4254132 w 8506092"/>
                <a:gd name="connsiteY1-34" fmla="*/ 25 h 5519588"/>
                <a:gd name="connsiteX2-35" fmla="*/ 8506092 w 8506092"/>
                <a:gd name="connsiteY2-36" fmla="*/ 3048025 h 5519588"/>
                <a:gd name="connsiteX3-37" fmla="*/ 4640444 w 8506092"/>
                <a:gd name="connsiteY3-38" fmla="*/ 5085513 h 5519588"/>
                <a:gd name="connsiteX4-39" fmla="*/ 1055 w 8506092"/>
                <a:gd name="connsiteY4-40" fmla="*/ 2997237 h 5519588"/>
                <a:gd name="connsiteX0-41" fmla="*/ 72966 w 8578003"/>
                <a:gd name="connsiteY0-42" fmla="*/ 2997244 h 5519595"/>
                <a:gd name="connsiteX1-43" fmla="*/ 4326043 w 8578003"/>
                <a:gd name="connsiteY1-44" fmla="*/ 32 h 5519595"/>
                <a:gd name="connsiteX2-45" fmla="*/ 8578003 w 8578003"/>
                <a:gd name="connsiteY2-46" fmla="*/ 3048032 h 5519595"/>
                <a:gd name="connsiteX3-47" fmla="*/ 4712355 w 8578003"/>
                <a:gd name="connsiteY3-48" fmla="*/ 5085520 h 5519595"/>
                <a:gd name="connsiteX4-49" fmla="*/ 72966 w 8578003"/>
                <a:gd name="connsiteY4-50" fmla="*/ 2997244 h 551959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578003" h="5519595">
                  <a:moveTo>
                    <a:pt x="72966" y="2997244"/>
                  </a:moveTo>
                  <a:cubicBezTo>
                    <a:pt x="-543503" y="1629289"/>
                    <a:pt x="2908537" y="-8433"/>
                    <a:pt x="4326043" y="32"/>
                  </a:cubicBezTo>
                  <a:cubicBezTo>
                    <a:pt x="5743549" y="8497"/>
                    <a:pt x="8578003" y="1364668"/>
                    <a:pt x="8578003" y="3048032"/>
                  </a:cubicBezTo>
                  <a:cubicBezTo>
                    <a:pt x="8578003" y="4731396"/>
                    <a:pt x="4998032" y="6307879"/>
                    <a:pt x="4712355" y="5085520"/>
                  </a:cubicBezTo>
                  <a:cubicBezTo>
                    <a:pt x="4426678" y="3863161"/>
                    <a:pt x="689435" y="4365199"/>
                    <a:pt x="72966" y="2997244"/>
                  </a:cubicBezTo>
                  <a:close/>
                </a:path>
              </a:pathLst>
            </a:custGeom>
            <a:gradFill flip="none" rotWithShape="1">
              <a:gsLst>
                <a:gs pos="35000">
                  <a:schemeClr val="accent2">
                    <a:alpha val="20000"/>
                  </a:schemeClr>
                </a:gs>
                <a:gs pos="100000">
                  <a:schemeClr val="accent2">
                    <a:lumMod val="20000"/>
                    <a:lumOff val="80000"/>
                    <a:alpha val="20000"/>
                  </a:schemeClr>
                </a:gs>
                <a:gs pos="70000">
                  <a:schemeClr val="accent4">
                    <a:alpha val="2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  <p:sp>
          <p:nvSpPr>
            <p:cNvPr id="20" name="椭圆 34"/>
            <p:cNvSpPr/>
            <p:nvPr userDrawn="1"/>
          </p:nvSpPr>
          <p:spPr>
            <a:xfrm rot="19463381">
              <a:off x="-3530869" y="3103593"/>
              <a:ext cx="6340256" cy="5519595"/>
            </a:xfrm>
            <a:custGeom>
              <a:avLst/>
              <a:gdLst>
                <a:gd name="connsiteX0" fmla="*/ 0 w 8503920"/>
                <a:gd name="connsiteY0" fmla="*/ 3048000 h 6096000"/>
                <a:gd name="connsiteX1" fmla="*/ 4251960 w 8503920"/>
                <a:gd name="connsiteY1" fmla="*/ 0 h 6096000"/>
                <a:gd name="connsiteX2" fmla="*/ 8503920 w 8503920"/>
                <a:gd name="connsiteY2" fmla="*/ 3048000 h 6096000"/>
                <a:gd name="connsiteX3" fmla="*/ 4251960 w 8503920"/>
                <a:gd name="connsiteY3" fmla="*/ 6096000 h 6096000"/>
                <a:gd name="connsiteX4" fmla="*/ 0 w 8503920"/>
                <a:gd name="connsiteY4" fmla="*/ 3048000 h 6096000"/>
                <a:gd name="connsiteX0-1" fmla="*/ 0 w 8505037"/>
                <a:gd name="connsiteY0-2" fmla="*/ 2997252 h 6096078"/>
                <a:gd name="connsiteX1-3" fmla="*/ 4253077 w 8505037"/>
                <a:gd name="connsiteY1-4" fmla="*/ 40 h 6096078"/>
                <a:gd name="connsiteX2-5" fmla="*/ 8505037 w 8505037"/>
                <a:gd name="connsiteY2-6" fmla="*/ 3048040 h 6096078"/>
                <a:gd name="connsiteX3-7" fmla="*/ 4253077 w 8505037"/>
                <a:gd name="connsiteY3-8" fmla="*/ 6096040 h 6096078"/>
                <a:gd name="connsiteX4-9" fmla="*/ 0 w 8505037"/>
                <a:gd name="connsiteY4-10" fmla="*/ 2997252 h 6096078"/>
                <a:gd name="connsiteX0-11" fmla="*/ 105873 w 8610910"/>
                <a:gd name="connsiteY0-12" fmla="*/ 2997247 h 6096073"/>
                <a:gd name="connsiteX1-13" fmla="*/ 4358950 w 8610910"/>
                <a:gd name="connsiteY1-14" fmla="*/ 35 h 6096073"/>
                <a:gd name="connsiteX2-15" fmla="*/ 8610910 w 8610910"/>
                <a:gd name="connsiteY2-16" fmla="*/ 3048035 h 6096073"/>
                <a:gd name="connsiteX3-17" fmla="*/ 4358950 w 8610910"/>
                <a:gd name="connsiteY3-18" fmla="*/ 6096035 h 6096073"/>
                <a:gd name="connsiteX4-19" fmla="*/ 105873 w 8610910"/>
                <a:gd name="connsiteY4-20" fmla="*/ 2997247 h 6096073"/>
                <a:gd name="connsiteX0-21" fmla="*/ 1055 w 8506092"/>
                <a:gd name="connsiteY0-22" fmla="*/ 2997237 h 5085656"/>
                <a:gd name="connsiteX1-23" fmla="*/ 4254132 w 8506092"/>
                <a:gd name="connsiteY1-24" fmla="*/ 25 h 5085656"/>
                <a:gd name="connsiteX2-25" fmla="*/ 8506092 w 8506092"/>
                <a:gd name="connsiteY2-26" fmla="*/ 3048025 h 5085656"/>
                <a:gd name="connsiteX3-27" fmla="*/ 4640444 w 8506092"/>
                <a:gd name="connsiteY3-28" fmla="*/ 5085513 h 5085656"/>
                <a:gd name="connsiteX4-29" fmla="*/ 1055 w 8506092"/>
                <a:gd name="connsiteY4-30" fmla="*/ 2997237 h 5085656"/>
                <a:gd name="connsiteX0-31" fmla="*/ 1055 w 8506092"/>
                <a:gd name="connsiteY0-32" fmla="*/ 2997237 h 5519588"/>
                <a:gd name="connsiteX1-33" fmla="*/ 4254132 w 8506092"/>
                <a:gd name="connsiteY1-34" fmla="*/ 25 h 5519588"/>
                <a:gd name="connsiteX2-35" fmla="*/ 8506092 w 8506092"/>
                <a:gd name="connsiteY2-36" fmla="*/ 3048025 h 5519588"/>
                <a:gd name="connsiteX3-37" fmla="*/ 4640444 w 8506092"/>
                <a:gd name="connsiteY3-38" fmla="*/ 5085513 h 5519588"/>
                <a:gd name="connsiteX4-39" fmla="*/ 1055 w 8506092"/>
                <a:gd name="connsiteY4-40" fmla="*/ 2997237 h 5519588"/>
                <a:gd name="connsiteX0-41" fmla="*/ 72966 w 8578003"/>
                <a:gd name="connsiteY0-42" fmla="*/ 2997244 h 5519595"/>
                <a:gd name="connsiteX1-43" fmla="*/ 4326043 w 8578003"/>
                <a:gd name="connsiteY1-44" fmla="*/ 32 h 5519595"/>
                <a:gd name="connsiteX2-45" fmla="*/ 8578003 w 8578003"/>
                <a:gd name="connsiteY2-46" fmla="*/ 3048032 h 5519595"/>
                <a:gd name="connsiteX3-47" fmla="*/ 4712355 w 8578003"/>
                <a:gd name="connsiteY3-48" fmla="*/ 5085520 h 5519595"/>
                <a:gd name="connsiteX4-49" fmla="*/ 72966 w 8578003"/>
                <a:gd name="connsiteY4-50" fmla="*/ 2997244 h 551959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578003" h="5519595">
                  <a:moveTo>
                    <a:pt x="72966" y="2997244"/>
                  </a:moveTo>
                  <a:cubicBezTo>
                    <a:pt x="-543503" y="1629289"/>
                    <a:pt x="2908537" y="-8433"/>
                    <a:pt x="4326043" y="32"/>
                  </a:cubicBezTo>
                  <a:cubicBezTo>
                    <a:pt x="5743549" y="8497"/>
                    <a:pt x="8578003" y="1364668"/>
                    <a:pt x="8578003" y="3048032"/>
                  </a:cubicBezTo>
                  <a:cubicBezTo>
                    <a:pt x="8578003" y="4731396"/>
                    <a:pt x="4998032" y="6307879"/>
                    <a:pt x="4712355" y="5085520"/>
                  </a:cubicBezTo>
                  <a:cubicBezTo>
                    <a:pt x="4426678" y="3863161"/>
                    <a:pt x="689435" y="4365199"/>
                    <a:pt x="72966" y="2997244"/>
                  </a:cubicBezTo>
                  <a:close/>
                </a:path>
              </a:pathLst>
            </a:custGeom>
            <a:gradFill flip="none" rotWithShape="1">
              <a:gsLst>
                <a:gs pos="68000">
                  <a:schemeClr val="accent2">
                    <a:alpha val="20000"/>
                  </a:schemeClr>
                </a:gs>
                <a:gs pos="0">
                  <a:schemeClr val="accent2">
                    <a:lumMod val="20000"/>
                    <a:lumOff val="80000"/>
                  </a:schemeClr>
                </a:gs>
                <a:gs pos="33000">
                  <a:schemeClr val="accent4">
                    <a:alpha val="4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  <p:sp>
          <p:nvSpPr>
            <p:cNvPr id="21" name="椭圆 37"/>
            <p:cNvSpPr/>
            <p:nvPr userDrawn="1"/>
          </p:nvSpPr>
          <p:spPr>
            <a:xfrm>
              <a:off x="6196426" y="427552"/>
              <a:ext cx="8626343" cy="7548584"/>
            </a:xfrm>
            <a:custGeom>
              <a:avLst/>
              <a:gdLst>
                <a:gd name="connsiteX0" fmla="*/ 0 w 7283001"/>
                <a:gd name="connsiteY0" fmla="*/ 3647440 h 7294880"/>
                <a:gd name="connsiteX1" fmla="*/ 3641501 w 7283001"/>
                <a:gd name="connsiteY1" fmla="*/ 0 h 7294880"/>
                <a:gd name="connsiteX2" fmla="*/ 7283002 w 7283001"/>
                <a:gd name="connsiteY2" fmla="*/ 3647440 h 7294880"/>
                <a:gd name="connsiteX3" fmla="*/ 3641501 w 7283001"/>
                <a:gd name="connsiteY3" fmla="*/ 7294880 h 7294880"/>
                <a:gd name="connsiteX4" fmla="*/ 0 w 7283001"/>
                <a:gd name="connsiteY4" fmla="*/ 3647440 h 7294880"/>
                <a:gd name="connsiteX0-1" fmla="*/ 0 w 7283002"/>
                <a:gd name="connsiteY0-2" fmla="*/ 3647440 h 7294880"/>
                <a:gd name="connsiteX1-3" fmla="*/ 3641501 w 7283002"/>
                <a:gd name="connsiteY1-4" fmla="*/ 0 h 7294880"/>
                <a:gd name="connsiteX2-5" fmla="*/ 7283002 w 7283002"/>
                <a:gd name="connsiteY2-6" fmla="*/ 3647440 h 7294880"/>
                <a:gd name="connsiteX3-7" fmla="*/ 3641501 w 7283002"/>
                <a:gd name="connsiteY3-8" fmla="*/ 7294880 h 7294880"/>
                <a:gd name="connsiteX4-9" fmla="*/ 0 w 7283002"/>
                <a:gd name="connsiteY4-10" fmla="*/ 3647440 h 7294880"/>
                <a:gd name="connsiteX0-11" fmla="*/ 0 w 7283002"/>
                <a:gd name="connsiteY0-12" fmla="*/ 3961777 h 7609217"/>
                <a:gd name="connsiteX1-13" fmla="*/ 3641501 w 7283002"/>
                <a:gd name="connsiteY1-14" fmla="*/ 314337 h 7609217"/>
                <a:gd name="connsiteX2-15" fmla="*/ 7283002 w 7283002"/>
                <a:gd name="connsiteY2-16" fmla="*/ 3961777 h 7609217"/>
                <a:gd name="connsiteX3-17" fmla="*/ 3641501 w 7283002"/>
                <a:gd name="connsiteY3-18" fmla="*/ 7609217 h 7609217"/>
                <a:gd name="connsiteX4-19" fmla="*/ 0 w 7283002"/>
                <a:gd name="connsiteY4-20" fmla="*/ 3961777 h 7609217"/>
                <a:gd name="connsiteX0-21" fmla="*/ 0 w 7283002"/>
                <a:gd name="connsiteY0-22" fmla="*/ 3727312 h 7374752"/>
                <a:gd name="connsiteX1-23" fmla="*/ 3641501 w 7283002"/>
                <a:gd name="connsiteY1-24" fmla="*/ 79872 h 7374752"/>
                <a:gd name="connsiteX2-25" fmla="*/ 7283002 w 7283002"/>
                <a:gd name="connsiteY2-26" fmla="*/ 3727312 h 7374752"/>
                <a:gd name="connsiteX3-27" fmla="*/ 3641501 w 7283002"/>
                <a:gd name="connsiteY3-28" fmla="*/ 7374752 h 7374752"/>
                <a:gd name="connsiteX4-29" fmla="*/ 0 w 7283002"/>
                <a:gd name="connsiteY4-30" fmla="*/ 3727312 h 7374752"/>
                <a:gd name="connsiteX0-31" fmla="*/ 107156 w 7390158"/>
                <a:gd name="connsiteY0-32" fmla="*/ 3715815 h 7363255"/>
                <a:gd name="connsiteX1-33" fmla="*/ 3748657 w 7390158"/>
                <a:gd name="connsiteY1-34" fmla="*/ 68375 h 7363255"/>
                <a:gd name="connsiteX2-35" fmla="*/ 7390158 w 7390158"/>
                <a:gd name="connsiteY2-36" fmla="*/ 3715815 h 7363255"/>
                <a:gd name="connsiteX3-37" fmla="*/ 3748657 w 7390158"/>
                <a:gd name="connsiteY3-38" fmla="*/ 7363255 h 7363255"/>
                <a:gd name="connsiteX4-39" fmla="*/ 107156 w 7390158"/>
                <a:gd name="connsiteY4-40" fmla="*/ 3715815 h 7363255"/>
                <a:gd name="connsiteX0-41" fmla="*/ 1343341 w 8626343"/>
                <a:gd name="connsiteY0-42" fmla="*/ 3776855 h 7424295"/>
                <a:gd name="connsiteX1-43" fmla="*/ 4984842 w 8626343"/>
                <a:gd name="connsiteY1-44" fmla="*/ 129415 h 7424295"/>
                <a:gd name="connsiteX2-45" fmla="*/ 8626343 w 8626343"/>
                <a:gd name="connsiteY2-46" fmla="*/ 3776855 h 7424295"/>
                <a:gd name="connsiteX3-47" fmla="*/ 4984842 w 8626343"/>
                <a:gd name="connsiteY3-48" fmla="*/ 7424295 h 7424295"/>
                <a:gd name="connsiteX4-49" fmla="*/ 1343341 w 8626343"/>
                <a:gd name="connsiteY4-50" fmla="*/ 3776855 h 7424295"/>
                <a:gd name="connsiteX0-51" fmla="*/ 1343341 w 8626343"/>
                <a:gd name="connsiteY0-52" fmla="*/ 3776855 h 7548584"/>
                <a:gd name="connsiteX1-53" fmla="*/ 4984842 w 8626343"/>
                <a:gd name="connsiteY1-54" fmla="*/ 129415 h 7548584"/>
                <a:gd name="connsiteX2-55" fmla="*/ 8626343 w 8626343"/>
                <a:gd name="connsiteY2-56" fmla="*/ 3776855 h 7548584"/>
                <a:gd name="connsiteX3-57" fmla="*/ 4984842 w 8626343"/>
                <a:gd name="connsiteY3-58" fmla="*/ 7424295 h 7548584"/>
                <a:gd name="connsiteX4-59" fmla="*/ 1343341 w 8626343"/>
                <a:gd name="connsiteY4-60" fmla="*/ 3776855 h 75485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626343" h="7548584">
                  <a:moveTo>
                    <a:pt x="1343341" y="3776855"/>
                  </a:moveTo>
                  <a:cubicBezTo>
                    <a:pt x="-2324419" y="1118322"/>
                    <a:pt x="2404737" y="-480185"/>
                    <a:pt x="4984842" y="129415"/>
                  </a:cubicBezTo>
                  <a:cubicBezTo>
                    <a:pt x="7564947" y="739015"/>
                    <a:pt x="8626343" y="1762430"/>
                    <a:pt x="8626343" y="3776855"/>
                  </a:cubicBezTo>
                  <a:cubicBezTo>
                    <a:pt x="8626343" y="5791280"/>
                    <a:pt x="5675187" y="8115175"/>
                    <a:pt x="4984842" y="7424295"/>
                  </a:cubicBezTo>
                  <a:cubicBezTo>
                    <a:pt x="4294497" y="6733415"/>
                    <a:pt x="5011101" y="6435388"/>
                    <a:pt x="1343341" y="3776855"/>
                  </a:cubicBezTo>
                  <a:close/>
                </a:path>
              </a:pathLst>
            </a:custGeom>
            <a:gradFill flip="none" rotWithShape="1">
              <a:gsLst>
                <a:gs pos="35000">
                  <a:schemeClr val="accent2">
                    <a:alpha val="20000"/>
                  </a:schemeClr>
                </a:gs>
                <a:gs pos="100000">
                  <a:schemeClr val="accent2">
                    <a:lumMod val="20000"/>
                    <a:lumOff val="80000"/>
                    <a:alpha val="20000"/>
                  </a:schemeClr>
                </a:gs>
                <a:gs pos="70000">
                  <a:schemeClr val="accent4">
                    <a:alpha val="2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500" dirty="0"/>
            </a:p>
          </p:txBody>
        </p:sp>
        <p:sp>
          <p:nvSpPr>
            <p:cNvPr id="22" name="椭圆 37"/>
            <p:cNvSpPr/>
            <p:nvPr userDrawn="1"/>
          </p:nvSpPr>
          <p:spPr>
            <a:xfrm rot="12210284">
              <a:off x="-3088807" y="-3001262"/>
              <a:ext cx="7817225" cy="6857626"/>
            </a:xfrm>
            <a:custGeom>
              <a:avLst/>
              <a:gdLst>
                <a:gd name="connsiteX0" fmla="*/ 0 w 7283001"/>
                <a:gd name="connsiteY0" fmla="*/ 3647440 h 7294880"/>
                <a:gd name="connsiteX1" fmla="*/ 3641501 w 7283001"/>
                <a:gd name="connsiteY1" fmla="*/ 0 h 7294880"/>
                <a:gd name="connsiteX2" fmla="*/ 7283002 w 7283001"/>
                <a:gd name="connsiteY2" fmla="*/ 3647440 h 7294880"/>
                <a:gd name="connsiteX3" fmla="*/ 3641501 w 7283001"/>
                <a:gd name="connsiteY3" fmla="*/ 7294880 h 7294880"/>
                <a:gd name="connsiteX4" fmla="*/ 0 w 7283001"/>
                <a:gd name="connsiteY4" fmla="*/ 3647440 h 7294880"/>
                <a:gd name="connsiteX0-1" fmla="*/ 0 w 7283002"/>
                <a:gd name="connsiteY0-2" fmla="*/ 3647440 h 7294880"/>
                <a:gd name="connsiteX1-3" fmla="*/ 3641501 w 7283002"/>
                <a:gd name="connsiteY1-4" fmla="*/ 0 h 7294880"/>
                <a:gd name="connsiteX2-5" fmla="*/ 7283002 w 7283002"/>
                <a:gd name="connsiteY2-6" fmla="*/ 3647440 h 7294880"/>
                <a:gd name="connsiteX3-7" fmla="*/ 3641501 w 7283002"/>
                <a:gd name="connsiteY3-8" fmla="*/ 7294880 h 7294880"/>
                <a:gd name="connsiteX4-9" fmla="*/ 0 w 7283002"/>
                <a:gd name="connsiteY4-10" fmla="*/ 3647440 h 7294880"/>
                <a:gd name="connsiteX0-11" fmla="*/ 0 w 7283002"/>
                <a:gd name="connsiteY0-12" fmla="*/ 3961777 h 7609217"/>
                <a:gd name="connsiteX1-13" fmla="*/ 3641501 w 7283002"/>
                <a:gd name="connsiteY1-14" fmla="*/ 314337 h 7609217"/>
                <a:gd name="connsiteX2-15" fmla="*/ 7283002 w 7283002"/>
                <a:gd name="connsiteY2-16" fmla="*/ 3961777 h 7609217"/>
                <a:gd name="connsiteX3-17" fmla="*/ 3641501 w 7283002"/>
                <a:gd name="connsiteY3-18" fmla="*/ 7609217 h 7609217"/>
                <a:gd name="connsiteX4-19" fmla="*/ 0 w 7283002"/>
                <a:gd name="connsiteY4-20" fmla="*/ 3961777 h 7609217"/>
                <a:gd name="connsiteX0-21" fmla="*/ 0 w 7283002"/>
                <a:gd name="connsiteY0-22" fmla="*/ 3727312 h 7374752"/>
                <a:gd name="connsiteX1-23" fmla="*/ 3641501 w 7283002"/>
                <a:gd name="connsiteY1-24" fmla="*/ 79872 h 7374752"/>
                <a:gd name="connsiteX2-25" fmla="*/ 7283002 w 7283002"/>
                <a:gd name="connsiteY2-26" fmla="*/ 3727312 h 7374752"/>
                <a:gd name="connsiteX3-27" fmla="*/ 3641501 w 7283002"/>
                <a:gd name="connsiteY3-28" fmla="*/ 7374752 h 7374752"/>
                <a:gd name="connsiteX4-29" fmla="*/ 0 w 7283002"/>
                <a:gd name="connsiteY4-30" fmla="*/ 3727312 h 7374752"/>
                <a:gd name="connsiteX0-31" fmla="*/ 107156 w 7390158"/>
                <a:gd name="connsiteY0-32" fmla="*/ 3715815 h 7363255"/>
                <a:gd name="connsiteX1-33" fmla="*/ 3748657 w 7390158"/>
                <a:gd name="connsiteY1-34" fmla="*/ 68375 h 7363255"/>
                <a:gd name="connsiteX2-35" fmla="*/ 7390158 w 7390158"/>
                <a:gd name="connsiteY2-36" fmla="*/ 3715815 h 7363255"/>
                <a:gd name="connsiteX3-37" fmla="*/ 3748657 w 7390158"/>
                <a:gd name="connsiteY3-38" fmla="*/ 7363255 h 7363255"/>
                <a:gd name="connsiteX4-39" fmla="*/ 107156 w 7390158"/>
                <a:gd name="connsiteY4-40" fmla="*/ 3715815 h 7363255"/>
                <a:gd name="connsiteX0-41" fmla="*/ 1343341 w 8626343"/>
                <a:gd name="connsiteY0-42" fmla="*/ 3776855 h 7424295"/>
                <a:gd name="connsiteX1-43" fmla="*/ 4984842 w 8626343"/>
                <a:gd name="connsiteY1-44" fmla="*/ 129415 h 7424295"/>
                <a:gd name="connsiteX2-45" fmla="*/ 8626343 w 8626343"/>
                <a:gd name="connsiteY2-46" fmla="*/ 3776855 h 7424295"/>
                <a:gd name="connsiteX3-47" fmla="*/ 4984842 w 8626343"/>
                <a:gd name="connsiteY3-48" fmla="*/ 7424295 h 7424295"/>
                <a:gd name="connsiteX4-49" fmla="*/ 1343341 w 8626343"/>
                <a:gd name="connsiteY4-50" fmla="*/ 3776855 h 7424295"/>
                <a:gd name="connsiteX0-51" fmla="*/ 1343341 w 8626343"/>
                <a:gd name="connsiteY0-52" fmla="*/ 3776855 h 7548584"/>
                <a:gd name="connsiteX1-53" fmla="*/ 4984842 w 8626343"/>
                <a:gd name="connsiteY1-54" fmla="*/ 129415 h 7548584"/>
                <a:gd name="connsiteX2-55" fmla="*/ 8626343 w 8626343"/>
                <a:gd name="connsiteY2-56" fmla="*/ 3776855 h 7548584"/>
                <a:gd name="connsiteX3-57" fmla="*/ 4984842 w 8626343"/>
                <a:gd name="connsiteY3-58" fmla="*/ 7424295 h 7548584"/>
                <a:gd name="connsiteX4-59" fmla="*/ 1343341 w 8626343"/>
                <a:gd name="connsiteY4-60" fmla="*/ 3776855 h 7548584"/>
                <a:gd name="connsiteX0-61" fmla="*/ 1276306 w 8559308"/>
                <a:gd name="connsiteY0-62" fmla="*/ 3736886 h 7508615"/>
                <a:gd name="connsiteX1-63" fmla="*/ 4917807 w 8559308"/>
                <a:gd name="connsiteY1-64" fmla="*/ 89446 h 7508615"/>
                <a:gd name="connsiteX2-65" fmla="*/ 8559308 w 8559308"/>
                <a:gd name="connsiteY2-66" fmla="*/ 3736886 h 7508615"/>
                <a:gd name="connsiteX3-67" fmla="*/ 4917807 w 8559308"/>
                <a:gd name="connsiteY3-68" fmla="*/ 7384326 h 7508615"/>
                <a:gd name="connsiteX4-69" fmla="*/ 1276306 w 8559308"/>
                <a:gd name="connsiteY4-70" fmla="*/ 3736886 h 750861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559308" h="7508615">
                  <a:moveTo>
                    <a:pt x="1276306" y="3736886"/>
                  </a:moveTo>
                  <a:cubicBezTo>
                    <a:pt x="-2234531" y="2127967"/>
                    <a:pt x="2337702" y="-520154"/>
                    <a:pt x="4917807" y="89446"/>
                  </a:cubicBezTo>
                  <a:cubicBezTo>
                    <a:pt x="7497912" y="699046"/>
                    <a:pt x="8559308" y="1722461"/>
                    <a:pt x="8559308" y="3736886"/>
                  </a:cubicBezTo>
                  <a:cubicBezTo>
                    <a:pt x="8559308" y="5751311"/>
                    <a:pt x="5608152" y="8075206"/>
                    <a:pt x="4917807" y="7384326"/>
                  </a:cubicBezTo>
                  <a:cubicBezTo>
                    <a:pt x="4227462" y="6693446"/>
                    <a:pt x="4787143" y="5345805"/>
                    <a:pt x="1276306" y="3736886"/>
                  </a:cubicBezTo>
                  <a:close/>
                </a:path>
              </a:pathLst>
            </a:custGeom>
            <a:gradFill flip="none" rotWithShape="1">
              <a:gsLst>
                <a:gs pos="35000">
                  <a:schemeClr val="accent2">
                    <a:alpha val="20000"/>
                  </a:schemeClr>
                </a:gs>
                <a:gs pos="0">
                  <a:schemeClr val="accent2">
                    <a:lumMod val="20000"/>
                    <a:lumOff val="80000"/>
                    <a:alpha val="70000"/>
                  </a:schemeClr>
                </a:gs>
                <a:gs pos="70000">
                  <a:schemeClr val="accent4">
                    <a:alpha val="2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500" dirty="0"/>
            </a:p>
          </p:txBody>
        </p:sp>
      </p:grpSp>
      <p:sp>
        <p:nvSpPr>
          <p:cNvPr id="2" name="矩形 1"/>
          <p:cNvSpPr/>
          <p:nvPr userDrawn="1"/>
        </p:nvSpPr>
        <p:spPr>
          <a:xfrm>
            <a:off x="0" y="722722"/>
            <a:ext cx="10160000" cy="463598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251451" y="5427664"/>
            <a:ext cx="48979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000" dirty="0">
                <a:solidFill>
                  <a:schemeClr val="bg1"/>
                </a:solidFill>
                <a:latin typeface="+mj-ea"/>
                <a:ea typeface="+mj-ea"/>
              </a:rPr>
              <a:t>中证指数有限公司数据平台（一期）建设项目</a:t>
            </a:r>
            <a:endParaRPr lang="zh-CN" altLang="en-US" sz="1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970" y="5456489"/>
            <a:ext cx="702013" cy="173180"/>
          </a:xfrm>
          <a:prstGeom prst="rect">
            <a:avLst/>
          </a:prstGeom>
        </p:spPr>
      </p:pic>
      <p:pic>
        <p:nvPicPr>
          <p:cNvPr id="25" name="图片 24" descr="logo简称（透明底）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04246" y="5412795"/>
            <a:ext cx="956204" cy="2349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8500" y="304271"/>
            <a:ext cx="8763000" cy="110463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98500" y="5296959"/>
            <a:ext cx="2286000" cy="304271"/>
          </a:xfrm>
          <a:prstGeom prst="rect">
            <a:avLst/>
          </a:prstGeom>
        </p:spPr>
        <p:txBody>
          <a:bodyPr/>
          <a:lstStyle/>
          <a:p>
            <a:fld id="{BA1DAFD7-B73F-49FB-9468-BA6365DCD7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365500" y="5296959"/>
            <a:ext cx="34290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175500" y="5296959"/>
            <a:ext cx="2286000" cy="304271"/>
          </a:xfrm>
          <a:prstGeom prst="rect">
            <a:avLst/>
          </a:prstGeom>
        </p:spPr>
        <p:txBody>
          <a:bodyPr/>
          <a:lstStyle/>
          <a:p>
            <a:fld id="{82CA7EE9-31F9-409B-A326-CCE3E2C4E2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4206869" y="416705"/>
            <a:ext cx="5476913" cy="764663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0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13113" y="1309680"/>
            <a:ext cx="6270669" cy="4107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65"/>
            </a:lvl1pPr>
            <a:lvl2pPr>
              <a:defRPr sz="1665"/>
            </a:lvl2pPr>
            <a:lvl3pPr>
              <a:defRPr sz="1665"/>
            </a:lvl3pPr>
            <a:lvl4pPr>
              <a:defRPr sz="1665"/>
            </a:lvl4pPr>
            <a:lvl5pPr>
              <a:defRPr sz="1665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8500" y="304271"/>
            <a:ext cx="8763000" cy="110463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98500" y="5296959"/>
            <a:ext cx="2286000" cy="304271"/>
          </a:xfrm>
          <a:prstGeom prst="rect">
            <a:avLst/>
          </a:prstGeom>
        </p:spPr>
        <p:txBody>
          <a:bodyPr/>
          <a:lstStyle/>
          <a:p>
            <a:fld id="{BA1DAFD7-B73F-49FB-9468-BA6365DCD7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365500" y="5296959"/>
            <a:ext cx="34290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175500" y="5296959"/>
            <a:ext cx="2286000" cy="304271"/>
          </a:xfrm>
          <a:prstGeom prst="rect">
            <a:avLst/>
          </a:prstGeom>
        </p:spPr>
        <p:txBody>
          <a:bodyPr/>
          <a:lstStyle/>
          <a:p>
            <a:fld id="{82CA7EE9-31F9-409B-A326-CCE3E2C4E2F8}" type="slidenum">
              <a:rPr lang="zh-CN" altLang="en-US" smtClean="0"/>
            </a:fld>
            <a:endParaRPr lang="zh-CN" altLang="en-US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508000" y="1333500"/>
            <a:ext cx="9144000" cy="37716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31847" y="416705"/>
            <a:ext cx="4603782" cy="764663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0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08001" y="1333500"/>
            <a:ext cx="5127629" cy="377163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65"/>
            </a:lvl1pPr>
            <a:lvl2pPr>
              <a:defRPr sz="1665"/>
            </a:lvl2pPr>
            <a:lvl3pPr>
              <a:defRPr sz="1665"/>
            </a:lvl3pPr>
            <a:lvl4pPr>
              <a:defRPr sz="1665"/>
            </a:lvl4pPr>
            <a:lvl5pPr>
              <a:defRPr sz="1665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3190" y="656815"/>
            <a:ext cx="635000" cy="393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59771" y="1037818"/>
            <a:ext cx="8620153" cy="450874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9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6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2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2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5023" y="371899"/>
            <a:ext cx="465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7660288" y="5546561"/>
            <a:ext cx="2370667" cy="15213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90EF460-4FBA-4D07-AE8D-B658EB307C7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859771" y="371902"/>
            <a:ext cx="8620153" cy="381001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3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 rot="10800000" flipV="1">
            <a:off x="-1" y="5368644"/>
            <a:ext cx="7416584" cy="164295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89000">
                <a:schemeClr val="accent3"/>
              </a:gs>
            </a:gsLst>
            <a:lin ang="0" scaled="1"/>
            <a:tileRect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6199" tIns="38099" rIns="76199" bIns="38099" numCol="1" spcCol="0" rtlCol="0" fromWordArt="0" anchor="ctr" anchorCtr="0" forceAA="0" compatLnSpc="1">
            <a:noAutofit/>
          </a:bodyPr>
          <a:lstStyle/>
          <a:p>
            <a:pPr lvl="0">
              <a:lnSpc>
                <a:spcPct val="150000"/>
              </a:lnSpc>
              <a:buSzPct val="25000"/>
            </a:pPr>
            <a:endParaRPr lang="zh-CN" altLang="en-US" sz="1335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933" y="5355108"/>
            <a:ext cx="2051898" cy="177831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10800000" flipV="1">
            <a:off x="9865178" y="5368644"/>
            <a:ext cx="294820" cy="164295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90000">
                <a:schemeClr val="accent4"/>
              </a:gs>
            </a:gsLst>
            <a:lin ang="10800000" scaled="1"/>
            <a:tileRect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4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6199" tIns="38099" rIns="76199" bIns="38099" numCol="1" spcCol="0" rtlCol="0" fromWordArt="0" anchor="ctr" anchorCtr="0" forceAA="0" compatLnSpc="1">
            <a:noAutofit/>
          </a:bodyPr>
          <a:lstStyle/>
          <a:p>
            <a:pPr lvl="0" algn="ctr" defTabSz="913765"/>
            <a:endParaRPr lang="zh-CN" altLang="en-US" sz="10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4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txStyles>
    <p:titleStyle>
      <a:lvl1pPr algn="l" defTabSz="761365" rtl="0" eaLnBrk="1" latinLnBrk="0" hangingPunct="1">
        <a:lnSpc>
          <a:spcPct val="90000"/>
        </a:lnSpc>
        <a:spcBef>
          <a:spcPct val="0"/>
        </a:spcBef>
        <a:buNone/>
        <a:defRPr sz="36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0500" indent="-190500" algn="l" defTabSz="761365" rtl="0" eaLnBrk="1" latinLnBrk="0" hangingPunct="1">
        <a:lnSpc>
          <a:spcPct val="90000"/>
        </a:lnSpc>
        <a:spcBef>
          <a:spcPts val="835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190500" algn="l" defTabSz="76136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52500" indent="-190500" algn="l" defTabSz="76136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3pPr>
      <a:lvl4pPr marL="1333500" indent="-190500" algn="l" defTabSz="76136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190500" algn="l" defTabSz="76136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95500" indent="-190500" algn="l" defTabSz="76136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76500" indent="-190500" algn="l" defTabSz="76136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500" indent="-190500" algn="l" defTabSz="76136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238500" indent="-190500" algn="l" defTabSz="76136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6136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1000" algn="l" defTabSz="76136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00" algn="l" defTabSz="76136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algn="l" defTabSz="76136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4000" algn="l" defTabSz="76136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5000" algn="l" defTabSz="76136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6000" algn="l" defTabSz="76136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7000" algn="l" defTabSz="76136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8000" algn="l" defTabSz="76136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5.png"/><Relationship Id="rId1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29.png"/><Relationship Id="rId1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3352191" y="697139"/>
            <a:ext cx="3827912" cy="424593"/>
            <a:chOff x="6196426" y="4074695"/>
            <a:chExt cx="4593494" cy="509512"/>
          </a:xfrm>
        </p:grpSpPr>
        <p:sp>
          <p:nvSpPr>
            <p:cNvPr id="16" name="矩形: 圆角 15"/>
            <p:cNvSpPr/>
            <p:nvPr userDrawn="1"/>
          </p:nvSpPr>
          <p:spPr>
            <a:xfrm>
              <a:off x="6196426" y="4074695"/>
              <a:ext cx="4593494" cy="50951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  <p:pic>
          <p:nvPicPr>
            <p:cNvPr id="17" name="图片 16"/>
            <p:cNvPicPr>
              <a:picLocks noChangeAspect="1"/>
            </p:cNvPicPr>
            <p:nvPr userDrawn="1"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37682" y="4167878"/>
              <a:ext cx="3710981" cy="321597"/>
            </a:xfrm>
            <a:prstGeom prst="rect">
              <a:avLst/>
            </a:prstGeom>
          </p:spPr>
        </p:pic>
      </p:grpSp>
      <p:grpSp>
        <p:nvGrpSpPr>
          <p:cNvPr id="23" name="组合 22"/>
          <p:cNvGrpSpPr/>
          <p:nvPr userDrawn="1"/>
        </p:nvGrpSpPr>
        <p:grpSpPr>
          <a:xfrm>
            <a:off x="1268220" y="2866443"/>
            <a:ext cx="692993" cy="75450"/>
            <a:chOff x="2804029" y="4478351"/>
            <a:chExt cx="1081170" cy="117713"/>
          </a:xfrm>
          <a:gradFill>
            <a:gsLst>
              <a:gs pos="0">
                <a:schemeClr val="accent6">
                  <a:alpha val="0"/>
                </a:schemeClr>
              </a:gs>
              <a:gs pos="56000">
                <a:schemeClr val="accent4">
                  <a:alpha val="50000"/>
                </a:schemeClr>
              </a:gs>
              <a:gs pos="100000">
                <a:schemeClr val="accent2"/>
              </a:gs>
            </a:gsLst>
            <a:lin ang="0" scaled="1"/>
          </a:gradFill>
        </p:grpSpPr>
        <p:sp>
          <p:nvSpPr>
            <p:cNvPr id="31" name="平行四边形 30"/>
            <p:cNvSpPr/>
            <p:nvPr userDrawn="1"/>
          </p:nvSpPr>
          <p:spPr>
            <a:xfrm flipH="1">
              <a:off x="3668616" y="4478351"/>
              <a:ext cx="216583" cy="117713"/>
            </a:xfrm>
            <a:prstGeom prst="parallelogram">
              <a:avLst>
                <a:gd name="adj" fmla="val 6991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  <p:sp>
          <p:nvSpPr>
            <p:cNvPr id="32" name="平行四边形 31"/>
            <p:cNvSpPr/>
            <p:nvPr userDrawn="1"/>
          </p:nvSpPr>
          <p:spPr>
            <a:xfrm flipH="1">
              <a:off x="3495697" y="4478351"/>
              <a:ext cx="216583" cy="117713"/>
            </a:xfrm>
            <a:prstGeom prst="parallelogram">
              <a:avLst>
                <a:gd name="adj" fmla="val 6991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  <p:sp>
          <p:nvSpPr>
            <p:cNvPr id="33" name="平行四边形 32"/>
            <p:cNvSpPr/>
            <p:nvPr userDrawn="1"/>
          </p:nvSpPr>
          <p:spPr>
            <a:xfrm flipH="1">
              <a:off x="3322780" y="4478351"/>
              <a:ext cx="216583" cy="117713"/>
            </a:xfrm>
            <a:prstGeom prst="parallelogram">
              <a:avLst>
                <a:gd name="adj" fmla="val 6991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  <p:sp>
          <p:nvSpPr>
            <p:cNvPr id="34" name="平行四边形 33"/>
            <p:cNvSpPr/>
            <p:nvPr userDrawn="1"/>
          </p:nvSpPr>
          <p:spPr>
            <a:xfrm flipH="1">
              <a:off x="3149863" y="4478351"/>
              <a:ext cx="216583" cy="117713"/>
            </a:xfrm>
            <a:prstGeom prst="parallelogram">
              <a:avLst>
                <a:gd name="adj" fmla="val 6991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  <p:sp>
          <p:nvSpPr>
            <p:cNvPr id="35" name="平行四边形 34"/>
            <p:cNvSpPr/>
            <p:nvPr userDrawn="1"/>
          </p:nvSpPr>
          <p:spPr>
            <a:xfrm flipH="1">
              <a:off x="2976946" y="4478351"/>
              <a:ext cx="216583" cy="117713"/>
            </a:xfrm>
            <a:prstGeom prst="parallelogram">
              <a:avLst>
                <a:gd name="adj" fmla="val 6991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  <p:sp>
          <p:nvSpPr>
            <p:cNvPr id="36" name="平行四边形 35"/>
            <p:cNvSpPr/>
            <p:nvPr userDrawn="1"/>
          </p:nvSpPr>
          <p:spPr>
            <a:xfrm flipH="1">
              <a:off x="2804029" y="4478351"/>
              <a:ext cx="216583" cy="117713"/>
            </a:xfrm>
            <a:prstGeom prst="parallelogram">
              <a:avLst>
                <a:gd name="adj" fmla="val 6991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flipH="1">
            <a:off x="8563109" y="2942113"/>
            <a:ext cx="692993" cy="75450"/>
            <a:chOff x="2804029" y="4478351"/>
            <a:chExt cx="1081170" cy="117713"/>
          </a:xfrm>
          <a:gradFill>
            <a:gsLst>
              <a:gs pos="0">
                <a:schemeClr val="accent6">
                  <a:alpha val="0"/>
                </a:schemeClr>
              </a:gs>
              <a:gs pos="56000">
                <a:schemeClr val="accent4">
                  <a:alpha val="50000"/>
                </a:schemeClr>
              </a:gs>
              <a:gs pos="100000">
                <a:schemeClr val="accent2"/>
              </a:gs>
            </a:gsLst>
            <a:lin ang="0" scaled="1"/>
          </a:gradFill>
        </p:grpSpPr>
        <p:sp>
          <p:nvSpPr>
            <p:cNvPr id="25" name="平行四边形 24"/>
            <p:cNvSpPr/>
            <p:nvPr userDrawn="1"/>
          </p:nvSpPr>
          <p:spPr>
            <a:xfrm flipH="1">
              <a:off x="3668616" y="4478351"/>
              <a:ext cx="216583" cy="117713"/>
            </a:xfrm>
            <a:prstGeom prst="parallelogram">
              <a:avLst>
                <a:gd name="adj" fmla="val 6991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  <p:sp>
          <p:nvSpPr>
            <p:cNvPr id="26" name="平行四边形 25"/>
            <p:cNvSpPr/>
            <p:nvPr userDrawn="1"/>
          </p:nvSpPr>
          <p:spPr>
            <a:xfrm flipH="1">
              <a:off x="3495697" y="4478351"/>
              <a:ext cx="216583" cy="117713"/>
            </a:xfrm>
            <a:prstGeom prst="parallelogram">
              <a:avLst>
                <a:gd name="adj" fmla="val 6991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  <p:sp>
          <p:nvSpPr>
            <p:cNvPr id="27" name="平行四边形 26"/>
            <p:cNvSpPr/>
            <p:nvPr userDrawn="1"/>
          </p:nvSpPr>
          <p:spPr>
            <a:xfrm flipH="1">
              <a:off x="3322780" y="4478351"/>
              <a:ext cx="216583" cy="117713"/>
            </a:xfrm>
            <a:prstGeom prst="parallelogram">
              <a:avLst>
                <a:gd name="adj" fmla="val 6991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  <p:sp>
          <p:nvSpPr>
            <p:cNvPr id="28" name="平行四边形 27"/>
            <p:cNvSpPr/>
            <p:nvPr userDrawn="1"/>
          </p:nvSpPr>
          <p:spPr>
            <a:xfrm flipH="1">
              <a:off x="3149863" y="4478351"/>
              <a:ext cx="216583" cy="117713"/>
            </a:xfrm>
            <a:prstGeom prst="parallelogram">
              <a:avLst>
                <a:gd name="adj" fmla="val 6991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  <p:sp>
          <p:nvSpPr>
            <p:cNvPr id="29" name="平行四边形 28"/>
            <p:cNvSpPr/>
            <p:nvPr userDrawn="1"/>
          </p:nvSpPr>
          <p:spPr>
            <a:xfrm flipH="1">
              <a:off x="2976946" y="4478351"/>
              <a:ext cx="216583" cy="117713"/>
            </a:xfrm>
            <a:prstGeom prst="parallelogram">
              <a:avLst>
                <a:gd name="adj" fmla="val 6991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  <p:sp>
          <p:nvSpPr>
            <p:cNvPr id="30" name="平行四边形 29"/>
            <p:cNvSpPr/>
            <p:nvPr userDrawn="1"/>
          </p:nvSpPr>
          <p:spPr>
            <a:xfrm flipH="1">
              <a:off x="2804029" y="4478351"/>
              <a:ext cx="216583" cy="117713"/>
            </a:xfrm>
            <a:prstGeom prst="parallelogram">
              <a:avLst>
                <a:gd name="adj" fmla="val 6991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</p:grpSp>
      <p:sp>
        <p:nvSpPr>
          <p:cNvPr id="20" name="标题 3"/>
          <p:cNvSpPr txBox="1"/>
          <p:nvPr/>
        </p:nvSpPr>
        <p:spPr>
          <a:xfrm>
            <a:off x="925638" y="2155288"/>
            <a:ext cx="8681015" cy="140442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300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dirty="0"/>
              <a:t>信创改造案例：</a:t>
            </a:r>
            <a:endParaRPr lang="en-US" altLang="zh-CN" dirty="0"/>
          </a:p>
          <a:p>
            <a:r>
              <a:rPr lang="zh-CN" altLang="en-US" dirty="0"/>
              <a:t>证券基金期货行业信创</a:t>
            </a:r>
            <a:r>
              <a:rPr lang="en-US" altLang="zh-CN" dirty="0"/>
              <a:t>MPP</a:t>
            </a:r>
            <a:r>
              <a:rPr lang="zh-CN" altLang="en-US" dirty="0"/>
              <a:t>数据库选型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08947" y="1222023"/>
            <a:ext cx="9142106" cy="1755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algn="just">
              <a:lnSpc>
                <a:spcPct val="200000"/>
              </a:lnSpc>
              <a:spcBef>
                <a:spcPts val="600"/>
              </a:spcBef>
              <a:defRPr/>
            </a:pPr>
            <a:r>
              <a:rPr lang="zh-CN" altLang="en-US" sz="14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按照集团信创工作的总体要求，需要在近几年内完成系统的信创改造工作。同时因为生产环境中的服务器即将过保，后续更新服务器将只能购买满足信创要求的国产服务器。因此，需要在当前生产环境服务器过保前，完成系统中所有模块和组件的信创改造工作，本次主要针对国产</a:t>
            </a:r>
            <a:r>
              <a:rPr lang="en-US" altLang="zh-CN" sz="14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MPP</a:t>
            </a:r>
            <a:r>
              <a:rPr lang="zh-CN" altLang="en-US" sz="14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数据库做</a:t>
            </a:r>
            <a:r>
              <a:rPr lang="en-US" altLang="zh-CN" sz="14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POC</a:t>
            </a:r>
            <a:r>
              <a:rPr lang="zh-CN" altLang="en-US" sz="14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测试，完成数仓部分</a:t>
            </a:r>
            <a:r>
              <a:rPr lang="en-US" altLang="zh-CN" sz="14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MPP</a:t>
            </a:r>
            <a:r>
              <a:rPr lang="zh-CN" altLang="en-US" sz="14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数据库的技术选型。</a:t>
            </a:r>
            <a:endParaRPr lang="en-US" altLang="zh-CN" sz="1400" kern="100" dirty="0">
              <a:solidFill>
                <a:prstClr val="black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7308" y="170921"/>
            <a:ext cx="677545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sz="2000" dirty="0"/>
              <a:t>信创改造案例</a:t>
            </a:r>
            <a:r>
              <a:rPr lang="en-US" altLang="zh-CN" sz="2000" dirty="0"/>
              <a:t>1</a:t>
            </a:r>
            <a:r>
              <a:rPr lang="zh-CN" altLang="en-US" sz="2000" dirty="0"/>
              <a:t>：某金融机构信创</a:t>
            </a:r>
            <a:r>
              <a:rPr lang="en-US" altLang="zh-CN" sz="2000" dirty="0"/>
              <a:t>MPP</a:t>
            </a:r>
            <a:r>
              <a:rPr lang="zh-CN" altLang="en-US" sz="2000" dirty="0"/>
              <a:t>数据库选型</a:t>
            </a:r>
            <a:endParaRPr lang="en-US" altLang="zh-CN" sz="2000" dirty="0"/>
          </a:p>
        </p:txBody>
      </p:sp>
      <p:sp>
        <p:nvSpPr>
          <p:cNvPr id="16" name="矩形 15"/>
          <p:cNvSpPr/>
          <p:nvPr/>
        </p:nvSpPr>
        <p:spPr>
          <a:xfrm>
            <a:off x="508947" y="3361556"/>
            <a:ext cx="9142105" cy="1986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2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14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信创数据库需要满足当前系统的绝大多数使用场景</a:t>
            </a:r>
            <a:endParaRPr lang="en-US" altLang="zh-CN" sz="1400" kern="100" dirty="0">
              <a:solidFill>
                <a:prstClr val="black"/>
              </a:solidFill>
              <a:latin typeface="+mn-ea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2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14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信创数据库需要具备较高的迁移平滑度能力，包括元数据迁移工具、数据迁移工具，以降低系统迁移成本</a:t>
            </a:r>
            <a:endParaRPr lang="en-US" altLang="zh-CN" sz="1400" kern="100" dirty="0">
              <a:solidFill>
                <a:prstClr val="black"/>
              </a:solidFill>
              <a:latin typeface="+mn-ea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2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14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信创数据库需要尽可能复用当前系统的相关模块和设计，包括数仓模型、数据处理模块（</a:t>
            </a:r>
            <a:r>
              <a:rPr lang="en-US" altLang="zh-CN" sz="14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ETL</a:t>
            </a:r>
            <a:r>
              <a:rPr lang="zh-CN" altLang="en-US" sz="14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）、调度模块等</a:t>
            </a:r>
            <a:endParaRPr lang="en-US" altLang="zh-CN" sz="1400" kern="100" dirty="0">
              <a:solidFill>
                <a:prstClr val="black"/>
              </a:solidFill>
              <a:latin typeface="+mn-ea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2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14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信创数据库需要兼顾产品的创新性和先进性，满足系统后续升级改造的需求</a:t>
            </a:r>
            <a:endParaRPr lang="en-US" altLang="zh-CN" sz="1400" kern="100" dirty="0">
              <a:solidFill>
                <a:prstClr val="black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0835" y="851057"/>
            <a:ext cx="3674198" cy="347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42900" indent="-342900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  <a:lvl2pPr marL="0" lvl="1">
              <a:lnSpc>
                <a:spcPct val="110000"/>
              </a:lnSpc>
              <a:spcBef>
                <a:spcPts val="1540"/>
              </a:spcBef>
              <a:buSzPct val="50000"/>
              <a:defRPr sz="2000" b="1">
                <a:solidFill>
                  <a:schemeClr val="tx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</a:lstStyle>
          <a:p>
            <a:r>
              <a:rPr lang="zh-CN" altLang="en-US" sz="1665" dirty="0"/>
              <a:t>项目背景</a:t>
            </a:r>
            <a:endParaRPr lang="zh-CN" altLang="en-US" sz="1665" dirty="0"/>
          </a:p>
        </p:txBody>
      </p:sp>
      <p:sp>
        <p:nvSpPr>
          <p:cNvPr id="6" name="文本框 5"/>
          <p:cNvSpPr txBox="1"/>
          <p:nvPr/>
        </p:nvSpPr>
        <p:spPr>
          <a:xfrm>
            <a:off x="190835" y="3012316"/>
            <a:ext cx="3674198" cy="347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42900" indent="-342900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  <a:lvl2pPr marL="0" lvl="1">
              <a:lnSpc>
                <a:spcPct val="110000"/>
              </a:lnSpc>
              <a:spcBef>
                <a:spcPts val="1540"/>
              </a:spcBef>
              <a:buSzPct val="50000"/>
              <a:defRPr sz="2000" b="1">
                <a:solidFill>
                  <a:schemeClr val="tx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</a:lstStyle>
          <a:p>
            <a:r>
              <a:rPr lang="zh-CN" altLang="en-US" sz="1665" dirty="0"/>
              <a:t>选型要求</a:t>
            </a:r>
            <a:endParaRPr lang="zh-CN" altLang="en-US" sz="166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477308" y="170921"/>
            <a:ext cx="677545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sz="2000" dirty="0"/>
              <a:t>信创改造案例</a:t>
            </a:r>
            <a:r>
              <a:rPr lang="en-US" altLang="zh-CN" sz="2000" dirty="0"/>
              <a:t>1</a:t>
            </a:r>
            <a:r>
              <a:rPr lang="zh-CN" altLang="en-US" sz="2000" dirty="0"/>
              <a:t>：某金融机构信创</a:t>
            </a:r>
            <a:r>
              <a:rPr lang="en-US" altLang="zh-CN" sz="2000" dirty="0"/>
              <a:t>MPP</a:t>
            </a:r>
            <a:r>
              <a:rPr lang="zh-CN" altLang="en-US" sz="2000" dirty="0"/>
              <a:t>数据库选型</a:t>
            </a:r>
            <a:endParaRPr lang="en-US" altLang="zh-CN" sz="2000" dirty="0"/>
          </a:p>
        </p:txBody>
      </p:sp>
      <p:grpSp>
        <p:nvGrpSpPr>
          <p:cNvPr id="2" name="组合 1"/>
          <p:cNvGrpSpPr/>
          <p:nvPr/>
        </p:nvGrpSpPr>
        <p:grpSpPr>
          <a:xfrm>
            <a:off x="578638" y="1273324"/>
            <a:ext cx="8998943" cy="4032448"/>
            <a:chOff x="831103" y="1201316"/>
            <a:chExt cx="8348815" cy="4032448"/>
          </a:xfrm>
        </p:grpSpPr>
        <p:sp>
          <p:nvSpPr>
            <p:cNvPr id="8" name="矩形 7"/>
            <p:cNvSpPr/>
            <p:nvPr/>
          </p:nvSpPr>
          <p:spPr>
            <a:xfrm>
              <a:off x="834611" y="1201316"/>
              <a:ext cx="4177920" cy="3987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硬件环境（</a:t>
              </a:r>
              <a:r>
                <a:rPr lang="en-US" altLang="zh-CN" sz="1600" b="1" dirty="0">
                  <a:solidFill>
                    <a:schemeClr val="bg1"/>
                  </a:solidFill>
                </a:rPr>
                <a:t>6</a:t>
              </a:r>
              <a:r>
                <a:rPr lang="zh-CN" altLang="en-US" sz="1600" b="1" dirty="0">
                  <a:solidFill>
                    <a:schemeClr val="bg1"/>
                  </a:solidFill>
                </a:rPr>
                <a:t>台）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834612" y="1600096"/>
              <a:ext cx="4174408" cy="168945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zh-CN" altLang="en-US" sz="1400" dirty="0"/>
                <a:t>平台：</a:t>
              </a:r>
              <a:r>
                <a:rPr lang="en-US" altLang="zh-CN" sz="1400" dirty="0"/>
                <a:t>x86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altLang="zh-CN" sz="1400" dirty="0"/>
                <a:t>CPU</a:t>
              </a:r>
              <a:r>
                <a:rPr lang="zh-CN" altLang="en-US" sz="1400" dirty="0"/>
                <a:t>：海光</a:t>
              </a:r>
              <a:r>
                <a:rPr lang="en-US" altLang="zh-CN" sz="1400" dirty="0"/>
                <a:t>32-core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zh-CN" altLang="en-US" sz="1400" dirty="0"/>
                <a:t>内存：</a:t>
              </a:r>
              <a:r>
                <a:rPr lang="en-US" altLang="zh-CN" sz="1400" dirty="0"/>
                <a:t>1TB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zh-CN" altLang="en-US" sz="1400" dirty="0"/>
                <a:t>磁盘：</a:t>
              </a:r>
              <a:r>
                <a:rPr lang="en-US" altLang="zh-CN" sz="1400" dirty="0"/>
                <a:t>3.3TB</a:t>
              </a:r>
              <a:endParaRPr lang="en-US" altLang="zh-CN" sz="1400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831103" y="3289548"/>
              <a:ext cx="4181429" cy="3987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软件环境（</a:t>
              </a:r>
              <a:r>
                <a:rPr lang="en-US" altLang="zh-CN" sz="1600" b="1" dirty="0">
                  <a:solidFill>
                    <a:schemeClr val="bg1"/>
                  </a:solidFill>
                </a:rPr>
                <a:t>6</a:t>
              </a:r>
              <a:r>
                <a:rPr lang="zh-CN" altLang="en-US" sz="1600" b="1" dirty="0">
                  <a:solidFill>
                    <a:schemeClr val="bg1"/>
                  </a:solidFill>
                </a:rPr>
                <a:t>台）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834612" y="3688328"/>
              <a:ext cx="4174408" cy="154543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zh-CN" altLang="en-US" sz="1400" dirty="0"/>
                <a:t>操作系统：</a:t>
              </a:r>
              <a:r>
                <a:rPr lang="en-US" altLang="zh-CN" sz="1400" dirty="0"/>
                <a:t>Kylin-V10-SP1-20210518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zh-CN" altLang="en-US" sz="1400" dirty="0"/>
                <a:t>数据库软件：各厂商产品（华为：</a:t>
              </a:r>
              <a:r>
                <a:rPr lang="en-US" altLang="zh-CN" sz="1400" dirty="0" err="1"/>
                <a:t>GaussDB</a:t>
              </a:r>
              <a:r>
                <a:rPr lang="en-US" altLang="zh-CN" sz="1400" dirty="0"/>
                <a:t>(DWS)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8.1.3</a:t>
              </a:r>
              <a:r>
                <a:rPr lang="zh-CN" altLang="en-US" sz="1400" dirty="0"/>
                <a:t>）</a:t>
              </a:r>
              <a:endParaRPr lang="en-US" altLang="zh-CN" sz="1400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5009020" y="1201316"/>
              <a:ext cx="4170898" cy="3987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测试数据及脚本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009020" y="1600096"/>
              <a:ext cx="4170898" cy="168945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zh-CN" altLang="en-US" sz="1400" dirty="0"/>
                <a:t>业务模型：原数仓</a:t>
              </a:r>
              <a:r>
                <a:rPr lang="en-US" altLang="zh-CN" sz="1400" dirty="0"/>
                <a:t>2500+</a:t>
              </a:r>
              <a:r>
                <a:rPr lang="zh-CN" altLang="en-US" sz="1400" dirty="0"/>
                <a:t>张表及若干序列和视图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zh-CN" altLang="en-US" sz="1400" dirty="0"/>
                <a:t>业务脚本：原数仓近</a:t>
              </a:r>
              <a:r>
                <a:rPr lang="en-US" altLang="zh-CN" sz="1400" dirty="0"/>
                <a:t>1600</a:t>
              </a:r>
              <a:r>
                <a:rPr lang="zh-CN" altLang="en-US" sz="1400" dirty="0"/>
                <a:t>个存储过程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zh-CN" altLang="en-US" sz="1400" dirty="0"/>
                <a:t>业务数据：原数仓导出</a:t>
              </a:r>
              <a:r>
                <a:rPr lang="en-US" altLang="zh-CN" sz="1400" dirty="0"/>
                <a:t>CSV</a:t>
              </a:r>
              <a:r>
                <a:rPr lang="zh-CN" altLang="en-US" sz="1400" dirty="0"/>
                <a:t>格式约</a:t>
              </a:r>
              <a:r>
                <a:rPr lang="en-US" altLang="zh-CN" sz="1400" dirty="0"/>
                <a:t>1TB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altLang="zh-CN" sz="1400" dirty="0"/>
                <a:t>TPC-H</a:t>
              </a:r>
              <a:r>
                <a:rPr lang="zh-CN" altLang="en-US" sz="1400" dirty="0"/>
                <a:t>模型：</a:t>
              </a:r>
              <a:r>
                <a:rPr lang="en-US" altLang="zh-CN" sz="1400" dirty="0"/>
                <a:t>8</a:t>
              </a:r>
              <a:r>
                <a:rPr lang="zh-CN" altLang="en-US" sz="1400" dirty="0"/>
                <a:t>张表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altLang="zh-CN" sz="1400" dirty="0"/>
                <a:t>TPC-H</a:t>
              </a:r>
              <a:r>
                <a:rPr lang="zh-CN" altLang="en-US" sz="1400" dirty="0"/>
                <a:t>查询：</a:t>
              </a:r>
              <a:r>
                <a:rPr lang="en-US" altLang="zh-CN" sz="1400" dirty="0"/>
                <a:t>22</a:t>
              </a:r>
              <a:r>
                <a:rPr lang="zh-CN" altLang="en-US" sz="1400" dirty="0"/>
                <a:t>个查询</a:t>
              </a:r>
              <a:r>
                <a:rPr lang="en-US" altLang="zh-CN" sz="1400" dirty="0"/>
                <a:t>SQL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altLang="zh-CN" sz="1400" dirty="0"/>
                <a:t>TPC-H</a:t>
              </a:r>
              <a:r>
                <a:rPr lang="zh-CN" altLang="en-US" sz="1400" dirty="0"/>
                <a:t>数据：</a:t>
              </a:r>
              <a:r>
                <a:rPr lang="en-US" altLang="zh-CN" sz="1400" dirty="0"/>
                <a:t>3TB</a:t>
              </a:r>
              <a:endParaRPr lang="en-US" altLang="zh-CN" sz="1400" dirty="0"/>
            </a:p>
          </p:txBody>
        </p:sp>
        <p:sp>
          <p:nvSpPr>
            <p:cNvPr id="19" name="矩形 18"/>
            <p:cNvSpPr/>
            <p:nvPr/>
          </p:nvSpPr>
          <p:spPr>
            <a:xfrm>
              <a:off x="5012529" y="3289548"/>
              <a:ext cx="4167385" cy="3987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测试分类及方法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5012530" y="3688328"/>
              <a:ext cx="4167384" cy="154543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zh-CN" altLang="en-US" sz="1400" dirty="0"/>
                <a:t>基于功能模块的测试用例：厂商自行编写测试脚本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zh-CN" altLang="en-US" sz="1400" dirty="0"/>
                <a:t>基于业务场景的测试用例：除语法兼容外，使用自动转换工具实现脚本转换，主体逻辑保持不变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altLang="zh-CN" sz="1400" dirty="0"/>
                <a:t>TPC-H</a:t>
              </a:r>
              <a:r>
                <a:rPr lang="zh-CN" altLang="en-US" sz="1400" dirty="0"/>
                <a:t>测试用例：除语法兼容外，其余保持不变</a:t>
              </a:r>
              <a:endParaRPr lang="en-US" altLang="zh-CN" sz="1400" dirty="0"/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190835" y="851057"/>
            <a:ext cx="3674198" cy="347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42900" indent="-342900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  <a:lvl2pPr marL="0" lvl="1">
              <a:lnSpc>
                <a:spcPct val="110000"/>
              </a:lnSpc>
              <a:spcBef>
                <a:spcPts val="1540"/>
              </a:spcBef>
              <a:buSzPct val="50000"/>
              <a:defRPr sz="2000" b="1">
                <a:solidFill>
                  <a:schemeClr val="tx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</a:lstStyle>
          <a:p>
            <a:r>
              <a:rPr lang="zh-CN" altLang="en-US" sz="1665" dirty="0"/>
              <a:t>测试环境和方法</a:t>
            </a:r>
            <a:endParaRPr lang="zh-CN" altLang="en-US" sz="166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477308" y="170921"/>
            <a:ext cx="677545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sz="2000" dirty="0"/>
              <a:t>信创改造案例</a:t>
            </a:r>
            <a:r>
              <a:rPr lang="en-US" altLang="zh-CN" sz="2000" dirty="0"/>
              <a:t>1</a:t>
            </a:r>
            <a:r>
              <a:rPr lang="zh-CN" altLang="en-US" sz="2000" dirty="0"/>
              <a:t>：某金融机构信创</a:t>
            </a:r>
            <a:r>
              <a:rPr lang="en-US" altLang="zh-CN" sz="2000" dirty="0"/>
              <a:t>MPP</a:t>
            </a:r>
            <a:r>
              <a:rPr lang="zh-CN" altLang="en-US" sz="2000" dirty="0"/>
              <a:t>数据库选型</a:t>
            </a:r>
            <a:endParaRPr lang="en-US" altLang="zh-CN" sz="2000" dirty="0"/>
          </a:p>
        </p:txBody>
      </p:sp>
      <p:grpSp>
        <p:nvGrpSpPr>
          <p:cNvPr id="20" name="组合 19"/>
          <p:cNvGrpSpPr/>
          <p:nvPr/>
        </p:nvGrpSpPr>
        <p:grpSpPr>
          <a:xfrm>
            <a:off x="578635" y="1273324"/>
            <a:ext cx="9002729" cy="4032448"/>
            <a:chOff x="831100" y="1201316"/>
            <a:chExt cx="8352328" cy="4032448"/>
          </a:xfrm>
        </p:grpSpPr>
        <p:sp>
          <p:nvSpPr>
            <p:cNvPr id="2" name="矩形 1"/>
            <p:cNvSpPr/>
            <p:nvPr/>
          </p:nvSpPr>
          <p:spPr>
            <a:xfrm>
              <a:off x="2921816" y="1600096"/>
              <a:ext cx="2087204" cy="363366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外部表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列存表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范围分区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列表分区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分区卸载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全文检索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驱动支持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日志分析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资源分配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altLang="zh-CN" sz="1400" dirty="0" err="1"/>
                <a:t>sql</a:t>
              </a:r>
              <a:r>
                <a:rPr lang="zh-CN" altLang="en-US" sz="1400" dirty="0"/>
                <a:t>性能自诊断</a:t>
              </a:r>
              <a:endParaRPr lang="zh-CN" altLang="en-US" sz="1400" dirty="0"/>
            </a:p>
          </p:txBody>
        </p:sp>
        <p:sp>
          <p:nvSpPr>
            <p:cNvPr id="3" name="矩形 2"/>
            <p:cNvSpPr/>
            <p:nvPr/>
          </p:nvSpPr>
          <p:spPr>
            <a:xfrm>
              <a:off x="2921816" y="1201316"/>
              <a:ext cx="2087204" cy="3987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高级功能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834612" y="1201316"/>
              <a:ext cx="2087204" cy="3987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基础功能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834612" y="1600096"/>
              <a:ext cx="2087204" cy="197748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数据定义语言</a:t>
              </a:r>
              <a:r>
                <a:rPr lang="en-US" altLang="zh-CN" sz="1400" dirty="0"/>
                <a:t>DDL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数据模型变更验证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数据操作语言</a:t>
              </a:r>
              <a:r>
                <a:rPr lang="en-US" altLang="zh-CN" sz="1400" dirty="0"/>
                <a:t>DML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数据控制语言</a:t>
              </a:r>
              <a:r>
                <a:rPr lang="en-US" altLang="zh-CN" sz="1400" dirty="0"/>
                <a:t>DCL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基本数据类型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全局序列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表连接和子查询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常用系统函数</a:t>
              </a:r>
              <a:endParaRPr lang="zh-CN" altLang="en-US" sz="1400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831100" y="3577580"/>
              <a:ext cx="2094227" cy="3987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事务支持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834612" y="3976360"/>
              <a:ext cx="2087204" cy="125740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事务提交</a:t>
              </a:r>
              <a:r>
                <a:rPr lang="en-US" altLang="zh-CN" sz="1400" dirty="0"/>
                <a:t>/</a:t>
              </a:r>
              <a:r>
                <a:rPr lang="zh-CN" altLang="en-US" sz="1400" dirty="0"/>
                <a:t>回滚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读提交支持能力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行级锁</a:t>
              </a:r>
              <a:endParaRPr lang="en-US" altLang="zh-CN" sz="1400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5009020" y="1201316"/>
              <a:ext cx="2087204" cy="3987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性能测试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5009020" y="1600096"/>
              <a:ext cx="2087204" cy="197748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数据装载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数据压缩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备份还原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并发能力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业务场景验证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altLang="zh-CN" sz="1400" dirty="0"/>
                <a:t>TPC-H</a:t>
              </a:r>
              <a:r>
                <a:rPr lang="zh-CN" altLang="en-US" sz="1400" dirty="0"/>
                <a:t>基准测试</a:t>
              </a:r>
              <a:endParaRPr lang="en-US" altLang="zh-CN" sz="1400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7096224" y="3577580"/>
              <a:ext cx="2087204" cy="3987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可靠性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7096224" y="3976360"/>
              <a:ext cx="2087204" cy="125740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管理节点故障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数据节点故障切换</a:t>
              </a:r>
              <a:endParaRPr lang="en-US" altLang="zh-CN" sz="1400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7096224" y="1201316"/>
              <a:ext cx="2087204" cy="3987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兼容性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7096224" y="1600096"/>
              <a:ext cx="2087204" cy="197748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数仓模型自动转换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存储过程自动转换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数据迁移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第三方</a:t>
              </a:r>
              <a:r>
                <a:rPr lang="en-US" altLang="zh-CN" sz="1400" dirty="0"/>
                <a:t>BI</a:t>
              </a:r>
              <a:r>
                <a:rPr lang="zh-CN" altLang="en-US" sz="1400" dirty="0"/>
                <a:t>工具兼容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第三方客户端兼容</a:t>
              </a:r>
              <a:endParaRPr lang="zh-CN" altLang="en-US" sz="1400" dirty="0"/>
            </a:p>
          </p:txBody>
        </p:sp>
        <p:sp>
          <p:nvSpPr>
            <p:cNvPr id="17" name="矩形 16"/>
            <p:cNvSpPr/>
            <p:nvPr/>
          </p:nvSpPr>
          <p:spPr>
            <a:xfrm>
              <a:off x="5012531" y="3577580"/>
              <a:ext cx="2087204" cy="3987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运维监控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5012531" y="3976360"/>
              <a:ext cx="2087204" cy="125740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集群总览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主机监控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告警信息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运维助手</a:t>
              </a:r>
              <a:endParaRPr lang="en-US" altLang="zh-CN" sz="1400" dirty="0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190835" y="851057"/>
            <a:ext cx="3674198" cy="347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42900" indent="-342900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  <a:lvl2pPr marL="0" lvl="1">
              <a:lnSpc>
                <a:spcPct val="110000"/>
              </a:lnSpc>
              <a:spcBef>
                <a:spcPts val="1540"/>
              </a:spcBef>
              <a:buSzPct val="50000"/>
              <a:defRPr sz="2000" b="1">
                <a:solidFill>
                  <a:schemeClr val="tx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</a:lstStyle>
          <a:p>
            <a:r>
              <a:rPr lang="zh-CN" altLang="en-US" sz="1665" dirty="0"/>
              <a:t>测试大纲</a:t>
            </a:r>
            <a:endParaRPr lang="zh-CN" altLang="en-US" sz="166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477308" y="170921"/>
            <a:ext cx="677545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sz="2000" dirty="0"/>
              <a:t>信创改造案例</a:t>
            </a:r>
            <a:r>
              <a:rPr lang="en-US" altLang="zh-CN" sz="2000" dirty="0"/>
              <a:t>1</a:t>
            </a:r>
            <a:r>
              <a:rPr lang="zh-CN" altLang="en-US" sz="2000" dirty="0"/>
              <a:t>：某金融机构信创</a:t>
            </a:r>
            <a:r>
              <a:rPr lang="en-US" altLang="zh-CN" sz="2000" dirty="0"/>
              <a:t>MPP</a:t>
            </a:r>
            <a:r>
              <a:rPr lang="zh-CN" altLang="en-US" sz="2000" dirty="0"/>
              <a:t>数据库选型</a:t>
            </a:r>
            <a:endParaRPr lang="en-US" altLang="zh-CN" sz="2000" dirty="0"/>
          </a:p>
        </p:txBody>
      </p:sp>
      <p:sp>
        <p:nvSpPr>
          <p:cNvPr id="23" name="文本框 22"/>
          <p:cNvSpPr txBox="1"/>
          <p:nvPr/>
        </p:nvSpPr>
        <p:spPr>
          <a:xfrm>
            <a:off x="190834" y="851057"/>
            <a:ext cx="5609245" cy="348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42900" indent="-342900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  <a:lvl2pPr marL="0" lvl="1">
              <a:lnSpc>
                <a:spcPct val="110000"/>
              </a:lnSpc>
              <a:spcBef>
                <a:spcPts val="1540"/>
              </a:spcBef>
              <a:buSzPct val="50000"/>
              <a:defRPr sz="2000" b="1">
                <a:solidFill>
                  <a:schemeClr val="tx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</a:lstStyle>
          <a:p>
            <a:r>
              <a:rPr lang="zh-CN" altLang="en-US" sz="1665" dirty="0"/>
              <a:t>测试总结</a:t>
            </a:r>
            <a:endParaRPr lang="zh-CN" altLang="en-US" sz="1665" dirty="0"/>
          </a:p>
        </p:txBody>
      </p:sp>
      <p:grpSp>
        <p:nvGrpSpPr>
          <p:cNvPr id="7" name="组合 6"/>
          <p:cNvGrpSpPr/>
          <p:nvPr/>
        </p:nvGrpSpPr>
        <p:grpSpPr>
          <a:xfrm>
            <a:off x="327472" y="1199614"/>
            <a:ext cx="9505056" cy="4183341"/>
            <a:chOff x="327472" y="1199614"/>
            <a:chExt cx="9505056" cy="4183341"/>
          </a:xfrm>
        </p:grpSpPr>
        <p:sp>
          <p:nvSpPr>
            <p:cNvPr id="2" name="矩形 1"/>
            <p:cNvSpPr/>
            <p:nvPr/>
          </p:nvSpPr>
          <p:spPr>
            <a:xfrm>
              <a:off x="327472" y="4153644"/>
              <a:ext cx="9505056" cy="12293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根据以上测试结果，可以知道：</a:t>
              </a:r>
              <a:endParaRPr lang="zh-CN" altLang="en-US" sz="12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endParaRPr>
            </a:p>
            <a:p>
              <a:pPr marL="171450" lvl="0" indent="-171450" algn="just">
                <a:lnSpc>
                  <a:spcPct val="125000"/>
                </a:lnSpc>
                <a:spcBef>
                  <a:spcPts val="600"/>
                </a:spcBef>
                <a:buFont typeface="Wingdings" panose="05000000000000000000" pitchFamily="2" charset="2"/>
                <a:buChar char="Ø"/>
                <a:defRPr/>
              </a:pP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在主要功能方面，</a:t>
              </a:r>
              <a:r>
                <a:rPr lang="en-US" altLang="zh-CN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DWS</a:t>
              </a: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、厂商</a:t>
              </a:r>
              <a:r>
                <a:rPr lang="en-US" altLang="zh-CN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1</a:t>
              </a: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、厂商</a:t>
              </a:r>
              <a:r>
                <a:rPr lang="en-US" altLang="zh-CN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2</a:t>
              </a: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的表现较好，事务支持更完整，兼容性更高（迁移更平滑）；</a:t>
              </a:r>
              <a:endParaRPr lang="zh-CN" altLang="en-US" sz="12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endParaRPr>
            </a:p>
            <a:p>
              <a:pPr marL="171450" lvl="0" indent="-171450" algn="just">
                <a:lnSpc>
                  <a:spcPct val="125000"/>
                </a:lnSpc>
                <a:spcBef>
                  <a:spcPts val="600"/>
                </a:spcBef>
                <a:buFont typeface="Wingdings" panose="05000000000000000000" pitchFamily="2" charset="2"/>
                <a:buChar char="Ø"/>
                <a:defRPr/>
              </a:pP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在主要性能方面，</a:t>
              </a:r>
              <a:r>
                <a:rPr lang="en-US" altLang="zh-CN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DWS</a:t>
              </a: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和厂商</a:t>
              </a:r>
              <a:r>
                <a:rPr lang="en-US" altLang="zh-CN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3</a:t>
              </a: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的表现相较其他厂商更为突出一些，尤其是</a:t>
              </a:r>
              <a:r>
                <a:rPr lang="en-US" altLang="zh-CN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TPC-H</a:t>
              </a: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、业务场景、数据装载和并发查询方面；</a:t>
              </a:r>
              <a:endParaRPr lang="zh-CN" altLang="en-US" sz="12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endParaRPr>
            </a:p>
            <a:p>
              <a:pPr lvl="0" algn="just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综合功能和性能的结果，结合实际的需求场景，</a:t>
              </a:r>
              <a:r>
                <a:rPr lang="zh-CN" altLang="en-US" sz="1200" b="1" kern="100" dirty="0">
                  <a:solidFill>
                    <a:schemeClr val="tx2"/>
                  </a:solidFill>
                  <a:latin typeface="+mn-ea"/>
                  <a:cs typeface="Times New Roman" panose="02020603050405020304" pitchFamily="18" charset="0"/>
                </a:rPr>
                <a:t>本次信创</a:t>
              </a:r>
              <a:r>
                <a:rPr lang="en-US" altLang="zh-CN" sz="1200" b="1" kern="100" dirty="0">
                  <a:solidFill>
                    <a:schemeClr val="tx2"/>
                  </a:solidFill>
                  <a:latin typeface="+mn-ea"/>
                  <a:cs typeface="Times New Roman" panose="02020603050405020304" pitchFamily="18" charset="0"/>
                </a:rPr>
                <a:t>MPP</a:t>
              </a:r>
              <a:r>
                <a:rPr lang="zh-CN" altLang="en-US" sz="1200" b="1" kern="100" dirty="0">
                  <a:solidFill>
                    <a:schemeClr val="tx2"/>
                  </a:solidFill>
                  <a:latin typeface="+mn-ea"/>
                  <a:cs typeface="Times New Roman" panose="02020603050405020304" pitchFamily="18" charset="0"/>
                </a:rPr>
                <a:t>数据库选型推荐使用</a:t>
              </a:r>
              <a:r>
                <a:rPr lang="en-US" altLang="zh-CN" sz="1200" b="1" kern="100" dirty="0">
                  <a:solidFill>
                    <a:schemeClr val="tx2"/>
                  </a:solidFill>
                  <a:latin typeface="+mn-ea"/>
                  <a:cs typeface="Times New Roman" panose="02020603050405020304" pitchFamily="18" charset="0"/>
                </a:rPr>
                <a:t>DWS</a:t>
              </a: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。</a:t>
              </a:r>
              <a:endParaRPr lang="zh-CN" altLang="en-US" sz="12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718613" y="1199614"/>
              <a:ext cx="3835342" cy="2954030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472" y="1199614"/>
              <a:ext cx="5256584" cy="295402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477308" y="170921"/>
            <a:ext cx="677545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sz="2000" dirty="0"/>
              <a:t>信创改造案例</a:t>
            </a:r>
            <a:r>
              <a:rPr lang="en-US" altLang="zh-CN" sz="2000" dirty="0"/>
              <a:t>1</a:t>
            </a:r>
            <a:r>
              <a:rPr lang="zh-CN" altLang="en-US" sz="2000" dirty="0"/>
              <a:t>：某金融机构信创</a:t>
            </a:r>
            <a:r>
              <a:rPr lang="en-US" altLang="zh-CN" sz="2000" dirty="0"/>
              <a:t>MPP</a:t>
            </a:r>
            <a:r>
              <a:rPr lang="zh-CN" altLang="en-US" sz="2000" dirty="0"/>
              <a:t>数据库选型</a:t>
            </a:r>
            <a:endParaRPr lang="en-US" altLang="zh-CN" sz="2000" dirty="0"/>
          </a:p>
        </p:txBody>
      </p:sp>
      <p:sp>
        <p:nvSpPr>
          <p:cNvPr id="23" name="文本框 22"/>
          <p:cNvSpPr txBox="1"/>
          <p:nvPr/>
        </p:nvSpPr>
        <p:spPr>
          <a:xfrm>
            <a:off x="190834" y="851057"/>
            <a:ext cx="5609245" cy="348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42900" indent="-342900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  <a:lvl2pPr marL="0" lvl="1">
              <a:lnSpc>
                <a:spcPct val="110000"/>
              </a:lnSpc>
              <a:spcBef>
                <a:spcPts val="1540"/>
              </a:spcBef>
              <a:buSzPct val="50000"/>
              <a:defRPr sz="2000" b="1">
                <a:solidFill>
                  <a:schemeClr val="tx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</a:lstStyle>
          <a:p>
            <a:r>
              <a:rPr lang="zh-CN" altLang="en-US" sz="1665" dirty="0"/>
              <a:t>测试总结</a:t>
            </a:r>
            <a:endParaRPr lang="zh-CN" altLang="en-US" sz="1665" dirty="0"/>
          </a:p>
        </p:txBody>
      </p:sp>
      <p:grpSp>
        <p:nvGrpSpPr>
          <p:cNvPr id="8" name="组合 7"/>
          <p:cNvGrpSpPr/>
          <p:nvPr/>
        </p:nvGrpSpPr>
        <p:grpSpPr>
          <a:xfrm>
            <a:off x="322160" y="1199614"/>
            <a:ext cx="9515680" cy="4183341"/>
            <a:chOff x="322160" y="1199614"/>
            <a:chExt cx="9515680" cy="4183341"/>
          </a:xfrm>
        </p:grpSpPr>
        <p:sp>
          <p:nvSpPr>
            <p:cNvPr id="2" name="矩形 1"/>
            <p:cNvSpPr/>
            <p:nvPr/>
          </p:nvSpPr>
          <p:spPr>
            <a:xfrm>
              <a:off x="322160" y="4153644"/>
              <a:ext cx="9515680" cy="12293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根据以上测试结果，可以知道：</a:t>
              </a:r>
              <a:endParaRPr lang="zh-CN" altLang="en-US" sz="12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endParaRPr>
            </a:p>
            <a:p>
              <a:pPr marL="171450" lvl="0" indent="-171450" algn="just">
                <a:lnSpc>
                  <a:spcPct val="125000"/>
                </a:lnSpc>
                <a:spcBef>
                  <a:spcPts val="600"/>
                </a:spcBef>
                <a:buFont typeface="Wingdings" panose="05000000000000000000" pitchFamily="2" charset="2"/>
                <a:buChar char="Ø"/>
                <a:defRPr/>
              </a:pP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在主要功能方面，</a:t>
              </a:r>
              <a:r>
                <a:rPr lang="en-US" altLang="zh-CN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DWS</a:t>
              </a: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、厂商</a:t>
              </a:r>
              <a:r>
                <a:rPr lang="en-US" altLang="zh-CN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1</a:t>
              </a: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、厂商</a:t>
              </a:r>
              <a:r>
                <a:rPr lang="en-US" altLang="zh-CN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2</a:t>
              </a: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的表现较好，事务支持更完整，兼容性更高；</a:t>
              </a:r>
              <a:endParaRPr lang="zh-CN" altLang="en-US" sz="12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endParaRPr>
            </a:p>
            <a:p>
              <a:pPr marL="171450" lvl="0" indent="-171450" algn="just">
                <a:lnSpc>
                  <a:spcPct val="125000"/>
                </a:lnSpc>
                <a:spcBef>
                  <a:spcPts val="600"/>
                </a:spcBef>
                <a:buFont typeface="Wingdings" panose="05000000000000000000" pitchFamily="2" charset="2"/>
                <a:buChar char="Ø"/>
                <a:defRPr/>
              </a:pP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在主要性能方面，</a:t>
              </a:r>
              <a:r>
                <a:rPr lang="en-US" altLang="zh-CN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DWS</a:t>
              </a: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和厂商</a:t>
              </a:r>
              <a:r>
                <a:rPr lang="en-US" altLang="zh-CN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3</a:t>
              </a: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的表现相较其他厂商更为突出一些，尤其是</a:t>
              </a:r>
              <a:r>
                <a:rPr lang="en-US" altLang="zh-CN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TPC-H</a:t>
              </a: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、业务场景、数据装载和并发查询方面；</a:t>
              </a:r>
              <a:endParaRPr lang="zh-CN" altLang="en-US" sz="12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endParaRPr>
            </a:p>
            <a:p>
              <a:pPr lvl="0" algn="just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综合功能和性能的结果，结合实际的需求场景，</a:t>
              </a:r>
              <a:r>
                <a:rPr lang="zh-CN" altLang="en-US" sz="1200" b="1" kern="100" dirty="0">
                  <a:solidFill>
                    <a:schemeClr val="tx2"/>
                  </a:solidFill>
                  <a:latin typeface="+mn-ea"/>
                  <a:cs typeface="Times New Roman" panose="02020603050405020304" pitchFamily="18" charset="0"/>
                </a:rPr>
                <a:t>本次信创</a:t>
              </a:r>
              <a:r>
                <a:rPr lang="en-US" altLang="zh-CN" sz="1200" b="1" kern="100" dirty="0">
                  <a:solidFill>
                    <a:schemeClr val="tx2"/>
                  </a:solidFill>
                  <a:latin typeface="+mn-ea"/>
                  <a:cs typeface="Times New Roman" panose="02020603050405020304" pitchFamily="18" charset="0"/>
                </a:rPr>
                <a:t>MPP</a:t>
              </a:r>
              <a:r>
                <a:rPr lang="zh-CN" altLang="en-US" sz="1200" b="1" kern="100" dirty="0">
                  <a:solidFill>
                    <a:schemeClr val="tx2"/>
                  </a:solidFill>
                  <a:latin typeface="+mn-ea"/>
                  <a:cs typeface="Times New Roman" panose="02020603050405020304" pitchFamily="18" charset="0"/>
                </a:rPr>
                <a:t>数据库选型推荐使用</a:t>
              </a:r>
              <a:r>
                <a:rPr lang="en-US" altLang="zh-CN" sz="1200" b="1" kern="100" dirty="0">
                  <a:solidFill>
                    <a:schemeClr val="tx2"/>
                  </a:solidFill>
                  <a:latin typeface="+mn-ea"/>
                  <a:cs typeface="Times New Roman" panose="02020603050405020304" pitchFamily="18" charset="0"/>
                </a:rPr>
                <a:t>DWS</a:t>
              </a: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。</a:t>
              </a:r>
              <a:endParaRPr lang="zh-CN" altLang="en-US" sz="12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图表 2"/>
            <p:cNvGraphicFramePr/>
            <p:nvPr/>
          </p:nvGraphicFramePr>
          <p:xfrm>
            <a:off x="322160" y="1199614"/>
            <a:ext cx="5346594" cy="295403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856972" y="1242171"/>
              <a:ext cx="3835342" cy="2868916"/>
            </a:xfrm>
            <a:prstGeom prst="rect">
              <a:avLst/>
            </a:prstGeom>
          </p:spPr>
        </p:pic>
      </p:grpSp>
      <p:grpSp>
        <p:nvGrpSpPr>
          <p:cNvPr id="4" name="组合 3"/>
          <p:cNvGrpSpPr/>
          <p:nvPr/>
        </p:nvGrpSpPr>
        <p:grpSpPr>
          <a:xfrm>
            <a:off x="-282921" y="0"/>
            <a:ext cx="2266577" cy="1977484"/>
            <a:chOff x="-314695" y="0"/>
            <a:chExt cx="2266577" cy="1977484"/>
          </a:xfrm>
        </p:grpSpPr>
        <p:sp>
          <p:nvSpPr>
            <p:cNvPr id="5" name="斜纹 4"/>
            <p:cNvSpPr/>
            <p:nvPr/>
          </p:nvSpPr>
          <p:spPr>
            <a:xfrm>
              <a:off x="-20148" y="0"/>
              <a:ext cx="1972030" cy="1977484"/>
            </a:xfrm>
            <a:prstGeom prst="diagStrip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 rot="18925377">
              <a:off x="-314695" y="602728"/>
              <a:ext cx="21690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tx2"/>
                  </a:solidFill>
                </a:rPr>
                <a:t>与上一页相同内容！</a:t>
              </a:r>
              <a:endParaRPr lang="zh-CN" altLang="en-US" sz="1600" dirty="0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477308" y="170921"/>
            <a:ext cx="677545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sz="2000" dirty="0"/>
              <a:t>信创改造案例</a:t>
            </a:r>
            <a:r>
              <a:rPr lang="en-US" altLang="zh-CN" sz="2000" dirty="0"/>
              <a:t>1</a:t>
            </a:r>
            <a:r>
              <a:rPr lang="zh-CN" altLang="en-US" sz="2000" dirty="0"/>
              <a:t>：某金融机构信创</a:t>
            </a:r>
            <a:r>
              <a:rPr lang="en-US" altLang="zh-CN" sz="2000" dirty="0"/>
              <a:t>MPP</a:t>
            </a:r>
            <a:r>
              <a:rPr lang="zh-CN" altLang="en-US" sz="2000" dirty="0"/>
              <a:t>数据库选型</a:t>
            </a:r>
            <a:endParaRPr lang="en-US" altLang="zh-CN" sz="2000" dirty="0"/>
          </a:p>
        </p:txBody>
      </p:sp>
      <p:grpSp>
        <p:nvGrpSpPr>
          <p:cNvPr id="20" name="组合 19"/>
          <p:cNvGrpSpPr/>
          <p:nvPr/>
        </p:nvGrpSpPr>
        <p:grpSpPr>
          <a:xfrm>
            <a:off x="578635" y="1273324"/>
            <a:ext cx="9002729" cy="4032448"/>
            <a:chOff x="831100" y="1201316"/>
            <a:chExt cx="8352328" cy="4032448"/>
          </a:xfrm>
        </p:grpSpPr>
        <p:sp>
          <p:nvSpPr>
            <p:cNvPr id="2" name="矩形 1"/>
            <p:cNvSpPr/>
            <p:nvPr/>
          </p:nvSpPr>
          <p:spPr>
            <a:xfrm>
              <a:off x="2921816" y="1600096"/>
              <a:ext cx="2087204" cy="363366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数据装载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范围分区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列表分区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分区卸载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外部表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列存表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业务场景验证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数据压缩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altLang="zh-CN" sz="1400" dirty="0"/>
                <a:t>UDF</a:t>
              </a:r>
              <a:r>
                <a:rPr lang="zh-CN" altLang="en-US" sz="1400" dirty="0"/>
                <a:t>开发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驱动支持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日志分析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并发能力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资源分配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全文检索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altLang="zh-CN" sz="1400" dirty="0" err="1"/>
                <a:t>sql</a:t>
              </a:r>
              <a:r>
                <a:rPr lang="zh-CN" altLang="en-US" sz="1400" dirty="0"/>
                <a:t>性能诊断</a:t>
              </a:r>
              <a:endParaRPr lang="zh-CN" altLang="en-US" sz="1400" dirty="0"/>
            </a:p>
          </p:txBody>
        </p:sp>
        <p:sp>
          <p:nvSpPr>
            <p:cNvPr id="3" name="矩形 2"/>
            <p:cNvSpPr/>
            <p:nvPr/>
          </p:nvSpPr>
          <p:spPr>
            <a:xfrm>
              <a:off x="2921816" y="1201316"/>
              <a:ext cx="2087204" cy="3987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高级功能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834612" y="1201316"/>
              <a:ext cx="2087204" cy="3987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基本功能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834612" y="1600096"/>
              <a:ext cx="2087204" cy="197748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数据定义语言</a:t>
              </a:r>
              <a:r>
                <a:rPr lang="en-US" altLang="zh-CN" sz="1400" dirty="0"/>
                <a:t>DDL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数据模型变更验证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数据操作语言</a:t>
              </a:r>
              <a:r>
                <a:rPr lang="en-US" altLang="zh-CN" sz="1400" dirty="0"/>
                <a:t>DML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数据控制语言</a:t>
              </a:r>
              <a:r>
                <a:rPr lang="en-US" altLang="zh-CN" sz="1400" dirty="0"/>
                <a:t>DCL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基本数据类型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全局序列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表连接和子查询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常用系统函数</a:t>
              </a:r>
              <a:endParaRPr lang="zh-CN" altLang="en-US" sz="1400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831100" y="3577580"/>
              <a:ext cx="2094227" cy="3987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事务支持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834612" y="3976360"/>
              <a:ext cx="2087204" cy="125740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事务提交</a:t>
              </a:r>
              <a:r>
                <a:rPr lang="en-US" altLang="zh-CN" sz="1400" dirty="0"/>
                <a:t>/</a:t>
              </a:r>
              <a:r>
                <a:rPr lang="zh-CN" altLang="en-US" sz="1400" dirty="0"/>
                <a:t>回滚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读提交支持能力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行级锁</a:t>
              </a:r>
              <a:endParaRPr lang="en-US" altLang="zh-CN" sz="1400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5009020" y="1201316"/>
              <a:ext cx="2087204" cy="3987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系统迁移能力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5009020" y="1600096"/>
              <a:ext cx="2087204" cy="197748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altLang="zh-CN" sz="1400" dirty="0"/>
                <a:t>DDL</a:t>
              </a:r>
              <a:r>
                <a:rPr lang="zh-CN" altLang="en-US" sz="1400" dirty="0"/>
                <a:t>自动转换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存储过程自动转换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数据迁移</a:t>
              </a:r>
              <a:endParaRPr lang="zh-CN" altLang="en-US" sz="1400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7096224" y="3577580"/>
              <a:ext cx="2087204" cy="3987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可靠性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7096224" y="3976360"/>
              <a:ext cx="2087204" cy="125740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管理节点故障切换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数据节点故障切换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备份还原</a:t>
              </a:r>
              <a:endParaRPr lang="en-US" altLang="zh-CN" sz="1400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7096224" y="1201316"/>
              <a:ext cx="2087204" cy="3987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运维管理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7096224" y="1600096"/>
              <a:ext cx="2087204" cy="197748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图形化运维监控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监控指标查询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第三方客户端兼容</a:t>
              </a:r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400" dirty="0"/>
                <a:t>第三方</a:t>
              </a:r>
              <a:r>
                <a:rPr lang="en-US" altLang="zh-CN" sz="1400" dirty="0"/>
                <a:t>BI</a:t>
              </a:r>
              <a:r>
                <a:rPr lang="zh-CN" altLang="en-US" sz="1400" dirty="0"/>
                <a:t>工具兼容</a:t>
              </a:r>
              <a:endParaRPr lang="en-US" altLang="zh-CN" sz="1400" dirty="0"/>
            </a:p>
          </p:txBody>
        </p:sp>
        <p:sp>
          <p:nvSpPr>
            <p:cNvPr id="17" name="矩形 16"/>
            <p:cNvSpPr/>
            <p:nvPr/>
          </p:nvSpPr>
          <p:spPr>
            <a:xfrm>
              <a:off x="5012531" y="3577580"/>
              <a:ext cx="2087204" cy="3987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bg1"/>
                  </a:solidFill>
                </a:rPr>
                <a:t>TPC-H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5012531" y="3976360"/>
              <a:ext cx="2087204" cy="125740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en-US" altLang="zh-CN" sz="1400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altLang="zh-CN" sz="1400" dirty="0"/>
                <a:t>TPC-H</a:t>
              </a:r>
              <a:r>
                <a:rPr lang="zh-CN" altLang="en-US" sz="1400" dirty="0"/>
                <a:t>标准指标</a:t>
              </a:r>
              <a:endParaRPr lang="en-US" altLang="zh-CN" sz="1400" dirty="0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190835" y="851057"/>
            <a:ext cx="3674198" cy="347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42900" indent="-342900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  <a:lvl2pPr marL="0" lvl="1">
              <a:lnSpc>
                <a:spcPct val="110000"/>
              </a:lnSpc>
              <a:spcBef>
                <a:spcPts val="1540"/>
              </a:spcBef>
              <a:buSzPct val="50000"/>
              <a:defRPr sz="2000" b="1">
                <a:solidFill>
                  <a:schemeClr val="tx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</a:lstStyle>
          <a:p>
            <a:r>
              <a:rPr lang="zh-CN" altLang="en-US" sz="1665" dirty="0"/>
              <a:t>测试大纲</a:t>
            </a:r>
            <a:endParaRPr lang="zh-CN" altLang="en-US" sz="1665" dirty="0"/>
          </a:p>
        </p:txBody>
      </p:sp>
      <p:grpSp>
        <p:nvGrpSpPr>
          <p:cNvPr id="21" name="组合 20"/>
          <p:cNvGrpSpPr/>
          <p:nvPr/>
        </p:nvGrpSpPr>
        <p:grpSpPr>
          <a:xfrm>
            <a:off x="-282921" y="0"/>
            <a:ext cx="2266577" cy="1977484"/>
            <a:chOff x="-314695" y="0"/>
            <a:chExt cx="2266577" cy="1977484"/>
          </a:xfrm>
        </p:grpSpPr>
        <p:sp>
          <p:nvSpPr>
            <p:cNvPr id="14" name="斜纹 13"/>
            <p:cNvSpPr/>
            <p:nvPr/>
          </p:nvSpPr>
          <p:spPr>
            <a:xfrm>
              <a:off x="-20148" y="0"/>
              <a:ext cx="1972030" cy="1977484"/>
            </a:xfrm>
            <a:prstGeom prst="diagStrip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 rot="18925377">
              <a:off x="-314695" y="602728"/>
              <a:ext cx="21690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tx2"/>
                  </a:solidFill>
                </a:rPr>
                <a:t>本页案例慎用！</a:t>
              </a:r>
              <a:endParaRPr lang="zh-CN" altLang="en-US" sz="1600" dirty="0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477308" y="170921"/>
            <a:ext cx="677545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sz="2000" dirty="0"/>
              <a:t>信创改造案例</a:t>
            </a:r>
            <a:r>
              <a:rPr lang="en-US" altLang="zh-CN" sz="2000" dirty="0"/>
              <a:t>1</a:t>
            </a:r>
            <a:r>
              <a:rPr lang="zh-CN" altLang="en-US" sz="2000" dirty="0"/>
              <a:t>：某金融机构信创</a:t>
            </a:r>
            <a:r>
              <a:rPr lang="en-US" altLang="zh-CN" sz="2000" dirty="0"/>
              <a:t>MPP</a:t>
            </a:r>
            <a:r>
              <a:rPr lang="zh-CN" altLang="en-US" sz="2000" dirty="0"/>
              <a:t>数据库选型</a:t>
            </a:r>
            <a:endParaRPr lang="en-US" altLang="zh-CN" sz="2000" dirty="0"/>
          </a:p>
        </p:txBody>
      </p:sp>
      <p:sp>
        <p:nvSpPr>
          <p:cNvPr id="23" name="文本框 22"/>
          <p:cNvSpPr txBox="1"/>
          <p:nvPr/>
        </p:nvSpPr>
        <p:spPr>
          <a:xfrm>
            <a:off x="190834" y="851057"/>
            <a:ext cx="5609245" cy="348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42900" indent="-342900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  <a:lvl2pPr marL="0" lvl="1">
              <a:lnSpc>
                <a:spcPct val="110000"/>
              </a:lnSpc>
              <a:spcBef>
                <a:spcPts val="1540"/>
              </a:spcBef>
              <a:buSzPct val="50000"/>
              <a:defRPr sz="2000" b="1">
                <a:solidFill>
                  <a:schemeClr val="tx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</a:lstStyle>
          <a:p>
            <a:r>
              <a:rPr lang="zh-CN" altLang="en-US" sz="1665" dirty="0"/>
              <a:t>测试总结</a:t>
            </a:r>
            <a:endParaRPr lang="zh-CN" altLang="en-US" sz="1665" dirty="0"/>
          </a:p>
        </p:txBody>
      </p:sp>
      <p:grpSp>
        <p:nvGrpSpPr>
          <p:cNvPr id="8" name="组合 7"/>
          <p:cNvGrpSpPr/>
          <p:nvPr/>
        </p:nvGrpSpPr>
        <p:grpSpPr>
          <a:xfrm>
            <a:off x="93446" y="1199614"/>
            <a:ext cx="9973108" cy="4183341"/>
            <a:chOff x="93446" y="1199614"/>
            <a:chExt cx="9973108" cy="4183341"/>
          </a:xfrm>
        </p:grpSpPr>
        <p:sp>
          <p:nvSpPr>
            <p:cNvPr id="2" name="矩形 1"/>
            <p:cNvSpPr/>
            <p:nvPr/>
          </p:nvSpPr>
          <p:spPr>
            <a:xfrm>
              <a:off x="129452" y="4153644"/>
              <a:ext cx="9937102" cy="12293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根据以上测试结果，可以知道：</a:t>
              </a:r>
              <a:endParaRPr lang="zh-CN" altLang="en-US" sz="12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endParaRPr>
            </a:p>
            <a:p>
              <a:pPr marL="171450" lvl="0" indent="-171450" algn="just">
                <a:lnSpc>
                  <a:spcPct val="125000"/>
                </a:lnSpc>
                <a:spcBef>
                  <a:spcPts val="600"/>
                </a:spcBef>
                <a:buFont typeface="Wingdings" panose="05000000000000000000" pitchFamily="2" charset="2"/>
                <a:buChar char="Ø"/>
                <a:defRPr/>
              </a:pP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在主要功能方面，</a:t>
              </a:r>
              <a:r>
                <a:rPr lang="en-US" altLang="zh-CN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DWS</a:t>
              </a: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、厂商</a:t>
              </a:r>
              <a:r>
                <a:rPr lang="en-US" altLang="zh-CN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1</a:t>
              </a: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、厂商</a:t>
              </a:r>
              <a:r>
                <a:rPr lang="en-US" altLang="zh-CN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2</a:t>
              </a: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的表现较好，事务支持更完整，系统迁移平滑度更高；</a:t>
              </a:r>
              <a:endParaRPr lang="zh-CN" altLang="en-US" sz="12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endParaRPr>
            </a:p>
            <a:p>
              <a:pPr marL="171450" lvl="0" indent="-171450" algn="just">
                <a:lnSpc>
                  <a:spcPct val="125000"/>
                </a:lnSpc>
                <a:spcBef>
                  <a:spcPts val="600"/>
                </a:spcBef>
                <a:buFont typeface="Wingdings" panose="05000000000000000000" pitchFamily="2" charset="2"/>
                <a:buChar char="Ø"/>
                <a:defRPr/>
              </a:pP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在主要性能方面，</a:t>
              </a:r>
              <a:r>
                <a:rPr lang="en-US" altLang="zh-CN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DWS</a:t>
              </a: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和厂商</a:t>
              </a:r>
              <a:r>
                <a:rPr lang="en-US" altLang="zh-CN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3</a:t>
              </a: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的表现相较其他厂商更为突出一些，尤其是</a:t>
              </a:r>
              <a:r>
                <a:rPr lang="en-US" altLang="zh-CN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TPC-H</a:t>
              </a: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、业务场景、数据装载和并发能力方面；</a:t>
              </a:r>
              <a:endParaRPr lang="zh-CN" altLang="en-US" sz="12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endParaRPr>
            </a:p>
            <a:p>
              <a:pPr lvl="0" algn="just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综合功能和性能的结果，结合实际的需求场景，</a:t>
              </a:r>
              <a:r>
                <a:rPr lang="zh-CN" altLang="en-US" sz="1200" b="1" kern="100" dirty="0">
                  <a:solidFill>
                    <a:schemeClr val="tx2"/>
                  </a:solidFill>
                  <a:latin typeface="+mn-ea"/>
                  <a:cs typeface="Times New Roman" panose="02020603050405020304" pitchFamily="18" charset="0"/>
                </a:rPr>
                <a:t>本次信创</a:t>
              </a:r>
              <a:r>
                <a:rPr lang="en-US" altLang="zh-CN" sz="1200" b="1" kern="100" dirty="0">
                  <a:solidFill>
                    <a:schemeClr val="tx2"/>
                  </a:solidFill>
                  <a:latin typeface="+mn-ea"/>
                  <a:cs typeface="Times New Roman" panose="02020603050405020304" pitchFamily="18" charset="0"/>
                </a:rPr>
                <a:t>MPP</a:t>
              </a:r>
              <a:r>
                <a:rPr lang="zh-CN" altLang="en-US" sz="1200" b="1" kern="100" dirty="0">
                  <a:solidFill>
                    <a:schemeClr val="tx2"/>
                  </a:solidFill>
                  <a:latin typeface="+mn-ea"/>
                  <a:cs typeface="Times New Roman" panose="02020603050405020304" pitchFamily="18" charset="0"/>
                </a:rPr>
                <a:t>数据库选型推荐使用</a:t>
              </a:r>
              <a:r>
                <a:rPr lang="en-US" altLang="zh-CN" sz="1200" b="1" kern="100" dirty="0">
                  <a:solidFill>
                    <a:schemeClr val="tx2"/>
                  </a:solidFill>
                  <a:latin typeface="+mn-ea"/>
                  <a:cs typeface="Times New Roman" panose="02020603050405020304" pitchFamily="18" charset="0"/>
                </a:rPr>
                <a:t>DWS</a:t>
              </a: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。</a:t>
              </a:r>
              <a:endParaRPr lang="zh-CN" altLang="en-US" sz="12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图表 2"/>
            <p:cNvGraphicFramePr/>
            <p:nvPr/>
          </p:nvGraphicFramePr>
          <p:xfrm>
            <a:off x="93446" y="1199614"/>
            <a:ext cx="4986554" cy="295403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536462" y="1199615"/>
              <a:ext cx="4073629" cy="2954030"/>
            </a:xfrm>
            <a:prstGeom prst="rect">
              <a:avLst/>
            </a:prstGeom>
          </p:spPr>
        </p:pic>
      </p:grpSp>
      <p:grpSp>
        <p:nvGrpSpPr>
          <p:cNvPr id="4" name="组合 3"/>
          <p:cNvGrpSpPr/>
          <p:nvPr/>
        </p:nvGrpSpPr>
        <p:grpSpPr>
          <a:xfrm>
            <a:off x="-282921" y="0"/>
            <a:ext cx="2266577" cy="1977484"/>
            <a:chOff x="-314695" y="0"/>
            <a:chExt cx="2266577" cy="1977484"/>
          </a:xfrm>
        </p:grpSpPr>
        <p:sp>
          <p:nvSpPr>
            <p:cNvPr id="5" name="斜纹 4"/>
            <p:cNvSpPr/>
            <p:nvPr/>
          </p:nvSpPr>
          <p:spPr>
            <a:xfrm>
              <a:off x="-20148" y="0"/>
              <a:ext cx="1972030" cy="1977484"/>
            </a:xfrm>
            <a:prstGeom prst="diagStrip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 rot="18925377">
              <a:off x="-314695" y="602728"/>
              <a:ext cx="21690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tx2"/>
                  </a:solidFill>
                </a:rPr>
                <a:t>本页案例慎用！</a:t>
              </a:r>
              <a:endParaRPr lang="zh-CN" altLang="en-US" sz="1600" dirty="0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477308" y="170921"/>
            <a:ext cx="677545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sz="2000" dirty="0"/>
              <a:t>信创改造案例</a:t>
            </a:r>
            <a:r>
              <a:rPr lang="en-US" altLang="zh-CN" sz="2000" dirty="0"/>
              <a:t>1</a:t>
            </a:r>
            <a:r>
              <a:rPr lang="zh-CN" altLang="en-US" sz="2000" dirty="0"/>
              <a:t>：某金融机构信创</a:t>
            </a:r>
            <a:r>
              <a:rPr lang="en-US" altLang="zh-CN" sz="2000" dirty="0"/>
              <a:t>MPP</a:t>
            </a:r>
            <a:r>
              <a:rPr lang="zh-CN" altLang="en-US" sz="2000" dirty="0"/>
              <a:t>数据库选型</a:t>
            </a:r>
            <a:endParaRPr lang="en-US" altLang="zh-CN" sz="2000" dirty="0"/>
          </a:p>
        </p:txBody>
      </p:sp>
      <p:sp>
        <p:nvSpPr>
          <p:cNvPr id="23" name="文本框 22"/>
          <p:cNvSpPr txBox="1"/>
          <p:nvPr/>
        </p:nvSpPr>
        <p:spPr>
          <a:xfrm>
            <a:off x="190834" y="851057"/>
            <a:ext cx="5609245" cy="348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42900" indent="-342900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  <a:lvl2pPr marL="0" lvl="1">
              <a:lnSpc>
                <a:spcPct val="110000"/>
              </a:lnSpc>
              <a:spcBef>
                <a:spcPts val="1540"/>
              </a:spcBef>
              <a:buSzPct val="50000"/>
              <a:defRPr sz="2000" b="1">
                <a:solidFill>
                  <a:schemeClr val="tx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</a:lstStyle>
          <a:p>
            <a:r>
              <a:rPr lang="zh-CN" altLang="en-US" sz="1665" dirty="0"/>
              <a:t>测试总结</a:t>
            </a:r>
            <a:endParaRPr lang="zh-CN" altLang="en-US" sz="1665" dirty="0"/>
          </a:p>
        </p:txBody>
      </p:sp>
      <p:grpSp>
        <p:nvGrpSpPr>
          <p:cNvPr id="5" name="组合 4"/>
          <p:cNvGrpSpPr/>
          <p:nvPr/>
        </p:nvGrpSpPr>
        <p:grpSpPr>
          <a:xfrm>
            <a:off x="93446" y="1199614"/>
            <a:ext cx="9973108" cy="4183341"/>
            <a:chOff x="111449" y="1199614"/>
            <a:chExt cx="9973108" cy="4183341"/>
          </a:xfrm>
        </p:grpSpPr>
        <p:sp>
          <p:nvSpPr>
            <p:cNvPr id="2" name="矩形 1"/>
            <p:cNvSpPr/>
            <p:nvPr/>
          </p:nvSpPr>
          <p:spPr>
            <a:xfrm>
              <a:off x="147455" y="4153644"/>
              <a:ext cx="9937102" cy="12293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根据以上测试结果，可以知道：</a:t>
              </a:r>
              <a:endParaRPr lang="zh-CN" altLang="en-US" sz="12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endParaRPr>
            </a:p>
            <a:p>
              <a:pPr marL="171450" lvl="0" indent="-171450" algn="just">
                <a:lnSpc>
                  <a:spcPct val="125000"/>
                </a:lnSpc>
                <a:spcBef>
                  <a:spcPts val="600"/>
                </a:spcBef>
                <a:buFont typeface="Wingdings" panose="05000000000000000000" pitchFamily="2" charset="2"/>
                <a:buChar char="Ø"/>
                <a:defRPr/>
              </a:pP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在主要功能方面，</a:t>
              </a:r>
              <a:r>
                <a:rPr lang="en-US" altLang="zh-CN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DWS</a:t>
              </a: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、厂商</a:t>
              </a:r>
              <a:r>
                <a:rPr lang="en-US" altLang="zh-CN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1</a:t>
              </a: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、厂商</a:t>
              </a:r>
              <a:r>
                <a:rPr lang="en-US" altLang="zh-CN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2</a:t>
              </a: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的表现较好，事务支持更完整，系统迁移平滑度更高；</a:t>
              </a:r>
              <a:endParaRPr lang="zh-CN" altLang="en-US" sz="12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endParaRPr>
            </a:p>
            <a:p>
              <a:pPr marL="171450" lvl="0" indent="-171450" algn="just">
                <a:lnSpc>
                  <a:spcPct val="125000"/>
                </a:lnSpc>
                <a:spcBef>
                  <a:spcPts val="600"/>
                </a:spcBef>
                <a:buFont typeface="Wingdings" panose="05000000000000000000" pitchFamily="2" charset="2"/>
                <a:buChar char="Ø"/>
                <a:defRPr/>
              </a:pP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在主要性能方面，</a:t>
              </a:r>
              <a:r>
                <a:rPr lang="en-US" altLang="zh-CN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DWS</a:t>
              </a: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和厂商</a:t>
              </a:r>
              <a:r>
                <a:rPr lang="en-US" altLang="zh-CN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3</a:t>
              </a: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的表现相较其他厂商更为突出一些，尤其是</a:t>
              </a:r>
              <a:r>
                <a:rPr lang="en-US" altLang="zh-CN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TPC-H</a:t>
              </a: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、业务场景、数据装载和并发能力方面；</a:t>
              </a:r>
              <a:endParaRPr lang="zh-CN" altLang="en-US" sz="12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endParaRPr>
            </a:p>
            <a:p>
              <a:pPr lvl="0" algn="just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综合功能和性能的结果，结合实际的需求场景，</a:t>
              </a:r>
              <a:r>
                <a:rPr lang="zh-CN" altLang="en-US" sz="1200" b="1" kern="100" dirty="0">
                  <a:solidFill>
                    <a:schemeClr val="tx2"/>
                  </a:solidFill>
                  <a:latin typeface="+mn-ea"/>
                  <a:cs typeface="Times New Roman" panose="02020603050405020304" pitchFamily="18" charset="0"/>
                </a:rPr>
                <a:t>本次信创</a:t>
              </a:r>
              <a:r>
                <a:rPr lang="en-US" altLang="zh-CN" sz="1200" b="1" kern="100" dirty="0">
                  <a:solidFill>
                    <a:schemeClr val="tx2"/>
                  </a:solidFill>
                  <a:latin typeface="+mn-ea"/>
                  <a:cs typeface="Times New Roman" panose="02020603050405020304" pitchFamily="18" charset="0"/>
                </a:rPr>
                <a:t>MPP</a:t>
              </a:r>
              <a:r>
                <a:rPr lang="zh-CN" altLang="en-US" sz="1200" b="1" kern="100" dirty="0">
                  <a:solidFill>
                    <a:schemeClr val="tx2"/>
                  </a:solidFill>
                  <a:latin typeface="+mn-ea"/>
                  <a:cs typeface="Times New Roman" panose="02020603050405020304" pitchFamily="18" charset="0"/>
                </a:rPr>
                <a:t>数据库选型推荐使用</a:t>
              </a:r>
              <a:r>
                <a:rPr lang="en-US" altLang="zh-CN" sz="1200" b="1" kern="100" dirty="0">
                  <a:solidFill>
                    <a:schemeClr val="tx2"/>
                  </a:solidFill>
                  <a:latin typeface="+mn-ea"/>
                  <a:cs typeface="Times New Roman" panose="02020603050405020304" pitchFamily="18" charset="0"/>
                </a:rPr>
                <a:t>DWS</a:t>
              </a:r>
              <a:r>
                <a:rPr lang="zh-CN" altLang="en-US" sz="1200" kern="100" dirty="0">
                  <a:solidFill>
                    <a:prstClr val="black"/>
                  </a:solidFill>
                  <a:latin typeface="+mn-ea"/>
                  <a:cs typeface="Times New Roman" panose="02020603050405020304" pitchFamily="18" charset="0"/>
                </a:rPr>
                <a:t>。</a:t>
              </a:r>
              <a:endParaRPr lang="zh-CN" altLang="en-US" sz="12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图表 2"/>
            <p:cNvGraphicFramePr/>
            <p:nvPr/>
          </p:nvGraphicFramePr>
          <p:xfrm>
            <a:off x="111449" y="1199614"/>
            <a:ext cx="4824535" cy="295403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graphicFrame>
          <p:nvGraphicFramePr>
            <p:cNvPr id="4" name="图表 3"/>
            <p:cNvGraphicFramePr/>
            <p:nvPr/>
          </p:nvGraphicFramePr>
          <p:xfrm>
            <a:off x="4935984" y="1199614"/>
            <a:ext cx="5148573" cy="295403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grpSp>
        <p:nvGrpSpPr>
          <p:cNvPr id="6" name="组合 5"/>
          <p:cNvGrpSpPr/>
          <p:nvPr/>
        </p:nvGrpSpPr>
        <p:grpSpPr>
          <a:xfrm>
            <a:off x="-282921" y="9582"/>
            <a:ext cx="2266577" cy="1977484"/>
            <a:chOff x="-314695" y="0"/>
            <a:chExt cx="2266577" cy="1977484"/>
          </a:xfrm>
        </p:grpSpPr>
        <p:sp>
          <p:nvSpPr>
            <p:cNvPr id="7" name="斜纹 6"/>
            <p:cNvSpPr/>
            <p:nvPr/>
          </p:nvSpPr>
          <p:spPr>
            <a:xfrm>
              <a:off x="-20148" y="0"/>
              <a:ext cx="1972030" cy="1977484"/>
            </a:xfrm>
            <a:prstGeom prst="diagStrip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 rot="18925377">
              <a:off x="-314695" y="602728"/>
              <a:ext cx="21690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tx2"/>
                  </a:solidFill>
                </a:rPr>
                <a:t>本页案例慎用！</a:t>
              </a:r>
              <a:endParaRPr lang="zh-CN" altLang="en-US" sz="1600" dirty="0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477308" y="170921"/>
            <a:ext cx="677545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sz="2000" dirty="0"/>
              <a:t>信创改造案例</a:t>
            </a:r>
            <a:r>
              <a:rPr lang="en-US" altLang="zh-CN" sz="2000" dirty="0"/>
              <a:t>2</a:t>
            </a:r>
            <a:r>
              <a:rPr lang="zh-CN" altLang="en-US" sz="2000" dirty="0"/>
              <a:t>：某基金公司信创</a:t>
            </a:r>
            <a:r>
              <a:rPr lang="en-US" altLang="zh-CN" sz="2000" dirty="0"/>
              <a:t>MPP</a:t>
            </a:r>
            <a:r>
              <a:rPr lang="zh-CN" altLang="en-US" sz="2000" dirty="0"/>
              <a:t>数据库选型</a:t>
            </a:r>
            <a:endParaRPr lang="en-US" altLang="zh-CN" sz="2000" dirty="0"/>
          </a:p>
        </p:txBody>
      </p:sp>
      <p:sp>
        <p:nvSpPr>
          <p:cNvPr id="4" name="矩形 3"/>
          <p:cNvSpPr/>
          <p:nvPr/>
        </p:nvSpPr>
        <p:spPr>
          <a:xfrm>
            <a:off x="215734" y="1345332"/>
            <a:ext cx="9688802" cy="1025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4572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1165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现网</a:t>
            </a:r>
            <a:r>
              <a:rPr lang="en-US" altLang="zh-CN" sz="1165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Greenplum</a:t>
            </a:r>
            <a:r>
              <a:rPr lang="zh-CN" altLang="en-US" sz="1165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集群遇到性能瓶颈，营销业务与投研业务相互影响；</a:t>
            </a:r>
            <a:endParaRPr lang="en-US" altLang="zh-CN" sz="1165" kern="100" dirty="0">
              <a:solidFill>
                <a:prstClr val="black"/>
              </a:solidFill>
              <a:latin typeface="+mn-ea"/>
              <a:cs typeface="Times New Roman" panose="02020603050405020304" pitchFamily="18" charset="0"/>
            </a:endParaRPr>
          </a:p>
          <a:p>
            <a:pPr marL="171450" lvl="0" indent="-4572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1165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现网</a:t>
            </a:r>
            <a:r>
              <a:rPr lang="en-US" altLang="zh-CN" sz="1165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Greenplum</a:t>
            </a:r>
            <a:r>
              <a:rPr lang="zh-CN" altLang="en-US" sz="1165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集群服务器即将过保；</a:t>
            </a:r>
            <a:endParaRPr lang="en-US" altLang="zh-CN" sz="1165" kern="100" dirty="0">
              <a:solidFill>
                <a:prstClr val="black"/>
              </a:solidFill>
              <a:latin typeface="+mn-ea"/>
              <a:cs typeface="Times New Roman" panose="02020603050405020304" pitchFamily="18" charset="0"/>
            </a:endParaRPr>
          </a:p>
          <a:p>
            <a:pPr marL="171450" lvl="0" indent="-4572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1165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集团国产化信创改造工作总体要求。</a:t>
            </a:r>
            <a:endParaRPr lang="zh-CN" altLang="en-US" sz="1165" kern="100" dirty="0">
              <a:solidFill>
                <a:prstClr val="black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83456" y="2917598"/>
            <a:ext cx="9721080" cy="948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288290" algn="just"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sz="1165" b="1" kern="100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首先，解决当前的业务痛点</a:t>
            </a:r>
            <a:r>
              <a:rPr lang="zh-CN" altLang="en-US" sz="1165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，搭建全新的</a:t>
            </a:r>
            <a:r>
              <a:rPr lang="en-US" altLang="zh-CN" sz="1165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MPP</a:t>
            </a:r>
            <a:r>
              <a:rPr lang="zh-CN" altLang="en-US" sz="1165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数据库集群，分隔营销和投研两大业务模块，提升效率，同时也为其他应用提供一个统一的数据分析平台。</a:t>
            </a:r>
            <a:endParaRPr lang="en-US" altLang="zh-CN" sz="1165" kern="100" dirty="0">
              <a:solidFill>
                <a:prstClr val="black"/>
              </a:solidFill>
              <a:latin typeface="+mn-ea"/>
              <a:cs typeface="Times New Roman" panose="02020603050405020304" pitchFamily="18" charset="0"/>
            </a:endParaRPr>
          </a:p>
          <a:p>
            <a:pPr lvl="0" indent="288290" algn="just"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sz="1165" b="1" kern="100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其次，</a:t>
            </a:r>
            <a:r>
              <a:rPr lang="zh-CN" altLang="en-US" sz="1165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根据集团内部的调研结果，结合当下国内信创产业的趋势及政策要求，</a:t>
            </a:r>
            <a:r>
              <a:rPr lang="zh-CN" altLang="en-US" sz="1165" b="1" kern="100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对</a:t>
            </a:r>
            <a:r>
              <a:rPr lang="en-US" altLang="zh-CN" sz="1165" b="1" kern="100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MPP</a:t>
            </a:r>
            <a:r>
              <a:rPr lang="zh-CN" altLang="en-US" sz="1165" b="1" kern="100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数仓进行信创改造</a:t>
            </a:r>
            <a:r>
              <a:rPr lang="zh-CN" altLang="en-US" sz="1165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，进一步提升软硬件技术的自主可控。</a:t>
            </a:r>
            <a:endParaRPr lang="en-US" altLang="zh-CN" sz="1165" kern="100" dirty="0">
              <a:solidFill>
                <a:prstClr val="black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83456" y="4497902"/>
            <a:ext cx="9721080" cy="6022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288290" algn="just"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sz="1165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通过对华为</a:t>
            </a:r>
            <a:r>
              <a:rPr lang="en-US" altLang="zh-CN" sz="1165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MPP</a:t>
            </a:r>
            <a:r>
              <a:rPr lang="zh-CN" altLang="en-US" sz="1165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数据库产品</a:t>
            </a:r>
            <a:r>
              <a:rPr lang="en-US" altLang="zh-CN" sz="1165" kern="100" dirty="0" err="1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GaussDB</a:t>
            </a:r>
            <a:r>
              <a:rPr lang="en-US" altLang="zh-CN" sz="1165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(DWS)</a:t>
            </a:r>
            <a:r>
              <a:rPr lang="zh-CN" altLang="en-US" sz="1165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进行</a:t>
            </a:r>
            <a:r>
              <a:rPr lang="zh-CN" altLang="en-US" sz="1165" b="1" kern="100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功能、性能、兼容性、典型业务场景及迁移平滑度</a:t>
            </a:r>
            <a:r>
              <a:rPr lang="zh-CN" altLang="en-US" sz="1165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等多方位的全面测试，为后续项目的建设探索了解决方案，以及技术可行性的验证。</a:t>
            </a:r>
            <a:endParaRPr lang="zh-CN" altLang="zh-CN" sz="1165" kern="100" dirty="0">
              <a:solidFill>
                <a:prstClr val="black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3456" y="1002538"/>
            <a:ext cx="3674198" cy="347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42900" indent="-342900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  <a:lvl2pPr marL="0" lvl="1">
              <a:lnSpc>
                <a:spcPct val="110000"/>
              </a:lnSpc>
              <a:spcBef>
                <a:spcPts val="1540"/>
              </a:spcBef>
              <a:buSzPct val="50000"/>
              <a:defRPr sz="2000" b="1">
                <a:solidFill>
                  <a:schemeClr val="tx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</a:lstStyle>
          <a:p>
            <a:r>
              <a:rPr lang="zh-CN" altLang="en-US" sz="1665" dirty="0"/>
              <a:t>建设背景</a:t>
            </a:r>
            <a:endParaRPr lang="zh-CN" altLang="en-US" sz="1665" dirty="0"/>
          </a:p>
        </p:txBody>
      </p:sp>
      <p:sp>
        <p:nvSpPr>
          <p:cNvPr id="15" name="文本框 14"/>
          <p:cNvSpPr txBox="1"/>
          <p:nvPr/>
        </p:nvSpPr>
        <p:spPr>
          <a:xfrm>
            <a:off x="183456" y="2510155"/>
            <a:ext cx="3674198" cy="347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42900" indent="-342900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  <a:lvl2pPr marL="0" lvl="1">
              <a:lnSpc>
                <a:spcPct val="110000"/>
              </a:lnSpc>
              <a:spcBef>
                <a:spcPts val="1540"/>
              </a:spcBef>
              <a:buSzPct val="50000"/>
              <a:defRPr sz="2000" b="1">
                <a:solidFill>
                  <a:schemeClr val="tx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</a:lstStyle>
          <a:p>
            <a:r>
              <a:rPr lang="zh-CN" altLang="en-US" sz="1665" dirty="0"/>
              <a:t>建设目标</a:t>
            </a:r>
            <a:endParaRPr lang="zh-CN" altLang="en-US" sz="1665" dirty="0"/>
          </a:p>
        </p:txBody>
      </p:sp>
      <p:sp>
        <p:nvSpPr>
          <p:cNvPr id="16" name="文本框 15"/>
          <p:cNvSpPr txBox="1"/>
          <p:nvPr/>
        </p:nvSpPr>
        <p:spPr>
          <a:xfrm>
            <a:off x="215734" y="4147182"/>
            <a:ext cx="3674198" cy="347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42900" indent="-342900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  <a:lvl2pPr marL="0" lvl="1">
              <a:lnSpc>
                <a:spcPct val="110000"/>
              </a:lnSpc>
              <a:spcBef>
                <a:spcPts val="1540"/>
              </a:spcBef>
              <a:buSzPct val="50000"/>
              <a:defRPr sz="2000" b="1">
                <a:solidFill>
                  <a:schemeClr val="tx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</a:lstStyle>
          <a:p>
            <a:r>
              <a:rPr lang="zh-CN" altLang="en-US" sz="1665" dirty="0"/>
              <a:t>测试目标</a:t>
            </a:r>
            <a:endParaRPr lang="zh-CN" altLang="en-US" sz="166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/>
          <p:cNvSpPr txBox="1"/>
          <p:nvPr/>
        </p:nvSpPr>
        <p:spPr>
          <a:xfrm>
            <a:off x="477308" y="170921"/>
            <a:ext cx="677545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sz="2000" dirty="0"/>
              <a:t>信创改造案例</a:t>
            </a:r>
            <a:r>
              <a:rPr lang="en-US" altLang="zh-CN" sz="2000" dirty="0"/>
              <a:t>2</a:t>
            </a:r>
            <a:r>
              <a:rPr lang="zh-CN" altLang="en-US" sz="2000" dirty="0"/>
              <a:t>：某基金公司信创</a:t>
            </a:r>
            <a:r>
              <a:rPr lang="en-US" altLang="zh-CN" sz="2000" dirty="0"/>
              <a:t>MPP</a:t>
            </a:r>
            <a:r>
              <a:rPr lang="zh-CN" altLang="en-US" sz="2000" dirty="0"/>
              <a:t>数据库选型</a:t>
            </a:r>
            <a:endParaRPr lang="en-US" altLang="zh-CN" sz="2000" dirty="0"/>
          </a:p>
        </p:txBody>
      </p:sp>
      <p:sp>
        <p:nvSpPr>
          <p:cNvPr id="43" name="文本框 42"/>
          <p:cNvSpPr txBox="1"/>
          <p:nvPr/>
        </p:nvSpPr>
        <p:spPr>
          <a:xfrm>
            <a:off x="183456" y="1002538"/>
            <a:ext cx="3674198" cy="348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42900" indent="-342900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  <a:lvl2pPr marL="0" lvl="1">
              <a:lnSpc>
                <a:spcPct val="110000"/>
              </a:lnSpc>
              <a:spcBef>
                <a:spcPts val="1540"/>
              </a:spcBef>
              <a:buSzPct val="50000"/>
              <a:defRPr sz="2000" b="1">
                <a:solidFill>
                  <a:schemeClr val="tx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</a:lstStyle>
          <a:p>
            <a:r>
              <a:rPr lang="zh-CN" altLang="en-US" sz="1665" dirty="0"/>
              <a:t>性能表现：典型业务场景</a:t>
            </a:r>
            <a:endParaRPr lang="zh-CN" altLang="en-US" sz="1665" dirty="0"/>
          </a:p>
        </p:txBody>
      </p:sp>
      <p:graphicFrame>
        <p:nvGraphicFramePr>
          <p:cNvPr id="6" name="图表 5"/>
          <p:cNvGraphicFramePr/>
          <p:nvPr/>
        </p:nvGraphicFramePr>
        <p:xfrm>
          <a:off x="255464" y="1417340"/>
          <a:ext cx="9649072" cy="3816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/>
          <p:cNvSpPr txBox="1"/>
          <p:nvPr/>
        </p:nvSpPr>
        <p:spPr>
          <a:xfrm>
            <a:off x="477308" y="170921"/>
            <a:ext cx="677545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sz="2000" dirty="0">
                <a:sym typeface="+mn-lt"/>
              </a:rPr>
              <a:t>测试结果分析</a:t>
            </a:r>
            <a:endParaRPr lang="en-US" altLang="zh-CN" sz="2000" dirty="0"/>
          </a:p>
        </p:txBody>
      </p:sp>
      <p:sp>
        <p:nvSpPr>
          <p:cNvPr id="43" name="文本框 42"/>
          <p:cNvSpPr txBox="1"/>
          <p:nvPr/>
        </p:nvSpPr>
        <p:spPr>
          <a:xfrm>
            <a:off x="183456" y="1002538"/>
            <a:ext cx="3674198" cy="347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42900" indent="-342900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  <a:lvl2pPr marL="0" lvl="1">
              <a:lnSpc>
                <a:spcPct val="110000"/>
              </a:lnSpc>
              <a:spcBef>
                <a:spcPts val="1540"/>
              </a:spcBef>
              <a:buSzPct val="50000"/>
              <a:defRPr sz="2000" b="1">
                <a:solidFill>
                  <a:schemeClr val="tx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</a:lstStyle>
          <a:p>
            <a:r>
              <a:rPr lang="zh-CN" altLang="en-US" sz="1665" dirty="0"/>
              <a:t>功能表现（迁移平滑度说明）</a:t>
            </a:r>
            <a:endParaRPr lang="zh-CN" altLang="en-US" sz="1665" dirty="0"/>
          </a:p>
        </p:txBody>
      </p:sp>
      <p:sp>
        <p:nvSpPr>
          <p:cNvPr id="2" name="矩形 1"/>
          <p:cNvSpPr/>
          <p:nvPr/>
        </p:nvSpPr>
        <p:spPr>
          <a:xfrm>
            <a:off x="183456" y="1347562"/>
            <a:ext cx="9793088" cy="340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sz="1200" dirty="0">
                <a:effectLst/>
              </a:rPr>
              <a:t>测试结果显示，</a:t>
            </a:r>
            <a:r>
              <a:rPr lang="en-US" altLang="zh-CN" sz="1200" b="1" dirty="0">
                <a:solidFill>
                  <a:srgbClr val="C00000"/>
                </a:solidFill>
                <a:effectLst/>
              </a:rPr>
              <a:t>DWS</a:t>
            </a:r>
            <a:r>
              <a:rPr lang="zh-CN" altLang="en-US" sz="1200" b="1" dirty="0">
                <a:solidFill>
                  <a:srgbClr val="C00000"/>
                </a:solidFill>
                <a:effectLst/>
              </a:rPr>
              <a:t>与</a:t>
            </a:r>
            <a:r>
              <a:rPr lang="en-US" altLang="zh-CN" sz="1200" b="1" dirty="0">
                <a:solidFill>
                  <a:srgbClr val="C00000"/>
                </a:solidFill>
                <a:effectLst/>
              </a:rPr>
              <a:t>GP</a:t>
            </a:r>
            <a:r>
              <a:rPr lang="zh-CN" altLang="en-US" sz="1200" b="1" dirty="0">
                <a:solidFill>
                  <a:srgbClr val="C00000"/>
                </a:solidFill>
                <a:effectLst/>
              </a:rPr>
              <a:t>的语法相似度较高，达到</a:t>
            </a:r>
            <a:r>
              <a:rPr lang="en-US" altLang="zh-CN" sz="1200" b="1" dirty="0">
                <a:solidFill>
                  <a:srgbClr val="C00000"/>
                </a:solidFill>
                <a:effectLst/>
              </a:rPr>
              <a:t>90%</a:t>
            </a:r>
            <a:r>
              <a:rPr lang="zh-CN" altLang="en-US" sz="1200" b="1" dirty="0">
                <a:solidFill>
                  <a:srgbClr val="C00000"/>
                </a:solidFill>
                <a:effectLst/>
              </a:rPr>
              <a:t>以上，改动量较少，迁移平滑度较高</a:t>
            </a:r>
            <a:r>
              <a:rPr lang="zh-CN" altLang="en-US" sz="1200" dirty="0">
                <a:effectLst/>
              </a:rPr>
              <a:t>，能满足实际的业务需求。</a:t>
            </a:r>
            <a:endParaRPr lang="en-US" altLang="zh-CN" sz="1165" kern="100" dirty="0">
              <a:solidFill>
                <a:prstClr val="black"/>
              </a:solidFill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8"/>
          <p:cNvGraphicFramePr>
            <a:graphicFrameLocks noGrp="1"/>
          </p:cNvGraphicFramePr>
          <p:nvPr/>
        </p:nvGraphicFramePr>
        <p:xfrm>
          <a:off x="255464" y="1782720"/>
          <a:ext cx="9649072" cy="3614697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224136"/>
                <a:gridCol w="1584176"/>
                <a:gridCol w="1800200"/>
                <a:gridCol w="5040560"/>
              </a:tblGrid>
              <a:tr h="401633"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effectLst/>
                        </a:rPr>
                        <a:t>功能项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effectLst/>
                        </a:rPr>
                        <a:t>GP4.x</a:t>
                      </a:r>
                      <a:endParaRPr lang="en-US" altLang="zh-CN" sz="1000" b="1" dirty="0">
                        <a:effectLst/>
                      </a:endParaRPr>
                    </a:p>
                    <a:p>
                      <a:pPr algn="ctr"/>
                      <a:r>
                        <a:rPr lang="zh-CN" altLang="en-US" sz="1000" b="1" dirty="0">
                          <a:effectLst/>
                        </a:rPr>
                        <a:t>参考值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effectLst/>
                        </a:rPr>
                        <a:t>DWS8.1.3</a:t>
                      </a:r>
                      <a:endParaRPr lang="en-US" altLang="zh-CN" sz="1000" b="1" dirty="0">
                        <a:effectLst/>
                      </a:endParaRPr>
                    </a:p>
                    <a:p>
                      <a:pPr algn="ctr"/>
                      <a:r>
                        <a:rPr lang="zh-CN" altLang="en-US" sz="1000" b="1" dirty="0">
                          <a:effectLst/>
                        </a:rPr>
                        <a:t>测试结果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effectLst/>
                        </a:rPr>
                        <a:t>迁移说明</a:t>
                      </a:r>
                      <a:endParaRPr lang="en-US" altLang="zh-CN" sz="1000" b="1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633">
                <a:tc>
                  <a:txBody>
                    <a:bodyPr/>
                    <a:lstStyle/>
                    <a:p>
                      <a:r>
                        <a:rPr lang="en-US" altLang="zh-CN" sz="900" dirty="0">
                          <a:effectLst/>
                        </a:rPr>
                        <a:t>PG</a:t>
                      </a:r>
                      <a:r>
                        <a:rPr lang="zh-CN" altLang="en-US" sz="900" dirty="0">
                          <a:effectLst/>
                        </a:rPr>
                        <a:t>内核版本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effectLst/>
                        </a:rPr>
                        <a:t>基于</a:t>
                      </a:r>
                      <a:r>
                        <a:rPr lang="en-US" altLang="zh-CN" sz="900" dirty="0">
                          <a:effectLst/>
                        </a:rPr>
                        <a:t>pg8.2</a:t>
                      </a:r>
                      <a:r>
                        <a:rPr lang="zh-CN" altLang="en-US" sz="900" dirty="0">
                          <a:effectLst/>
                        </a:rPr>
                        <a:t>，兼容</a:t>
                      </a:r>
                      <a:r>
                        <a:rPr lang="en-US" altLang="zh-CN" sz="900" dirty="0">
                          <a:effectLst/>
                        </a:rPr>
                        <a:t>PG</a:t>
                      </a:r>
                      <a:r>
                        <a:rPr lang="zh-CN" altLang="en-US" sz="900" dirty="0">
                          <a:effectLst/>
                        </a:rPr>
                        <a:t>生态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effectLst/>
                        </a:rPr>
                        <a:t>基于</a:t>
                      </a:r>
                      <a:r>
                        <a:rPr lang="en-US" altLang="zh-CN" sz="900" dirty="0">
                          <a:effectLst/>
                        </a:rPr>
                        <a:t>pg9.2.4</a:t>
                      </a:r>
                      <a:r>
                        <a:rPr lang="zh-CN" altLang="en-US" sz="900" dirty="0">
                          <a:effectLst/>
                        </a:rPr>
                        <a:t>自研，兼容</a:t>
                      </a:r>
                      <a:r>
                        <a:rPr lang="en-US" altLang="zh-CN" sz="900" dirty="0">
                          <a:effectLst/>
                        </a:rPr>
                        <a:t>PG</a:t>
                      </a:r>
                      <a:r>
                        <a:rPr lang="zh-CN" altLang="en-US" sz="900" dirty="0">
                          <a:effectLst/>
                        </a:rPr>
                        <a:t>生态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除高度兼容</a:t>
                      </a:r>
                      <a:r>
                        <a:rPr lang="en-US" altLang="zh-CN" sz="900" dirty="0" err="1">
                          <a:effectLst/>
                        </a:rPr>
                        <a:t>pg</a:t>
                      </a:r>
                      <a:r>
                        <a:rPr lang="zh-CN" altLang="en-US" sz="900" dirty="0">
                          <a:effectLst/>
                        </a:rPr>
                        <a:t>外，</a:t>
                      </a:r>
                      <a:r>
                        <a:rPr lang="en-US" altLang="zh-CN" sz="900" dirty="0">
                          <a:effectLst/>
                        </a:rPr>
                        <a:t>DWS</a:t>
                      </a:r>
                      <a:r>
                        <a:rPr lang="zh-CN" altLang="en-US" sz="900" dirty="0">
                          <a:effectLst/>
                        </a:rPr>
                        <a:t>还兼容</a:t>
                      </a:r>
                      <a:r>
                        <a:rPr lang="en-US" altLang="zh-CN" sz="900" dirty="0">
                          <a:effectLst/>
                        </a:rPr>
                        <a:t>oracle</a:t>
                      </a:r>
                      <a:r>
                        <a:rPr lang="zh-CN" altLang="en-US" sz="900" dirty="0">
                          <a:effectLst/>
                        </a:rPr>
                        <a:t>、</a:t>
                      </a:r>
                      <a:r>
                        <a:rPr lang="en-US" altLang="zh-CN" sz="900" dirty="0" err="1">
                          <a:effectLst/>
                        </a:rPr>
                        <a:t>mysql</a:t>
                      </a:r>
                      <a:r>
                        <a:rPr lang="zh-CN" altLang="en-US" sz="900" dirty="0">
                          <a:effectLst/>
                        </a:rPr>
                        <a:t>和</a:t>
                      </a:r>
                      <a:r>
                        <a:rPr lang="en-US" altLang="zh-CN" sz="900" dirty="0" err="1">
                          <a:effectLst/>
                        </a:rPr>
                        <a:t>teradata</a:t>
                      </a:r>
                      <a:r>
                        <a:rPr lang="zh-CN" altLang="en-US" sz="900" dirty="0">
                          <a:effectLst/>
                        </a:rPr>
                        <a:t>。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633"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dirty="0">
                          <a:effectLst/>
                        </a:rPr>
                        <a:t>SQL</a:t>
                      </a:r>
                      <a:r>
                        <a:rPr lang="zh-CN" altLang="en-US" sz="900" dirty="0">
                          <a:effectLst/>
                        </a:rPr>
                        <a:t>支持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支持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支持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大部分语法与</a:t>
                      </a:r>
                      <a:r>
                        <a:rPr lang="en-US" altLang="zh-CN" sz="900" dirty="0">
                          <a:effectLst/>
                        </a:rPr>
                        <a:t>GP</a:t>
                      </a:r>
                      <a:r>
                        <a:rPr lang="zh-CN" altLang="en-US" sz="900" dirty="0">
                          <a:effectLst/>
                        </a:rPr>
                        <a:t>兼容，只有少部分语法需要调整，如：分布键、数据压缩、分区表等。迁移平滑度较好。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63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dirty="0">
                          <a:effectLst/>
                        </a:rPr>
                        <a:t>驱动支持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支持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支持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兼容</a:t>
                      </a:r>
                      <a:r>
                        <a:rPr lang="en-US" altLang="zh-CN" sz="900" dirty="0" err="1">
                          <a:effectLst/>
                        </a:rPr>
                        <a:t>pg</a:t>
                      </a:r>
                      <a:r>
                        <a:rPr lang="zh-CN" altLang="en-US" sz="900" dirty="0">
                          <a:effectLst/>
                        </a:rPr>
                        <a:t>驱动及生态，</a:t>
                      </a:r>
                      <a:r>
                        <a:rPr lang="en-US" altLang="zh-CN" sz="900" dirty="0">
                          <a:effectLst/>
                        </a:rPr>
                        <a:t>DWS</a:t>
                      </a:r>
                      <a:r>
                        <a:rPr lang="zh-CN" altLang="en-US" sz="900" dirty="0">
                          <a:effectLst/>
                        </a:rPr>
                        <a:t>默认使用更安全的</a:t>
                      </a:r>
                      <a:r>
                        <a:rPr lang="en-US" altLang="zh-CN" sz="900" dirty="0">
                          <a:effectLst/>
                        </a:rPr>
                        <a:t>sha256</a:t>
                      </a:r>
                      <a:r>
                        <a:rPr lang="zh-CN" altLang="en-US" sz="900" dirty="0">
                          <a:effectLst/>
                        </a:rPr>
                        <a:t>加密方式，若需要使用</a:t>
                      </a:r>
                      <a:r>
                        <a:rPr lang="en-US" altLang="zh-CN" sz="900" dirty="0">
                          <a:effectLst/>
                        </a:rPr>
                        <a:t>md5</a:t>
                      </a:r>
                      <a:r>
                        <a:rPr lang="zh-CN" altLang="en-US" sz="900" dirty="0">
                          <a:effectLst/>
                        </a:rPr>
                        <a:t>加密方式，需要调整</a:t>
                      </a:r>
                      <a:r>
                        <a:rPr lang="en-US" altLang="zh-CN" sz="900" dirty="0">
                          <a:effectLst/>
                        </a:rPr>
                        <a:t>DWS</a:t>
                      </a:r>
                      <a:r>
                        <a:rPr lang="zh-CN" altLang="en-US" sz="900" dirty="0">
                          <a:effectLst/>
                        </a:rPr>
                        <a:t>的参数配置。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633"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effectLst/>
                        </a:rPr>
                        <a:t>常用数据类型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支持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支持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支持常用的</a:t>
                      </a:r>
                      <a:r>
                        <a:rPr lang="en-US" altLang="zh-CN" sz="900" dirty="0">
                          <a:effectLst/>
                        </a:rPr>
                        <a:t>numeric</a:t>
                      </a:r>
                      <a:r>
                        <a:rPr lang="zh-CN" altLang="en-US" sz="900" dirty="0">
                          <a:effectLst/>
                        </a:rPr>
                        <a:t>、</a:t>
                      </a:r>
                      <a:r>
                        <a:rPr lang="en-US" altLang="zh-CN" sz="900" dirty="0">
                          <a:effectLst/>
                        </a:rPr>
                        <a:t>varchar</a:t>
                      </a:r>
                      <a:r>
                        <a:rPr lang="zh-CN" altLang="en-US" sz="900" dirty="0">
                          <a:effectLst/>
                        </a:rPr>
                        <a:t>、</a:t>
                      </a:r>
                      <a:r>
                        <a:rPr lang="en-US" altLang="zh-CN" sz="900" dirty="0">
                          <a:effectLst/>
                        </a:rPr>
                        <a:t>text</a:t>
                      </a:r>
                      <a:r>
                        <a:rPr lang="zh-CN" altLang="en-US" sz="900" dirty="0">
                          <a:effectLst/>
                        </a:rPr>
                        <a:t>、</a:t>
                      </a:r>
                      <a:r>
                        <a:rPr lang="en-US" altLang="zh-CN" sz="900" dirty="0">
                          <a:effectLst/>
                        </a:rPr>
                        <a:t>char</a:t>
                      </a:r>
                      <a:r>
                        <a:rPr lang="zh-CN" altLang="en-US" sz="900" dirty="0">
                          <a:effectLst/>
                        </a:rPr>
                        <a:t>、</a:t>
                      </a:r>
                      <a:r>
                        <a:rPr lang="en-US" altLang="zh-CN" sz="900" dirty="0">
                          <a:effectLst/>
                        </a:rPr>
                        <a:t>date</a:t>
                      </a:r>
                      <a:r>
                        <a:rPr lang="zh-CN" altLang="en-US" sz="900" dirty="0">
                          <a:effectLst/>
                        </a:rPr>
                        <a:t>、</a:t>
                      </a:r>
                      <a:r>
                        <a:rPr lang="en-US" altLang="zh-CN" sz="900" dirty="0">
                          <a:effectLst/>
                        </a:rPr>
                        <a:t>time</a:t>
                      </a:r>
                      <a:r>
                        <a:rPr lang="zh-CN" altLang="en-US" sz="900" dirty="0">
                          <a:effectLst/>
                        </a:rPr>
                        <a:t>、</a:t>
                      </a:r>
                      <a:r>
                        <a:rPr lang="en-US" altLang="zh-CN" sz="900" dirty="0">
                          <a:effectLst/>
                        </a:rPr>
                        <a:t>timestamp</a:t>
                      </a:r>
                      <a:r>
                        <a:rPr lang="zh-CN" altLang="en-US" sz="900" dirty="0">
                          <a:effectLst/>
                        </a:rPr>
                        <a:t>等数据类型，其中：</a:t>
                      </a:r>
                      <a:r>
                        <a:rPr lang="en-US" altLang="zh-CN" sz="900" dirty="0" err="1">
                          <a:effectLst/>
                        </a:rPr>
                        <a:t>dws</a:t>
                      </a:r>
                      <a:r>
                        <a:rPr lang="zh-CN" altLang="en-US" sz="900" dirty="0">
                          <a:effectLst/>
                        </a:rPr>
                        <a:t>中</a:t>
                      </a:r>
                      <a:r>
                        <a:rPr lang="en-US" altLang="zh-CN" sz="900" dirty="0">
                          <a:effectLst/>
                        </a:rPr>
                        <a:t>varchar</a:t>
                      </a:r>
                      <a:r>
                        <a:rPr lang="zh-CN" altLang="en-US" sz="900" dirty="0">
                          <a:effectLst/>
                        </a:rPr>
                        <a:t>以字节计算，</a:t>
                      </a:r>
                      <a:r>
                        <a:rPr lang="en-US" altLang="zh-CN" sz="900" dirty="0">
                          <a:effectLst/>
                        </a:rPr>
                        <a:t>nvarchar2</a:t>
                      </a:r>
                      <a:r>
                        <a:rPr lang="zh-CN" altLang="en-US" sz="900" dirty="0">
                          <a:effectLst/>
                        </a:rPr>
                        <a:t>以字符计算。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633"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effectLst/>
                        </a:rPr>
                        <a:t>常用系统函数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支持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支持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支持常用的分析函数、转换函数、日期时间处理函数等，改动量极小。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633"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effectLst/>
                        </a:rPr>
                        <a:t>数据压缩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支持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支持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列存表低中高三种压缩级别，一般选择低或中，压缩比常规达到</a:t>
                      </a:r>
                      <a:r>
                        <a:rPr lang="en-US" altLang="zh-CN" sz="900" dirty="0">
                          <a:effectLst/>
                        </a:rPr>
                        <a:t>3-5</a:t>
                      </a:r>
                      <a:r>
                        <a:rPr lang="zh-CN" altLang="en-US" sz="900" dirty="0">
                          <a:effectLst/>
                        </a:rPr>
                        <a:t>，具体压缩需要看数据特征情况。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633"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effectLst/>
                        </a:rPr>
                        <a:t>行存表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支持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支持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适合高并发短事务的场景，如：点查询、并发增删改等。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633"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effectLst/>
                        </a:rPr>
                        <a:t>列存表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支持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支持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effectLst/>
                        </a:rPr>
                        <a:t>适合分析类场景，如：统计分析、数据仓库等。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/>
          <p:cNvSpPr txBox="1"/>
          <p:nvPr/>
        </p:nvSpPr>
        <p:spPr>
          <a:xfrm>
            <a:off x="477308" y="170921"/>
            <a:ext cx="677545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sz="2000" dirty="0">
                <a:sym typeface="+mn-lt"/>
              </a:rPr>
              <a:t>测试结果分析</a:t>
            </a:r>
            <a:endParaRPr lang="en-US" altLang="zh-CN" sz="2000" dirty="0"/>
          </a:p>
        </p:txBody>
      </p:sp>
      <p:sp>
        <p:nvSpPr>
          <p:cNvPr id="43" name="文本框 42"/>
          <p:cNvSpPr txBox="1"/>
          <p:nvPr/>
        </p:nvSpPr>
        <p:spPr>
          <a:xfrm>
            <a:off x="183456" y="1002538"/>
            <a:ext cx="3674198" cy="347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42900" indent="-342900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  <a:lvl2pPr marL="0" lvl="1">
              <a:lnSpc>
                <a:spcPct val="110000"/>
              </a:lnSpc>
              <a:spcBef>
                <a:spcPts val="1540"/>
              </a:spcBef>
              <a:buSzPct val="50000"/>
              <a:defRPr sz="2000" b="1">
                <a:solidFill>
                  <a:schemeClr val="tx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</a:lstStyle>
          <a:p>
            <a:r>
              <a:rPr lang="zh-CN" altLang="en-US" sz="1665" dirty="0"/>
              <a:t>功能表现（迁移平滑度说明）</a:t>
            </a:r>
            <a:endParaRPr lang="zh-CN" altLang="en-US" sz="1665" dirty="0"/>
          </a:p>
        </p:txBody>
      </p:sp>
      <p:graphicFrame>
        <p:nvGraphicFramePr>
          <p:cNvPr id="3" name="表格 8"/>
          <p:cNvGraphicFramePr>
            <a:graphicFrameLocks noGrp="1"/>
          </p:cNvGraphicFramePr>
          <p:nvPr/>
        </p:nvGraphicFramePr>
        <p:xfrm>
          <a:off x="255464" y="1782720"/>
          <a:ext cx="9649072" cy="35661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224136"/>
                <a:gridCol w="1584176"/>
                <a:gridCol w="1800200"/>
                <a:gridCol w="5040560"/>
              </a:tblGrid>
              <a:tr h="396240"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effectLst/>
                        </a:rPr>
                        <a:t>功能项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effectLst/>
                        </a:rPr>
                        <a:t>GP4.x</a:t>
                      </a:r>
                      <a:endParaRPr lang="en-US" altLang="zh-CN" sz="1000" b="1" dirty="0">
                        <a:effectLst/>
                      </a:endParaRPr>
                    </a:p>
                    <a:p>
                      <a:pPr algn="ctr"/>
                      <a:r>
                        <a:rPr lang="zh-CN" altLang="en-US" sz="1000" b="1" dirty="0">
                          <a:effectLst/>
                        </a:rPr>
                        <a:t>参考值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effectLst/>
                        </a:rPr>
                        <a:t>DWS8.1.3</a:t>
                      </a:r>
                      <a:endParaRPr lang="en-US" altLang="zh-CN" sz="1000" b="1" dirty="0">
                        <a:effectLst/>
                      </a:endParaRPr>
                    </a:p>
                    <a:p>
                      <a:pPr algn="ctr"/>
                      <a:r>
                        <a:rPr lang="zh-CN" altLang="en-US" sz="1000" b="1" dirty="0">
                          <a:effectLst/>
                        </a:rPr>
                        <a:t>测试结果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effectLst/>
                        </a:rPr>
                        <a:t>迁移说明</a:t>
                      </a:r>
                      <a:endParaRPr lang="en-US" altLang="zh-CN" sz="1000" b="1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effectLst/>
                        </a:rPr>
                        <a:t>分区表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支持列表分区、范围分区、多级分区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支持列表分区、范围分区、自动分区管理，不支持多级分区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自动分区管理仅范围分区表，分区键仅支持日期</a:t>
                      </a:r>
                      <a:r>
                        <a:rPr lang="en-US" altLang="zh-CN" sz="900" dirty="0">
                          <a:effectLst/>
                        </a:rPr>
                        <a:t>/</a:t>
                      </a:r>
                      <a:r>
                        <a:rPr lang="zh-CN" altLang="en-US" sz="900" dirty="0">
                          <a:effectLst/>
                        </a:rPr>
                        <a:t>时间类型。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effectLst/>
                        </a:rPr>
                        <a:t>外部表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effectLst/>
                        </a:rPr>
                        <a:t>支持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effectLst/>
                        </a:rPr>
                        <a:t>支持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effectLst/>
                        </a:rPr>
                        <a:t>关键字</a:t>
                      </a:r>
                      <a:r>
                        <a:rPr lang="en-US" altLang="zh-CN" sz="900" dirty="0">
                          <a:effectLst/>
                        </a:rPr>
                        <a:t>external</a:t>
                      </a:r>
                      <a:r>
                        <a:rPr lang="zh-CN" altLang="en-US" sz="900" dirty="0">
                          <a:effectLst/>
                        </a:rPr>
                        <a:t>需要改为</a:t>
                      </a:r>
                      <a:r>
                        <a:rPr lang="en-US" altLang="zh-CN" sz="900" dirty="0">
                          <a:effectLst/>
                        </a:rPr>
                        <a:t>foreign</a:t>
                      </a:r>
                      <a:r>
                        <a:rPr lang="zh-CN" altLang="en-US" sz="900" dirty="0">
                          <a:effectLst/>
                        </a:rPr>
                        <a:t>。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effectLst/>
                        </a:rPr>
                        <a:t>存储过程</a:t>
                      </a:r>
                      <a:r>
                        <a:rPr lang="en-US" altLang="zh-CN" sz="900" dirty="0">
                          <a:effectLst/>
                        </a:rPr>
                        <a:t>/</a:t>
                      </a:r>
                      <a:r>
                        <a:rPr lang="zh-CN" altLang="en-US" sz="900" dirty="0">
                          <a:effectLst/>
                        </a:rPr>
                        <a:t>函数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仅支持函数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支持函数和存储过程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兼容存储过程语法。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effectLst/>
                        </a:rPr>
                        <a:t>负载管理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资源队列功能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资源负载功能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可管理</a:t>
                      </a:r>
                      <a:r>
                        <a:rPr lang="en-US" altLang="zh-CN" sz="900" dirty="0">
                          <a:effectLst/>
                        </a:rPr>
                        <a:t>CPU</a:t>
                      </a:r>
                      <a:r>
                        <a:rPr lang="zh-CN" altLang="en-US" sz="900" dirty="0">
                          <a:effectLst/>
                        </a:rPr>
                        <a:t>、内存、</a:t>
                      </a:r>
                      <a:r>
                        <a:rPr lang="en-US" altLang="zh-CN" sz="900" dirty="0">
                          <a:effectLst/>
                        </a:rPr>
                        <a:t>IO</a:t>
                      </a:r>
                      <a:r>
                        <a:rPr lang="zh-CN" altLang="en-US" sz="900" dirty="0">
                          <a:effectLst/>
                        </a:rPr>
                        <a:t>、磁盘空间的资源，与</a:t>
                      </a:r>
                      <a:r>
                        <a:rPr lang="en-US" altLang="zh-CN" sz="900" dirty="0">
                          <a:effectLst/>
                        </a:rPr>
                        <a:t>GP</a:t>
                      </a:r>
                      <a:r>
                        <a:rPr lang="zh-CN" altLang="en-US" sz="900" dirty="0">
                          <a:effectLst/>
                        </a:rPr>
                        <a:t>资源队列功能类似。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effectLst/>
                        </a:rPr>
                        <a:t>分布式架构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dirty="0">
                          <a:effectLst/>
                        </a:rPr>
                        <a:t>MPP</a:t>
                      </a:r>
                      <a:r>
                        <a:rPr lang="zh-CN" altLang="en-US" sz="900" dirty="0">
                          <a:effectLst/>
                        </a:rPr>
                        <a:t>无共享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dirty="0">
                          <a:effectLst/>
                        </a:rPr>
                        <a:t>MPP</a:t>
                      </a:r>
                      <a:r>
                        <a:rPr lang="zh-CN" altLang="en-US" sz="900" dirty="0">
                          <a:effectLst/>
                        </a:rPr>
                        <a:t>无共享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除高度兼容</a:t>
                      </a:r>
                      <a:r>
                        <a:rPr lang="en-US" altLang="zh-CN" sz="900" dirty="0" err="1">
                          <a:effectLst/>
                        </a:rPr>
                        <a:t>pg</a:t>
                      </a:r>
                      <a:r>
                        <a:rPr lang="zh-CN" altLang="en-US" sz="900" dirty="0">
                          <a:effectLst/>
                        </a:rPr>
                        <a:t>外，还兼容</a:t>
                      </a:r>
                      <a:r>
                        <a:rPr lang="en-US" altLang="zh-CN" sz="900" dirty="0">
                          <a:effectLst/>
                        </a:rPr>
                        <a:t>oracle</a:t>
                      </a:r>
                      <a:r>
                        <a:rPr lang="zh-CN" altLang="en-US" sz="900" dirty="0">
                          <a:effectLst/>
                        </a:rPr>
                        <a:t>、</a:t>
                      </a:r>
                      <a:r>
                        <a:rPr lang="en-US" altLang="zh-CN" sz="900" dirty="0" err="1">
                          <a:effectLst/>
                        </a:rPr>
                        <a:t>mysql</a:t>
                      </a:r>
                      <a:r>
                        <a:rPr lang="zh-CN" altLang="en-US" sz="900" dirty="0">
                          <a:effectLst/>
                        </a:rPr>
                        <a:t>和</a:t>
                      </a:r>
                      <a:r>
                        <a:rPr lang="en-US" altLang="zh-CN" sz="900" dirty="0" err="1">
                          <a:effectLst/>
                        </a:rPr>
                        <a:t>teradata</a:t>
                      </a:r>
                      <a:r>
                        <a:rPr lang="zh-CN" altLang="en-US" sz="900" dirty="0">
                          <a:effectLst/>
                        </a:rPr>
                        <a:t>。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dirty="0">
                          <a:effectLst/>
                        </a:rPr>
                        <a:t>数据</a:t>
                      </a:r>
                      <a:r>
                        <a:rPr lang="en-US" altLang="zh-CN" sz="900" dirty="0">
                          <a:effectLst/>
                        </a:rPr>
                        <a:t>load/unload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dirty="0">
                          <a:effectLst/>
                        </a:rPr>
                        <a:t>copy</a:t>
                      </a:r>
                      <a:r>
                        <a:rPr lang="zh-CN" altLang="en-US" sz="900" dirty="0">
                          <a:effectLst/>
                        </a:rPr>
                        <a:t>、外部表</a:t>
                      </a:r>
                      <a:r>
                        <a:rPr lang="en-US" altLang="zh-CN" sz="900" dirty="0">
                          <a:effectLst/>
                        </a:rPr>
                        <a:t>+</a:t>
                      </a:r>
                      <a:r>
                        <a:rPr lang="en-US" altLang="zh-CN" sz="900" dirty="0" err="1">
                          <a:effectLst/>
                        </a:rPr>
                        <a:t>gpfdist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dirty="0">
                          <a:effectLst/>
                        </a:rPr>
                        <a:t>copy</a:t>
                      </a:r>
                      <a:r>
                        <a:rPr lang="zh-CN" altLang="en-US" sz="900" dirty="0">
                          <a:effectLst/>
                        </a:rPr>
                        <a:t>、外部表</a:t>
                      </a:r>
                      <a:r>
                        <a:rPr lang="en-US" altLang="zh-CN" sz="900" dirty="0">
                          <a:effectLst/>
                        </a:rPr>
                        <a:t>+</a:t>
                      </a:r>
                      <a:r>
                        <a:rPr lang="en-US" altLang="zh-CN" sz="900" dirty="0" err="1">
                          <a:effectLst/>
                        </a:rPr>
                        <a:t>gds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用法与</a:t>
                      </a:r>
                      <a:r>
                        <a:rPr lang="en-US" altLang="zh-CN" sz="900" dirty="0">
                          <a:effectLst/>
                        </a:rPr>
                        <a:t>GP</a:t>
                      </a:r>
                      <a:r>
                        <a:rPr lang="zh-CN" altLang="en-US" sz="900" dirty="0">
                          <a:effectLst/>
                        </a:rPr>
                        <a:t>基本一致，学习成本低。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dirty="0">
                          <a:effectLst/>
                        </a:rPr>
                        <a:t>命令行客户端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dirty="0" err="1">
                          <a:effectLst/>
                        </a:rPr>
                        <a:t>psql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dirty="0" err="1">
                          <a:effectLst/>
                        </a:rPr>
                        <a:t>gsql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用法与</a:t>
                      </a:r>
                      <a:r>
                        <a:rPr lang="en-US" altLang="zh-CN" sz="900" dirty="0" err="1">
                          <a:effectLst/>
                        </a:rPr>
                        <a:t>psql</a:t>
                      </a:r>
                      <a:r>
                        <a:rPr lang="zh-CN" altLang="en-US" sz="900" dirty="0">
                          <a:effectLst/>
                        </a:rPr>
                        <a:t>基本一致。支持使用参数开启并发。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effectLst/>
                        </a:rPr>
                        <a:t>系统监控管理工具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dirty="0">
                          <a:effectLst/>
                        </a:rPr>
                        <a:t>GPCC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dirty="0" err="1">
                          <a:effectLst/>
                        </a:rPr>
                        <a:t>FusionInsight</a:t>
                      </a:r>
                      <a:r>
                        <a:rPr lang="en-US" altLang="zh-CN" sz="900" dirty="0">
                          <a:effectLst/>
                        </a:rPr>
                        <a:t> Manager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3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监控内容更丰富。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183456" y="1347562"/>
            <a:ext cx="9793088" cy="340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sz="1200" dirty="0">
                <a:effectLst/>
              </a:rPr>
              <a:t>测试结果显示，</a:t>
            </a:r>
            <a:r>
              <a:rPr lang="en-US" altLang="zh-CN" sz="1200" b="1" dirty="0">
                <a:solidFill>
                  <a:srgbClr val="C00000"/>
                </a:solidFill>
                <a:effectLst/>
              </a:rPr>
              <a:t>DWS</a:t>
            </a:r>
            <a:r>
              <a:rPr lang="zh-CN" altLang="en-US" sz="1200" b="1" dirty="0">
                <a:solidFill>
                  <a:srgbClr val="C00000"/>
                </a:solidFill>
                <a:effectLst/>
              </a:rPr>
              <a:t>与</a:t>
            </a:r>
            <a:r>
              <a:rPr lang="en-US" altLang="zh-CN" sz="1200" b="1" dirty="0">
                <a:solidFill>
                  <a:srgbClr val="C00000"/>
                </a:solidFill>
                <a:effectLst/>
              </a:rPr>
              <a:t>GP</a:t>
            </a:r>
            <a:r>
              <a:rPr lang="zh-CN" altLang="en-US" sz="1200" b="1" dirty="0">
                <a:solidFill>
                  <a:srgbClr val="C00000"/>
                </a:solidFill>
                <a:effectLst/>
              </a:rPr>
              <a:t>的语法相似度较高，达到</a:t>
            </a:r>
            <a:r>
              <a:rPr lang="en-US" altLang="zh-CN" sz="1200" b="1" dirty="0">
                <a:solidFill>
                  <a:srgbClr val="C00000"/>
                </a:solidFill>
                <a:effectLst/>
              </a:rPr>
              <a:t>90%</a:t>
            </a:r>
            <a:r>
              <a:rPr lang="zh-CN" altLang="en-US" sz="1200" b="1" dirty="0">
                <a:solidFill>
                  <a:srgbClr val="C00000"/>
                </a:solidFill>
                <a:effectLst/>
              </a:rPr>
              <a:t>以上，改动量较少，迁移平滑度较高</a:t>
            </a:r>
            <a:r>
              <a:rPr lang="zh-CN" altLang="en-US" sz="1200" dirty="0">
                <a:effectLst/>
              </a:rPr>
              <a:t>，能满足实际的业务需求。</a:t>
            </a:r>
            <a:endParaRPr lang="en-US" altLang="zh-CN" sz="1165" kern="100" dirty="0">
              <a:solidFill>
                <a:prstClr val="black"/>
              </a:solidFill>
              <a:latin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3166044" y="3927265"/>
            <a:ext cx="4261905" cy="833910"/>
            <a:chOff x="3946587" y="5242131"/>
            <a:chExt cx="5114286" cy="1000692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027"/>
            <a:stretch>
              <a:fillRect/>
            </a:stretch>
          </p:blipFill>
          <p:spPr>
            <a:xfrm>
              <a:off x="3946587" y="5277589"/>
              <a:ext cx="948656" cy="892671"/>
            </a:xfrm>
            <a:prstGeom prst="rect">
              <a:avLst/>
            </a:prstGeom>
          </p:spPr>
        </p:pic>
        <p:sp>
          <p:nvSpPr>
            <p:cNvPr id="9" name="KSO_Shape"/>
            <p:cNvSpPr/>
            <p:nvPr/>
          </p:nvSpPr>
          <p:spPr>
            <a:xfrm>
              <a:off x="5095340" y="6018247"/>
              <a:ext cx="192225" cy="152013"/>
            </a:xfrm>
            <a:custGeom>
              <a:avLst/>
              <a:gdLst/>
              <a:ahLst/>
              <a:cxnLst/>
              <a:rect l="l" t="t" r="r" b="b"/>
              <a:pathLst>
                <a:path w="648072" h="400516">
                  <a:moveTo>
                    <a:pt x="324036" y="0"/>
                  </a:moveTo>
                  <a:lnTo>
                    <a:pt x="648072" y="216024"/>
                  </a:lnTo>
                  <a:lnTo>
                    <a:pt x="520183" y="216024"/>
                  </a:lnTo>
                  <a:cubicBezTo>
                    <a:pt x="521934" y="217353"/>
                    <a:pt x="522036" y="218913"/>
                    <a:pt x="522036" y="220497"/>
                  </a:cubicBezTo>
                  <a:lnTo>
                    <a:pt x="522036" y="364511"/>
                  </a:lnTo>
                  <a:cubicBezTo>
                    <a:pt x="522036" y="384396"/>
                    <a:pt x="505916" y="400516"/>
                    <a:pt x="486031" y="400516"/>
                  </a:cubicBezTo>
                  <a:lnTo>
                    <a:pt x="378042" y="400516"/>
                  </a:lnTo>
                  <a:lnTo>
                    <a:pt x="378042" y="256516"/>
                  </a:lnTo>
                  <a:lnTo>
                    <a:pt x="270030" y="256516"/>
                  </a:lnTo>
                  <a:lnTo>
                    <a:pt x="270030" y="400516"/>
                  </a:lnTo>
                  <a:lnTo>
                    <a:pt x="162041" y="400516"/>
                  </a:lnTo>
                  <a:cubicBezTo>
                    <a:pt x="142156" y="400516"/>
                    <a:pt x="126036" y="384396"/>
                    <a:pt x="126036" y="364511"/>
                  </a:cubicBezTo>
                  <a:lnTo>
                    <a:pt x="126036" y="220497"/>
                  </a:lnTo>
                  <a:lnTo>
                    <a:pt x="127889" y="216024"/>
                  </a:lnTo>
                  <a:lnTo>
                    <a:pt x="0" y="216024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35">
                <a:solidFill>
                  <a:schemeClr val="tx2">
                    <a:lumMod val="50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</a:endParaRPr>
            </a:p>
          </p:txBody>
        </p:sp>
        <p:sp>
          <p:nvSpPr>
            <p:cNvPr id="10" name="KSO_Shape"/>
            <p:cNvSpPr/>
            <p:nvPr/>
          </p:nvSpPr>
          <p:spPr>
            <a:xfrm>
              <a:off x="5140374" y="5529444"/>
              <a:ext cx="112042" cy="166131"/>
            </a:xfrm>
            <a:custGeom>
              <a:avLst/>
              <a:gdLst>
                <a:gd name="connsiteX0" fmla="*/ 608252 w 1978606"/>
                <a:gd name="connsiteY0" fmla="*/ 0 h 3092264"/>
                <a:gd name="connsiteX1" fmla="*/ 720410 w 1978606"/>
                <a:gd name="connsiteY1" fmla="*/ 112000 h 3092264"/>
                <a:gd name="connsiteX2" fmla="*/ 877432 w 1978606"/>
                <a:gd name="connsiteY2" fmla="*/ 672000 h 3092264"/>
                <a:gd name="connsiteX3" fmla="*/ 832568 w 1978606"/>
                <a:gd name="connsiteY3" fmla="*/ 828801 h 3092264"/>
                <a:gd name="connsiteX4" fmla="*/ 563388 w 1978606"/>
                <a:gd name="connsiteY4" fmla="*/ 985601 h 3092264"/>
                <a:gd name="connsiteX5" fmla="*/ 1079317 w 1978606"/>
                <a:gd name="connsiteY5" fmla="*/ 2172802 h 3092264"/>
                <a:gd name="connsiteX6" fmla="*/ 1348497 w 1978606"/>
                <a:gd name="connsiteY6" fmla="*/ 2016002 h 3092264"/>
                <a:gd name="connsiteX7" fmla="*/ 1505519 w 1978606"/>
                <a:gd name="connsiteY7" fmla="*/ 2038402 h 3092264"/>
                <a:gd name="connsiteX8" fmla="*/ 1931721 w 1978606"/>
                <a:gd name="connsiteY8" fmla="*/ 2464003 h 3092264"/>
                <a:gd name="connsiteX9" fmla="*/ 1954153 w 1978606"/>
                <a:gd name="connsiteY9" fmla="*/ 2620803 h 3092264"/>
                <a:gd name="connsiteX10" fmla="*/ 1707404 w 1978606"/>
                <a:gd name="connsiteY10" fmla="*/ 3001603 h 3092264"/>
                <a:gd name="connsiteX11" fmla="*/ 1483087 w 1978606"/>
                <a:gd name="connsiteY11" fmla="*/ 3046403 h 3092264"/>
                <a:gd name="connsiteX12" fmla="*/ 2596 w 1978606"/>
                <a:gd name="connsiteY12" fmla="*/ 179200 h 3092264"/>
                <a:gd name="connsiteX13" fmla="*/ 159618 w 1978606"/>
                <a:gd name="connsiteY13" fmla="*/ 44800 h 3092264"/>
                <a:gd name="connsiteX14" fmla="*/ 608252 w 1978606"/>
                <a:gd name="connsiteY14" fmla="*/ 0 h 3092264"/>
                <a:gd name="connsiteX0-1" fmla="*/ 608252 w 1978606"/>
                <a:gd name="connsiteY0-2" fmla="*/ 0 h 3092264"/>
                <a:gd name="connsiteX1-3" fmla="*/ 720410 w 1978606"/>
                <a:gd name="connsiteY1-4" fmla="*/ 112000 h 3092264"/>
                <a:gd name="connsiteX2-5" fmla="*/ 877432 w 1978606"/>
                <a:gd name="connsiteY2-6" fmla="*/ 672000 h 3092264"/>
                <a:gd name="connsiteX3-7" fmla="*/ 832568 w 1978606"/>
                <a:gd name="connsiteY3-8" fmla="*/ 828801 h 3092264"/>
                <a:gd name="connsiteX4-9" fmla="*/ 563388 w 1978606"/>
                <a:gd name="connsiteY4-10" fmla="*/ 985601 h 3092264"/>
                <a:gd name="connsiteX5-11" fmla="*/ 1079317 w 1978606"/>
                <a:gd name="connsiteY5-12" fmla="*/ 2172802 h 3092264"/>
                <a:gd name="connsiteX6-13" fmla="*/ 1348497 w 1978606"/>
                <a:gd name="connsiteY6-14" fmla="*/ 2016002 h 3092264"/>
                <a:gd name="connsiteX7-15" fmla="*/ 1505519 w 1978606"/>
                <a:gd name="connsiteY7-16" fmla="*/ 2038402 h 3092264"/>
                <a:gd name="connsiteX8-17" fmla="*/ 1931721 w 1978606"/>
                <a:gd name="connsiteY8-18" fmla="*/ 2464003 h 3092264"/>
                <a:gd name="connsiteX9-19" fmla="*/ 1954153 w 1978606"/>
                <a:gd name="connsiteY9-20" fmla="*/ 2620803 h 3092264"/>
                <a:gd name="connsiteX10-21" fmla="*/ 1707404 w 1978606"/>
                <a:gd name="connsiteY10-22" fmla="*/ 3001603 h 3092264"/>
                <a:gd name="connsiteX11-23" fmla="*/ 1483087 w 1978606"/>
                <a:gd name="connsiteY11-24" fmla="*/ 3046403 h 3092264"/>
                <a:gd name="connsiteX12-25" fmla="*/ 2596 w 1978606"/>
                <a:gd name="connsiteY12-26" fmla="*/ 179200 h 3092264"/>
                <a:gd name="connsiteX13-27" fmla="*/ 159618 w 1978606"/>
                <a:gd name="connsiteY13-28" fmla="*/ 44800 h 3092264"/>
                <a:gd name="connsiteX14-29" fmla="*/ 608252 w 1978606"/>
                <a:gd name="connsiteY14-30" fmla="*/ 0 h 3092264"/>
                <a:gd name="connsiteX0-31" fmla="*/ 608252 w 1978606"/>
                <a:gd name="connsiteY0-32" fmla="*/ 0 h 3092264"/>
                <a:gd name="connsiteX1-33" fmla="*/ 720410 w 1978606"/>
                <a:gd name="connsiteY1-34" fmla="*/ 112000 h 3092264"/>
                <a:gd name="connsiteX2-35" fmla="*/ 877432 w 1978606"/>
                <a:gd name="connsiteY2-36" fmla="*/ 672000 h 3092264"/>
                <a:gd name="connsiteX3-37" fmla="*/ 832568 w 1978606"/>
                <a:gd name="connsiteY3-38" fmla="*/ 828801 h 3092264"/>
                <a:gd name="connsiteX4-39" fmla="*/ 563388 w 1978606"/>
                <a:gd name="connsiteY4-40" fmla="*/ 985601 h 3092264"/>
                <a:gd name="connsiteX5-41" fmla="*/ 1079317 w 1978606"/>
                <a:gd name="connsiteY5-42" fmla="*/ 2172802 h 3092264"/>
                <a:gd name="connsiteX6-43" fmla="*/ 1326200 w 1978606"/>
                <a:gd name="connsiteY6-44" fmla="*/ 2010428 h 3092264"/>
                <a:gd name="connsiteX7-45" fmla="*/ 1505519 w 1978606"/>
                <a:gd name="connsiteY7-46" fmla="*/ 2038402 h 3092264"/>
                <a:gd name="connsiteX8-47" fmla="*/ 1931721 w 1978606"/>
                <a:gd name="connsiteY8-48" fmla="*/ 2464003 h 3092264"/>
                <a:gd name="connsiteX9-49" fmla="*/ 1954153 w 1978606"/>
                <a:gd name="connsiteY9-50" fmla="*/ 2620803 h 3092264"/>
                <a:gd name="connsiteX10-51" fmla="*/ 1707404 w 1978606"/>
                <a:gd name="connsiteY10-52" fmla="*/ 3001603 h 3092264"/>
                <a:gd name="connsiteX11-53" fmla="*/ 1483087 w 1978606"/>
                <a:gd name="connsiteY11-54" fmla="*/ 3046403 h 3092264"/>
                <a:gd name="connsiteX12-55" fmla="*/ 2596 w 1978606"/>
                <a:gd name="connsiteY12-56" fmla="*/ 179200 h 3092264"/>
                <a:gd name="connsiteX13-57" fmla="*/ 159618 w 1978606"/>
                <a:gd name="connsiteY13-58" fmla="*/ 44800 h 3092264"/>
                <a:gd name="connsiteX14-59" fmla="*/ 608252 w 1978606"/>
                <a:gd name="connsiteY14-60" fmla="*/ 0 h 3092264"/>
                <a:gd name="connsiteX0-61" fmla="*/ 608252 w 1978606"/>
                <a:gd name="connsiteY0-62" fmla="*/ 0 h 3092264"/>
                <a:gd name="connsiteX1-63" fmla="*/ 720410 w 1978606"/>
                <a:gd name="connsiteY1-64" fmla="*/ 112000 h 3092264"/>
                <a:gd name="connsiteX2-65" fmla="*/ 877432 w 1978606"/>
                <a:gd name="connsiteY2-66" fmla="*/ 672000 h 3092264"/>
                <a:gd name="connsiteX3-67" fmla="*/ 832568 w 1978606"/>
                <a:gd name="connsiteY3-68" fmla="*/ 828801 h 3092264"/>
                <a:gd name="connsiteX4-69" fmla="*/ 563388 w 1978606"/>
                <a:gd name="connsiteY4-70" fmla="*/ 985601 h 3092264"/>
                <a:gd name="connsiteX5-71" fmla="*/ 1079317 w 1978606"/>
                <a:gd name="connsiteY5-72" fmla="*/ 2172802 h 3092264"/>
                <a:gd name="connsiteX6-73" fmla="*/ 1337349 w 1978606"/>
                <a:gd name="connsiteY6-74" fmla="*/ 2010428 h 3092264"/>
                <a:gd name="connsiteX7-75" fmla="*/ 1505519 w 1978606"/>
                <a:gd name="connsiteY7-76" fmla="*/ 2038402 h 3092264"/>
                <a:gd name="connsiteX8-77" fmla="*/ 1931721 w 1978606"/>
                <a:gd name="connsiteY8-78" fmla="*/ 2464003 h 3092264"/>
                <a:gd name="connsiteX9-79" fmla="*/ 1954153 w 1978606"/>
                <a:gd name="connsiteY9-80" fmla="*/ 2620803 h 3092264"/>
                <a:gd name="connsiteX10-81" fmla="*/ 1707404 w 1978606"/>
                <a:gd name="connsiteY10-82" fmla="*/ 3001603 h 3092264"/>
                <a:gd name="connsiteX11-83" fmla="*/ 1483087 w 1978606"/>
                <a:gd name="connsiteY11-84" fmla="*/ 3046403 h 3092264"/>
                <a:gd name="connsiteX12-85" fmla="*/ 2596 w 1978606"/>
                <a:gd name="connsiteY12-86" fmla="*/ 179200 h 3092264"/>
                <a:gd name="connsiteX13-87" fmla="*/ 159618 w 1978606"/>
                <a:gd name="connsiteY13-88" fmla="*/ 44800 h 3092264"/>
                <a:gd name="connsiteX14-89" fmla="*/ 608252 w 1978606"/>
                <a:gd name="connsiteY14-90" fmla="*/ 0 h 3092264"/>
                <a:gd name="connsiteX0-91" fmla="*/ 608252 w 1978606"/>
                <a:gd name="connsiteY0-92" fmla="*/ 0 h 3092264"/>
                <a:gd name="connsiteX1-93" fmla="*/ 720410 w 1978606"/>
                <a:gd name="connsiteY1-94" fmla="*/ 112000 h 3092264"/>
                <a:gd name="connsiteX2-95" fmla="*/ 877432 w 1978606"/>
                <a:gd name="connsiteY2-96" fmla="*/ 672000 h 3092264"/>
                <a:gd name="connsiteX3-97" fmla="*/ 832568 w 1978606"/>
                <a:gd name="connsiteY3-98" fmla="*/ 828801 h 3092264"/>
                <a:gd name="connsiteX4-99" fmla="*/ 563388 w 1978606"/>
                <a:gd name="connsiteY4-100" fmla="*/ 985601 h 3092264"/>
                <a:gd name="connsiteX5-101" fmla="*/ 1079317 w 1978606"/>
                <a:gd name="connsiteY5-102" fmla="*/ 2172802 h 3092264"/>
                <a:gd name="connsiteX6-103" fmla="*/ 1337349 w 1978606"/>
                <a:gd name="connsiteY6-104" fmla="*/ 2010428 h 3092264"/>
                <a:gd name="connsiteX7-105" fmla="*/ 1505519 w 1978606"/>
                <a:gd name="connsiteY7-106" fmla="*/ 2038402 h 3092264"/>
                <a:gd name="connsiteX8-107" fmla="*/ 1931721 w 1978606"/>
                <a:gd name="connsiteY8-108" fmla="*/ 2464003 h 3092264"/>
                <a:gd name="connsiteX9-109" fmla="*/ 1954153 w 1978606"/>
                <a:gd name="connsiteY9-110" fmla="*/ 2620803 h 3092264"/>
                <a:gd name="connsiteX10-111" fmla="*/ 1707404 w 1978606"/>
                <a:gd name="connsiteY10-112" fmla="*/ 3001603 h 3092264"/>
                <a:gd name="connsiteX11-113" fmla="*/ 1483087 w 1978606"/>
                <a:gd name="connsiteY11-114" fmla="*/ 3046403 h 3092264"/>
                <a:gd name="connsiteX12-115" fmla="*/ 2596 w 1978606"/>
                <a:gd name="connsiteY12-116" fmla="*/ 179200 h 3092264"/>
                <a:gd name="connsiteX13-117" fmla="*/ 159618 w 1978606"/>
                <a:gd name="connsiteY13-118" fmla="*/ 44800 h 3092264"/>
                <a:gd name="connsiteX14-119" fmla="*/ 608252 w 1978606"/>
                <a:gd name="connsiteY14-120" fmla="*/ 0 h 3092264"/>
                <a:gd name="connsiteX0-121" fmla="*/ 608252 w 1978606"/>
                <a:gd name="connsiteY0-122" fmla="*/ 0 h 3092264"/>
                <a:gd name="connsiteX1-123" fmla="*/ 720410 w 1978606"/>
                <a:gd name="connsiteY1-124" fmla="*/ 112000 h 3092264"/>
                <a:gd name="connsiteX2-125" fmla="*/ 877432 w 1978606"/>
                <a:gd name="connsiteY2-126" fmla="*/ 672000 h 3092264"/>
                <a:gd name="connsiteX3-127" fmla="*/ 832568 w 1978606"/>
                <a:gd name="connsiteY3-128" fmla="*/ 828801 h 3092264"/>
                <a:gd name="connsiteX4-129" fmla="*/ 563388 w 1978606"/>
                <a:gd name="connsiteY4-130" fmla="*/ 985601 h 3092264"/>
                <a:gd name="connsiteX5-131" fmla="*/ 1079317 w 1978606"/>
                <a:gd name="connsiteY5-132" fmla="*/ 2172802 h 3092264"/>
                <a:gd name="connsiteX6-133" fmla="*/ 1337349 w 1978606"/>
                <a:gd name="connsiteY6-134" fmla="*/ 2010428 h 3092264"/>
                <a:gd name="connsiteX7-135" fmla="*/ 1505519 w 1978606"/>
                <a:gd name="connsiteY7-136" fmla="*/ 2038402 h 3092264"/>
                <a:gd name="connsiteX8-137" fmla="*/ 1931721 w 1978606"/>
                <a:gd name="connsiteY8-138" fmla="*/ 2464003 h 3092264"/>
                <a:gd name="connsiteX9-139" fmla="*/ 1954153 w 1978606"/>
                <a:gd name="connsiteY9-140" fmla="*/ 2620803 h 3092264"/>
                <a:gd name="connsiteX10-141" fmla="*/ 1707404 w 1978606"/>
                <a:gd name="connsiteY10-142" fmla="*/ 3001603 h 3092264"/>
                <a:gd name="connsiteX11-143" fmla="*/ 1483087 w 1978606"/>
                <a:gd name="connsiteY11-144" fmla="*/ 3046403 h 3092264"/>
                <a:gd name="connsiteX12-145" fmla="*/ 2596 w 1978606"/>
                <a:gd name="connsiteY12-146" fmla="*/ 179200 h 3092264"/>
                <a:gd name="connsiteX13-147" fmla="*/ 159618 w 1978606"/>
                <a:gd name="connsiteY13-148" fmla="*/ 44800 h 3092264"/>
                <a:gd name="connsiteX14-149" fmla="*/ 608252 w 1978606"/>
                <a:gd name="connsiteY14-150" fmla="*/ 0 h 309226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1978606" h="3092264">
                  <a:moveTo>
                    <a:pt x="608252" y="0"/>
                  </a:moveTo>
                  <a:cubicBezTo>
                    <a:pt x="675547" y="0"/>
                    <a:pt x="697978" y="44800"/>
                    <a:pt x="720410" y="112000"/>
                  </a:cubicBezTo>
                  <a:cubicBezTo>
                    <a:pt x="787705" y="291200"/>
                    <a:pt x="832568" y="492800"/>
                    <a:pt x="877432" y="672000"/>
                  </a:cubicBezTo>
                  <a:cubicBezTo>
                    <a:pt x="899864" y="761601"/>
                    <a:pt x="877432" y="806401"/>
                    <a:pt x="832568" y="828801"/>
                  </a:cubicBezTo>
                  <a:cubicBezTo>
                    <a:pt x="742842" y="896001"/>
                    <a:pt x="653115" y="940801"/>
                    <a:pt x="563388" y="985601"/>
                  </a:cubicBezTo>
                  <a:cubicBezTo>
                    <a:pt x="563388" y="1388801"/>
                    <a:pt x="675547" y="1747202"/>
                    <a:pt x="1079317" y="2172802"/>
                  </a:cubicBezTo>
                  <a:cubicBezTo>
                    <a:pt x="1169044" y="2105602"/>
                    <a:pt x="1270188" y="2055228"/>
                    <a:pt x="1337349" y="2010428"/>
                  </a:cubicBezTo>
                  <a:cubicBezTo>
                    <a:pt x="1404510" y="1965628"/>
                    <a:pt x="1454947" y="1993602"/>
                    <a:pt x="1505519" y="2038402"/>
                  </a:cubicBezTo>
                  <a:cubicBezTo>
                    <a:pt x="1640109" y="2172802"/>
                    <a:pt x="1797131" y="2307202"/>
                    <a:pt x="1931721" y="2464003"/>
                  </a:cubicBezTo>
                  <a:cubicBezTo>
                    <a:pt x="1976584" y="2508803"/>
                    <a:pt x="1999016" y="2576003"/>
                    <a:pt x="1954153" y="2620803"/>
                  </a:cubicBezTo>
                  <a:cubicBezTo>
                    <a:pt x="1864426" y="2755203"/>
                    <a:pt x="1797131" y="2867203"/>
                    <a:pt x="1707404" y="3001603"/>
                  </a:cubicBezTo>
                  <a:cubicBezTo>
                    <a:pt x="1640109" y="3113603"/>
                    <a:pt x="1572814" y="3113603"/>
                    <a:pt x="1483087" y="3046403"/>
                  </a:cubicBezTo>
                  <a:cubicBezTo>
                    <a:pt x="496093" y="2329602"/>
                    <a:pt x="-42267" y="1568002"/>
                    <a:pt x="2596" y="179200"/>
                  </a:cubicBezTo>
                  <a:cubicBezTo>
                    <a:pt x="2596" y="89600"/>
                    <a:pt x="25028" y="44800"/>
                    <a:pt x="159618" y="44800"/>
                  </a:cubicBezTo>
                  <a:cubicBezTo>
                    <a:pt x="294208" y="22400"/>
                    <a:pt x="451230" y="0"/>
                    <a:pt x="608252" y="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35">
                <a:solidFill>
                  <a:schemeClr val="tx2">
                    <a:lumMod val="50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320071" y="5493451"/>
              <a:ext cx="1318981" cy="2801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15" dirty="0">
                  <a:solidFill>
                    <a:schemeClr val="bg1"/>
                  </a:solidFill>
                  <a:latin typeface="思源黑体 CN Light" panose="020B0300000000000000" charset="-122"/>
                  <a:ea typeface="思源黑体 CN Light" panose="020B0300000000000000" charset="-122"/>
                </a:rPr>
                <a:t>021-58820906</a:t>
              </a:r>
              <a:endParaRPr lang="zh-CN" altLang="en-US" sz="915" dirty="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</a:endParaRPr>
            </a:p>
          </p:txBody>
        </p:sp>
        <p:sp>
          <p:nvSpPr>
            <p:cNvPr id="12" name="KSO_Shape"/>
            <p:cNvSpPr/>
            <p:nvPr/>
          </p:nvSpPr>
          <p:spPr>
            <a:xfrm>
              <a:off x="5115105" y="5817478"/>
              <a:ext cx="156447" cy="109946"/>
            </a:xfrm>
            <a:custGeom>
              <a:avLst/>
              <a:gdLst>
                <a:gd name="connsiteX0" fmla="*/ 367281 w 529316"/>
                <a:gd name="connsiteY0" fmla="*/ 196274 h 401026"/>
                <a:gd name="connsiteX1" fmla="*/ 355293 w 529316"/>
                <a:gd name="connsiteY1" fmla="*/ 208263 h 401026"/>
                <a:gd name="connsiteX2" fmla="*/ 465090 w 529316"/>
                <a:gd name="connsiteY2" fmla="*/ 318060 h 401026"/>
                <a:gd name="connsiteX3" fmla="*/ 466739 w 529316"/>
                <a:gd name="connsiteY3" fmla="*/ 320716 h 401026"/>
                <a:gd name="connsiteX4" fmla="*/ 491723 w 529316"/>
                <a:gd name="connsiteY4" fmla="*/ 320716 h 401026"/>
                <a:gd name="connsiteX5" fmla="*/ 162035 w 529316"/>
                <a:gd name="connsiteY5" fmla="*/ 196274 h 401026"/>
                <a:gd name="connsiteX6" fmla="*/ 37593 w 529316"/>
                <a:gd name="connsiteY6" fmla="*/ 320716 h 401026"/>
                <a:gd name="connsiteX7" fmla="*/ 62577 w 529316"/>
                <a:gd name="connsiteY7" fmla="*/ 320716 h 401026"/>
                <a:gd name="connsiteX8" fmla="*/ 64225 w 529316"/>
                <a:gd name="connsiteY8" fmla="*/ 318061 h 401026"/>
                <a:gd name="connsiteX9" fmla="*/ 174023 w 529316"/>
                <a:gd name="connsiteY9" fmla="*/ 208263 h 401026"/>
                <a:gd name="connsiteX10" fmla="*/ 46349 w 529316"/>
                <a:gd name="connsiteY10" fmla="*/ 80311 h 401026"/>
                <a:gd name="connsiteX11" fmla="*/ 222791 w 529316"/>
                <a:gd name="connsiteY11" fmla="*/ 256753 h 401026"/>
                <a:gd name="connsiteX12" fmla="*/ 263500 w 529316"/>
                <a:gd name="connsiteY12" fmla="*/ 273616 h 401026"/>
                <a:gd name="connsiteX13" fmla="*/ 264659 w 529316"/>
                <a:gd name="connsiteY13" fmla="*/ 273504 h 401026"/>
                <a:gd name="connsiteX14" fmla="*/ 306525 w 529316"/>
                <a:gd name="connsiteY14" fmla="*/ 256753 h 401026"/>
                <a:gd name="connsiteX15" fmla="*/ 482968 w 529316"/>
                <a:gd name="connsiteY15" fmla="*/ 80311 h 401026"/>
                <a:gd name="connsiteX16" fmla="*/ 458990 w 529316"/>
                <a:gd name="connsiteY16" fmla="*/ 80311 h 401026"/>
                <a:gd name="connsiteX17" fmla="*/ 300904 w 529316"/>
                <a:gd name="connsiteY17" fmla="*/ 238397 h 401026"/>
                <a:gd name="connsiteX18" fmla="*/ 264659 w 529316"/>
                <a:gd name="connsiteY18" fmla="*/ 252899 h 401026"/>
                <a:gd name="connsiteX19" fmla="*/ 263656 w 529316"/>
                <a:gd name="connsiteY19" fmla="*/ 252995 h 401026"/>
                <a:gd name="connsiteX20" fmla="*/ 228412 w 529316"/>
                <a:gd name="connsiteY20" fmla="*/ 238397 h 401026"/>
                <a:gd name="connsiteX21" fmla="*/ 70326 w 529316"/>
                <a:gd name="connsiteY21" fmla="*/ 80311 h 401026"/>
                <a:gd name="connsiteX22" fmla="*/ 92015 w 529316"/>
                <a:gd name="connsiteY22" fmla="*/ 0 h 401026"/>
                <a:gd name="connsiteX23" fmla="*/ 437301 w 529316"/>
                <a:gd name="connsiteY23" fmla="*/ 0 h 401026"/>
                <a:gd name="connsiteX24" fmla="*/ 529316 w 529316"/>
                <a:gd name="connsiteY24" fmla="*/ 92015 h 401026"/>
                <a:gd name="connsiteX25" fmla="*/ 529316 w 529316"/>
                <a:gd name="connsiteY25" fmla="*/ 309011 h 401026"/>
                <a:gd name="connsiteX26" fmla="*/ 437301 w 529316"/>
                <a:gd name="connsiteY26" fmla="*/ 401026 h 401026"/>
                <a:gd name="connsiteX27" fmla="*/ 92015 w 529316"/>
                <a:gd name="connsiteY27" fmla="*/ 401026 h 401026"/>
                <a:gd name="connsiteX28" fmla="*/ 0 w 529316"/>
                <a:gd name="connsiteY28" fmla="*/ 309011 h 401026"/>
                <a:gd name="connsiteX29" fmla="*/ 0 w 529316"/>
                <a:gd name="connsiteY29" fmla="*/ 92015 h 401026"/>
                <a:gd name="connsiteX30" fmla="*/ 92015 w 529316"/>
                <a:gd name="connsiteY30" fmla="*/ 0 h 401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29316" h="401026">
                  <a:moveTo>
                    <a:pt x="367281" y="196274"/>
                  </a:moveTo>
                  <a:lnTo>
                    <a:pt x="355293" y="208263"/>
                  </a:lnTo>
                  <a:lnTo>
                    <a:pt x="465090" y="318060"/>
                  </a:lnTo>
                  <a:cubicBezTo>
                    <a:pt x="465822" y="318792"/>
                    <a:pt x="466527" y="319541"/>
                    <a:pt x="466739" y="320716"/>
                  </a:cubicBezTo>
                  <a:lnTo>
                    <a:pt x="491723" y="320716"/>
                  </a:lnTo>
                  <a:close/>
                  <a:moveTo>
                    <a:pt x="162035" y="196274"/>
                  </a:moveTo>
                  <a:lnTo>
                    <a:pt x="37593" y="320716"/>
                  </a:lnTo>
                  <a:lnTo>
                    <a:pt x="62577" y="320716"/>
                  </a:lnTo>
                  <a:lnTo>
                    <a:pt x="64225" y="318061"/>
                  </a:lnTo>
                  <a:lnTo>
                    <a:pt x="174023" y="208263"/>
                  </a:lnTo>
                  <a:close/>
                  <a:moveTo>
                    <a:pt x="46349" y="80311"/>
                  </a:moveTo>
                  <a:lnTo>
                    <a:pt x="222791" y="256753"/>
                  </a:lnTo>
                  <a:cubicBezTo>
                    <a:pt x="234032" y="267995"/>
                    <a:pt x="248767" y="273616"/>
                    <a:pt x="263500" y="273616"/>
                  </a:cubicBezTo>
                  <a:cubicBezTo>
                    <a:pt x="263887" y="273616"/>
                    <a:pt x="264274" y="273611"/>
                    <a:pt x="264659" y="273504"/>
                  </a:cubicBezTo>
                  <a:cubicBezTo>
                    <a:pt x="279774" y="273906"/>
                    <a:pt x="294989" y="268289"/>
                    <a:pt x="306525" y="256753"/>
                  </a:cubicBezTo>
                  <a:lnTo>
                    <a:pt x="482968" y="80311"/>
                  </a:lnTo>
                  <a:lnTo>
                    <a:pt x="458990" y="80311"/>
                  </a:lnTo>
                  <a:lnTo>
                    <a:pt x="300904" y="238397"/>
                  </a:lnTo>
                  <a:cubicBezTo>
                    <a:pt x="290917" y="248385"/>
                    <a:pt x="277745" y="253247"/>
                    <a:pt x="264659" y="252899"/>
                  </a:cubicBezTo>
                  <a:cubicBezTo>
                    <a:pt x="264325" y="252991"/>
                    <a:pt x="263990" y="252995"/>
                    <a:pt x="263656" y="252995"/>
                  </a:cubicBezTo>
                  <a:cubicBezTo>
                    <a:pt x="250900" y="252995"/>
                    <a:pt x="238144" y="248128"/>
                    <a:pt x="228412" y="238397"/>
                  </a:cubicBezTo>
                  <a:lnTo>
                    <a:pt x="70326" y="80311"/>
                  </a:lnTo>
                  <a:close/>
                  <a:moveTo>
                    <a:pt x="92015" y="0"/>
                  </a:moveTo>
                  <a:lnTo>
                    <a:pt x="437301" y="0"/>
                  </a:lnTo>
                  <a:cubicBezTo>
                    <a:pt x="488119" y="0"/>
                    <a:pt x="529316" y="41197"/>
                    <a:pt x="529316" y="92015"/>
                  </a:cubicBezTo>
                  <a:lnTo>
                    <a:pt x="529316" y="309011"/>
                  </a:lnTo>
                  <a:cubicBezTo>
                    <a:pt x="529316" y="359829"/>
                    <a:pt x="488119" y="401026"/>
                    <a:pt x="437301" y="401026"/>
                  </a:cubicBezTo>
                  <a:lnTo>
                    <a:pt x="92015" y="401026"/>
                  </a:lnTo>
                  <a:cubicBezTo>
                    <a:pt x="41197" y="401026"/>
                    <a:pt x="0" y="359829"/>
                    <a:pt x="0" y="309011"/>
                  </a:cubicBezTo>
                  <a:lnTo>
                    <a:pt x="0" y="92015"/>
                  </a:lnTo>
                  <a:cubicBezTo>
                    <a:pt x="0" y="41197"/>
                    <a:pt x="41197" y="0"/>
                    <a:pt x="92015" y="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35">
                <a:solidFill>
                  <a:schemeClr val="tx2">
                    <a:lumMod val="50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320072" y="5715495"/>
              <a:ext cx="3740801" cy="2801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15" dirty="0">
                  <a:solidFill>
                    <a:schemeClr val="bg1"/>
                  </a:solidFill>
                  <a:latin typeface="思源黑体 CN Light" panose="020B0300000000000000" charset="-122"/>
                  <a:ea typeface="思源黑体 CN Light" panose="020B0300000000000000" charset="-122"/>
                </a:rPr>
                <a:t>zhangshu@dataknown.cn</a:t>
              </a:r>
              <a:endParaRPr lang="zh-CN" altLang="en-US" sz="915" dirty="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5320073" y="5962669"/>
              <a:ext cx="3646128" cy="2801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761365">
                <a:defRPr/>
              </a:pPr>
              <a:r>
                <a:rPr lang="en-US" altLang="zh-CN" sz="915" dirty="0">
                  <a:solidFill>
                    <a:schemeClr val="bg1"/>
                  </a:solidFill>
                  <a:latin typeface="思源黑体 CN Light" panose="020B0300000000000000" charset="-122"/>
                  <a:ea typeface="思源黑体 CN Light" panose="020B0300000000000000" charset="-122"/>
                </a:rPr>
                <a:t>www.dataknown.cn </a:t>
              </a:r>
              <a:endParaRPr lang="zh-CN" altLang="en-US" sz="915" dirty="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</a:endParaRPr>
            </a:p>
          </p:txBody>
        </p:sp>
        <p:sp>
          <p:nvSpPr>
            <p:cNvPr id="15" name="KSO_Shape"/>
            <p:cNvSpPr/>
            <p:nvPr/>
          </p:nvSpPr>
          <p:spPr>
            <a:xfrm>
              <a:off x="5134014" y="5277589"/>
              <a:ext cx="109615" cy="173645"/>
            </a:xfrm>
            <a:custGeom>
              <a:avLst/>
              <a:gdLst/>
              <a:ahLst/>
              <a:cxnLst/>
              <a:rect l="l" t="t" r="r" b="b"/>
              <a:pathLst>
                <a:path w="559792" h="955625">
                  <a:moveTo>
                    <a:pt x="279896" y="194422"/>
                  </a:moveTo>
                  <a:cubicBezTo>
                    <a:pt x="168660" y="194422"/>
                    <a:pt x="78485" y="284596"/>
                    <a:pt x="78485" y="395833"/>
                  </a:cubicBezTo>
                  <a:cubicBezTo>
                    <a:pt x="78485" y="507069"/>
                    <a:pt x="168660" y="597244"/>
                    <a:pt x="279896" y="597244"/>
                  </a:cubicBezTo>
                  <a:cubicBezTo>
                    <a:pt x="391133" y="597244"/>
                    <a:pt x="481307" y="507069"/>
                    <a:pt x="481307" y="395833"/>
                  </a:cubicBezTo>
                  <a:cubicBezTo>
                    <a:pt x="481307" y="284596"/>
                    <a:pt x="391133" y="194422"/>
                    <a:pt x="279896" y="194422"/>
                  </a:cubicBezTo>
                  <a:close/>
                  <a:moveTo>
                    <a:pt x="279896" y="0"/>
                  </a:moveTo>
                  <a:cubicBezTo>
                    <a:pt x="381198" y="-1"/>
                    <a:pt x="482501" y="38646"/>
                    <a:pt x="559792" y="115937"/>
                  </a:cubicBezTo>
                  <a:cubicBezTo>
                    <a:pt x="714375" y="270519"/>
                    <a:pt x="714375" y="521146"/>
                    <a:pt x="559792" y="675729"/>
                  </a:cubicBezTo>
                  <a:lnTo>
                    <a:pt x="279896" y="955625"/>
                  </a:lnTo>
                  <a:lnTo>
                    <a:pt x="0" y="675729"/>
                  </a:lnTo>
                  <a:cubicBezTo>
                    <a:pt x="-154583" y="521146"/>
                    <a:pt x="-154583" y="270519"/>
                    <a:pt x="0" y="115937"/>
                  </a:cubicBezTo>
                  <a:cubicBezTo>
                    <a:pt x="77291" y="38646"/>
                    <a:pt x="178594" y="-1"/>
                    <a:pt x="279896" y="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270000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500" dirty="0">
                <a:solidFill>
                  <a:schemeClr val="tx2">
                    <a:lumMod val="50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309912" y="5242131"/>
              <a:ext cx="3538798" cy="2801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15" dirty="0">
                  <a:solidFill>
                    <a:schemeClr val="bg1"/>
                  </a:solidFill>
                  <a:latin typeface="思源黑体 CN Light" panose="020B0300000000000000" charset="-122"/>
                  <a:ea typeface="思源黑体 CN Light" panose="020B0300000000000000" charset="-122"/>
                </a:rPr>
                <a:t>上海</a:t>
              </a:r>
              <a:r>
                <a:rPr lang="en-US" altLang="zh-CN" sz="915" dirty="0">
                  <a:solidFill>
                    <a:schemeClr val="bg1"/>
                  </a:solidFill>
                  <a:latin typeface="思源黑体 CN Light" panose="020B0300000000000000" charset="-122"/>
                  <a:ea typeface="思源黑体 CN Light" panose="020B0300000000000000" charset="-122"/>
                </a:rPr>
                <a:t>·</a:t>
              </a:r>
              <a:r>
                <a:rPr lang="zh-CN" altLang="en-US" sz="915" dirty="0">
                  <a:solidFill>
                    <a:schemeClr val="bg1"/>
                  </a:solidFill>
                  <a:latin typeface="思源黑体 CN Light" panose="020B0300000000000000" charset="-122"/>
                  <a:ea typeface="思源黑体 CN Light" panose="020B0300000000000000" charset="-122"/>
                </a:rPr>
                <a:t>复旦软件园</a:t>
              </a:r>
              <a:r>
                <a:rPr lang="en-US" altLang="zh-CN" sz="915" dirty="0">
                  <a:solidFill>
                    <a:schemeClr val="bg1"/>
                  </a:solidFill>
                  <a:latin typeface="思源黑体 CN Light" panose="020B0300000000000000" charset="-122"/>
                  <a:ea typeface="思源黑体 CN Light" panose="020B0300000000000000" charset="-122"/>
                </a:rPr>
                <a:t>·</a:t>
              </a:r>
              <a:r>
                <a:rPr lang="zh-CN" altLang="en-US" sz="915" dirty="0">
                  <a:solidFill>
                    <a:schemeClr val="bg1"/>
                  </a:solidFill>
                  <a:latin typeface="思源黑体 CN Light" panose="020B0300000000000000" charset="-122"/>
                  <a:ea typeface="思源黑体 CN Light" panose="020B0300000000000000" charset="-122"/>
                </a:rPr>
                <a:t>周家嘴路</a:t>
              </a:r>
              <a:r>
                <a:rPr lang="en-US" altLang="zh-CN" sz="915" dirty="0">
                  <a:solidFill>
                    <a:schemeClr val="bg1"/>
                  </a:solidFill>
                  <a:latin typeface="思源黑体 CN Light" panose="020B0300000000000000" charset="-122"/>
                  <a:ea typeface="思源黑体 CN Light" panose="020B0300000000000000" charset="-122"/>
                </a:rPr>
                <a:t>3388</a:t>
              </a:r>
              <a:r>
                <a:rPr lang="zh-CN" altLang="en-US" sz="915" dirty="0">
                  <a:solidFill>
                    <a:schemeClr val="bg1"/>
                  </a:solidFill>
                  <a:latin typeface="思源黑体 CN Light" panose="020B0300000000000000" charset="-122"/>
                  <a:ea typeface="思源黑体 CN Light" panose="020B0300000000000000" charset="-122"/>
                </a:rPr>
                <a:t>号</a:t>
              </a:r>
              <a:r>
                <a:rPr lang="en-US" altLang="zh-CN" sz="915" dirty="0">
                  <a:solidFill>
                    <a:schemeClr val="bg1"/>
                  </a:solidFill>
                  <a:latin typeface="思源黑体 CN Light" panose="020B0300000000000000" charset="-122"/>
                  <a:ea typeface="思源黑体 CN Light" panose="020B0300000000000000" charset="-122"/>
                </a:rPr>
                <a:t>13</a:t>
              </a:r>
              <a:r>
                <a:rPr lang="zh-CN" altLang="en-US" sz="915" dirty="0">
                  <a:solidFill>
                    <a:schemeClr val="bg1"/>
                  </a:solidFill>
                  <a:latin typeface="思源黑体 CN Light" panose="020B0300000000000000" charset="-122"/>
                  <a:ea typeface="思源黑体 CN Light" panose="020B0300000000000000" charset="-122"/>
                </a:rPr>
                <a:t>号楼</a:t>
              </a:r>
              <a:r>
                <a:rPr lang="en-US" altLang="zh-CN" sz="915" dirty="0">
                  <a:solidFill>
                    <a:schemeClr val="bg1"/>
                  </a:solidFill>
                  <a:latin typeface="思源黑体 CN Light" panose="020B0300000000000000" charset="-122"/>
                  <a:ea typeface="思源黑体 CN Light" panose="020B0300000000000000" charset="-122"/>
                </a:rPr>
                <a:t>C01-C04</a:t>
              </a:r>
              <a:endParaRPr lang="zh-CN" altLang="en-US" sz="915" dirty="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166044" y="3180086"/>
            <a:ext cx="3827912" cy="424593"/>
            <a:chOff x="6196426" y="4074695"/>
            <a:chExt cx="4593494" cy="509512"/>
          </a:xfrm>
        </p:grpSpPr>
        <p:sp>
          <p:nvSpPr>
            <p:cNvPr id="19" name="矩形: 圆角 18"/>
            <p:cNvSpPr/>
            <p:nvPr/>
          </p:nvSpPr>
          <p:spPr>
            <a:xfrm>
              <a:off x="6196426" y="4074695"/>
              <a:ext cx="4593494" cy="50951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37682" y="4167878"/>
              <a:ext cx="3710981" cy="321597"/>
            </a:xfrm>
            <a:prstGeom prst="rect">
              <a:avLst/>
            </a:prstGeom>
          </p:spPr>
        </p:pic>
      </p:grpSp>
      <p:grpSp>
        <p:nvGrpSpPr>
          <p:cNvPr id="28" name="组合 27"/>
          <p:cNvGrpSpPr/>
          <p:nvPr/>
        </p:nvGrpSpPr>
        <p:grpSpPr>
          <a:xfrm>
            <a:off x="1077767" y="1587857"/>
            <a:ext cx="8004467" cy="1122943"/>
            <a:chOff x="1543549" y="1898807"/>
            <a:chExt cx="9605360" cy="1347531"/>
          </a:xfrm>
        </p:grpSpPr>
        <p:sp>
          <p:nvSpPr>
            <p:cNvPr id="6" name="文本框 5"/>
            <p:cNvSpPr txBox="1"/>
            <p:nvPr/>
          </p:nvSpPr>
          <p:spPr>
            <a:xfrm>
              <a:off x="1543549" y="2396875"/>
              <a:ext cx="4288677" cy="849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dirty="0">
                  <a:solidFill>
                    <a:schemeClr val="bg1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rPr>
                <a:t>Simplified For</a:t>
              </a:r>
              <a:endParaRPr lang="zh-CN" altLang="en-US" sz="4000" dirty="0">
                <a:solidFill>
                  <a:schemeClr val="accent2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543549" y="1898807"/>
              <a:ext cx="3152486" cy="4186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665" dirty="0">
                  <a:solidFill>
                    <a:schemeClr val="bg1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rPr>
                <a:t>呈现数据</a:t>
              </a:r>
              <a:r>
                <a:rPr lang="zh-CN" altLang="en-US" sz="1665" b="1" dirty="0">
                  <a:solidFill>
                    <a:schemeClr val="accent2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rPr>
                <a:t>智能</a:t>
              </a:r>
              <a:r>
                <a:rPr lang="zh-CN" altLang="en-US" sz="1665" dirty="0">
                  <a:solidFill>
                    <a:schemeClr val="bg1"/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rPr>
                <a:t>简约之美</a:t>
              </a:r>
              <a:endParaRPr lang="zh-CN" altLang="en-US" sz="1665" dirty="0">
                <a:solidFill>
                  <a:schemeClr val="bg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5272852" y="1989233"/>
              <a:ext cx="5876057" cy="1045088"/>
            </a:xfrm>
            <a:custGeom>
              <a:avLst/>
              <a:gdLst/>
              <a:ahLst/>
              <a:cxnLst/>
              <a:rect l="l" t="t" r="r" b="b"/>
              <a:pathLst>
                <a:path w="5876057" h="643633">
                  <a:moveTo>
                    <a:pt x="5486399" y="11734"/>
                  </a:moveTo>
                  <a:lnTo>
                    <a:pt x="5866837" y="11734"/>
                  </a:lnTo>
                  <a:lnTo>
                    <a:pt x="5866837" y="114728"/>
                  </a:lnTo>
                  <a:lnTo>
                    <a:pt x="5610348" y="114728"/>
                  </a:lnTo>
                  <a:lnTo>
                    <a:pt x="5610348" y="258165"/>
                  </a:lnTo>
                  <a:lnTo>
                    <a:pt x="5828280" y="258165"/>
                  </a:lnTo>
                  <a:lnTo>
                    <a:pt x="5828280" y="361997"/>
                  </a:lnTo>
                  <a:lnTo>
                    <a:pt x="5610348" y="361997"/>
                  </a:lnTo>
                  <a:lnTo>
                    <a:pt x="5610348" y="528066"/>
                  </a:lnTo>
                  <a:lnTo>
                    <a:pt x="5876057" y="528066"/>
                  </a:lnTo>
                  <a:lnTo>
                    <a:pt x="5876057" y="631898"/>
                  </a:lnTo>
                  <a:lnTo>
                    <a:pt x="5486399" y="631898"/>
                  </a:lnTo>
                  <a:close/>
                  <a:moveTo>
                    <a:pt x="4305300" y="11734"/>
                  </a:moveTo>
                  <a:lnTo>
                    <a:pt x="4431767" y="11734"/>
                  </a:lnTo>
                  <a:lnTo>
                    <a:pt x="4612060" y="341985"/>
                  </a:lnTo>
                  <a:lnTo>
                    <a:pt x="4674097" y="476097"/>
                  </a:lnTo>
                  <a:lnTo>
                    <a:pt x="4678285" y="476097"/>
                  </a:lnTo>
                  <a:cubicBezTo>
                    <a:pt x="4674690" y="443218"/>
                    <a:pt x="4671201" y="407764"/>
                    <a:pt x="4667817" y="369738"/>
                  </a:cubicBezTo>
                  <a:cubicBezTo>
                    <a:pt x="4664431" y="331711"/>
                    <a:pt x="4662617" y="294765"/>
                    <a:pt x="4662373" y="258899"/>
                  </a:cubicBezTo>
                  <a:lnTo>
                    <a:pt x="4662373" y="11734"/>
                  </a:lnTo>
                  <a:lnTo>
                    <a:pt x="4779616" y="11734"/>
                  </a:lnTo>
                  <a:lnTo>
                    <a:pt x="4779616" y="631898"/>
                  </a:lnTo>
                  <a:lnTo>
                    <a:pt x="4653989" y="631898"/>
                  </a:lnTo>
                  <a:lnTo>
                    <a:pt x="4474535" y="299971"/>
                  </a:lnTo>
                  <a:lnTo>
                    <a:pt x="4411655" y="166697"/>
                  </a:lnTo>
                  <a:lnTo>
                    <a:pt x="4407468" y="166697"/>
                  </a:lnTo>
                  <a:cubicBezTo>
                    <a:pt x="4410661" y="200591"/>
                    <a:pt x="4413906" y="236111"/>
                    <a:pt x="4417203" y="273258"/>
                  </a:cubicBezTo>
                  <a:cubicBezTo>
                    <a:pt x="4420501" y="310405"/>
                    <a:pt x="4422281" y="346984"/>
                    <a:pt x="4422543" y="382994"/>
                  </a:cubicBezTo>
                  <a:lnTo>
                    <a:pt x="4422543" y="631898"/>
                  </a:lnTo>
                  <a:lnTo>
                    <a:pt x="4305300" y="631898"/>
                  </a:lnTo>
                  <a:close/>
                  <a:moveTo>
                    <a:pt x="3790949" y="11734"/>
                  </a:moveTo>
                  <a:lnTo>
                    <a:pt x="4171387" y="11734"/>
                  </a:lnTo>
                  <a:lnTo>
                    <a:pt x="4171387" y="114728"/>
                  </a:lnTo>
                  <a:lnTo>
                    <a:pt x="3914898" y="114728"/>
                  </a:lnTo>
                  <a:lnTo>
                    <a:pt x="3914898" y="258165"/>
                  </a:lnTo>
                  <a:lnTo>
                    <a:pt x="4132831" y="258165"/>
                  </a:lnTo>
                  <a:lnTo>
                    <a:pt x="4132831" y="361997"/>
                  </a:lnTo>
                  <a:lnTo>
                    <a:pt x="3914898" y="361997"/>
                  </a:lnTo>
                  <a:lnTo>
                    <a:pt x="3914898" y="528066"/>
                  </a:lnTo>
                  <a:lnTo>
                    <a:pt x="4180607" y="528066"/>
                  </a:lnTo>
                  <a:lnTo>
                    <a:pt x="4180607" y="631898"/>
                  </a:lnTo>
                  <a:lnTo>
                    <a:pt x="3790949" y="631898"/>
                  </a:lnTo>
                  <a:close/>
                  <a:moveTo>
                    <a:pt x="2914650" y="11734"/>
                  </a:moveTo>
                  <a:lnTo>
                    <a:pt x="3038598" y="11734"/>
                  </a:lnTo>
                  <a:lnTo>
                    <a:pt x="3038598" y="631898"/>
                  </a:lnTo>
                  <a:lnTo>
                    <a:pt x="2914650" y="631898"/>
                  </a:lnTo>
                  <a:close/>
                  <a:moveTo>
                    <a:pt x="2428875" y="11734"/>
                  </a:moveTo>
                  <a:lnTo>
                    <a:pt x="2552823" y="11734"/>
                  </a:lnTo>
                  <a:lnTo>
                    <a:pt x="2552823" y="528066"/>
                  </a:lnTo>
                  <a:lnTo>
                    <a:pt x="2804284" y="528066"/>
                  </a:lnTo>
                  <a:lnTo>
                    <a:pt x="2804284" y="631898"/>
                  </a:lnTo>
                  <a:lnTo>
                    <a:pt x="2428875" y="631898"/>
                  </a:lnTo>
                  <a:close/>
                  <a:moveTo>
                    <a:pt x="1943100" y="11734"/>
                  </a:moveTo>
                  <a:lnTo>
                    <a:pt x="2067049" y="11734"/>
                  </a:lnTo>
                  <a:lnTo>
                    <a:pt x="2067049" y="528066"/>
                  </a:lnTo>
                  <a:lnTo>
                    <a:pt x="2318509" y="528066"/>
                  </a:lnTo>
                  <a:lnTo>
                    <a:pt x="2318509" y="631898"/>
                  </a:lnTo>
                  <a:lnTo>
                    <a:pt x="1943100" y="631898"/>
                  </a:lnTo>
                  <a:close/>
                  <a:moveTo>
                    <a:pt x="1428750" y="11734"/>
                  </a:moveTo>
                  <a:lnTo>
                    <a:pt x="1809188" y="11734"/>
                  </a:lnTo>
                  <a:lnTo>
                    <a:pt x="1809188" y="114728"/>
                  </a:lnTo>
                  <a:lnTo>
                    <a:pt x="1552699" y="114728"/>
                  </a:lnTo>
                  <a:lnTo>
                    <a:pt x="1552699" y="258165"/>
                  </a:lnTo>
                  <a:lnTo>
                    <a:pt x="1770631" y="258165"/>
                  </a:lnTo>
                  <a:lnTo>
                    <a:pt x="1770631" y="361997"/>
                  </a:lnTo>
                  <a:lnTo>
                    <a:pt x="1552699" y="361997"/>
                  </a:lnTo>
                  <a:lnTo>
                    <a:pt x="1552699" y="528066"/>
                  </a:lnTo>
                  <a:lnTo>
                    <a:pt x="1818408" y="528066"/>
                  </a:lnTo>
                  <a:lnTo>
                    <a:pt x="1818408" y="631898"/>
                  </a:lnTo>
                  <a:lnTo>
                    <a:pt x="1428750" y="631898"/>
                  </a:lnTo>
                  <a:close/>
                  <a:moveTo>
                    <a:pt x="853745" y="11734"/>
                  </a:moveTo>
                  <a:lnTo>
                    <a:pt x="1328061" y="11734"/>
                  </a:lnTo>
                  <a:lnTo>
                    <a:pt x="1328061" y="114728"/>
                  </a:lnTo>
                  <a:lnTo>
                    <a:pt x="1152039" y="114728"/>
                  </a:lnTo>
                  <a:lnTo>
                    <a:pt x="1152039" y="631898"/>
                  </a:lnTo>
                  <a:lnTo>
                    <a:pt x="1028090" y="631898"/>
                  </a:lnTo>
                  <a:lnTo>
                    <a:pt x="1028090" y="114728"/>
                  </a:lnTo>
                  <a:lnTo>
                    <a:pt x="853745" y="114728"/>
                  </a:lnTo>
                  <a:close/>
                  <a:moveTo>
                    <a:pt x="276225" y="11734"/>
                  </a:moveTo>
                  <a:lnTo>
                    <a:pt x="402692" y="11734"/>
                  </a:lnTo>
                  <a:lnTo>
                    <a:pt x="582985" y="341985"/>
                  </a:lnTo>
                  <a:lnTo>
                    <a:pt x="645022" y="476097"/>
                  </a:lnTo>
                  <a:lnTo>
                    <a:pt x="649210" y="476097"/>
                  </a:lnTo>
                  <a:cubicBezTo>
                    <a:pt x="645616" y="443218"/>
                    <a:pt x="642126" y="407764"/>
                    <a:pt x="638741" y="369738"/>
                  </a:cubicBezTo>
                  <a:cubicBezTo>
                    <a:pt x="635357" y="331711"/>
                    <a:pt x="633542" y="294765"/>
                    <a:pt x="633298" y="258899"/>
                  </a:cubicBezTo>
                  <a:lnTo>
                    <a:pt x="633298" y="11734"/>
                  </a:lnTo>
                  <a:lnTo>
                    <a:pt x="750541" y="11734"/>
                  </a:lnTo>
                  <a:lnTo>
                    <a:pt x="750541" y="631898"/>
                  </a:lnTo>
                  <a:lnTo>
                    <a:pt x="624914" y="631898"/>
                  </a:lnTo>
                  <a:lnTo>
                    <a:pt x="445459" y="299971"/>
                  </a:lnTo>
                  <a:lnTo>
                    <a:pt x="382580" y="166697"/>
                  </a:lnTo>
                  <a:lnTo>
                    <a:pt x="378393" y="166697"/>
                  </a:lnTo>
                  <a:cubicBezTo>
                    <a:pt x="381586" y="200591"/>
                    <a:pt x="384831" y="236111"/>
                    <a:pt x="388129" y="273258"/>
                  </a:cubicBezTo>
                  <a:cubicBezTo>
                    <a:pt x="391427" y="310405"/>
                    <a:pt x="393206" y="346984"/>
                    <a:pt x="393468" y="382994"/>
                  </a:cubicBezTo>
                  <a:lnTo>
                    <a:pt x="393468" y="631898"/>
                  </a:lnTo>
                  <a:lnTo>
                    <a:pt x="276225" y="631898"/>
                  </a:lnTo>
                  <a:close/>
                  <a:moveTo>
                    <a:pt x="0" y="11734"/>
                  </a:moveTo>
                  <a:lnTo>
                    <a:pt x="123949" y="11734"/>
                  </a:lnTo>
                  <a:lnTo>
                    <a:pt x="123949" y="631898"/>
                  </a:lnTo>
                  <a:lnTo>
                    <a:pt x="0" y="631898"/>
                  </a:lnTo>
                  <a:close/>
                  <a:moveTo>
                    <a:pt x="5191172" y="0"/>
                  </a:moveTo>
                  <a:cubicBezTo>
                    <a:pt x="5230707" y="698"/>
                    <a:pt x="5265841" y="8722"/>
                    <a:pt x="5296576" y="24074"/>
                  </a:cubicBezTo>
                  <a:cubicBezTo>
                    <a:pt x="5327309" y="39426"/>
                    <a:pt x="5352805" y="57918"/>
                    <a:pt x="5373061" y="79551"/>
                  </a:cubicBezTo>
                  <a:lnTo>
                    <a:pt x="5307681" y="158327"/>
                  </a:lnTo>
                  <a:cubicBezTo>
                    <a:pt x="5292297" y="142957"/>
                    <a:pt x="5275289" y="130520"/>
                    <a:pt x="5256657" y="121018"/>
                  </a:cubicBezTo>
                  <a:cubicBezTo>
                    <a:pt x="5238023" y="111516"/>
                    <a:pt x="5217033" y="106626"/>
                    <a:pt x="5193687" y="106346"/>
                  </a:cubicBezTo>
                  <a:cubicBezTo>
                    <a:pt x="5145769" y="106923"/>
                    <a:pt x="5106653" y="125892"/>
                    <a:pt x="5076339" y="163253"/>
                  </a:cubicBezTo>
                  <a:cubicBezTo>
                    <a:pt x="5046024" y="200614"/>
                    <a:pt x="5030377" y="252910"/>
                    <a:pt x="5029399" y="320139"/>
                  </a:cubicBezTo>
                  <a:cubicBezTo>
                    <a:pt x="5030011" y="388207"/>
                    <a:pt x="5044714" y="441132"/>
                    <a:pt x="5073510" y="478912"/>
                  </a:cubicBezTo>
                  <a:cubicBezTo>
                    <a:pt x="5102305" y="516693"/>
                    <a:pt x="5141526" y="535871"/>
                    <a:pt x="5191172" y="536448"/>
                  </a:cubicBezTo>
                  <a:cubicBezTo>
                    <a:pt x="5217523" y="536151"/>
                    <a:pt x="5241307" y="530457"/>
                    <a:pt x="5262524" y="519365"/>
                  </a:cubicBezTo>
                  <a:cubicBezTo>
                    <a:pt x="5283741" y="508274"/>
                    <a:pt x="5302705" y="493567"/>
                    <a:pt x="5319417" y="475244"/>
                  </a:cubicBezTo>
                  <a:lnTo>
                    <a:pt x="5384796" y="552358"/>
                  </a:lnTo>
                  <a:cubicBezTo>
                    <a:pt x="5359213" y="582172"/>
                    <a:pt x="5329911" y="604816"/>
                    <a:pt x="5296890" y="620291"/>
                  </a:cubicBezTo>
                  <a:cubicBezTo>
                    <a:pt x="5263868" y="635765"/>
                    <a:pt x="5227232" y="643545"/>
                    <a:pt x="5186981" y="643633"/>
                  </a:cubicBezTo>
                  <a:cubicBezTo>
                    <a:pt x="5134129" y="643525"/>
                    <a:pt x="5086361" y="631271"/>
                    <a:pt x="5043675" y="606870"/>
                  </a:cubicBezTo>
                  <a:cubicBezTo>
                    <a:pt x="5000991" y="582468"/>
                    <a:pt x="4967014" y="546562"/>
                    <a:pt x="4941745" y="499151"/>
                  </a:cubicBezTo>
                  <a:cubicBezTo>
                    <a:pt x="4916477" y="451740"/>
                    <a:pt x="4903540" y="393467"/>
                    <a:pt x="4902936" y="324331"/>
                  </a:cubicBezTo>
                  <a:cubicBezTo>
                    <a:pt x="4903592" y="255925"/>
                    <a:pt x="4916891" y="197590"/>
                    <a:pt x="4942832" y="149325"/>
                  </a:cubicBezTo>
                  <a:cubicBezTo>
                    <a:pt x="4968774" y="101060"/>
                    <a:pt x="5003423" y="64160"/>
                    <a:pt x="5046780" y="38626"/>
                  </a:cubicBezTo>
                  <a:cubicBezTo>
                    <a:pt x="5090138" y="13091"/>
                    <a:pt x="5138269" y="215"/>
                    <a:pt x="5191172" y="0"/>
                  </a:cubicBezTo>
                  <a:close/>
                  <a:moveTo>
                    <a:pt x="3457385" y="0"/>
                  </a:moveTo>
                  <a:cubicBezTo>
                    <a:pt x="3502123" y="750"/>
                    <a:pt x="3540295" y="8879"/>
                    <a:pt x="3571903" y="24388"/>
                  </a:cubicBezTo>
                  <a:cubicBezTo>
                    <a:pt x="3603511" y="39897"/>
                    <a:pt x="3629301" y="58285"/>
                    <a:pt x="3649274" y="79551"/>
                  </a:cubicBezTo>
                  <a:lnTo>
                    <a:pt x="3583119" y="158344"/>
                  </a:lnTo>
                  <a:cubicBezTo>
                    <a:pt x="3568377" y="143335"/>
                    <a:pt x="3551374" y="130999"/>
                    <a:pt x="3532111" y="121337"/>
                  </a:cubicBezTo>
                  <a:cubicBezTo>
                    <a:pt x="3512849" y="111675"/>
                    <a:pt x="3489337" y="106678"/>
                    <a:pt x="3461578" y="106346"/>
                  </a:cubicBezTo>
                  <a:cubicBezTo>
                    <a:pt x="3409152" y="106924"/>
                    <a:pt x="3367051" y="125897"/>
                    <a:pt x="3335274" y="163265"/>
                  </a:cubicBezTo>
                  <a:cubicBezTo>
                    <a:pt x="3303497" y="200634"/>
                    <a:pt x="3287181" y="252932"/>
                    <a:pt x="3286325" y="320160"/>
                  </a:cubicBezTo>
                  <a:cubicBezTo>
                    <a:pt x="3286377" y="388201"/>
                    <a:pt x="3301785" y="441115"/>
                    <a:pt x="3332549" y="478900"/>
                  </a:cubicBezTo>
                  <a:cubicBezTo>
                    <a:pt x="3363312" y="516686"/>
                    <a:pt x="3409117" y="535868"/>
                    <a:pt x="3469963" y="536448"/>
                  </a:cubicBezTo>
                  <a:cubicBezTo>
                    <a:pt x="3485319" y="536413"/>
                    <a:pt x="3499889" y="534386"/>
                    <a:pt x="3513672" y="530366"/>
                  </a:cubicBezTo>
                  <a:cubicBezTo>
                    <a:pt x="3527455" y="526347"/>
                    <a:pt x="3538881" y="520545"/>
                    <a:pt x="3547948" y="512961"/>
                  </a:cubicBezTo>
                  <a:lnTo>
                    <a:pt x="3547948" y="390496"/>
                  </a:lnTo>
                  <a:lnTo>
                    <a:pt x="3438099" y="390496"/>
                  </a:lnTo>
                  <a:lnTo>
                    <a:pt x="3438099" y="289179"/>
                  </a:lnTo>
                  <a:lnTo>
                    <a:pt x="3658485" y="289179"/>
                  </a:lnTo>
                  <a:lnTo>
                    <a:pt x="3658485" y="569106"/>
                  </a:lnTo>
                  <a:cubicBezTo>
                    <a:pt x="3637186" y="590162"/>
                    <a:pt x="3609232" y="607712"/>
                    <a:pt x="3574622" y="621756"/>
                  </a:cubicBezTo>
                  <a:cubicBezTo>
                    <a:pt x="3540013" y="635800"/>
                    <a:pt x="3500934" y="643092"/>
                    <a:pt x="3457385" y="643633"/>
                  </a:cubicBezTo>
                  <a:cubicBezTo>
                    <a:pt x="3400387" y="643525"/>
                    <a:pt x="3349582" y="631271"/>
                    <a:pt x="3304968" y="606870"/>
                  </a:cubicBezTo>
                  <a:cubicBezTo>
                    <a:pt x="3260354" y="582469"/>
                    <a:pt x="3225150" y="546564"/>
                    <a:pt x="3199356" y="499155"/>
                  </a:cubicBezTo>
                  <a:cubicBezTo>
                    <a:pt x="3173563" y="451746"/>
                    <a:pt x="3160397" y="393477"/>
                    <a:pt x="3159861" y="324347"/>
                  </a:cubicBezTo>
                  <a:cubicBezTo>
                    <a:pt x="3160475" y="255937"/>
                    <a:pt x="3173951" y="197598"/>
                    <a:pt x="3200288" y="149331"/>
                  </a:cubicBezTo>
                  <a:cubicBezTo>
                    <a:pt x="3226625" y="101064"/>
                    <a:pt x="3262140" y="64163"/>
                    <a:pt x="3306831" y="38627"/>
                  </a:cubicBezTo>
                  <a:cubicBezTo>
                    <a:pt x="3351523" y="13091"/>
                    <a:pt x="3401707" y="215"/>
                    <a:pt x="3457385" y="0"/>
                  </a:cubicBezTo>
                  <a:close/>
                </a:path>
              </a:pathLst>
            </a:custGeom>
            <a:gradFill flip="none" rotWithShape="1">
              <a:gsLst>
                <a:gs pos="84000">
                  <a:schemeClr val="accent2"/>
                </a:gs>
                <a:gs pos="46000">
                  <a:schemeClr val="bg1"/>
                </a:gs>
                <a:gs pos="93000">
                  <a:schemeClr val="bg2"/>
                </a:gs>
                <a:gs pos="99000">
                  <a:schemeClr val="bg1"/>
                </a:gs>
                <a:gs pos="28000">
                  <a:schemeClr val="accent5"/>
                </a:gs>
                <a:gs pos="19000">
                  <a:schemeClr val="bg2"/>
                </a:gs>
                <a:gs pos="75000">
                  <a:schemeClr val="bg2"/>
                </a:gs>
                <a:gs pos="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50800" dist="38100" dir="2700000" sx="101000" sy="101000" algn="tl" rotWithShape="0">
                <a:schemeClr val="accent1">
                  <a:alpha val="60000"/>
                </a:schemeClr>
              </a:outerShdw>
            </a:effectLst>
          </p:spPr>
          <p:txBody>
  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  <a:noAutofit/>
              <a:scene3d>
                <a:camera prst="orthographicFront"/>
                <a:lightRig rig="flat" dir="t"/>
              </a:scene3d>
              <a:sp3d prstMaterial="matte">
                <a:bevelT w="0" h="0"/>
                <a:bevelB w="0" h="0"/>
              </a:sp3d>
            </a:bodyPr>
            <a:lstStyle/>
            <a:p>
              <a:endParaRPr lang="zh-CN" altLang="en-US" sz="5500" dirty="0">
                <a:gradFill flip="none" rotWithShape="1">
                  <a:gsLst>
                    <a:gs pos="84000">
                      <a:schemeClr val="accent2"/>
                    </a:gs>
                    <a:gs pos="46000">
                      <a:schemeClr val="bg1"/>
                    </a:gs>
                    <a:gs pos="93000">
                      <a:schemeClr val="bg2"/>
                    </a:gs>
                    <a:gs pos="99000">
                      <a:schemeClr val="bg1"/>
                    </a:gs>
                    <a:gs pos="28000">
                      <a:schemeClr val="accent5"/>
                    </a:gs>
                    <a:gs pos="19000">
                      <a:schemeClr val="bg2"/>
                    </a:gs>
                    <a:gs pos="75000">
                      <a:schemeClr val="bg2"/>
                    </a:gs>
                    <a:gs pos="0">
                      <a:schemeClr val="bg1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effectLst>
                  <a:outerShdw blurRad="50800" dist="38100" dir="2700000" sx="101000" sy="101000" algn="tl" rotWithShape="0">
                    <a:schemeClr val="accent1">
                      <a:alpha val="60000"/>
                    </a:scheme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/>
          <p:cNvSpPr txBox="1"/>
          <p:nvPr/>
        </p:nvSpPr>
        <p:spPr>
          <a:xfrm>
            <a:off x="477308" y="170921"/>
            <a:ext cx="677545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sz="2000" dirty="0"/>
              <a:t>信创改造案例</a:t>
            </a:r>
            <a:r>
              <a:rPr lang="en-US" altLang="zh-CN" sz="2000" dirty="0"/>
              <a:t>2</a:t>
            </a:r>
            <a:r>
              <a:rPr lang="zh-CN" altLang="en-US" sz="2000" dirty="0"/>
              <a:t>：某基金公司信创</a:t>
            </a:r>
            <a:r>
              <a:rPr lang="en-US" altLang="zh-CN" sz="2000" dirty="0"/>
              <a:t>MPP</a:t>
            </a:r>
            <a:r>
              <a:rPr lang="zh-CN" altLang="en-US" sz="2000" dirty="0"/>
              <a:t>数据库选型</a:t>
            </a:r>
            <a:endParaRPr lang="en-US" altLang="zh-CN" sz="2000" dirty="0"/>
          </a:p>
        </p:txBody>
      </p:sp>
      <p:sp>
        <p:nvSpPr>
          <p:cNvPr id="43" name="文本框 42"/>
          <p:cNvSpPr txBox="1"/>
          <p:nvPr/>
        </p:nvSpPr>
        <p:spPr>
          <a:xfrm>
            <a:off x="183456" y="1002538"/>
            <a:ext cx="3674198" cy="348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42900" indent="-342900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  <a:lvl2pPr marL="0" lvl="1">
              <a:lnSpc>
                <a:spcPct val="110000"/>
              </a:lnSpc>
              <a:spcBef>
                <a:spcPts val="1540"/>
              </a:spcBef>
              <a:buSzPct val="50000"/>
              <a:defRPr sz="2000" b="1">
                <a:solidFill>
                  <a:schemeClr val="tx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</a:lstStyle>
          <a:p>
            <a:r>
              <a:rPr lang="zh-CN" altLang="en-US" sz="1665" dirty="0"/>
              <a:t>性能表现：</a:t>
            </a:r>
            <a:r>
              <a:rPr lang="en-US" altLang="zh-CN" sz="1665" dirty="0"/>
              <a:t>TPC-H</a:t>
            </a:r>
            <a:endParaRPr lang="zh-CN" altLang="en-US" sz="1665" dirty="0"/>
          </a:p>
        </p:txBody>
      </p:sp>
      <p:graphicFrame>
        <p:nvGraphicFramePr>
          <p:cNvPr id="6" name="图表 5"/>
          <p:cNvGraphicFramePr/>
          <p:nvPr/>
        </p:nvGraphicFramePr>
        <p:xfrm>
          <a:off x="255464" y="1417340"/>
          <a:ext cx="9649072" cy="3816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-282921" y="9582"/>
            <a:ext cx="2266577" cy="1977484"/>
            <a:chOff x="-314695" y="0"/>
            <a:chExt cx="2266577" cy="1977484"/>
          </a:xfrm>
        </p:grpSpPr>
        <p:sp>
          <p:nvSpPr>
            <p:cNvPr id="3" name="斜纹 2"/>
            <p:cNvSpPr/>
            <p:nvPr/>
          </p:nvSpPr>
          <p:spPr>
            <a:xfrm>
              <a:off x="-20148" y="0"/>
              <a:ext cx="1972030" cy="1977484"/>
            </a:xfrm>
            <a:prstGeom prst="diagStrip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 rot="18925377">
              <a:off x="-314695" y="602728"/>
              <a:ext cx="21690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tx2"/>
                  </a:solidFill>
                </a:rPr>
                <a:t>未完成</a:t>
              </a:r>
              <a:endParaRPr lang="zh-CN" altLang="en-US" sz="1600" dirty="0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/>
          <p:cNvSpPr txBox="1"/>
          <p:nvPr/>
        </p:nvSpPr>
        <p:spPr>
          <a:xfrm>
            <a:off x="477308" y="170921"/>
            <a:ext cx="677545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sz="2000" dirty="0">
                <a:sym typeface="+mn-lt"/>
              </a:rPr>
              <a:t>测试结果分析</a:t>
            </a:r>
            <a:endParaRPr lang="en-US" altLang="zh-CN" sz="2000" dirty="0"/>
          </a:p>
        </p:txBody>
      </p:sp>
      <p:sp>
        <p:nvSpPr>
          <p:cNvPr id="43" name="文本框 42"/>
          <p:cNvSpPr txBox="1"/>
          <p:nvPr/>
        </p:nvSpPr>
        <p:spPr>
          <a:xfrm>
            <a:off x="183456" y="1002538"/>
            <a:ext cx="3674198" cy="348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42900" indent="-342900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  <a:lvl2pPr marL="0" lvl="1">
              <a:lnSpc>
                <a:spcPct val="110000"/>
              </a:lnSpc>
              <a:spcBef>
                <a:spcPts val="1540"/>
              </a:spcBef>
              <a:buSzPct val="50000"/>
              <a:defRPr sz="2000" b="1">
                <a:solidFill>
                  <a:schemeClr val="tx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</a:lstStyle>
          <a:p>
            <a:r>
              <a:rPr lang="zh-CN" altLang="en-US" sz="1665" dirty="0"/>
              <a:t>性能表现：数据加载</a:t>
            </a:r>
            <a:endParaRPr lang="zh-CN" altLang="en-US" sz="1665" dirty="0"/>
          </a:p>
        </p:txBody>
      </p:sp>
      <p:graphicFrame>
        <p:nvGraphicFramePr>
          <p:cNvPr id="8" name="表格 8"/>
          <p:cNvGraphicFramePr>
            <a:graphicFrameLocks noGrp="1"/>
          </p:cNvGraphicFramePr>
          <p:nvPr/>
        </p:nvGraphicFramePr>
        <p:xfrm>
          <a:off x="255464" y="1783931"/>
          <a:ext cx="8928992" cy="2686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438"/>
                <a:gridCol w="868797"/>
                <a:gridCol w="984636"/>
                <a:gridCol w="984636"/>
                <a:gridCol w="835784"/>
                <a:gridCol w="835784"/>
                <a:gridCol w="901809"/>
                <a:gridCol w="762467"/>
                <a:gridCol w="913749"/>
                <a:gridCol w="1435892"/>
              </a:tblGrid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>
                          <a:effectLst/>
                        </a:rPr>
                        <a:t>序号</a:t>
                      </a:r>
                      <a:endParaRPr lang="zh-CN" altLang="en-US" sz="10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1" i="0" dirty="0">
                          <a:solidFill>
                            <a:srgbClr val="FFFFFF"/>
                          </a:solidFill>
                          <a:effectLst/>
                        </a:rPr>
                        <a:t>数据文件</a:t>
                      </a:r>
                      <a:endParaRPr lang="zh-CN" altLang="en-US" sz="10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1" i="0" dirty="0">
                          <a:solidFill>
                            <a:srgbClr val="FFFFFF"/>
                          </a:solidFill>
                          <a:effectLst/>
                        </a:rPr>
                        <a:t>大小</a:t>
                      </a:r>
                      <a:endParaRPr lang="zh-CN" altLang="en-US" sz="10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1" i="0" dirty="0">
                          <a:solidFill>
                            <a:srgbClr val="FFFFFF"/>
                          </a:solidFill>
                          <a:effectLst/>
                        </a:rPr>
                        <a:t>行数</a:t>
                      </a:r>
                      <a:endParaRPr lang="zh-CN" altLang="en-US" sz="10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1" i="0" dirty="0">
                          <a:solidFill>
                            <a:srgbClr val="FFFFFF"/>
                          </a:solidFill>
                          <a:effectLst/>
                        </a:rPr>
                        <a:t>列数</a:t>
                      </a:r>
                      <a:endParaRPr lang="en-US" altLang="zh-CN" sz="10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000" b="1" i="0" dirty="0">
                          <a:solidFill>
                            <a:srgbClr val="FFFFFF"/>
                          </a:solidFill>
                          <a:effectLst/>
                        </a:rPr>
                        <a:t>GP</a:t>
                      </a:r>
                      <a:r>
                        <a:rPr lang="zh-CN" altLang="en-US" sz="1000" b="1" i="0" dirty="0">
                          <a:solidFill>
                            <a:srgbClr val="FFFFFF"/>
                          </a:solidFill>
                          <a:effectLst/>
                        </a:rPr>
                        <a:t>表大小</a:t>
                      </a:r>
                      <a:endParaRPr lang="en-US" altLang="zh-CN" sz="10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000" b="1" i="0" dirty="0">
                          <a:solidFill>
                            <a:srgbClr val="FFFFFF"/>
                          </a:solidFill>
                          <a:effectLst/>
                        </a:rPr>
                        <a:t>DWS</a:t>
                      </a:r>
                      <a:r>
                        <a:rPr lang="zh-CN" altLang="en-US" sz="1000" b="1" i="0" dirty="0">
                          <a:solidFill>
                            <a:srgbClr val="FFFFFF"/>
                          </a:solidFill>
                          <a:effectLst/>
                        </a:rPr>
                        <a:t>表大小</a:t>
                      </a:r>
                      <a:endParaRPr lang="en-US" altLang="zh-CN" sz="10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000" b="1" i="0" dirty="0">
                          <a:solidFill>
                            <a:srgbClr val="FFFFFF"/>
                          </a:solidFill>
                          <a:effectLst/>
                        </a:rPr>
                        <a:t>DWS</a:t>
                      </a:r>
                      <a:r>
                        <a:rPr lang="zh-CN" altLang="en-US" sz="1000" b="1" i="0" dirty="0">
                          <a:solidFill>
                            <a:srgbClr val="FFFFFF"/>
                          </a:solidFill>
                          <a:effectLst/>
                        </a:rPr>
                        <a:t>入库时间及速率</a:t>
                      </a:r>
                      <a:endParaRPr lang="en-US" altLang="zh-CN" sz="1000" b="1" i="0" dirty="0">
                        <a:solidFill>
                          <a:srgbClr val="FFFFFF"/>
                        </a:solidFill>
                        <a:effectLst/>
                      </a:endParaRPr>
                    </a:p>
                    <a:p>
                      <a:pPr algn="ctr" fontAlgn="ctr" latinLnBrk="0"/>
                      <a:r>
                        <a:rPr lang="zh-CN" altLang="en-US" sz="1000" b="1" i="0" dirty="0">
                          <a:solidFill>
                            <a:srgbClr val="FFFFFF"/>
                          </a:solidFill>
                          <a:effectLst/>
                        </a:rPr>
                        <a:t>（</a:t>
                      </a:r>
                      <a:r>
                        <a:rPr lang="en-US" altLang="zh-CN" sz="1000" b="1" i="0" dirty="0">
                          <a:solidFill>
                            <a:srgbClr val="FFFFFF"/>
                          </a:solidFill>
                          <a:effectLst/>
                        </a:rPr>
                        <a:t>8</a:t>
                      </a:r>
                      <a:r>
                        <a:rPr lang="zh-CN" altLang="en-US" sz="1000" b="1" i="0" dirty="0">
                          <a:solidFill>
                            <a:srgbClr val="FFFFFF"/>
                          </a:solidFill>
                          <a:effectLst/>
                        </a:rPr>
                        <a:t>个并发）</a:t>
                      </a:r>
                      <a:endParaRPr lang="zh-CN" altLang="en-US" sz="10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 hMerge="1">
                  <a:tcPr anchor="ctr"/>
                </a:tc>
                <a:tc hMerge="1">
                  <a:tcPr anchor="ctr"/>
                </a:tc>
              </a:tr>
              <a:tr h="3691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>
                          <a:effectLst/>
                        </a:rPr>
                        <a:t>1</a:t>
                      </a:r>
                      <a:endParaRPr lang="en-US" altLang="zh-CN" sz="10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0" i="0">
                          <a:effectLst/>
                        </a:rPr>
                        <a:t>测试文件</a:t>
                      </a:r>
                      <a:r>
                        <a:rPr lang="en-US" altLang="zh-CN" sz="1000" b="0" i="0">
                          <a:effectLst/>
                        </a:rPr>
                        <a:t>1</a:t>
                      </a:r>
                      <a:endParaRPr lang="en-US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sz="1000" b="0" i="0" dirty="0">
                          <a:effectLst/>
                        </a:rPr>
                        <a:t>46GB</a:t>
                      </a:r>
                      <a:endParaRPr lang="en-US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altLang="zh-CN" sz="1000" b="0" i="0" dirty="0">
                          <a:effectLst/>
                        </a:rPr>
                        <a:t>328,212,553</a:t>
                      </a:r>
                      <a:endParaRPr lang="en-US" altLang="zh-CN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sz="1000" b="0" i="0" dirty="0">
                          <a:effectLst/>
                        </a:rPr>
                        <a:t>22</a:t>
                      </a:r>
                      <a:endParaRPr lang="en-US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sz="1000" b="0" i="0" dirty="0">
                          <a:effectLst/>
                        </a:rPr>
                        <a:t>10162MB</a:t>
                      </a:r>
                      <a:endParaRPr lang="en-US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sz="1000" b="0" i="0" dirty="0">
                          <a:effectLst/>
                        </a:rPr>
                        <a:t>4509MB</a:t>
                      </a:r>
                      <a:endParaRPr lang="en-US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altLang="zh-CN" sz="1000" b="0" i="0" dirty="0">
                          <a:effectLst/>
                        </a:rPr>
                        <a:t>00:00:52</a:t>
                      </a:r>
                      <a:endParaRPr lang="en-US" altLang="zh-CN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altLang="zh-CN" sz="1000" b="0" i="0" dirty="0">
                          <a:effectLst/>
                        </a:rPr>
                        <a:t>894.86MB/s</a:t>
                      </a:r>
                      <a:endParaRPr lang="en-US" altLang="zh-CN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altLang="zh-CN" sz="1000" b="0" i="0" dirty="0">
                          <a:effectLst/>
                        </a:rPr>
                        <a:t>623.53</a:t>
                      </a:r>
                      <a:r>
                        <a:rPr lang="zh-CN" altLang="en-US" sz="1000" b="0" i="0" dirty="0">
                          <a:effectLst/>
                        </a:rPr>
                        <a:t>万记录</a:t>
                      </a:r>
                      <a:r>
                        <a:rPr lang="en-US" altLang="zh-CN" sz="1000" b="0" i="0" dirty="0">
                          <a:effectLst/>
                        </a:rPr>
                        <a:t>/s</a:t>
                      </a:r>
                      <a:endParaRPr lang="en-US" altLang="zh-CN" sz="1000" b="0" i="0" dirty="0">
                        <a:effectLst/>
                      </a:endParaRPr>
                    </a:p>
                  </a:txBody>
                  <a:tcPr anchor="ctr"/>
                </a:tc>
              </a:tr>
              <a:tr h="3691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>
                          <a:effectLst/>
                        </a:rPr>
                        <a:t>2</a:t>
                      </a:r>
                      <a:endParaRPr lang="en-US" altLang="zh-CN" sz="10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0" i="0" dirty="0">
                          <a:effectLst/>
                        </a:rPr>
                        <a:t>测试文件</a:t>
                      </a:r>
                      <a:r>
                        <a:rPr lang="en-US" altLang="zh-CN" sz="1000" b="0" i="0" dirty="0">
                          <a:effectLst/>
                        </a:rPr>
                        <a:t>2</a:t>
                      </a:r>
                      <a:endParaRPr lang="en-US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sz="1000" b="0" i="0" dirty="0">
                          <a:effectLst/>
                        </a:rPr>
                        <a:t>76GB</a:t>
                      </a:r>
                      <a:endParaRPr lang="en-US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altLang="zh-CN" sz="1000" b="0" i="0" dirty="0">
                          <a:effectLst/>
                        </a:rPr>
                        <a:t>182,701,760</a:t>
                      </a:r>
                      <a:endParaRPr lang="en-US" altLang="zh-CN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sz="1000" b="0" i="0" dirty="0">
                          <a:effectLst/>
                        </a:rPr>
                        <a:t>43</a:t>
                      </a:r>
                      <a:endParaRPr lang="en-US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sz="1000" b="0" i="0" dirty="0">
                          <a:effectLst/>
                        </a:rPr>
                        <a:t>18GB</a:t>
                      </a:r>
                      <a:endParaRPr lang="en-US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sz="1000" b="0" i="0" dirty="0">
                          <a:effectLst/>
                        </a:rPr>
                        <a:t>19GB</a:t>
                      </a:r>
                      <a:endParaRPr lang="en-US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altLang="zh-CN" sz="1000" b="0" i="0" dirty="0">
                          <a:effectLst/>
                        </a:rPr>
                        <a:t>00:01:23</a:t>
                      </a:r>
                      <a:endParaRPr lang="en-US" altLang="zh-CN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altLang="zh-CN" sz="1000" b="0" i="0" dirty="0">
                          <a:effectLst/>
                        </a:rPr>
                        <a:t>929.91MB/s</a:t>
                      </a:r>
                      <a:endParaRPr lang="en-US" altLang="zh-CN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altLang="zh-CN" sz="1000" b="0" i="0" dirty="0">
                          <a:effectLst/>
                        </a:rPr>
                        <a:t>218.31</a:t>
                      </a:r>
                      <a:r>
                        <a:rPr lang="zh-CN" altLang="en-US" sz="1000" b="0" i="0" dirty="0">
                          <a:effectLst/>
                        </a:rPr>
                        <a:t>万记录</a:t>
                      </a:r>
                      <a:r>
                        <a:rPr lang="en-US" altLang="zh-CN" sz="1000" b="0" i="0" dirty="0">
                          <a:effectLst/>
                        </a:rPr>
                        <a:t>/s</a:t>
                      </a:r>
                      <a:endParaRPr lang="en-US" altLang="zh-CN" sz="1000" b="0" i="0" dirty="0">
                        <a:effectLst/>
                      </a:endParaRPr>
                    </a:p>
                  </a:txBody>
                  <a:tcPr anchor="ctr"/>
                </a:tc>
              </a:tr>
              <a:tr h="3691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>
                          <a:effectLst/>
                        </a:rPr>
                        <a:t>3</a:t>
                      </a:r>
                      <a:endParaRPr lang="en-US" altLang="zh-CN" sz="10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0" i="0" dirty="0">
                          <a:effectLst/>
                        </a:rPr>
                        <a:t>测试文件</a:t>
                      </a:r>
                      <a:r>
                        <a:rPr lang="en-US" altLang="zh-CN" sz="1000" b="0" i="0" dirty="0">
                          <a:effectLst/>
                        </a:rPr>
                        <a:t>3</a:t>
                      </a:r>
                      <a:endParaRPr lang="en-US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sz="1000" b="0" i="0" dirty="0">
                          <a:effectLst/>
                        </a:rPr>
                        <a:t>151GB</a:t>
                      </a:r>
                      <a:endParaRPr lang="en-US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altLang="zh-CN" sz="1000" b="0" i="0" dirty="0">
                          <a:effectLst/>
                        </a:rPr>
                        <a:t>303,462,291</a:t>
                      </a:r>
                      <a:endParaRPr lang="en-US" altLang="zh-CN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sz="1000" b="0" i="0" dirty="0">
                          <a:effectLst/>
                        </a:rPr>
                        <a:t>57</a:t>
                      </a:r>
                      <a:endParaRPr lang="en-US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sz="1000" b="0" i="0" dirty="0">
                          <a:effectLst/>
                        </a:rPr>
                        <a:t>32GB</a:t>
                      </a:r>
                      <a:endParaRPr lang="en-US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sz="1000" b="0" i="0">
                          <a:effectLst/>
                        </a:rPr>
                        <a:t>28GB</a:t>
                      </a:r>
                      <a:endParaRPr lang="en-US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altLang="zh-CN" sz="1000" b="0" i="0" dirty="0">
                          <a:effectLst/>
                        </a:rPr>
                        <a:t>00:02:14</a:t>
                      </a:r>
                      <a:endParaRPr lang="en-US" altLang="zh-CN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altLang="zh-CN" sz="1000" b="0" i="0" dirty="0">
                          <a:effectLst/>
                        </a:rPr>
                        <a:t>1149.06MB/s</a:t>
                      </a:r>
                      <a:endParaRPr lang="en-US" altLang="zh-CN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altLang="zh-CN" sz="1000" b="0" i="0" dirty="0">
                          <a:effectLst/>
                        </a:rPr>
                        <a:t>225.51</a:t>
                      </a:r>
                      <a:r>
                        <a:rPr lang="zh-CN" altLang="en-US" sz="1000" b="0" i="0" dirty="0">
                          <a:effectLst/>
                        </a:rPr>
                        <a:t>万记录</a:t>
                      </a:r>
                      <a:r>
                        <a:rPr lang="en-US" altLang="zh-CN" sz="1000" b="0" i="0" dirty="0">
                          <a:effectLst/>
                        </a:rPr>
                        <a:t>/s</a:t>
                      </a:r>
                      <a:endParaRPr lang="en-US" altLang="zh-CN" sz="1000" b="0" i="0" dirty="0">
                        <a:effectLst/>
                      </a:endParaRPr>
                    </a:p>
                  </a:txBody>
                  <a:tcPr anchor="ctr"/>
                </a:tc>
              </a:tr>
              <a:tr h="3691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>
                          <a:effectLst/>
                        </a:rPr>
                        <a:t>4</a:t>
                      </a:r>
                      <a:endParaRPr lang="en-US" altLang="zh-CN" sz="10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0" i="0" dirty="0">
                          <a:effectLst/>
                        </a:rPr>
                        <a:t>测试文件</a:t>
                      </a:r>
                      <a:r>
                        <a:rPr lang="en-US" altLang="zh-CN" sz="1000" b="0" i="0" dirty="0">
                          <a:effectLst/>
                        </a:rPr>
                        <a:t>4</a:t>
                      </a:r>
                      <a:endParaRPr lang="en-US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sz="1000" b="0" i="0" dirty="0">
                          <a:effectLst/>
                        </a:rPr>
                        <a:t>172GB</a:t>
                      </a:r>
                      <a:endParaRPr lang="en-US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altLang="zh-CN" sz="1000" b="0" i="0" dirty="0">
                          <a:effectLst/>
                        </a:rPr>
                        <a:t>633,028,211</a:t>
                      </a:r>
                      <a:endParaRPr lang="en-US" altLang="zh-CN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sz="1000" b="0" i="0" dirty="0">
                          <a:effectLst/>
                        </a:rPr>
                        <a:t>33</a:t>
                      </a:r>
                      <a:endParaRPr lang="en-US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sz="1000" b="0" i="0" dirty="0">
                          <a:effectLst/>
                        </a:rPr>
                        <a:t>53GB</a:t>
                      </a:r>
                      <a:endParaRPr lang="en-US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sz="1000" b="0" i="0" dirty="0">
                          <a:effectLst/>
                        </a:rPr>
                        <a:t>51GB</a:t>
                      </a:r>
                      <a:endParaRPr lang="en-US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altLang="zh-CN" sz="1000" b="0" i="0" dirty="0">
                          <a:effectLst/>
                        </a:rPr>
                        <a:t>00:03:03</a:t>
                      </a:r>
                      <a:endParaRPr lang="en-US" altLang="zh-CN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altLang="zh-CN" sz="1000" b="0" i="0" dirty="0">
                          <a:effectLst/>
                        </a:rPr>
                        <a:t>961.37MB/s</a:t>
                      </a:r>
                      <a:endParaRPr lang="en-US" altLang="zh-CN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altLang="zh-CN" sz="1000" b="0" i="0" dirty="0">
                          <a:effectLst/>
                        </a:rPr>
                        <a:t>345.53</a:t>
                      </a:r>
                      <a:r>
                        <a:rPr lang="zh-CN" altLang="en-US" sz="1000" b="0" i="0" dirty="0">
                          <a:effectLst/>
                        </a:rPr>
                        <a:t>万记录</a:t>
                      </a:r>
                      <a:r>
                        <a:rPr lang="en-US" altLang="zh-CN" sz="1000" b="0" i="0" dirty="0">
                          <a:effectLst/>
                        </a:rPr>
                        <a:t>/s</a:t>
                      </a:r>
                      <a:endParaRPr lang="en-US" altLang="zh-CN" sz="1000" b="0" i="0" dirty="0">
                        <a:effectLst/>
                      </a:endParaRPr>
                    </a:p>
                  </a:txBody>
                  <a:tcPr anchor="ctr"/>
                </a:tc>
              </a:tr>
              <a:tr h="3691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>
                          <a:effectLst/>
                        </a:rPr>
                        <a:t>5</a:t>
                      </a:r>
                      <a:endParaRPr lang="en-US" altLang="zh-CN" sz="10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0" i="0" dirty="0">
                          <a:effectLst/>
                        </a:rPr>
                        <a:t>测试文件</a:t>
                      </a:r>
                      <a:r>
                        <a:rPr lang="en-US" altLang="zh-CN" sz="1000" b="0" i="0" dirty="0">
                          <a:effectLst/>
                        </a:rPr>
                        <a:t>5</a:t>
                      </a:r>
                      <a:endParaRPr lang="en-US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sz="1000" b="0" i="0" dirty="0">
                          <a:effectLst/>
                        </a:rPr>
                        <a:t>184GB</a:t>
                      </a:r>
                      <a:endParaRPr lang="en-US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altLang="zh-CN" sz="1000" b="0" i="0" dirty="0">
                          <a:effectLst/>
                        </a:rPr>
                        <a:t>659,858,174</a:t>
                      </a:r>
                      <a:endParaRPr lang="en-US" altLang="zh-CN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sz="1000" b="0" i="0" dirty="0">
                          <a:effectLst/>
                        </a:rPr>
                        <a:t>37</a:t>
                      </a:r>
                      <a:endParaRPr lang="en-US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sz="1000" b="0" i="0" dirty="0">
                          <a:effectLst/>
                        </a:rPr>
                        <a:t>45GB</a:t>
                      </a:r>
                      <a:endParaRPr lang="en-US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sz="1000" b="0" i="0" dirty="0">
                          <a:effectLst/>
                        </a:rPr>
                        <a:t>41GB</a:t>
                      </a:r>
                      <a:endParaRPr lang="en-US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altLang="zh-CN" sz="1000" b="0" i="0">
                          <a:effectLst/>
                        </a:rPr>
                        <a:t>00:03:12</a:t>
                      </a:r>
                      <a:endParaRPr lang="en-US" altLang="zh-CN" sz="10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altLang="zh-CN" sz="1000" b="0" i="0" dirty="0">
                          <a:effectLst/>
                        </a:rPr>
                        <a:t>981.11MB/s</a:t>
                      </a:r>
                      <a:endParaRPr lang="en-US" altLang="zh-CN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r>
                        <a:rPr lang="en-US" altLang="zh-CN" sz="1000" b="0" i="0" dirty="0">
                          <a:effectLst/>
                        </a:rPr>
                        <a:t>343.60</a:t>
                      </a:r>
                      <a:r>
                        <a:rPr lang="zh-CN" altLang="en-US" sz="1000" b="0" i="0" dirty="0">
                          <a:effectLst/>
                        </a:rPr>
                        <a:t>万记录</a:t>
                      </a:r>
                      <a:r>
                        <a:rPr lang="en-US" altLang="zh-CN" sz="1000" b="0" i="0" dirty="0">
                          <a:effectLst/>
                        </a:rPr>
                        <a:t>/s</a:t>
                      </a:r>
                      <a:endParaRPr lang="en-US" altLang="zh-CN" sz="1000" b="0" i="0" dirty="0">
                        <a:effectLst/>
                      </a:endParaRPr>
                    </a:p>
                  </a:txBody>
                  <a:tcPr anchor="ctr"/>
                </a:tc>
              </a:tr>
              <a:tr h="369134">
                <a:tc>
                  <a:txBody>
                    <a:bodyPr/>
                    <a:lstStyle/>
                    <a:p>
                      <a:pPr algn="ctr"/>
                      <a:endParaRPr lang="en-US" altLang="zh-CN" sz="1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endParaRPr lang="en-US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endParaRPr lang="en-US" altLang="zh-CN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endParaRPr lang="en-US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endParaRPr lang="en-US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endParaRPr lang="en-US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endParaRPr lang="en-US" altLang="zh-CN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endParaRPr lang="en-US" altLang="zh-CN" sz="10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 latinLnBrk="0"/>
                      <a:endParaRPr lang="en-US" altLang="zh-CN" sz="1000" b="0" i="0" dirty="0">
                        <a:effectLst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183456" y="4470185"/>
            <a:ext cx="9649071" cy="6792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altLang="zh-CN" sz="1165" b="1" kern="100" dirty="0">
                <a:solidFill>
                  <a:schemeClr val="bg1">
                    <a:lumMod val="65000"/>
                  </a:schemeClr>
                </a:solidFill>
                <a:latin typeface="+mn-ea"/>
                <a:cs typeface="Times New Roman" panose="02020603050405020304" pitchFamily="18" charset="0"/>
              </a:rPr>
              <a:t>*</a:t>
            </a:r>
            <a:r>
              <a:rPr lang="zh-CN" altLang="en-US" sz="1165" b="1" kern="100" dirty="0">
                <a:solidFill>
                  <a:schemeClr val="bg1">
                    <a:lumMod val="65000"/>
                  </a:schemeClr>
                </a:solidFill>
                <a:latin typeface="+mn-ea"/>
                <a:cs typeface="Times New Roman" panose="02020603050405020304" pitchFamily="18" charset="0"/>
              </a:rPr>
              <a:t>注：</a:t>
            </a:r>
            <a:r>
              <a:rPr lang="en-US" altLang="zh-CN" sz="1165" b="1" kern="100" dirty="0">
                <a:solidFill>
                  <a:schemeClr val="bg1">
                    <a:lumMod val="65000"/>
                  </a:schemeClr>
                </a:solidFill>
                <a:latin typeface="+mn-ea"/>
                <a:cs typeface="Times New Roman" panose="02020603050405020304" pitchFamily="18" charset="0"/>
              </a:rPr>
              <a:t>1</a:t>
            </a:r>
            <a:r>
              <a:rPr lang="zh-CN" altLang="en-US" sz="1165" b="1" kern="100" dirty="0">
                <a:solidFill>
                  <a:schemeClr val="bg1">
                    <a:lumMod val="65000"/>
                  </a:schemeClr>
                </a:solidFill>
                <a:latin typeface="+mn-ea"/>
                <a:cs typeface="Times New Roman" panose="02020603050405020304" pitchFamily="18" charset="0"/>
              </a:rPr>
              <a:t>）以上测试结果仅供参考，实际加载效率受硬件和可用资源的影响。</a:t>
            </a:r>
            <a:endParaRPr lang="en-US" altLang="zh-CN" sz="1165" b="1" kern="100" dirty="0">
              <a:solidFill>
                <a:schemeClr val="bg1">
                  <a:lumMod val="65000"/>
                </a:schemeClr>
              </a:solidFill>
              <a:latin typeface="+mn-ea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altLang="zh-CN" sz="1165" b="1" kern="100" dirty="0">
                <a:solidFill>
                  <a:schemeClr val="bg1">
                    <a:lumMod val="65000"/>
                  </a:schemeClr>
                </a:solidFill>
                <a:latin typeface="+mn-ea"/>
                <a:cs typeface="Times New Roman" panose="02020603050405020304" pitchFamily="18" charset="0"/>
              </a:rPr>
              <a:t>          2</a:t>
            </a:r>
            <a:r>
              <a:rPr lang="zh-CN" altLang="en-US" sz="1165" b="1" kern="100" dirty="0">
                <a:solidFill>
                  <a:schemeClr val="bg1">
                    <a:lumMod val="65000"/>
                  </a:schemeClr>
                </a:solidFill>
                <a:latin typeface="+mn-ea"/>
                <a:cs typeface="Times New Roman" panose="02020603050405020304" pitchFamily="18" charset="0"/>
              </a:rPr>
              <a:t>）表大小受产品压缩算法及压缩等级配置影响，所以与</a:t>
            </a:r>
            <a:r>
              <a:rPr lang="en-US" altLang="zh-CN" sz="1165" b="1" kern="100" dirty="0">
                <a:solidFill>
                  <a:schemeClr val="bg1">
                    <a:lumMod val="65000"/>
                  </a:schemeClr>
                </a:solidFill>
                <a:latin typeface="+mn-ea"/>
                <a:cs typeface="Times New Roman" panose="02020603050405020304" pitchFamily="18" charset="0"/>
              </a:rPr>
              <a:t>GP</a:t>
            </a:r>
            <a:r>
              <a:rPr lang="zh-CN" altLang="en-US" sz="1165" b="1" kern="100" dirty="0">
                <a:solidFill>
                  <a:schemeClr val="bg1">
                    <a:lumMod val="65000"/>
                  </a:schemeClr>
                </a:solidFill>
                <a:latin typeface="+mn-ea"/>
                <a:cs typeface="Times New Roman" panose="02020603050405020304" pitchFamily="18" charset="0"/>
              </a:rPr>
              <a:t>表现不一致。</a:t>
            </a:r>
            <a:endParaRPr lang="en-US" altLang="zh-CN" sz="1165" b="1" kern="100" dirty="0">
              <a:solidFill>
                <a:schemeClr val="bg1">
                  <a:lumMod val="65000"/>
                </a:schemeClr>
              </a:solidFill>
              <a:latin typeface="+mn-ea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-282921" y="9582"/>
            <a:ext cx="2266577" cy="1977484"/>
            <a:chOff x="-314695" y="0"/>
            <a:chExt cx="2266577" cy="1977484"/>
          </a:xfrm>
        </p:grpSpPr>
        <p:sp>
          <p:nvSpPr>
            <p:cNvPr id="3" name="斜纹 2"/>
            <p:cNvSpPr/>
            <p:nvPr/>
          </p:nvSpPr>
          <p:spPr>
            <a:xfrm>
              <a:off x="-20148" y="0"/>
              <a:ext cx="1972030" cy="1977484"/>
            </a:xfrm>
            <a:prstGeom prst="diagStrip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 rot="18925377">
              <a:off x="-314695" y="602728"/>
              <a:ext cx="21690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tx2"/>
                  </a:solidFill>
                </a:rPr>
                <a:t>未完成</a:t>
              </a:r>
              <a:endParaRPr lang="zh-CN" altLang="en-US" sz="1600" dirty="0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477308" y="170921"/>
            <a:ext cx="677545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sz="2000" dirty="0"/>
              <a:t>信创改造案例</a:t>
            </a:r>
            <a:r>
              <a:rPr lang="en-US" altLang="zh-CN" sz="2000" dirty="0"/>
              <a:t>1</a:t>
            </a:r>
            <a:r>
              <a:rPr lang="zh-CN" altLang="en-US" sz="2000" dirty="0"/>
              <a:t>：某金融机构信创</a:t>
            </a:r>
            <a:r>
              <a:rPr lang="en-US" altLang="zh-CN" sz="2000" dirty="0"/>
              <a:t>MPP</a:t>
            </a:r>
            <a:r>
              <a:rPr lang="zh-CN" altLang="en-US" sz="2000" dirty="0"/>
              <a:t>数据库选型</a:t>
            </a:r>
            <a:endParaRPr lang="en-US" altLang="zh-CN" sz="2000" dirty="0"/>
          </a:p>
        </p:txBody>
      </p:sp>
      <p:sp>
        <p:nvSpPr>
          <p:cNvPr id="23" name="文本框 22"/>
          <p:cNvSpPr txBox="1"/>
          <p:nvPr/>
        </p:nvSpPr>
        <p:spPr>
          <a:xfrm>
            <a:off x="190835" y="851057"/>
            <a:ext cx="3674198" cy="347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42900" indent="-342900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  <a:lvl2pPr marL="0" lvl="1">
              <a:lnSpc>
                <a:spcPct val="110000"/>
              </a:lnSpc>
              <a:spcBef>
                <a:spcPts val="1540"/>
              </a:spcBef>
              <a:buSzPct val="50000"/>
              <a:defRPr sz="2000" b="1">
                <a:solidFill>
                  <a:schemeClr val="tx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</a:lstStyle>
          <a:p>
            <a:r>
              <a:rPr lang="zh-CN" altLang="en-US" sz="1665" dirty="0"/>
              <a:t>主要功能表现</a:t>
            </a:r>
            <a:endParaRPr lang="zh-CN" altLang="en-US" sz="1665" dirty="0"/>
          </a:p>
        </p:txBody>
      </p:sp>
      <p:graphicFrame>
        <p:nvGraphicFramePr>
          <p:cNvPr id="11" name="图表 10"/>
          <p:cNvGraphicFramePr/>
          <p:nvPr/>
        </p:nvGraphicFramePr>
        <p:xfrm>
          <a:off x="397874" y="1345332"/>
          <a:ext cx="9290638" cy="3816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-282921" y="9582"/>
            <a:ext cx="2266577" cy="1977484"/>
            <a:chOff x="-314695" y="0"/>
            <a:chExt cx="2266577" cy="1977484"/>
          </a:xfrm>
        </p:grpSpPr>
        <p:sp>
          <p:nvSpPr>
            <p:cNvPr id="3" name="斜纹 2"/>
            <p:cNvSpPr/>
            <p:nvPr/>
          </p:nvSpPr>
          <p:spPr>
            <a:xfrm>
              <a:off x="-20148" y="0"/>
              <a:ext cx="1972030" cy="1977484"/>
            </a:xfrm>
            <a:prstGeom prst="diagStrip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 rot="18925377">
              <a:off x="-314695" y="602728"/>
              <a:ext cx="21690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tx2"/>
                  </a:solidFill>
                </a:rPr>
                <a:t>已过时，慎用！</a:t>
              </a:r>
              <a:endParaRPr lang="zh-CN" altLang="en-US" sz="1600" dirty="0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477308" y="170921"/>
            <a:ext cx="677545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sz="2000" dirty="0"/>
              <a:t>信创改造案例</a:t>
            </a:r>
            <a:r>
              <a:rPr lang="en-US" altLang="zh-CN" sz="2000" dirty="0"/>
              <a:t>1</a:t>
            </a:r>
            <a:r>
              <a:rPr lang="zh-CN" altLang="en-US" sz="2000" dirty="0"/>
              <a:t>：某金融机构信创</a:t>
            </a:r>
            <a:r>
              <a:rPr lang="en-US" altLang="zh-CN" sz="2000" dirty="0"/>
              <a:t>MPP</a:t>
            </a:r>
            <a:r>
              <a:rPr lang="zh-CN" altLang="en-US" sz="2000" dirty="0"/>
              <a:t>数据库选型</a:t>
            </a:r>
            <a:endParaRPr lang="en-US" altLang="zh-CN" sz="2000" dirty="0"/>
          </a:p>
        </p:txBody>
      </p:sp>
      <p:sp>
        <p:nvSpPr>
          <p:cNvPr id="23" name="文本框 22"/>
          <p:cNvSpPr txBox="1"/>
          <p:nvPr/>
        </p:nvSpPr>
        <p:spPr>
          <a:xfrm>
            <a:off x="190835" y="851057"/>
            <a:ext cx="3674198" cy="347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42900" indent="-342900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  <a:lvl2pPr marL="0" lvl="1">
              <a:lnSpc>
                <a:spcPct val="110000"/>
              </a:lnSpc>
              <a:spcBef>
                <a:spcPts val="1540"/>
              </a:spcBef>
              <a:buSzPct val="50000"/>
              <a:defRPr sz="2000" b="1">
                <a:solidFill>
                  <a:schemeClr val="tx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</a:lstStyle>
          <a:p>
            <a:r>
              <a:rPr lang="zh-CN" altLang="en-US" sz="1665" dirty="0"/>
              <a:t>主要性能表现</a:t>
            </a:r>
            <a:endParaRPr lang="zh-CN" altLang="en-US" sz="1665" dirty="0"/>
          </a:p>
        </p:txBody>
      </p:sp>
      <p:graphicFrame>
        <p:nvGraphicFramePr>
          <p:cNvPr id="11" name="图表 10"/>
          <p:cNvGraphicFramePr/>
          <p:nvPr/>
        </p:nvGraphicFramePr>
        <p:xfrm>
          <a:off x="291468" y="1345332"/>
          <a:ext cx="9577064" cy="4104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-282921" y="9582"/>
            <a:ext cx="2266577" cy="1977484"/>
            <a:chOff x="-314695" y="0"/>
            <a:chExt cx="2266577" cy="1977484"/>
          </a:xfrm>
        </p:grpSpPr>
        <p:sp>
          <p:nvSpPr>
            <p:cNvPr id="3" name="斜纹 2"/>
            <p:cNvSpPr/>
            <p:nvPr/>
          </p:nvSpPr>
          <p:spPr>
            <a:xfrm>
              <a:off x="-20148" y="0"/>
              <a:ext cx="1972030" cy="1977484"/>
            </a:xfrm>
            <a:prstGeom prst="diagStrip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 rot="18925377">
              <a:off x="-314695" y="602728"/>
              <a:ext cx="21690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tx2"/>
                  </a:solidFill>
                </a:rPr>
                <a:t>已过时，慎用！</a:t>
              </a:r>
              <a:endParaRPr lang="zh-CN" altLang="en-US" sz="1600" dirty="0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477308" y="170921"/>
            <a:ext cx="677545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sz="2000" dirty="0"/>
              <a:t>信创改造案例</a:t>
            </a:r>
            <a:r>
              <a:rPr lang="en-US" altLang="zh-CN" sz="2000" dirty="0"/>
              <a:t>1</a:t>
            </a:r>
            <a:r>
              <a:rPr lang="zh-CN" altLang="en-US" sz="2000" dirty="0"/>
              <a:t>：某金融机构信创</a:t>
            </a:r>
            <a:r>
              <a:rPr lang="en-US" altLang="zh-CN" sz="2000" dirty="0"/>
              <a:t>MPP</a:t>
            </a:r>
            <a:r>
              <a:rPr lang="zh-CN" altLang="en-US" sz="2000" dirty="0"/>
              <a:t>数据库选型</a:t>
            </a:r>
            <a:endParaRPr lang="en-US" altLang="zh-CN" sz="2000" dirty="0"/>
          </a:p>
        </p:txBody>
      </p:sp>
      <p:sp>
        <p:nvSpPr>
          <p:cNvPr id="23" name="文本框 22"/>
          <p:cNvSpPr txBox="1"/>
          <p:nvPr/>
        </p:nvSpPr>
        <p:spPr>
          <a:xfrm>
            <a:off x="190834" y="851057"/>
            <a:ext cx="5609245" cy="348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42900" indent="-342900"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  <a:lvl2pPr marL="0" lvl="1">
              <a:lnSpc>
                <a:spcPct val="110000"/>
              </a:lnSpc>
              <a:spcBef>
                <a:spcPts val="1540"/>
              </a:spcBef>
              <a:buSzPct val="50000"/>
              <a:defRPr sz="2000" b="1">
                <a:solidFill>
                  <a:schemeClr val="tx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</a:lstStyle>
          <a:p>
            <a:r>
              <a:rPr lang="zh-CN" altLang="en-US" sz="1665" dirty="0"/>
              <a:t>测试总结</a:t>
            </a:r>
            <a:endParaRPr lang="zh-CN" altLang="en-US" sz="1665" dirty="0"/>
          </a:p>
        </p:txBody>
      </p:sp>
      <p:sp>
        <p:nvSpPr>
          <p:cNvPr id="2" name="矩形 1"/>
          <p:cNvSpPr/>
          <p:nvPr/>
        </p:nvSpPr>
        <p:spPr>
          <a:xfrm>
            <a:off x="475193" y="1417340"/>
            <a:ext cx="9142105" cy="27162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200000"/>
              </a:lnSpc>
              <a:spcBef>
                <a:spcPts val="600"/>
              </a:spcBef>
              <a:defRPr/>
            </a:pPr>
            <a:r>
              <a:rPr lang="zh-CN" altLang="en-US" sz="16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根据以上测试结果，可以知道：</a:t>
            </a:r>
            <a:endParaRPr lang="zh-CN" altLang="en-US" sz="1600" kern="100" dirty="0">
              <a:solidFill>
                <a:prstClr val="black"/>
              </a:solidFill>
              <a:latin typeface="+mn-ea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2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16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在主要功能方面，</a:t>
            </a:r>
            <a:r>
              <a:rPr lang="en-US" altLang="zh-CN" sz="16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DWS</a:t>
            </a:r>
            <a:r>
              <a:rPr lang="zh-CN" altLang="en-US" sz="16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、厂商</a:t>
            </a:r>
            <a:r>
              <a:rPr lang="en-US" altLang="zh-CN" sz="16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1</a:t>
            </a:r>
            <a:r>
              <a:rPr lang="zh-CN" altLang="en-US" sz="16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、厂商</a:t>
            </a:r>
            <a:r>
              <a:rPr lang="en-US" altLang="zh-CN" sz="16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2</a:t>
            </a:r>
            <a:r>
              <a:rPr lang="zh-CN" altLang="en-US" sz="16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的表现较好，事务支持更完整，兼容性更高；</a:t>
            </a:r>
            <a:endParaRPr lang="zh-CN" altLang="en-US" sz="1600" kern="100" dirty="0">
              <a:solidFill>
                <a:prstClr val="black"/>
              </a:solidFill>
              <a:latin typeface="+mn-ea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2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16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在主要性能方面，</a:t>
            </a:r>
            <a:r>
              <a:rPr lang="en-US" altLang="zh-CN" sz="16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DWS</a:t>
            </a:r>
            <a:r>
              <a:rPr lang="zh-CN" altLang="en-US" sz="16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和厂商</a:t>
            </a:r>
            <a:r>
              <a:rPr lang="en-US" altLang="zh-CN" sz="16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3</a:t>
            </a:r>
            <a:r>
              <a:rPr lang="zh-CN" altLang="en-US" sz="16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的表现相较其他厂商更为突出一些，尤其是</a:t>
            </a:r>
            <a:r>
              <a:rPr lang="en-US" altLang="zh-CN" sz="16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TPC-H</a:t>
            </a:r>
            <a:r>
              <a:rPr lang="zh-CN" altLang="en-US" sz="16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、业务场景、数据装载和并发查询方面；</a:t>
            </a:r>
            <a:endParaRPr lang="zh-CN" altLang="en-US" sz="1600" kern="100" dirty="0">
              <a:solidFill>
                <a:prstClr val="black"/>
              </a:solidFill>
              <a:latin typeface="+mn-ea"/>
              <a:cs typeface="Times New Roman" panose="02020603050405020304" pitchFamily="18" charset="0"/>
            </a:endParaRPr>
          </a:p>
          <a:p>
            <a:pPr lvl="0" algn="just">
              <a:lnSpc>
                <a:spcPct val="200000"/>
              </a:lnSpc>
              <a:spcBef>
                <a:spcPts val="600"/>
              </a:spcBef>
              <a:defRPr/>
            </a:pPr>
            <a:r>
              <a:rPr lang="zh-CN" altLang="en-US" sz="16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综合功能和性能的结果，结合实际的需求场景，本次信创</a:t>
            </a:r>
            <a:r>
              <a:rPr lang="en-US" altLang="zh-CN" sz="16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MPP</a:t>
            </a:r>
            <a:r>
              <a:rPr lang="zh-CN" altLang="en-US" sz="16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数据库选型推荐使用</a:t>
            </a:r>
            <a:r>
              <a:rPr lang="en-US" altLang="zh-CN" sz="16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DWS</a:t>
            </a:r>
            <a:r>
              <a:rPr lang="zh-CN" altLang="en-US" sz="16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。</a:t>
            </a:r>
            <a:endParaRPr lang="zh-CN" altLang="en-US" sz="1600" kern="100" dirty="0">
              <a:solidFill>
                <a:prstClr val="black"/>
              </a:solidFill>
              <a:latin typeface="+mn-ea"/>
              <a:cs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-282921" y="9582"/>
            <a:ext cx="2266577" cy="1977484"/>
            <a:chOff x="-314695" y="0"/>
            <a:chExt cx="2266577" cy="1977484"/>
          </a:xfrm>
        </p:grpSpPr>
        <p:sp>
          <p:nvSpPr>
            <p:cNvPr id="4" name="斜纹 3"/>
            <p:cNvSpPr/>
            <p:nvPr/>
          </p:nvSpPr>
          <p:spPr>
            <a:xfrm>
              <a:off x="-20148" y="0"/>
              <a:ext cx="1972030" cy="1977484"/>
            </a:xfrm>
            <a:prstGeom prst="diagStrip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 rot="18925377">
              <a:off x="-314695" y="602728"/>
              <a:ext cx="21690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tx2"/>
                  </a:solidFill>
                </a:rPr>
                <a:t>已过时，慎用！</a:t>
              </a:r>
              <a:endParaRPr lang="zh-CN" altLang="en-US" sz="1600" dirty="0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0917" y="967564"/>
            <a:ext cx="9027585" cy="384721"/>
          </a:xfrm>
          <a:prstGeom prst="rect">
            <a:avLst/>
          </a:prstGeom>
          <a:noFill/>
          <a:ln>
            <a:noFill/>
          </a:ln>
        </p:spPr>
        <p:txBody>
          <a:bodyPr wrap="square" lIns="76200" tIns="38100" rIns="76200" bIns="38100" anchor="ctr" anchorCtr="0">
            <a:spAutoFit/>
          </a:bodyPr>
          <a:lstStyle/>
          <a:p>
            <a:pPr algn="ctr" defTabSz="761365">
              <a:buSzPct val="25000"/>
              <a:defRPr/>
            </a:pPr>
            <a:r>
              <a:rPr lang="en-US" sz="2000" b="1" dirty="0" err="1">
                <a:latin typeface="思源黑体 CN Light" panose="020B0300000000000000" charset="-122"/>
                <a:ea typeface="思源黑体 CN Light" panose="020B0300000000000000" charset="-122"/>
              </a:rPr>
              <a:t>G</a:t>
            </a:r>
            <a:r>
              <a:rPr lang="en-US" altLang="zh-CN" sz="2000" b="1" dirty="0" err="1">
                <a:latin typeface="思源黑体 CN Light" panose="020B0300000000000000" charset="-122"/>
                <a:ea typeface="思源黑体 CN Light" panose="020B0300000000000000" charset="-122"/>
              </a:rPr>
              <a:t>aussDB</a:t>
            </a:r>
            <a:r>
              <a:rPr lang="en-US" altLang="zh-CN" sz="2000" b="1" dirty="0">
                <a:latin typeface="思源黑体 CN Light" panose="020B0300000000000000" charset="-122"/>
                <a:ea typeface="思源黑体 CN Light" panose="020B0300000000000000" charset="-122"/>
              </a:rPr>
              <a:t>(</a:t>
            </a:r>
            <a:r>
              <a:rPr lang="en-US" sz="2000" b="1" dirty="0">
                <a:latin typeface="思源黑体 CN Light" panose="020B0300000000000000" charset="-122"/>
                <a:ea typeface="思源黑体 CN Light" panose="020B0300000000000000" charset="-122"/>
              </a:rPr>
              <a:t>DWS) </a:t>
            </a:r>
            <a:r>
              <a:rPr lang="zh-CN" altLang="en-US" sz="2000" b="1" dirty="0">
                <a:solidFill>
                  <a:schemeClr val="accent3"/>
                </a:solidFill>
                <a:latin typeface="思源黑体 CN Light" panose="020B0300000000000000" charset="-122"/>
                <a:ea typeface="思源黑体 CN Light" panose="020B0300000000000000" charset="-122"/>
              </a:rPr>
              <a:t>功能表现</a:t>
            </a:r>
            <a:r>
              <a:rPr lang="en-US" sz="2000" b="1" dirty="0">
                <a:solidFill>
                  <a:schemeClr val="accent3"/>
                </a:solidFill>
                <a:latin typeface="思源黑体 CN Light" panose="020B0300000000000000" charset="-122"/>
                <a:ea typeface="思源黑体 CN Light" panose="020B0300000000000000" charset="-122"/>
              </a:rPr>
              <a:t>.</a:t>
            </a:r>
            <a:endParaRPr lang="en-US" sz="2000" b="1" dirty="0">
              <a:solidFill>
                <a:schemeClr val="accent3"/>
              </a:solidFill>
              <a:latin typeface="思源黑体 CN Light" panose="020B0300000000000000" charset="-122"/>
              <a:ea typeface="思源黑体 CN Light" panose="020B0300000000000000" charset="-122"/>
            </a:endParaRPr>
          </a:p>
        </p:txBody>
      </p:sp>
      <p:pic>
        <p:nvPicPr>
          <p:cNvPr id="8" name="图表 7"/>
          <p:cNvPicPr>
            <a:picLocks noGrp="1" noRot="1" noChangeAspect="1" noMove="1" noResize="1" noEditPoints="1" noAdjustHandles="1" noChangeArrowheads="1" noChangeShapeType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48" y="1417340"/>
            <a:ext cx="9937104" cy="4176464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-282921" y="9582"/>
            <a:ext cx="2266577" cy="1977484"/>
            <a:chOff x="-314695" y="0"/>
            <a:chExt cx="2266577" cy="1977484"/>
          </a:xfrm>
        </p:grpSpPr>
        <p:sp>
          <p:nvSpPr>
            <p:cNvPr id="4" name="斜纹 3"/>
            <p:cNvSpPr/>
            <p:nvPr/>
          </p:nvSpPr>
          <p:spPr>
            <a:xfrm>
              <a:off x="-20148" y="0"/>
              <a:ext cx="1972030" cy="1977484"/>
            </a:xfrm>
            <a:prstGeom prst="diagStrip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 rot="18925377">
              <a:off x="-314695" y="602728"/>
              <a:ext cx="21690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tx2"/>
                  </a:solidFill>
                </a:rPr>
                <a:t>已过时，慎用！</a:t>
              </a:r>
              <a:endParaRPr lang="zh-CN" altLang="en-US" sz="1600" dirty="0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0917" y="967564"/>
            <a:ext cx="9027585" cy="384721"/>
          </a:xfrm>
          <a:prstGeom prst="rect">
            <a:avLst/>
          </a:prstGeom>
          <a:noFill/>
          <a:ln>
            <a:noFill/>
          </a:ln>
        </p:spPr>
        <p:txBody>
          <a:bodyPr wrap="square" lIns="76200" tIns="38100" rIns="76200" bIns="38100" anchor="ctr" anchorCtr="0">
            <a:spAutoFit/>
          </a:bodyPr>
          <a:lstStyle/>
          <a:p>
            <a:pPr algn="ctr" defTabSz="761365">
              <a:buSzPct val="25000"/>
              <a:defRPr/>
            </a:pPr>
            <a:r>
              <a:rPr lang="en-US" sz="2000" b="1" dirty="0" err="1">
                <a:latin typeface="思源黑体 CN Light" panose="020B0300000000000000" charset="-122"/>
                <a:ea typeface="思源黑体 CN Light" panose="020B0300000000000000" charset="-122"/>
              </a:rPr>
              <a:t>G</a:t>
            </a:r>
            <a:r>
              <a:rPr lang="en-US" altLang="zh-CN" sz="2000" b="1" dirty="0" err="1">
                <a:latin typeface="思源黑体 CN Light" panose="020B0300000000000000" charset="-122"/>
                <a:ea typeface="思源黑体 CN Light" panose="020B0300000000000000" charset="-122"/>
              </a:rPr>
              <a:t>aussDB</a:t>
            </a:r>
            <a:r>
              <a:rPr lang="en-US" altLang="zh-CN" sz="2000" b="1" dirty="0">
                <a:latin typeface="思源黑体 CN Light" panose="020B0300000000000000" charset="-122"/>
                <a:ea typeface="思源黑体 CN Light" panose="020B0300000000000000" charset="-122"/>
              </a:rPr>
              <a:t>(</a:t>
            </a:r>
            <a:r>
              <a:rPr lang="en-US" sz="2000" b="1" dirty="0">
                <a:latin typeface="思源黑体 CN Light" panose="020B0300000000000000" charset="-122"/>
                <a:ea typeface="思源黑体 CN Light" panose="020B0300000000000000" charset="-122"/>
              </a:rPr>
              <a:t>DWS) </a:t>
            </a:r>
            <a:r>
              <a:rPr lang="zh-CN" altLang="en-US" sz="2000" b="1" dirty="0">
                <a:solidFill>
                  <a:schemeClr val="accent3"/>
                </a:solidFill>
                <a:latin typeface="思源黑体 CN Light" panose="020B0300000000000000" charset="-122"/>
                <a:ea typeface="思源黑体 CN Light" panose="020B0300000000000000" charset="-122"/>
              </a:rPr>
              <a:t>性能表现</a:t>
            </a:r>
            <a:r>
              <a:rPr lang="en-US" sz="2000" b="1" dirty="0">
                <a:solidFill>
                  <a:schemeClr val="accent3"/>
                </a:solidFill>
                <a:latin typeface="思源黑体 CN Light" panose="020B0300000000000000" charset="-122"/>
                <a:ea typeface="思源黑体 CN Light" panose="020B0300000000000000" charset="-122"/>
              </a:rPr>
              <a:t>.</a:t>
            </a:r>
            <a:endParaRPr lang="en-US" sz="2000" b="1" dirty="0">
              <a:solidFill>
                <a:schemeClr val="accent3"/>
              </a:solidFill>
              <a:latin typeface="思源黑体 CN Light" panose="020B0300000000000000" charset="-122"/>
              <a:ea typeface="思源黑体 CN Light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0917" y="4884190"/>
            <a:ext cx="9038167" cy="2334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915" b="1">
                <a:solidFill>
                  <a:schemeClr val="tx1">
                    <a:alpha val="50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</a:defRPr>
            </a:lvl1pPr>
          </a:lstStyle>
          <a:p>
            <a:r>
              <a:rPr lang="en-US" altLang="zh-CN" dirty="0"/>
              <a:t>(</a:t>
            </a:r>
            <a:r>
              <a:rPr lang="zh-CN" altLang="en-US" dirty="0"/>
              <a:t>全量备份还原、增量备份还原、压缩备份、加密备份均排名前</a:t>
            </a:r>
            <a:r>
              <a:rPr lang="en-US" altLang="zh-CN" dirty="0"/>
              <a:t>2)</a:t>
            </a:r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1274535" y="2141432"/>
            <a:ext cx="11082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accent3"/>
                </a:solidFill>
                <a:latin typeface="思源黑体 CN Light" panose="020B0300000000000000" charset="-122"/>
                <a:ea typeface="思源黑体 CN Light" panose="020B0300000000000000" charset="-122"/>
              </a:rPr>
              <a:t>1st</a:t>
            </a:r>
            <a:endParaRPr lang="en-US" altLang="zh-CN" sz="2000" b="1" dirty="0">
              <a:solidFill>
                <a:schemeClr val="accent3"/>
              </a:solidFill>
              <a:latin typeface="思源黑体 CN Light" panose="020B0300000000000000" charset="-122"/>
              <a:ea typeface="思源黑体 CN Light" panose="020B03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74536" y="2526152"/>
            <a:ext cx="1457128" cy="233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15" b="1" dirty="0">
                <a:solidFill>
                  <a:schemeClr val="tx1">
                    <a:alpha val="50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</a:rPr>
              <a:t>(6</a:t>
            </a:r>
            <a:r>
              <a:rPr lang="zh-CN" altLang="en-US" sz="915" b="1" dirty="0">
                <a:solidFill>
                  <a:schemeClr val="tx1">
                    <a:alpha val="50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</a:rPr>
              <a:t>个用例</a:t>
            </a:r>
            <a:r>
              <a:rPr lang="en-US" altLang="zh-CN" sz="915" b="1" dirty="0">
                <a:solidFill>
                  <a:schemeClr val="tx1">
                    <a:alpha val="50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</a:rPr>
              <a:t>,</a:t>
            </a:r>
            <a:r>
              <a:rPr lang="zh-CN" altLang="en-US" sz="915" b="1" dirty="0">
                <a:solidFill>
                  <a:schemeClr val="tx1">
                    <a:alpha val="50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</a:rPr>
              <a:t>排名均前</a:t>
            </a:r>
            <a:r>
              <a:rPr lang="en-US" altLang="zh-CN" sz="915" b="1" dirty="0">
                <a:solidFill>
                  <a:schemeClr val="tx1">
                    <a:alpha val="50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</a:rPr>
              <a:t>3</a:t>
            </a:r>
            <a:r>
              <a:rPr lang="zh-CN" altLang="en-US" sz="915" b="1" dirty="0">
                <a:solidFill>
                  <a:schemeClr val="tx1">
                    <a:alpha val="50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</a:rPr>
              <a:t>名</a:t>
            </a:r>
            <a:r>
              <a:rPr lang="en-US" altLang="zh-CN" sz="915" b="1" dirty="0">
                <a:solidFill>
                  <a:schemeClr val="tx1">
                    <a:alpha val="50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</a:rPr>
              <a:t>).</a:t>
            </a:r>
            <a:endParaRPr lang="en-US" altLang="zh-CN" sz="915" b="1" dirty="0">
              <a:solidFill>
                <a:schemeClr val="tx1">
                  <a:alpha val="50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74535" y="3621847"/>
            <a:ext cx="11082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</a:rPr>
              <a:t>6.8%</a:t>
            </a: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4536" y="4006567"/>
            <a:ext cx="1457128" cy="233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15" b="1" dirty="0">
                <a:solidFill>
                  <a:schemeClr val="tx1">
                    <a:alpha val="50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</a:rPr>
              <a:t>(</a:t>
            </a:r>
            <a:r>
              <a:rPr lang="zh-CN" altLang="en-US" sz="915" b="1" dirty="0">
                <a:solidFill>
                  <a:schemeClr val="tx1">
                    <a:alpha val="50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</a:rPr>
              <a:t>查询效率下降率</a:t>
            </a:r>
            <a:r>
              <a:rPr lang="en-US" altLang="zh-CN" sz="915" b="1" dirty="0">
                <a:solidFill>
                  <a:schemeClr val="tx1">
                    <a:alpha val="50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</a:rPr>
              <a:t>).</a:t>
            </a:r>
            <a:endParaRPr lang="en-US" altLang="zh-CN" sz="915" b="1" dirty="0">
              <a:solidFill>
                <a:schemeClr val="tx1">
                  <a:alpha val="50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</a:endParaRPr>
          </a:p>
        </p:txBody>
      </p:sp>
      <p:graphicFrame>
        <p:nvGraphicFramePr>
          <p:cNvPr id="13" name="图表 12"/>
          <p:cNvGraphicFramePr/>
          <p:nvPr/>
        </p:nvGraphicFramePr>
        <p:xfrm>
          <a:off x="2503714" y="1649685"/>
          <a:ext cx="5152572" cy="29451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7428338" y="2141432"/>
            <a:ext cx="11082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accent3"/>
                </a:solidFill>
                <a:latin typeface="思源黑体 CN Light" panose="020B0300000000000000" charset="-122"/>
                <a:ea typeface="思源黑体 CN Light" panose="020B0300000000000000" charset="-122"/>
              </a:rPr>
              <a:t>1st</a:t>
            </a:r>
            <a:endParaRPr lang="en-US" altLang="zh-CN" sz="2000" b="1" dirty="0">
              <a:solidFill>
                <a:schemeClr val="accent3"/>
              </a:solidFill>
              <a:latin typeface="思源黑体 CN Light" panose="020B0300000000000000" charset="-122"/>
              <a:ea typeface="思源黑体 CN Light" panose="020B03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428339" y="2526152"/>
            <a:ext cx="1457128" cy="233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15" b="1" dirty="0">
                <a:solidFill>
                  <a:schemeClr val="tx1">
                    <a:alpha val="50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</a:rPr>
              <a:t>(3TB,</a:t>
            </a:r>
            <a:r>
              <a:rPr lang="zh-CN" altLang="en-US" sz="915" b="1" dirty="0">
                <a:solidFill>
                  <a:schemeClr val="tx1">
                    <a:alpha val="50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</a:rPr>
              <a:t>平均</a:t>
            </a:r>
            <a:r>
              <a:rPr lang="en-US" altLang="zh-CN" sz="915" b="1" dirty="0">
                <a:solidFill>
                  <a:schemeClr val="tx1">
                    <a:alpha val="50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</a:rPr>
              <a:t>7min50s).</a:t>
            </a:r>
            <a:endParaRPr lang="en-US" altLang="zh-CN" sz="915" b="1" dirty="0">
              <a:solidFill>
                <a:schemeClr val="tx1">
                  <a:alpha val="50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428338" y="3621847"/>
            <a:ext cx="11082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</a:rPr>
              <a:t>118s</a:t>
            </a: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428339" y="4006567"/>
            <a:ext cx="1457128" cy="233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15" b="1" dirty="0">
                <a:solidFill>
                  <a:schemeClr val="tx1">
                    <a:alpha val="50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</a:rPr>
              <a:t>(155GB,8</a:t>
            </a:r>
            <a:r>
              <a:rPr lang="zh-CN" altLang="en-US" sz="915" b="1" dirty="0">
                <a:solidFill>
                  <a:schemeClr val="tx1">
                    <a:alpha val="50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</a:rPr>
              <a:t>亿记录数</a:t>
            </a:r>
            <a:r>
              <a:rPr lang="en-US" altLang="zh-CN" sz="915" b="1" dirty="0">
                <a:solidFill>
                  <a:schemeClr val="tx1">
                    <a:alpha val="50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</a:rPr>
              <a:t>).</a:t>
            </a:r>
            <a:endParaRPr lang="en-US" altLang="zh-CN" sz="915" b="1" dirty="0">
              <a:solidFill>
                <a:schemeClr val="tx1">
                  <a:alpha val="50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3185" y="1616481"/>
            <a:ext cx="4073629" cy="3016108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-282921" y="9582"/>
            <a:ext cx="2266577" cy="1977484"/>
            <a:chOff x="-314695" y="0"/>
            <a:chExt cx="2266577" cy="1977484"/>
          </a:xfrm>
        </p:grpSpPr>
        <p:sp>
          <p:nvSpPr>
            <p:cNvPr id="9" name="斜纹 8"/>
            <p:cNvSpPr/>
            <p:nvPr/>
          </p:nvSpPr>
          <p:spPr>
            <a:xfrm>
              <a:off x="-20148" y="0"/>
              <a:ext cx="1972030" cy="1977484"/>
            </a:xfrm>
            <a:prstGeom prst="diagStrip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 rot="18925377">
              <a:off x="-314695" y="602728"/>
              <a:ext cx="21690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tx2"/>
                  </a:solidFill>
                </a:rPr>
                <a:t>已过时，慎用！</a:t>
              </a:r>
              <a:endParaRPr lang="zh-CN" altLang="en-US" sz="1600" dirty="0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oZGlkIjoiYjBjNGM2N2U3YzFhNDM2OTU1MDRhMWYzNGJmZGM3YWIifQ=="/>
  <p:tag name="KSO_WPP_MARK_KEY" val="b9ff2081-191a-46f9-b507-0dfd826b7cce"/>
</p:tagLst>
</file>

<file path=ppt/theme/theme1.xml><?xml version="1.0" encoding="utf-8"?>
<a:theme xmlns:a="http://schemas.openxmlformats.org/drawingml/2006/main" name="1_Office 主题​​">
  <a:themeElements>
    <a:clrScheme name="公司简介（测试）">
      <a:dk1>
        <a:sysClr val="windowText" lastClr="000000"/>
      </a:dk1>
      <a:lt1>
        <a:sysClr val="window" lastClr="FFFFFF"/>
      </a:lt1>
      <a:dk2>
        <a:srgbClr val="D24146"/>
      </a:dk2>
      <a:lt2>
        <a:srgbClr val="E0EBF5"/>
      </a:lt2>
      <a:accent1>
        <a:srgbClr val="0E62AF"/>
      </a:accent1>
      <a:accent2>
        <a:srgbClr val="F39606"/>
      </a:accent2>
      <a:accent3>
        <a:srgbClr val="108FD0"/>
      </a:accent3>
      <a:accent4>
        <a:srgbClr val="EDBE05"/>
      </a:accent4>
      <a:accent5>
        <a:srgbClr val="6AC7EB"/>
      </a:accent5>
      <a:accent6>
        <a:srgbClr val="F4E90E"/>
      </a:accent6>
      <a:hlink>
        <a:srgbClr val="FFC000"/>
      </a:hlink>
      <a:folHlink>
        <a:srgbClr val="954F72"/>
      </a:folHlink>
    </a:clrScheme>
    <a:fontScheme name="font">
      <a:majorFont>
        <a:latin typeface="思源黑体 CN Regular"/>
        <a:ea typeface="思源黑体 CN Regular"/>
        <a:cs typeface=""/>
      </a:majorFont>
      <a:minorFont>
        <a:latin typeface="思源黑体 CN Light"/>
        <a:ea typeface="思源黑体 CN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4414</Words>
  <Application>WPS 演示</Application>
  <PresentationFormat>自定义</PresentationFormat>
  <Paragraphs>596</Paragraphs>
  <Slides>21</Slides>
  <Notes>20</Notes>
  <HiddenSlides>11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1" baseType="lpstr">
      <vt:lpstr>Arial</vt:lpstr>
      <vt:lpstr>宋体</vt:lpstr>
      <vt:lpstr>Wingdings</vt:lpstr>
      <vt:lpstr>字魂58号-创中黑</vt:lpstr>
      <vt:lpstr>黑体</vt:lpstr>
      <vt:lpstr>思源黑体 CN Bold</vt:lpstr>
      <vt:lpstr>Arial</vt:lpstr>
      <vt:lpstr>Century Gothic</vt:lpstr>
      <vt:lpstr>微软雅黑</vt:lpstr>
      <vt:lpstr>Times New Roman</vt:lpstr>
      <vt:lpstr>思源黑体 CN Regular</vt:lpstr>
      <vt:lpstr>思源黑体 CN Light</vt:lpstr>
      <vt:lpstr>KSOFD723FC5D</vt:lpstr>
      <vt:lpstr>Segoe Print</vt:lpstr>
      <vt:lpstr>Arial Unicode MS</vt:lpstr>
      <vt:lpstr>Calibri</vt:lpstr>
      <vt:lpstr>思源黑体 CN Light</vt:lpstr>
      <vt:lpstr>KSOF618801C0</vt:lpstr>
      <vt:lpstr>KSOF6188761F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新一代数据服务平台选型和实践分享</dc:title>
  <dc:creator>hxq</dc:creator>
  <cp:lastModifiedBy>霍亮~上海</cp:lastModifiedBy>
  <cp:revision>1415</cp:revision>
  <dcterms:created xsi:type="dcterms:W3CDTF">2022-06-01T06:54:00Z</dcterms:created>
  <dcterms:modified xsi:type="dcterms:W3CDTF">2026-05-18T08:36:53Z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33C8C00E22D643DC8E6382B46C30E52B_13</vt:lpwstr>
  </property>
  <property fmtid="{D5CDD505-2E9C-101B-9397-08002B2CF9AE}" pid="3" name="KSOProductBuildVer">
    <vt:lpwstr>2052-12.1.0.26375</vt:lpwstr>
  </property>
</Properties>
</file>