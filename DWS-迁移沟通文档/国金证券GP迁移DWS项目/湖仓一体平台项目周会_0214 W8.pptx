
<file path=[Content_Types].xml><?xml version="1.0" encoding="utf-8"?>
<Types xmlns="http://schemas.openxmlformats.org/package/2006/content-types">
  <Default Extension="jpeg" ContentType="image/jpeg"/>
  <Default Extension="JPG" ContentType="image/.jpg"/>
  <Default Extension="tiff" ContentType="image/tif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handoutMasterIdLst>
    <p:handoutMasterId r:id="rId23"/>
  </p:handoutMasterIdLst>
  <p:sldIdLst>
    <p:sldId id="5160" r:id="rId3"/>
    <p:sldId id="5164" r:id="rId4"/>
    <p:sldId id="5174" r:id="rId5"/>
    <p:sldId id="5168" r:id="rId6"/>
    <p:sldId id="5182" r:id="rId7"/>
    <p:sldId id="5178" r:id="rId8"/>
    <p:sldId id="5188" r:id="rId9"/>
    <p:sldId id="5180" r:id="rId10"/>
    <p:sldId id="5184" r:id="rId12"/>
    <p:sldId id="5185" r:id="rId13"/>
    <p:sldId id="5186" r:id="rId14"/>
    <p:sldId id="5175" r:id="rId15"/>
    <p:sldId id="5172" r:id="rId16"/>
    <p:sldId id="5183" r:id="rId17"/>
    <p:sldId id="5176" r:id="rId18"/>
    <p:sldId id="5187" r:id="rId19"/>
    <p:sldId id="5177" r:id="rId20"/>
    <p:sldId id="5173" r:id="rId21"/>
    <p:sldId id="5161" r:id="rId22"/>
  </p:sldIdLst>
  <p:sldSz cx="12192000" cy="6858000"/>
  <p:notesSz cx="6858000" cy="9144000"/>
  <p:custDataLst>
    <p:tags r:id="rId2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id="{18F83487-997E-4C56-B6E6-1940829E4001}">
          <p14:sldIdLst>
            <p14:sldId id="5160"/>
            <p14:sldId id="5164"/>
            <p14:sldId id="5174"/>
            <p14:sldId id="5168"/>
            <p14:sldId id="5182"/>
            <p14:sldId id="5178"/>
            <p14:sldId id="5188"/>
            <p14:sldId id="5180"/>
            <p14:sldId id="5184"/>
            <p14:sldId id="5185"/>
            <p14:sldId id="5186"/>
            <p14:sldId id="5175"/>
            <p14:sldId id="5172"/>
            <p14:sldId id="5183"/>
            <p14:sldId id="5176"/>
            <p14:sldId id="5187"/>
            <p14:sldId id="5177"/>
            <p14:sldId id="5173"/>
            <p14:sldId id="5161"/>
          </p14:sldIdLst>
        </p14:section>
      </p14:sectionLst>
    </p:ext>
    <p:ext uri="{EFAFB233-063F-42B5-8137-9DF3F51BA10A}">
      <p15:sldGuideLst xmlns:p15="http://schemas.microsoft.com/office/powerpoint/2012/main">
        <p15:guide id="1" pos="7435" userDrawn="1">
          <p15:clr>
            <a:srgbClr val="A4A3A4"/>
          </p15:clr>
        </p15:guide>
        <p15:guide id="2" orient="horz" pos="663" userDrawn="1">
          <p15:clr>
            <a:srgbClr val="A4A3A4"/>
          </p15:clr>
        </p15:guide>
        <p15:guide id="3" pos="347" userDrawn="1">
          <p15:clr>
            <a:srgbClr val="A4A3A4"/>
          </p15:clr>
        </p15:guide>
        <p15:guide id="4" pos="7106" userDrawn="1">
          <p15:clr>
            <a:srgbClr val="A4A3A4"/>
          </p15:clr>
        </p15:guide>
        <p15:guide id="5" orient="horz" pos="372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王一凡" initials="王一凡" lastIdx="3" clrIdx="0"/>
  <p:cmAuthor id="1" name="长淼" initials="长淼" lastIdx="1" clrIdx="0"/>
  <p:cmAuthor id="2" name="肖钢" initials="肖钢" lastIdx="10" clrIdx="1"/>
  <p:cmAuthor id="3" name="姚璐" initials="姚璐" lastIdx="4" clrIdx="2"/>
  <p:cmAuthor id="4" name="liaojun" initials="l" lastIdx="2" clrIdx="3"/>
  <p:cmAuthor id="5" name="john" initials="j" lastIdx="1" clrIdx="4"/>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a:srgbClr val="BB0A14"/>
    <a:srgbClr val="EE7878"/>
    <a:srgbClr val="EE8C8C"/>
    <a:srgbClr val="EE6464"/>
    <a:srgbClr val="EE4444"/>
    <a:srgbClr val="404040"/>
    <a:srgbClr val="FFC000"/>
    <a:srgbClr val="A5DBF5"/>
    <a:srgbClr val="FFC6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4700" autoAdjust="0"/>
    <p:restoredTop sz="94660"/>
  </p:normalViewPr>
  <p:slideViewPr>
    <p:cSldViewPr snapToGrid="0" showGuides="1">
      <p:cViewPr>
        <p:scale>
          <a:sx n="340" d="100"/>
          <a:sy n="340" d="100"/>
        </p:scale>
        <p:origin x="944" y="232"/>
      </p:cViewPr>
      <p:guideLst>
        <p:guide pos="7435"/>
        <p:guide orient="horz" pos="663"/>
        <p:guide pos="347"/>
        <p:guide pos="7106"/>
        <p:guide orient="horz" pos="3725"/>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186" d="100"/>
          <a:sy n="186" d="100"/>
        </p:scale>
        <p:origin x="4800" y="20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gs" Target="tags/tag2.xml"/><Relationship Id="rId27" Type="http://schemas.openxmlformats.org/officeDocument/2006/relationships/commentAuthors" Target="commentAuthors.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handoutMaster" Target="handoutMasters/handoutMaster1.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360643-065A-4E88-AB1E-D8532CA82A2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874F2E-3F30-4526-B319-C4BF3669600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矩形 2"/>
          <p:cNvSpPr/>
          <p:nvPr userDrawn="1"/>
        </p:nvSpPr>
        <p:spPr>
          <a:xfrm>
            <a:off x="5080" y="1791970"/>
            <a:ext cx="12185650" cy="2668270"/>
          </a:xfrm>
          <a:prstGeom prst="rect">
            <a:avLst/>
          </a:prstGeom>
          <a:solidFill>
            <a:srgbClr val="BB0A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3600" b="1" dirty="0">
              <a:latin typeface="黑体" panose="02010609060101010101" charset="-122"/>
              <a:ea typeface="黑体" panose="02010609060101010101" charset="-122"/>
              <a:cs typeface="方正大标宋简体" panose="02000000000000000000" pitchFamily="2" charset="-122"/>
              <a:sym typeface="Arial" panose="020B0604020202020204" pitchFamily="34" charset="0"/>
            </a:endParaRPr>
          </a:p>
        </p:txBody>
      </p:sp>
      <p:sp>
        <p:nvSpPr>
          <p:cNvPr id="4" name="任意多边形: 形状 3"/>
          <p:cNvSpPr/>
          <p:nvPr userDrawn="1"/>
        </p:nvSpPr>
        <p:spPr>
          <a:xfrm>
            <a:off x="8838854" y="1792224"/>
            <a:ext cx="3279487" cy="2668526"/>
          </a:xfrm>
          <a:custGeom>
            <a:avLst/>
            <a:gdLst>
              <a:gd name="connsiteX0" fmla="*/ 3279487 w 3279487"/>
              <a:gd name="connsiteY0" fmla="*/ 1850879 h 2668526"/>
              <a:gd name="connsiteX1" fmla="*/ 3279487 w 3279487"/>
              <a:gd name="connsiteY1" fmla="*/ 2215420 h 2668526"/>
              <a:gd name="connsiteX2" fmla="*/ 3217345 w 3279487"/>
              <a:gd name="connsiteY2" fmla="*/ 2317754 h 2668526"/>
              <a:gd name="connsiteX3" fmla="*/ 3002638 w 3279487"/>
              <a:gd name="connsiteY3" fmla="*/ 2578085 h 2668526"/>
              <a:gd name="connsiteX4" fmla="*/ 2903162 w 3279487"/>
              <a:gd name="connsiteY4" fmla="*/ 2668526 h 2668526"/>
              <a:gd name="connsiteX5" fmla="*/ 2665130 w 3279487"/>
              <a:gd name="connsiteY5" fmla="*/ 2668526 h 2668526"/>
              <a:gd name="connsiteX6" fmla="*/ 2784864 w 3279487"/>
              <a:gd name="connsiteY6" fmla="*/ 2578953 h 2668526"/>
              <a:gd name="connsiteX7" fmla="*/ 3244979 w 3279487"/>
              <a:gd name="connsiteY7" fmla="*/ 1962070 h 2668526"/>
              <a:gd name="connsiteX8" fmla="*/ 2417787 w 3279487"/>
              <a:gd name="connsiteY8" fmla="*/ 246803 h 2668526"/>
              <a:gd name="connsiteX9" fmla="*/ 2417787 w 3279487"/>
              <a:gd name="connsiteY9" fmla="*/ 2668526 h 2668526"/>
              <a:gd name="connsiteX10" fmla="*/ 2118355 w 3279487"/>
              <a:gd name="connsiteY10" fmla="*/ 2668526 h 2668526"/>
              <a:gd name="connsiteX11" fmla="*/ 2118355 w 3279487"/>
              <a:gd name="connsiteY11" fmla="*/ 662674 h 2668526"/>
              <a:gd name="connsiteX12" fmla="*/ 2273773 w 3279487"/>
              <a:gd name="connsiteY12" fmla="*/ 329980 h 2668526"/>
              <a:gd name="connsiteX13" fmla="*/ 2417787 w 3279487"/>
              <a:gd name="connsiteY13" fmla="*/ 246803 h 2668526"/>
              <a:gd name="connsiteX14" fmla="*/ 1100291 w 3279487"/>
              <a:gd name="connsiteY14" fmla="*/ 246803 h 2668526"/>
              <a:gd name="connsiteX15" fmla="*/ 1244309 w 3279487"/>
              <a:gd name="connsiteY15" fmla="*/ 329980 h 2668526"/>
              <a:gd name="connsiteX16" fmla="*/ 1399256 w 3279487"/>
              <a:gd name="connsiteY16" fmla="*/ 662674 h 2668526"/>
              <a:gd name="connsiteX17" fmla="*/ 1399256 w 3279487"/>
              <a:gd name="connsiteY17" fmla="*/ 2668526 h 2668526"/>
              <a:gd name="connsiteX18" fmla="*/ 1100291 w 3279487"/>
              <a:gd name="connsiteY18" fmla="*/ 2668526 h 2668526"/>
              <a:gd name="connsiteX19" fmla="*/ 2564186 w 3279487"/>
              <a:gd name="connsiteY19" fmla="*/ 64765 h 2668526"/>
              <a:gd name="connsiteX20" fmla="*/ 3259539 w 3279487"/>
              <a:gd name="connsiteY20" fmla="*/ 1243469 h 2668526"/>
              <a:gd name="connsiteX21" fmla="*/ 3016665 w 3279487"/>
              <a:gd name="connsiteY21" fmla="*/ 1095654 h 2668526"/>
              <a:gd name="connsiteX22" fmla="*/ 2961055 w 3279487"/>
              <a:gd name="connsiteY22" fmla="*/ 1027690 h 2668526"/>
              <a:gd name="connsiteX23" fmla="*/ 2871224 w 3279487"/>
              <a:gd name="connsiteY23" fmla="*/ 1348512 h 2668526"/>
              <a:gd name="connsiteX24" fmla="*/ 2961055 w 3279487"/>
              <a:gd name="connsiteY24" fmla="*/ 1668851 h 2668526"/>
              <a:gd name="connsiteX25" fmla="*/ 3016665 w 3279487"/>
              <a:gd name="connsiteY25" fmla="*/ 1600886 h 2668526"/>
              <a:gd name="connsiteX26" fmla="*/ 3257639 w 3279487"/>
              <a:gd name="connsiteY26" fmla="*/ 1453071 h 2668526"/>
              <a:gd name="connsiteX27" fmla="*/ 2564186 w 3279487"/>
              <a:gd name="connsiteY27" fmla="*/ 2604208 h 2668526"/>
              <a:gd name="connsiteX28" fmla="*/ 953425 w 3279487"/>
              <a:gd name="connsiteY28" fmla="*/ 63822 h 2668526"/>
              <a:gd name="connsiteX29" fmla="*/ 953425 w 3279487"/>
              <a:gd name="connsiteY29" fmla="*/ 1243478 h 2668526"/>
              <a:gd name="connsiteX30" fmla="*/ 700091 w 3279487"/>
              <a:gd name="connsiteY30" fmla="*/ 1095187 h 2668526"/>
              <a:gd name="connsiteX31" fmla="*/ 644488 w 3279487"/>
              <a:gd name="connsiteY31" fmla="*/ 1027223 h 2668526"/>
              <a:gd name="connsiteX32" fmla="*/ 554658 w 3279487"/>
              <a:gd name="connsiteY32" fmla="*/ 1348045 h 2668526"/>
              <a:gd name="connsiteX33" fmla="*/ 644488 w 3279487"/>
              <a:gd name="connsiteY33" fmla="*/ 1668859 h 2668526"/>
              <a:gd name="connsiteX34" fmla="*/ 700091 w 3279487"/>
              <a:gd name="connsiteY34" fmla="*/ 1600895 h 2668526"/>
              <a:gd name="connsiteX35" fmla="*/ 953425 w 3279487"/>
              <a:gd name="connsiteY35" fmla="*/ 1452605 h 2668526"/>
              <a:gd name="connsiteX36" fmla="*/ 953425 w 3279487"/>
              <a:gd name="connsiteY36" fmla="*/ 2604693 h 2668526"/>
              <a:gd name="connsiteX37" fmla="*/ 254750 w 3279487"/>
              <a:gd name="connsiteY37" fmla="*/ 1334258 h 2668526"/>
              <a:gd name="connsiteX38" fmla="*/ 953425 w 3279487"/>
              <a:gd name="connsiteY38" fmla="*/ 63822 h 2668526"/>
              <a:gd name="connsiteX39" fmla="*/ 2664700 w 3279487"/>
              <a:gd name="connsiteY39" fmla="*/ 0 h 2668526"/>
              <a:gd name="connsiteX40" fmla="*/ 2902969 w 3279487"/>
              <a:gd name="connsiteY40" fmla="*/ 0 h 2668526"/>
              <a:gd name="connsiteX41" fmla="*/ 3002460 w 3279487"/>
              <a:gd name="connsiteY41" fmla="*/ 90442 h 2668526"/>
              <a:gd name="connsiteX42" fmla="*/ 3217220 w 3279487"/>
              <a:gd name="connsiteY42" fmla="*/ 350774 h 2668526"/>
              <a:gd name="connsiteX43" fmla="*/ 3279487 w 3279487"/>
              <a:gd name="connsiteY43" fmla="*/ 453280 h 2668526"/>
              <a:gd name="connsiteX44" fmla="*/ 3279487 w 3279487"/>
              <a:gd name="connsiteY44" fmla="*/ 817700 h 2668526"/>
              <a:gd name="connsiteX45" fmla="*/ 3244979 w 3279487"/>
              <a:gd name="connsiteY45" fmla="*/ 706529 h 2668526"/>
              <a:gd name="connsiteX46" fmla="*/ 2784864 w 3279487"/>
              <a:gd name="connsiteY46" fmla="*/ 89854 h 2668526"/>
              <a:gd name="connsiteX47" fmla="*/ 1115396 w 3279487"/>
              <a:gd name="connsiteY47" fmla="*/ 0 h 2668526"/>
              <a:gd name="connsiteX48" fmla="*/ 2403495 w 3279487"/>
              <a:gd name="connsiteY48" fmla="*/ 0 h 2668526"/>
              <a:gd name="connsiteX49" fmla="*/ 2419683 w 3279487"/>
              <a:gd name="connsiteY49" fmla="*/ 39106 h 2668526"/>
              <a:gd name="connsiteX50" fmla="*/ 2171108 w 3279487"/>
              <a:gd name="connsiteY50" fmla="*/ 212105 h 2668526"/>
              <a:gd name="connsiteX51" fmla="*/ 1976717 w 3279487"/>
              <a:gd name="connsiteY51" fmla="*/ 618480 h 2668526"/>
              <a:gd name="connsiteX52" fmla="*/ 1976717 w 3279487"/>
              <a:gd name="connsiteY52" fmla="*/ 2668526 h 2668526"/>
              <a:gd name="connsiteX53" fmla="*/ 1542297 w 3279487"/>
              <a:gd name="connsiteY53" fmla="*/ 2668526 h 2668526"/>
              <a:gd name="connsiteX54" fmla="*/ 1542297 w 3279487"/>
              <a:gd name="connsiteY54" fmla="*/ 618480 h 2668526"/>
              <a:gd name="connsiteX55" fmla="*/ 1347907 w 3279487"/>
              <a:gd name="connsiteY55" fmla="*/ 212105 h 2668526"/>
              <a:gd name="connsiteX56" fmla="*/ 1099332 w 3279487"/>
              <a:gd name="connsiteY56" fmla="*/ 39106 h 2668526"/>
              <a:gd name="connsiteX57" fmla="*/ 614726 w 3279487"/>
              <a:gd name="connsiteY57" fmla="*/ 0 h 2668526"/>
              <a:gd name="connsiteX58" fmla="*/ 853030 w 3279487"/>
              <a:gd name="connsiteY58" fmla="*/ 0 h 2668526"/>
              <a:gd name="connsiteX59" fmla="*/ 732836 w 3279487"/>
              <a:gd name="connsiteY59" fmla="*/ 89854 h 2668526"/>
              <a:gd name="connsiteX60" fmla="*/ 145915 w 3279487"/>
              <a:gd name="connsiteY60" fmla="*/ 1334262 h 2668526"/>
              <a:gd name="connsiteX61" fmla="*/ 732836 w 3279487"/>
              <a:gd name="connsiteY61" fmla="*/ 2579106 h 2668526"/>
              <a:gd name="connsiteX62" fmla="*/ 852430 w 3279487"/>
              <a:gd name="connsiteY62" fmla="*/ 2668526 h 2668526"/>
              <a:gd name="connsiteX63" fmla="*/ 614726 w 3279487"/>
              <a:gd name="connsiteY63" fmla="*/ 2668526 h 2668526"/>
              <a:gd name="connsiteX64" fmla="*/ 515214 w 3279487"/>
              <a:gd name="connsiteY64" fmla="*/ 2578085 h 2668526"/>
              <a:gd name="connsiteX65" fmla="*/ 0 w 3279487"/>
              <a:gd name="connsiteY65" fmla="*/ 1334262 h 2668526"/>
              <a:gd name="connsiteX66" fmla="*/ 515214 w 3279487"/>
              <a:gd name="connsiteY66" fmla="*/ 90442 h 2668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3279487" h="2668526">
                <a:moveTo>
                  <a:pt x="3279487" y="1850879"/>
                </a:moveTo>
                <a:lnTo>
                  <a:pt x="3279487" y="2215420"/>
                </a:lnTo>
                <a:lnTo>
                  <a:pt x="3217345" y="2317754"/>
                </a:lnTo>
                <a:cubicBezTo>
                  <a:pt x="3154151" y="2411335"/>
                  <a:pt x="3082189" y="2498505"/>
                  <a:pt x="3002638" y="2578085"/>
                </a:cubicBezTo>
                <a:lnTo>
                  <a:pt x="2903162" y="2668526"/>
                </a:lnTo>
                <a:lnTo>
                  <a:pt x="2665130" y="2668526"/>
                </a:lnTo>
                <a:lnTo>
                  <a:pt x="2784864" y="2578953"/>
                </a:lnTo>
                <a:cubicBezTo>
                  <a:pt x="2983978" y="2414561"/>
                  <a:pt x="3142977" y="2203296"/>
                  <a:pt x="3244979" y="1962070"/>
                </a:cubicBezTo>
                <a:close/>
                <a:moveTo>
                  <a:pt x="2417787" y="246803"/>
                </a:moveTo>
                <a:lnTo>
                  <a:pt x="2417787" y="2668526"/>
                </a:lnTo>
                <a:lnTo>
                  <a:pt x="2118355" y="2668526"/>
                </a:lnTo>
                <a:lnTo>
                  <a:pt x="2118355" y="662674"/>
                </a:lnTo>
                <a:cubicBezTo>
                  <a:pt x="2118355" y="514866"/>
                  <a:pt x="2171589" y="411725"/>
                  <a:pt x="2273773" y="329980"/>
                </a:cubicBezTo>
                <a:cubicBezTo>
                  <a:pt x="2323681" y="290526"/>
                  <a:pt x="2386418" y="261058"/>
                  <a:pt x="2417787" y="246803"/>
                </a:cubicBezTo>
                <a:close/>
                <a:moveTo>
                  <a:pt x="1100291" y="246803"/>
                </a:moveTo>
                <a:cubicBezTo>
                  <a:pt x="1132136" y="261058"/>
                  <a:pt x="1194875" y="290526"/>
                  <a:pt x="1244309" y="329980"/>
                </a:cubicBezTo>
                <a:cubicBezTo>
                  <a:pt x="1346495" y="411249"/>
                  <a:pt x="1399731" y="514866"/>
                  <a:pt x="1399256" y="662674"/>
                </a:cubicBezTo>
                <a:lnTo>
                  <a:pt x="1399256" y="2668526"/>
                </a:lnTo>
                <a:lnTo>
                  <a:pt x="1100291" y="2668526"/>
                </a:lnTo>
                <a:close/>
                <a:moveTo>
                  <a:pt x="2564186" y="64765"/>
                </a:moveTo>
                <a:cubicBezTo>
                  <a:pt x="2959629" y="315714"/>
                  <a:pt x="3230071" y="747273"/>
                  <a:pt x="3259539" y="1243469"/>
                </a:cubicBezTo>
                <a:cubicBezTo>
                  <a:pt x="3096034" y="1235391"/>
                  <a:pt x="3035672" y="1135108"/>
                  <a:pt x="3016665" y="1095654"/>
                </a:cubicBezTo>
                <a:cubicBezTo>
                  <a:pt x="3000977" y="1062385"/>
                  <a:pt x="2990523" y="1027690"/>
                  <a:pt x="2961055" y="1027690"/>
                </a:cubicBezTo>
                <a:cubicBezTo>
                  <a:pt x="2911146" y="1027690"/>
                  <a:pt x="2871224" y="1171229"/>
                  <a:pt x="2871224" y="1348512"/>
                </a:cubicBezTo>
                <a:cubicBezTo>
                  <a:pt x="2871224" y="1525312"/>
                  <a:pt x="2911146" y="1668851"/>
                  <a:pt x="2961055" y="1668851"/>
                </a:cubicBezTo>
                <a:cubicBezTo>
                  <a:pt x="2990998" y="1668851"/>
                  <a:pt x="3000977" y="1634156"/>
                  <a:pt x="3016665" y="1600886"/>
                </a:cubicBezTo>
                <a:cubicBezTo>
                  <a:pt x="3035672" y="1561440"/>
                  <a:pt x="3096034" y="1462100"/>
                  <a:pt x="3257639" y="1453071"/>
                </a:cubicBezTo>
                <a:cubicBezTo>
                  <a:pt x="3219610" y="1937864"/>
                  <a:pt x="2952501" y="2357535"/>
                  <a:pt x="2564186" y="2604208"/>
                </a:cubicBezTo>
                <a:close/>
                <a:moveTo>
                  <a:pt x="953425" y="63822"/>
                </a:moveTo>
                <a:lnTo>
                  <a:pt x="953425" y="1243478"/>
                </a:lnTo>
                <a:cubicBezTo>
                  <a:pt x="781843" y="1239201"/>
                  <a:pt x="719105" y="1135117"/>
                  <a:pt x="700091" y="1095187"/>
                </a:cubicBezTo>
                <a:cubicBezTo>
                  <a:pt x="684410" y="1061918"/>
                  <a:pt x="674432" y="1027223"/>
                  <a:pt x="644488" y="1027223"/>
                </a:cubicBezTo>
                <a:cubicBezTo>
                  <a:pt x="595055" y="1027223"/>
                  <a:pt x="554658" y="1170762"/>
                  <a:pt x="554658" y="1348045"/>
                </a:cubicBezTo>
                <a:cubicBezTo>
                  <a:pt x="554658" y="1525321"/>
                  <a:pt x="595055" y="1668859"/>
                  <a:pt x="644488" y="1668859"/>
                </a:cubicBezTo>
                <a:cubicBezTo>
                  <a:pt x="674432" y="1668859"/>
                  <a:pt x="684410" y="1634165"/>
                  <a:pt x="700091" y="1600895"/>
                </a:cubicBezTo>
                <a:cubicBezTo>
                  <a:pt x="719105" y="1560973"/>
                  <a:pt x="782318" y="1457357"/>
                  <a:pt x="953425" y="1452605"/>
                </a:cubicBezTo>
                <a:lnTo>
                  <a:pt x="953425" y="2604693"/>
                </a:lnTo>
                <a:cubicBezTo>
                  <a:pt x="533268" y="2337588"/>
                  <a:pt x="254750" y="1868483"/>
                  <a:pt x="254750" y="1334258"/>
                </a:cubicBezTo>
                <a:cubicBezTo>
                  <a:pt x="254750" y="800040"/>
                  <a:pt x="533268" y="330935"/>
                  <a:pt x="953425" y="63822"/>
                </a:cubicBezTo>
                <a:close/>
                <a:moveTo>
                  <a:pt x="2664700" y="0"/>
                </a:moveTo>
                <a:lnTo>
                  <a:pt x="2902969" y="0"/>
                </a:lnTo>
                <a:lnTo>
                  <a:pt x="3002460" y="90442"/>
                </a:lnTo>
                <a:cubicBezTo>
                  <a:pt x="3082026" y="170023"/>
                  <a:pt x="3154006" y="257193"/>
                  <a:pt x="3217220" y="350774"/>
                </a:cubicBezTo>
                <a:lnTo>
                  <a:pt x="3279487" y="453280"/>
                </a:lnTo>
                <a:lnTo>
                  <a:pt x="3279487" y="817700"/>
                </a:lnTo>
                <a:lnTo>
                  <a:pt x="3244979" y="706529"/>
                </a:lnTo>
                <a:cubicBezTo>
                  <a:pt x="3142977" y="465359"/>
                  <a:pt x="2983978" y="254173"/>
                  <a:pt x="2784864" y="89854"/>
                </a:cubicBezTo>
                <a:close/>
                <a:moveTo>
                  <a:pt x="1115396" y="0"/>
                </a:moveTo>
                <a:lnTo>
                  <a:pt x="2403495" y="0"/>
                </a:lnTo>
                <a:lnTo>
                  <a:pt x="2419683" y="39106"/>
                </a:lnTo>
                <a:cubicBezTo>
                  <a:pt x="2419683" y="118949"/>
                  <a:pt x="2309413" y="102318"/>
                  <a:pt x="2171108" y="212105"/>
                </a:cubicBezTo>
                <a:cubicBezTo>
                  <a:pt x="2042781" y="314296"/>
                  <a:pt x="1976717" y="457827"/>
                  <a:pt x="1976717" y="618480"/>
                </a:cubicBezTo>
                <a:lnTo>
                  <a:pt x="1976717" y="2668526"/>
                </a:lnTo>
                <a:lnTo>
                  <a:pt x="1542297" y="2668526"/>
                </a:lnTo>
                <a:lnTo>
                  <a:pt x="1542297" y="618480"/>
                </a:lnTo>
                <a:cubicBezTo>
                  <a:pt x="1542297" y="457827"/>
                  <a:pt x="1475758" y="314296"/>
                  <a:pt x="1347907" y="212105"/>
                </a:cubicBezTo>
                <a:cubicBezTo>
                  <a:pt x="1209602" y="101843"/>
                  <a:pt x="1099332" y="118949"/>
                  <a:pt x="1099332" y="39106"/>
                </a:cubicBezTo>
                <a:close/>
                <a:moveTo>
                  <a:pt x="614726" y="0"/>
                </a:moveTo>
                <a:lnTo>
                  <a:pt x="853030" y="0"/>
                </a:lnTo>
                <a:lnTo>
                  <a:pt x="732836" y="89854"/>
                </a:lnTo>
                <a:cubicBezTo>
                  <a:pt x="374348" y="385628"/>
                  <a:pt x="145915" y="833251"/>
                  <a:pt x="145915" y="1334262"/>
                </a:cubicBezTo>
                <a:cubicBezTo>
                  <a:pt x="145915" y="1835540"/>
                  <a:pt x="374348" y="2283281"/>
                  <a:pt x="732836" y="2579106"/>
                </a:cubicBezTo>
                <a:lnTo>
                  <a:pt x="852430" y="2668526"/>
                </a:lnTo>
                <a:lnTo>
                  <a:pt x="614726" y="2668526"/>
                </a:lnTo>
                <a:lnTo>
                  <a:pt x="515214" y="2578085"/>
                </a:lnTo>
                <a:cubicBezTo>
                  <a:pt x="196890" y="2259763"/>
                  <a:pt x="0" y="1820006"/>
                  <a:pt x="0" y="1334262"/>
                </a:cubicBezTo>
                <a:cubicBezTo>
                  <a:pt x="0" y="848523"/>
                  <a:pt x="196890" y="408765"/>
                  <a:pt x="515214" y="90442"/>
                </a:cubicBezTo>
                <a:close/>
              </a:path>
            </a:pathLst>
          </a:custGeom>
          <a:solidFill>
            <a:schemeClr val="tx1">
              <a:lumMod val="95000"/>
              <a:lumOff val="5000"/>
              <a:alpha val="8000"/>
            </a:schemeClr>
          </a:solidFill>
          <a:ln w="6402" cap="flat">
            <a:noFill/>
            <a:prstDash val="solid"/>
            <a:miter/>
          </a:ln>
        </p:spPr>
        <p:txBody>
          <a:bodyPr wrap="square" rtlCol="0" anchor="ctr">
            <a:noAutofit/>
          </a:bodyPr>
          <a:lstStyle/>
          <a:p>
            <a:endParaRPr lang="zh-CN" altLang="en-US" sz="2000" dirty="0">
              <a:solidFill>
                <a:srgbClr val="B72B24"/>
              </a:solidFill>
              <a:latin typeface="Arial" panose="020B0604020202020204" pitchFamily="34" charset="0"/>
              <a:ea typeface="华光楷体_CNKI" panose="02000500000000000000" pitchFamily="2" charset="-122"/>
              <a:cs typeface="+mn-ea"/>
              <a:sym typeface="Arial" panose="020B0604020202020204" pitchFamily="34" charset="0"/>
            </a:endParaRPr>
          </a:p>
        </p:txBody>
      </p:sp>
      <p:sp>
        <p:nvSpPr>
          <p:cNvPr id="6" name="矩形 5"/>
          <p:cNvSpPr/>
          <p:nvPr userDrawn="1"/>
        </p:nvSpPr>
        <p:spPr>
          <a:xfrm>
            <a:off x="5080" y="1685694"/>
            <a:ext cx="12186000" cy="36000"/>
          </a:xfrm>
          <a:prstGeom prst="rect">
            <a:avLst/>
          </a:prstGeom>
          <a:solidFill>
            <a:srgbClr val="898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华光楷体_CNKI" panose="02000500000000000000" pitchFamily="2" charset="-122"/>
              <a:cs typeface="+mn-ea"/>
              <a:sym typeface="Arial" panose="020B0604020202020204" pitchFamily="34" charset="0"/>
            </a:endParaRPr>
          </a:p>
        </p:txBody>
      </p:sp>
      <p:sp>
        <p:nvSpPr>
          <p:cNvPr id="7" name="矩形: 圆角 6"/>
          <p:cNvSpPr/>
          <p:nvPr userDrawn="1"/>
        </p:nvSpPr>
        <p:spPr>
          <a:xfrm>
            <a:off x="-4445" y="6822000"/>
            <a:ext cx="12204000" cy="36000"/>
          </a:xfrm>
          <a:prstGeom prst="roundRect">
            <a:avLst>
              <a:gd name="adj" fmla="val 0"/>
            </a:avLst>
          </a:prstGeom>
          <a:solidFill>
            <a:srgbClr val="D20A1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华光楷体_CNKI" panose="02000500000000000000" pitchFamily="2" charset="-122"/>
              <a:cs typeface="+mn-ea"/>
              <a:sym typeface="Arial" panose="020B0604020202020204" pitchFamily="34" charset="0"/>
            </a:endParaRPr>
          </a:p>
        </p:txBody>
      </p:sp>
      <p:sp>
        <p:nvSpPr>
          <p:cNvPr id="34" name="标题 33"/>
          <p:cNvSpPr>
            <a:spLocks noGrp="1"/>
          </p:cNvSpPr>
          <p:nvPr>
            <p:ph type="title"/>
          </p:nvPr>
        </p:nvSpPr>
        <p:spPr>
          <a:xfrm>
            <a:off x="838200" y="2575221"/>
            <a:ext cx="10515600" cy="853780"/>
          </a:xfrm>
          <a:prstGeom prst="rect">
            <a:avLst/>
          </a:prstGeom>
        </p:spPr>
        <p:txBody>
          <a:bodyPr/>
          <a:lstStyle>
            <a:lvl1pPr algn="ctr">
              <a:defRPr sz="3600" b="1">
                <a:solidFill>
                  <a:schemeClr val="bg1"/>
                </a:solidFill>
                <a:latin typeface="黑体" panose="02010609060101010101" charset="-122"/>
                <a:ea typeface="黑体" panose="02010609060101010101" charset="-122"/>
              </a:defRPr>
            </a:lvl1pPr>
          </a:lstStyle>
          <a:p>
            <a:r>
              <a:rPr lang="zh-CN" altLang="en-US" dirty="0"/>
              <a:t>单击此处编辑母版标题样式</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sp>
        <p:nvSpPr>
          <p:cNvPr id="2" name="矩形 1"/>
          <p:cNvSpPr/>
          <p:nvPr userDrawn="1"/>
        </p:nvSpPr>
        <p:spPr>
          <a:xfrm>
            <a:off x="2586355" y="1832610"/>
            <a:ext cx="2393315" cy="36000"/>
          </a:xfrm>
          <a:prstGeom prst="rect">
            <a:avLst/>
          </a:prstGeom>
          <a:solidFill>
            <a:srgbClr val="BB0A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方正大标宋简体" panose="02000000000000000000" pitchFamily="2" charset="-122"/>
              <a:ea typeface="方正大标宋简体" panose="02000000000000000000" pitchFamily="2" charset="-122"/>
              <a:cs typeface="+mn-ea"/>
              <a:sym typeface="Arial" panose="020B0604020202020204" pitchFamily="34" charset="0"/>
            </a:endParaRPr>
          </a:p>
        </p:txBody>
      </p:sp>
      <p:sp>
        <p:nvSpPr>
          <p:cNvPr id="3" name="矩形: 圆角 2"/>
          <p:cNvSpPr/>
          <p:nvPr userDrawn="1"/>
        </p:nvSpPr>
        <p:spPr>
          <a:xfrm>
            <a:off x="-635" y="2065230"/>
            <a:ext cx="12192635" cy="3400694"/>
          </a:xfrm>
          <a:prstGeom prst="roundRect">
            <a:avLst>
              <a:gd name="adj" fmla="val 0"/>
            </a:avLst>
          </a:prstGeom>
          <a:solidFill>
            <a:srgbClr val="EFEFE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华文楷体" panose="02010600040101010101" pitchFamily="2" charset="-122"/>
              <a:ea typeface="华文楷体" panose="02010600040101010101" pitchFamily="2" charset="-122"/>
              <a:cs typeface="+mn-ea"/>
              <a:sym typeface="Arial" panose="020B0604020202020204" pitchFamily="34" charset="0"/>
            </a:endParaRPr>
          </a:p>
        </p:txBody>
      </p:sp>
      <p:sp>
        <p:nvSpPr>
          <p:cNvPr id="4" name="文本框 3"/>
          <p:cNvSpPr txBox="1"/>
          <p:nvPr userDrawn="1"/>
        </p:nvSpPr>
        <p:spPr>
          <a:xfrm>
            <a:off x="2487455" y="1392077"/>
            <a:ext cx="900000" cy="440690"/>
          </a:xfrm>
          <a:prstGeom prst="rect">
            <a:avLst/>
          </a:prstGeom>
          <a:noFill/>
        </p:spPr>
        <p:txBody>
          <a:bodyPr wrap="square" lIns="91431" tIns="45715" rIns="91431" bIns="45715" rtlCol="0">
            <a:spAutoFit/>
          </a:bodyPr>
          <a:lstStyle/>
          <a:p>
            <a:pPr>
              <a:lnSpc>
                <a:spcPct val="114000"/>
              </a:lnSpc>
            </a:pPr>
            <a:r>
              <a:rPr lang="zh-CN" altLang="en-US" sz="2000" dirty="0">
                <a:solidFill>
                  <a:srgbClr val="231815"/>
                </a:solidFill>
                <a:latin typeface="方正大标宋简体" panose="02000000000000000000" pitchFamily="2" charset="-122"/>
                <a:ea typeface="方正大标宋简体" panose="02000000000000000000" pitchFamily="2" charset="-122"/>
                <a:cs typeface="+mn-ea"/>
                <a:sym typeface="Arial" panose="020B0604020202020204" pitchFamily="34" charset="0"/>
              </a:rPr>
              <a:t>目录</a:t>
            </a:r>
            <a:endParaRPr lang="zh-CN" altLang="en-US" sz="2000" dirty="0">
              <a:solidFill>
                <a:srgbClr val="231815"/>
              </a:solidFill>
              <a:latin typeface="方正大标宋简体" panose="02000000000000000000" pitchFamily="2" charset="-122"/>
              <a:ea typeface="方正大标宋简体" panose="02000000000000000000" pitchFamily="2" charset="-122"/>
              <a:cs typeface="+mn-ea"/>
              <a:sym typeface="Arial" panose="020B0604020202020204" pitchFamily="34" charset="0"/>
            </a:endParaRPr>
          </a:p>
        </p:txBody>
      </p:sp>
      <p:sp>
        <p:nvSpPr>
          <p:cNvPr id="5" name="文本框 4"/>
          <p:cNvSpPr txBox="1"/>
          <p:nvPr userDrawn="1"/>
        </p:nvSpPr>
        <p:spPr>
          <a:xfrm>
            <a:off x="3032331" y="1542351"/>
            <a:ext cx="1150622" cy="264795"/>
          </a:xfrm>
          <a:prstGeom prst="rect">
            <a:avLst/>
          </a:prstGeom>
          <a:noFill/>
        </p:spPr>
        <p:txBody>
          <a:bodyPr wrap="square" lIns="91431" tIns="45715" rIns="91431" bIns="45715" rtlCol="0">
            <a:spAutoFit/>
          </a:bodyPr>
          <a:lstStyle/>
          <a:p>
            <a:pPr>
              <a:lnSpc>
                <a:spcPct val="114000"/>
              </a:lnSpc>
            </a:pPr>
            <a:r>
              <a:rPr lang="en-US" altLang="zh-CN" sz="1000" dirty="0">
                <a:solidFill>
                  <a:srgbClr val="231815"/>
                </a:solidFill>
                <a:latin typeface="方正大标宋简体" panose="02000000000000000000" pitchFamily="2" charset="-122"/>
                <a:ea typeface="方正大标宋简体" panose="02000000000000000000" pitchFamily="2" charset="-122"/>
                <a:cs typeface="+mn-ea"/>
                <a:sym typeface="Arial" panose="020B0604020202020204" pitchFamily="34" charset="0"/>
              </a:rPr>
              <a:t>CONTENTS</a:t>
            </a:r>
            <a:endParaRPr lang="en-US" altLang="zh-CN" sz="1000" dirty="0">
              <a:solidFill>
                <a:srgbClr val="231815"/>
              </a:solidFill>
              <a:latin typeface="方正大标宋简体" panose="02000000000000000000" pitchFamily="2" charset="-122"/>
              <a:ea typeface="方正大标宋简体" panose="02000000000000000000" pitchFamily="2" charset="-122"/>
              <a:cs typeface="+mn-ea"/>
              <a:sym typeface="Arial" panose="020B0604020202020204" pitchFamily="34" charset="0"/>
            </a:endParaRPr>
          </a:p>
        </p:txBody>
      </p:sp>
      <p:cxnSp>
        <p:nvCxnSpPr>
          <p:cNvPr id="10" name="直接连接符 9"/>
          <p:cNvCxnSpPr/>
          <p:nvPr/>
        </p:nvCxnSpPr>
        <p:spPr>
          <a:xfrm>
            <a:off x="2261283" y="4029228"/>
            <a:ext cx="7019898"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2261283" y="2856272"/>
            <a:ext cx="7019898"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2261283" y="3438437"/>
            <a:ext cx="7019898"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2261283" y="4597899"/>
            <a:ext cx="7019898"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2256136" y="5223000"/>
            <a:ext cx="7019898"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8" name="文本占位符 17"/>
          <p:cNvSpPr>
            <a:spLocks noGrp="1"/>
          </p:cNvSpPr>
          <p:nvPr userDrawn="1">
            <p:ph type="body" sz="quarter" idx="10" hasCustomPrompt="1"/>
          </p:nvPr>
        </p:nvSpPr>
        <p:spPr>
          <a:xfrm>
            <a:off x="2261283" y="2309143"/>
            <a:ext cx="6590701" cy="3090991"/>
          </a:xfrm>
          <a:prstGeom prst="rect">
            <a:avLst/>
          </a:prstGeom>
        </p:spPr>
        <p:txBody>
          <a:bodyPr/>
          <a:lstStyle>
            <a:lvl1pPr marL="0" indent="0">
              <a:lnSpc>
                <a:spcPct val="150000"/>
              </a:lnSpc>
              <a:buNone/>
              <a:defRPr sz="2000" b="1">
                <a:solidFill>
                  <a:srgbClr val="BB0A14"/>
                </a:solidFill>
                <a:latin typeface="华文楷体" panose="02010600040101010101" pitchFamily="2" charset="-122"/>
                <a:ea typeface="华文楷体" panose="02010600040101010101" pitchFamily="2" charset="-122"/>
              </a:defRPr>
            </a:lvl1pPr>
            <a:lvl2pPr>
              <a:defRPr sz="2000" b="1">
                <a:solidFill>
                  <a:srgbClr val="BB0A14"/>
                </a:solidFill>
                <a:latin typeface="华文楷体" panose="02010600040101010101" pitchFamily="2" charset="-122"/>
                <a:ea typeface="华文楷体" panose="02010600040101010101" pitchFamily="2" charset="-122"/>
              </a:defRPr>
            </a:lvl2pPr>
            <a:lvl3pPr>
              <a:defRPr sz="2000" b="1">
                <a:solidFill>
                  <a:srgbClr val="BB0A14"/>
                </a:solidFill>
                <a:latin typeface="华文楷体" panose="02010600040101010101" pitchFamily="2" charset="-122"/>
                <a:ea typeface="华文楷体" panose="02010600040101010101" pitchFamily="2" charset="-122"/>
              </a:defRPr>
            </a:lvl3pPr>
            <a:lvl4pPr>
              <a:defRPr sz="2000" b="1">
                <a:solidFill>
                  <a:srgbClr val="BB0A14"/>
                </a:solidFill>
                <a:latin typeface="华文楷体" panose="02010600040101010101" pitchFamily="2" charset="-122"/>
                <a:ea typeface="华文楷体" panose="02010600040101010101" pitchFamily="2" charset="-122"/>
              </a:defRPr>
            </a:lvl4pPr>
            <a:lvl5pPr>
              <a:defRPr sz="2000" b="1">
                <a:solidFill>
                  <a:srgbClr val="BB0A14"/>
                </a:solidFill>
                <a:latin typeface="华文楷体" panose="02010600040101010101" pitchFamily="2" charset="-122"/>
                <a:ea typeface="华文楷体" panose="02010600040101010101" pitchFamily="2" charset="-122"/>
              </a:defRPr>
            </a:lvl5pPr>
          </a:lstStyle>
          <a:p>
            <a:pPr lvl="0"/>
            <a:r>
              <a:rPr lang="zh-CN" altLang="en-US" dirty="0"/>
              <a:t>一、</a:t>
            </a:r>
            <a:endParaRPr lang="en-US" altLang="zh-CN" dirty="0"/>
          </a:p>
          <a:p>
            <a:pPr lvl="0"/>
            <a:r>
              <a:rPr lang="zh-CN" altLang="en-US" dirty="0"/>
              <a:t>二、</a:t>
            </a:r>
            <a:endParaRPr lang="en-US" altLang="zh-CN" dirty="0"/>
          </a:p>
          <a:p>
            <a:pPr lvl="0"/>
            <a:r>
              <a:rPr lang="zh-CN" altLang="en-US" dirty="0"/>
              <a:t>三、</a:t>
            </a:r>
            <a:endParaRPr lang="en-US" altLang="zh-CN" dirty="0"/>
          </a:p>
          <a:p>
            <a:pPr lvl="0"/>
            <a:r>
              <a:rPr lang="zh-CN" altLang="en-US" dirty="0"/>
              <a:t>四、</a:t>
            </a:r>
            <a:endParaRPr lang="en-US" altLang="zh-CN" dirty="0"/>
          </a:p>
          <a:p>
            <a:pPr lvl="0"/>
            <a:r>
              <a:rPr lang="zh-CN" altLang="en-US" dirty="0"/>
              <a:t>五、</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内页 页码&lt;9">
    <p:spTree>
      <p:nvGrpSpPr>
        <p:cNvPr id="1" name=""/>
        <p:cNvGrpSpPr/>
        <p:nvPr/>
      </p:nvGrpSpPr>
      <p:grpSpPr>
        <a:xfrm>
          <a:off x="0" y="0"/>
          <a:ext cx="0" cy="0"/>
          <a:chOff x="0" y="0"/>
          <a:chExt cx="0" cy="0"/>
        </a:xfrm>
      </p:grpSpPr>
      <p:sp>
        <p:nvSpPr>
          <p:cNvPr id="3" name="灯片编号占位符 5"/>
          <p:cNvSpPr txBox="1"/>
          <p:nvPr userDrawn="1"/>
        </p:nvSpPr>
        <p:spPr>
          <a:xfrm>
            <a:off x="10803891" y="6453982"/>
            <a:ext cx="1144269" cy="246222"/>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zh-CN" sz="1000" dirty="0">
                <a:solidFill>
                  <a:schemeClr val="tx1">
                    <a:lumMod val="75000"/>
                    <a:lumOff val="25000"/>
                  </a:schemeClr>
                </a:solidFill>
                <a:latin typeface="华文楷体" panose="02010600040101010101" pitchFamily="2" charset="-122"/>
                <a:ea typeface="华文楷体" panose="02010600040101010101" pitchFamily="2" charset="-122"/>
              </a:rPr>
              <a:t>0</a:t>
            </a:r>
            <a:fld id="{D1B37232-BCFA-4279-8A67-C8AC93B8D964}" type="slidenum">
              <a:rPr lang="zh-CN" altLang="en-US" sz="1000" dirty="0" smtClean="0">
                <a:solidFill>
                  <a:schemeClr val="tx1">
                    <a:lumMod val="75000"/>
                    <a:lumOff val="25000"/>
                  </a:schemeClr>
                </a:solidFill>
                <a:latin typeface="华文楷体" panose="02010600040101010101" pitchFamily="2" charset="-122"/>
                <a:ea typeface="华文楷体" panose="02010600040101010101" pitchFamily="2" charset="-122"/>
              </a:rPr>
            </a:fld>
            <a:endParaRPr lang="zh-CN" altLang="en-US" sz="1000" dirty="0">
              <a:solidFill>
                <a:schemeClr val="tx1">
                  <a:lumMod val="75000"/>
                  <a:lumOff val="25000"/>
                </a:schemeClr>
              </a:solidFill>
              <a:latin typeface="华文楷体" panose="02010600040101010101" pitchFamily="2" charset="-122"/>
              <a:ea typeface="华文楷体" panose="02010600040101010101" pitchFamily="2" charset="-122"/>
            </a:endParaRPr>
          </a:p>
        </p:txBody>
      </p:sp>
      <p:cxnSp>
        <p:nvCxnSpPr>
          <p:cNvPr id="4" name="直接连接符 3"/>
          <p:cNvCxnSpPr/>
          <p:nvPr userDrawn="1"/>
        </p:nvCxnSpPr>
        <p:spPr>
          <a:xfrm>
            <a:off x="11134724" y="6578946"/>
            <a:ext cx="96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a:off x="11522075" y="6578946"/>
            <a:ext cx="96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nvCxnSpPr>
        <p:spPr>
          <a:xfrm>
            <a:off x="85725" y="666750"/>
            <a:ext cx="12058650" cy="36000"/>
          </a:xfrm>
          <a:prstGeom prst="line">
            <a:avLst/>
          </a:prstGeom>
          <a:ln w="25400">
            <a:solidFill>
              <a:srgbClr val="BB0A14"/>
            </a:solidFill>
          </a:ln>
        </p:spPr>
        <p:style>
          <a:lnRef idx="1">
            <a:schemeClr val="accent1"/>
          </a:lnRef>
          <a:fillRef idx="0">
            <a:schemeClr val="accent1"/>
          </a:fillRef>
          <a:effectRef idx="0">
            <a:schemeClr val="accent1"/>
          </a:effectRef>
          <a:fontRef idx="minor">
            <a:schemeClr val="tx1"/>
          </a:fontRef>
        </p:style>
      </p:cxnSp>
      <p:sp>
        <p:nvSpPr>
          <p:cNvPr id="33" name="标题 32"/>
          <p:cNvSpPr>
            <a:spLocks noGrp="1"/>
          </p:cNvSpPr>
          <p:nvPr>
            <p:ph type="title"/>
          </p:nvPr>
        </p:nvSpPr>
        <p:spPr>
          <a:xfrm>
            <a:off x="85724" y="238607"/>
            <a:ext cx="11715211" cy="412750"/>
          </a:xfrm>
          <a:prstGeom prst="rect">
            <a:avLst/>
          </a:prstGeom>
        </p:spPr>
        <p:txBody>
          <a:bodyPr/>
          <a:lstStyle>
            <a:lvl1pPr>
              <a:defRPr sz="2200" b="1">
                <a:solidFill>
                  <a:srgbClr val="BB0A14"/>
                </a:solidFill>
                <a:latin typeface="华文楷体" panose="02010600040101010101" pitchFamily="2" charset="-122"/>
                <a:ea typeface="华文楷体" panose="02010600040101010101" pitchFamily="2" charset="-122"/>
              </a:defRPr>
            </a:lvl1pPr>
          </a:lstStyle>
          <a:p>
            <a:r>
              <a:rPr lang="zh-CN" altLang="en-US"/>
              <a:t>单击此处编辑母版标题样式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页 页码&gt;9">
    <p:spTree>
      <p:nvGrpSpPr>
        <p:cNvPr id="1" name=""/>
        <p:cNvGrpSpPr/>
        <p:nvPr/>
      </p:nvGrpSpPr>
      <p:grpSpPr>
        <a:xfrm>
          <a:off x="0" y="0"/>
          <a:ext cx="0" cy="0"/>
          <a:chOff x="0" y="0"/>
          <a:chExt cx="0" cy="0"/>
        </a:xfrm>
      </p:grpSpPr>
      <p:sp>
        <p:nvSpPr>
          <p:cNvPr id="3" name="灯片编号占位符 5"/>
          <p:cNvSpPr txBox="1"/>
          <p:nvPr userDrawn="1"/>
        </p:nvSpPr>
        <p:spPr>
          <a:xfrm>
            <a:off x="10803891" y="6453982"/>
            <a:ext cx="1144269" cy="246222"/>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D1B37232-BCFA-4279-8A67-C8AC93B8D964}" type="slidenum">
              <a:rPr lang="zh-CN" altLang="en-US" sz="1000" smtClean="0">
                <a:solidFill>
                  <a:schemeClr val="tx1">
                    <a:lumMod val="75000"/>
                    <a:lumOff val="25000"/>
                  </a:schemeClr>
                </a:solidFill>
                <a:latin typeface="华文楷体" panose="02010600040101010101" pitchFamily="2" charset="-122"/>
                <a:ea typeface="华文楷体" panose="02010600040101010101" pitchFamily="2" charset="-122"/>
              </a:rPr>
            </a:fld>
            <a:endParaRPr lang="zh-CN" altLang="en-US" sz="1000" dirty="0">
              <a:solidFill>
                <a:schemeClr val="tx1">
                  <a:lumMod val="75000"/>
                  <a:lumOff val="25000"/>
                </a:schemeClr>
              </a:solidFill>
              <a:latin typeface="华文楷体" panose="02010600040101010101" pitchFamily="2" charset="-122"/>
              <a:ea typeface="华文楷体" panose="02010600040101010101" pitchFamily="2" charset="-122"/>
            </a:endParaRPr>
          </a:p>
        </p:txBody>
      </p:sp>
      <p:cxnSp>
        <p:nvCxnSpPr>
          <p:cNvPr id="4" name="直接连接符 3"/>
          <p:cNvCxnSpPr/>
          <p:nvPr userDrawn="1"/>
        </p:nvCxnSpPr>
        <p:spPr>
          <a:xfrm>
            <a:off x="11134724" y="6578946"/>
            <a:ext cx="96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a:off x="11522075" y="6578946"/>
            <a:ext cx="96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nvCxnSpPr>
        <p:spPr>
          <a:xfrm>
            <a:off x="577088" y="701167"/>
            <a:ext cx="11035792" cy="0"/>
          </a:xfrm>
          <a:prstGeom prst="line">
            <a:avLst/>
          </a:prstGeom>
          <a:ln w="25400">
            <a:solidFill>
              <a:srgbClr val="BB0A14"/>
            </a:solidFill>
          </a:ln>
        </p:spPr>
        <p:style>
          <a:lnRef idx="1">
            <a:schemeClr val="accent1"/>
          </a:lnRef>
          <a:fillRef idx="0">
            <a:schemeClr val="accent1"/>
          </a:fillRef>
          <a:effectRef idx="0">
            <a:schemeClr val="accent1"/>
          </a:effectRef>
          <a:fontRef idx="minor">
            <a:schemeClr val="tx1"/>
          </a:fontRef>
        </p:style>
      </p:cxnSp>
      <p:sp>
        <p:nvSpPr>
          <p:cNvPr id="31" name="标题 32"/>
          <p:cNvSpPr>
            <a:spLocks noGrp="1"/>
          </p:cNvSpPr>
          <p:nvPr>
            <p:ph type="title"/>
          </p:nvPr>
        </p:nvSpPr>
        <p:spPr>
          <a:xfrm>
            <a:off x="637287" y="290325"/>
            <a:ext cx="10388140" cy="412750"/>
          </a:xfrm>
          <a:prstGeom prst="rect">
            <a:avLst/>
          </a:prstGeom>
        </p:spPr>
        <p:txBody>
          <a:bodyPr/>
          <a:lstStyle>
            <a:lvl1pPr>
              <a:defRPr sz="2200" b="1">
                <a:solidFill>
                  <a:srgbClr val="BB0A14"/>
                </a:solidFill>
                <a:latin typeface="华文楷体" panose="02010600040101010101" pitchFamily="2" charset="-122"/>
                <a:ea typeface="华文楷体" panose="02010600040101010101" pitchFamily="2" charset="-122"/>
              </a:defRPr>
            </a:lvl1pPr>
          </a:lstStyle>
          <a:p>
            <a:r>
              <a:rPr lang="zh-CN" altLang="en-US"/>
              <a:t>单击此处编辑母版标题样式</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矩形 2"/>
          <p:cNvSpPr/>
          <p:nvPr userDrawn="1"/>
        </p:nvSpPr>
        <p:spPr>
          <a:xfrm>
            <a:off x="1524000" y="2202089"/>
            <a:ext cx="9144000" cy="3105150"/>
          </a:xfrm>
          <a:prstGeom prst="rect">
            <a:avLst/>
          </a:prstGeom>
          <a:solidFill>
            <a:srgbClr val="BB0A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华光楷体_CNKI" panose="02000500000000000000" pitchFamily="2" charset="-122"/>
              <a:cs typeface="+mn-ea"/>
              <a:sym typeface="Arial" panose="020B0604020202020204" pitchFamily="34" charset="0"/>
            </a:endParaRPr>
          </a:p>
        </p:txBody>
      </p:sp>
      <p:sp>
        <p:nvSpPr>
          <p:cNvPr id="4" name="矩形 3"/>
          <p:cNvSpPr/>
          <p:nvPr userDrawn="1"/>
        </p:nvSpPr>
        <p:spPr>
          <a:xfrm>
            <a:off x="1524000" y="1987774"/>
            <a:ext cx="9144000" cy="72000"/>
          </a:xfrm>
          <a:prstGeom prst="rect">
            <a:avLst/>
          </a:prstGeom>
          <a:solidFill>
            <a:srgbClr val="898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华光楷体_CNKI" panose="02000500000000000000" pitchFamily="2" charset="-122"/>
              <a:cs typeface="+mn-ea"/>
              <a:sym typeface="Arial" panose="020B0604020202020204" pitchFamily="34" charset="0"/>
            </a:endParaRPr>
          </a:p>
        </p:txBody>
      </p:sp>
      <p:sp>
        <p:nvSpPr>
          <p:cNvPr id="28" name="文本框 27"/>
          <p:cNvSpPr txBox="1"/>
          <p:nvPr userDrawn="1"/>
        </p:nvSpPr>
        <p:spPr>
          <a:xfrm>
            <a:off x="3329940" y="2606675"/>
            <a:ext cx="5531485" cy="2306955"/>
          </a:xfrm>
          <a:prstGeom prst="rect">
            <a:avLst/>
          </a:prstGeom>
          <a:noFill/>
        </p:spPr>
        <p:txBody>
          <a:bodyPr wrap="square" rtlCol="0" anchor="t">
            <a:spAutoFit/>
          </a:bodyPr>
          <a:lstStyle/>
          <a:p>
            <a:pPr algn="ctr"/>
            <a:r>
              <a:rPr lang="zh-CN" sz="2400" b="1" dirty="0">
                <a:solidFill>
                  <a:schemeClr val="bg1"/>
                </a:solidFill>
                <a:latin typeface="微软雅黑" panose="020B0503020204020204" charset="-122"/>
                <a:ea typeface="微软雅黑" panose="020B0503020204020204" charset="-122"/>
                <a:cs typeface="微软雅黑" panose="020B0503020204020204" charset="-122"/>
                <a:sym typeface="+mn-ea"/>
              </a:rPr>
              <a:t>大处着眼</a:t>
            </a:r>
            <a:r>
              <a:rPr lang="en-US" altLang="zh-CN" sz="2400" b="1" dirty="0">
                <a:solidFill>
                  <a:schemeClr val="bg1"/>
                </a:solidFill>
                <a:latin typeface="微软雅黑" panose="020B0503020204020204" charset="-122"/>
                <a:ea typeface="微软雅黑" panose="020B0503020204020204" charset="-122"/>
                <a:cs typeface="微软雅黑" panose="020B0503020204020204" charset="-122"/>
                <a:sym typeface="+mn-ea"/>
              </a:rPr>
              <a:t>   </a:t>
            </a:r>
            <a:r>
              <a:rPr lang="zh-CN" sz="2400" b="1" dirty="0">
                <a:solidFill>
                  <a:schemeClr val="bg1"/>
                </a:solidFill>
                <a:latin typeface="微软雅黑" panose="020B0503020204020204" charset="-122"/>
                <a:ea typeface="微软雅黑" panose="020B0503020204020204" charset="-122"/>
                <a:cs typeface="微软雅黑" panose="020B0503020204020204" charset="-122"/>
                <a:sym typeface="+mn-ea"/>
              </a:rPr>
              <a:t>小处着手</a:t>
            </a:r>
            <a:endParaRPr lang="zh-CN" sz="2400" b="1"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gn="ctr"/>
            <a:r>
              <a:rPr lang="zh-CN" sz="2400" b="1" dirty="0">
                <a:solidFill>
                  <a:schemeClr val="bg1"/>
                </a:solidFill>
                <a:latin typeface="微软雅黑" panose="020B0503020204020204" charset="-122"/>
                <a:ea typeface="微软雅黑" panose="020B0503020204020204" charset="-122"/>
                <a:cs typeface="微软雅黑" panose="020B0503020204020204" charset="-122"/>
                <a:sym typeface="+mn-ea"/>
              </a:rPr>
              <a:t>关注当下</a:t>
            </a:r>
            <a:r>
              <a:rPr lang="en-US" altLang="zh-CN" sz="2400" b="1" dirty="0">
                <a:solidFill>
                  <a:schemeClr val="bg1"/>
                </a:solidFill>
                <a:latin typeface="微软雅黑" panose="020B0503020204020204" charset="-122"/>
                <a:ea typeface="微软雅黑" panose="020B0503020204020204" charset="-122"/>
                <a:cs typeface="微软雅黑" panose="020B0503020204020204" charset="-122"/>
                <a:sym typeface="+mn-ea"/>
              </a:rPr>
              <a:t>   </a:t>
            </a:r>
            <a:r>
              <a:rPr lang="zh-CN" sz="2400" b="1" dirty="0">
                <a:solidFill>
                  <a:schemeClr val="bg1"/>
                </a:solidFill>
                <a:latin typeface="微软雅黑" panose="020B0503020204020204" charset="-122"/>
                <a:ea typeface="微软雅黑" panose="020B0503020204020204" charset="-122"/>
                <a:cs typeface="微软雅黑" panose="020B0503020204020204" charset="-122"/>
                <a:sym typeface="+mn-ea"/>
              </a:rPr>
              <a:t>布局未来</a:t>
            </a:r>
            <a:endParaRPr lang="zh-CN" sz="2400" b="1"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gn="ctr"/>
            <a:endParaRPr lang="zh-CN" sz="2400" b="1"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gn="ctr"/>
            <a:r>
              <a:rPr lang="zh-CN" sz="2400" b="1" dirty="0">
                <a:solidFill>
                  <a:schemeClr val="bg1"/>
                </a:solidFill>
                <a:latin typeface="微软雅黑" panose="020B0503020204020204" charset="-122"/>
                <a:ea typeface="微软雅黑" panose="020B0503020204020204" charset="-122"/>
                <a:cs typeface="微软雅黑" panose="020B0503020204020204" charset="-122"/>
                <a:sym typeface="+mn-ea"/>
              </a:rPr>
              <a:t>持续提升数字化能力</a:t>
            </a:r>
            <a:endParaRPr lang="zh-CN" sz="2400" b="1"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gn="ctr"/>
            <a:r>
              <a:rPr lang="zh-CN" sz="2400" b="1" dirty="0">
                <a:solidFill>
                  <a:schemeClr val="bg1"/>
                </a:solidFill>
                <a:latin typeface="微软雅黑" panose="020B0503020204020204" charset="-122"/>
                <a:ea typeface="微软雅黑" panose="020B0503020204020204" charset="-122"/>
                <a:cs typeface="微软雅黑" panose="020B0503020204020204" charset="-122"/>
                <a:sym typeface="+mn-ea"/>
              </a:rPr>
              <a:t>为财富管理成为行业领先提供重要动力</a:t>
            </a:r>
            <a:endParaRPr lang="zh-CN" sz="2400" b="1"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gn="ctr"/>
            <a:endParaRPr lang="zh-CN" altLang="en-US" sz="24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组合 1"/>
          <p:cNvGrpSpPr/>
          <p:nvPr userDrawn="1"/>
        </p:nvGrpSpPr>
        <p:grpSpPr>
          <a:xfrm>
            <a:off x="12360285" y="0"/>
            <a:ext cx="1522492" cy="1307611"/>
            <a:chOff x="9399610" y="-31581"/>
            <a:chExt cx="2160000" cy="2473523"/>
          </a:xfrm>
        </p:grpSpPr>
        <p:sp>
          <p:nvSpPr>
            <p:cNvPr id="3" name="矩形 2"/>
            <p:cNvSpPr/>
            <p:nvPr/>
          </p:nvSpPr>
          <p:spPr>
            <a:xfrm>
              <a:off x="9399610" y="-31581"/>
              <a:ext cx="2160000" cy="756248"/>
            </a:xfrm>
            <a:prstGeom prst="rect">
              <a:avLst/>
            </a:prstGeom>
            <a:solidFill>
              <a:srgbClr val="BB0A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latin typeface="Arial" panose="020B0604020202020204" pitchFamily="34" charset="0"/>
                  <a:cs typeface="Arial" panose="020B0604020202020204" pitchFamily="34" charset="0"/>
                </a:rPr>
                <a:t>R187 G10 B20</a:t>
              </a:r>
              <a:endParaRPr lang="zh-CN" altLang="en-US" sz="900" dirty="0">
                <a:latin typeface="Arial" panose="020B0604020202020204" pitchFamily="34" charset="0"/>
                <a:cs typeface="Arial" panose="020B0604020202020204" pitchFamily="34" charset="0"/>
              </a:endParaRPr>
            </a:p>
          </p:txBody>
        </p:sp>
        <p:sp>
          <p:nvSpPr>
            <p:cNvPr id="4" name="矩形 3"/>
            <p:cNvSpPr/>
            <p:nvPr/>
          </p:nvSpPr>
          <p:spPr>
            <a:xfrm>
              <a:off x="9399610" y="827056"/>
              <a:ext cx="2160000" cy="756248"/>
            </a:xfrm>
            <a:prstGeom prst="rect">
              <a:avLst/>
            </a:prstGeom>
            <a:solidFill>
              <a:srgbClr val="8989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latin typeface="Arial" panose="020B0604020202020204" pitchFamily="34" charset="0"/>
                  <a:cs typeface="Arial" panose="020B0604020202020204" pitchFamily="34" charset="0"/>
                </a:rPr>
                <a:t>R137 G137 B137</a:t>
              </a:r>
              <a:endParaRPr lang="zh-CN" altLang="en-US" sz="900" dirty="0">
                <a:latin typeface="Arial" panose="020B0604020202020204" pitchFamily="34" charset="0"/>
                <a:cs typeface="Arial" panose="020B0604020202020204" pitchFamily="34" charset="0"/>
              </a:endParaRPr>
            </a:p>
          </p:txBody>
        </p:sp>
        <p:sp>
          <p:nvSpPr>
            <p:cNvPr id="5" name="矩形 4"/>
            <p:cNvSpPr/>
            <p:nvPr/>
          </p:nvSpPr>
          <p:spPr>
            <a:xfrm>
              <a:off x="9399610" y="1685694"/>
              <a:ext cx="2160000" cy="75624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chemeClr val="tx1">
                      <a:lumMod val="75000"/>
                      <a:lumOff val="25000"/>
                    </a:schemeClr>
                  </a:solidFill>
                  <a:latin typeface="Arial" panose="020B0604020202020204" pitchFamily="34" charset="0"/>
                  <a:cs typeface="Arial" panose="020B0604020202020204" pitchFamily="34" charset="0"/>
                </a:rPr>
                <a:t>R242 G242 B242</a:t>
              </a:r>
              <a:endParaRPr lang="zh-CN" altLang="en-US" sz="900" dirty="0">
                <a:solidFill>
                  <a:schemeClr val="tx1">
                    <a:lumMod val="75000"/>
                    <a:lumOff val="25000"/>
                  </a:schemeClr>
                </a:solidFill>
                <a:latin typeface="Arial" panose="020B0604020202020204" pitchFamily="34" charset="0"/>
                <a:cs typeface="Arial" panose="020B0604020202020204" pitchFamily="34" charset="0"/>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3.xml"/><Relationship Id="rId7" Type="http://schemas.openxmlformats.org/officeDocument/2006/relationships/image" Target="../media/image7.png"/><Relationship Id="rId6" Type="http://schemas.openxmlformats.org/officeDocument/2006/relationships/image" Target="../media/image6.tiff"/><Relationship Id="rId5" Type="http://schemas.openxmlformats.org/officeDocument/2006/relationships/image" Target="../media/image5.tiff"/><Relationship Id="rId4" Type="http://schemas.openxmlformats.org/officeDocument/2006/relationships/image" Target="../media/image4.tiff"/><Relationship Id="rId3" Type="http://schemas.openxmlformats.org/officeDocument/2006/relationships/image" Target="../media/image3.tiff"/><Relationship Id="rId2" Type="http://schemas.openxmlformats.org/officeDocument/2006/relationships/image" Target="../media/image2.tiff"/><Relationship Id="rId1" Type="http://schemas.openxmlformats.org/officeDocument/2006/relationships/image" Target="../media/image1.tiff"/></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hemeOverride" Target="../theme/themeOverride4.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themeOverride" Target="../theme/themeOverride5.xml"/><Relationship Id="rId2" Type="http://schemas.openxmlformats.org/officeDocument/2006/relationships/image" Target="../media/image9.png"/><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3.xml"/><Relationship Id="rId2" Type="http://schemas.openxmlformats.org/officeDocument/2006/relationships/image" Target="../media/image10.png"/><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7.png"/><Relationship Id="rId1"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hemeOverride" Target="../theme/themeOverride7.xml"/><Relationship Id="rId1" Type="http://schemas.openxmlformats.org/officeDocument/2006/relationships/hyperlink" Target="https://doc.weixin.qq.com/doc/w3_AE4A7AaiAMIge3QfwaaS2K3gzLZHc?scode=AOYA1gdTAA847P2dgm" TargetMode="Externa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hemeOverride" Target="../theme/themeOverride8.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9.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hemeOverride" Target="../theme/themeOverride10.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hemeOverride" Target="../theme/themeOverride1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hemeOverride" Target="../theme/themeOverr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湖仓一体数据平台项目周会</a:t>
            </a:r>
            <a:endParaRPr lang="zh-CN" altLang="en-US" dirty="0"/>
          </a:p>
        </p:txBody>
      </p:sp>
      <p:sp>
        <p:nvSpPr>
          <p:cNvPr id="3" name="文本框 2"/>
          <p:cNvSpPr txBox="1"/>
          <p:nvPr/>
        </p:nvSpPr>
        <p:spPr>
          <a:xfrm>
            <a:off x="521970" y="5773420"/>
            <a:ext cx="3123565" cy="645160"/>
          </a:xfrm>
          <a:prstGeom prst="rect">
            <a:avLst/>
          </a:prstGeom>
          <a:noFill/>
        </p:spPr>
        <p:txBody>
          <a:bodyPr wrap="square">
            <a:spAutoFit/>
          </a:bodyPr>
          <a:lstStyle/>
          <a:p>
            <a:r>
              <a:rPr lang="en-US" altLang="zh-CN" b="1" spc="50" dirty="0">
                <a:solidFill>
                  <a:schemeClr val="tx1">
                    <a:lumMod val="85000"/>
                    <a:lumOff val="15000"/>
                  </a:schemeClr>
                </a:solidFill>
                <a:latin typeface="华文楷体" panose="02010600040101010101" pitchFamily="2" charset="-122"/>
                <a:ea typeface="华文楷体" panose="02010600040101010101" pitchFamily="2" charset="-122"/>
                <a:cs typeface="华文楷体" panose="02010600040101010101" pitchFamily="2" charset="-122"/>
                <a:sym typeface="Arial" panose="020B0604020202020204" pitchFamily="34" charset="0"/>
              </a:rPr>
              <a:t>XXXXX</a:t>
            </a:r>
            <a:r>
              <a:rPr lang="zh-CN" altLang="en-US" b="1" spc="50" dirty="0">
                <a:solidFill>
                  <a:schemeClr val="tx1">
                    <a:lumMod val="85000"/>
                    <a:lumOff val="15000"/>
                  </a:schemeClr>
                </a:solidFill>
                <a:latin typeface="华文楷体" panose="02010600040101010101" pitchFamily="2" charset="-122"/>
                <a:ea typeface="华文楷体" panose="02010600040101010101" pitchFamily="2" charset="-122"/>
                <a:cs typeface="华文楷体" panose="02010600040101010101" pitchFamily="2" charset="-122"/>
                <a:sym typeface="Arial" panose="020B0604020202020204" pitchFamily="34" charset="0"/>
              </a:rPr>
              <a:t>部 </a:t>
            </a:r>
            <a:endParaRPr lang="en-US" altLang="zh-CN" b="1" spc="50" dirty="0">
              <a:solidFill>
                <a:schemeClr val="tx1">
                  <a:lumMod val="85000"/>
                  <a:lumOff val="15000"/>
                </a:schemeClr>
              </a:solidFill>
              <a:latin typeface="华文楷体" panose="02010600040101010101" pitchFamily="2" charset="-122"/>
              <a:ea typeface="华文楷体" panose="02010600040101010101" pitchFamily="2" charset="-122"/>
              <a:cs typeface="华文楷体" panose="02010600040101010101" pitchFamily="2" charset="-122"/>
              <a:sym typeface="Arial" panose="020B0604020202020204" pitchFamily="34" charset="0"/>
            </a:endParaRPr>
          </a:p>
          <a:p>
            <a:r>
              <a:rPr lang="zh-CN" altLang="en-US" b="1" spc="50" dirty="0">
                <a:solidFill>
                  <a:schemeClr val="tx1">
                    <a:lumMod val="85000"/>
                    <a:lumOff val="15000"/>
                  </a:schemeClr>
                </a:solidFill>
                <a:latin typeface="华文楷体" panose="02010600040101010101" pitchFamily="2" charset="-122"/>
                <a:ea typeface="华文楷体" panose="02010600040101010101" pitchFamily="2" charset="-122"/>
                <a:cs typeface="华文楷体" panose="02010600040101010101" pitchFamily="2" charset="-122"/>
                <a:sym typeface="Arial" panose="020B0604020202020204" pitchFamily="34" charset="0"/>
              </a:rPr>
              <a:t>二零二三年二月</a:t>
            </a:r>
            <a:endParaRPr lang="zh-CN" altLang="en-US" b="1" spc="50" dirty="0">
              <a:solidFill>
                <a:schemeClr val="tx1">
                  <a:lumMod val="85000"/>
                  <a:lumOff val="15000"/>
                </a:schemeClr>
              </a:solidFill>
              <a:latin typeface="华文楷体" panose="02010600040101010101" pitchFamily="2" charset="-122"/>
              <a:ea typeface="华文楷体" panose="02010600040101010101" pitchFamily="2" charset="-122"/>
              <a:cs typeface="华文楷体" panose="02010600040101010101" pitchFamily="2" charset="-122"/>
              <a:sym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一、实施节奏</a:t>
            </a:r>
            <a:endParaRPr lang="en-US" altLang="zh-CN" dirty="0"/>
          </a:p>
          <a:p>
            <a:r>
              <a:rPr lang="zh-CN" altLang="en-US" dirty="0"/>
              <a:t>二、本周进展</a:t>
            </a:r>
            <a:endParaRPr lang="en-US" altLang="zh-CN" dirty="0"/>
          </a:p>
          <a:p>
            <a:r>
              <a:rPr lang="zh-CN" altLang="en-US" dirty="0"/>
              <a:t>三、专项讨论</a:t>
            </a:r>
            <a:endParaRPr lang="en-US" altLang="zh-CN" dirty="0"/>
          </a:p>
          <a:p>
            <a:r>
              <a:rPr lang="zh-CN" altLang="en-US" dirty="0"/>
              <a:t>四、下周工作</a:t>
            </a:r>
            <a:endParaRPr lang="en-US" altLang="zh-CN" dirty="0"/>
          </a:p>
          <a:p>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rgbClr val="C00000"/>
                </a:solidFill>
              </a:rPr>
              <a:t>一、实施节奏</a:t>
            </a:r>
            <a:endParaRPr lang="en-US" altLang="zh-CN" dirty="0">
              <a:solidFill>
                <a:srgbClr val="C00000"/>
              </a:solidFill>
            </a:endParaRPr>
          </a:p>
          <a:p>
            <a:r>
              <a:rPr lang="zh-CN" altLang="en-US" dirty="0">
                <a:solidFill>
                  <a:schemeClr val="bg1">
                    <a:lumMod val="50000"/>
                  </a:schemeClr>
                </a:solidFill>
              </a:rPr>
              <a:t>二、本周进展</a:t>
            </a:r>
            <a:endParaRPr lang="en-US" altLang="zh-CN" dirty="0">
              <a:solidFill>
                <a:schemeClr val="bg1">
                  <a:lumMod val="50000"/>
                </a:schemeClr>
              </a:solidFill>
            </a:endParaRPr>
          </a:p>
          <a:p>
            <a:r>
              <a:rPr lang="zh-CN" altLang="en-US" dirty="0">
                <a:solidFill>
                  <a:schemeClr val="bg1">
                    <a:lumMod val="50000"/>
                  </a:schemeClr>
                </a:solidFill>
              </a:rPr>
              <a:t>三、专项讨论</a:t>
            </a:r>
            <a:endParaRPr lang="en-US" altLang="zh-CN" dirty="0">
              <a:solidFill>
                <a:schemeClr val="bg1">
                  <a:lumMod val="50000"/>
                </a:schemeClr>
              </a:solidFill>
            </a:endParaRPr>
          </a:p>
          <a:p>
            <a:r>
              <a:rPr lang="zh-CN" altLang="en-US" dirty="0">
                <a:solidFill>
                  <a:schemeClr val="bg1">
                    <a:lumMod val="50000"/>
                  </a:schemeClr>
                </a:solidFill>
              </a:rPr>
              <a:t>四、下周工作</a:t>
            </a:r>
            <a:endParaRPr lang="en-US" altLang="zh-CN" dirty="0">
              <a:solidFill>
                <a:schemeClr val="bg1">
                  <a:lumMod val="50000"/>
                </a:schemeClr>
              </a:solidFill>
            </a:endParaRPr>
          </a:p>
          <a:p>
            <a:endParaRPr lang="zh-CN" altLang="en-US" dirty="0">
              <a:solidFill>
                <a:schemeClr val="bg1">
                  <a:lumMod val="5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 </a:t>
            </a:r>
            <a:r>
              <a:rPr lang="zh-CN" altLang="en-US" dirty="0"/>
              <a:t>项目目标</a:t>
            </a:r>
            <a:endParaRPr lang="zh-CN" altLang="en-US" dirty="0"/>
          </a:p>
        </p:txBody>
      </p:sp>
      <p:sp>
        <p:nvSpPr>
          <p:cNvPr id="3" name="文本框 2"/>
          <p:cNvSpPr txBox="1"/>
          <p:nvPr/>
        </p:nvSpPr>
        <p:spPr>
          <a:xfrm>
            <a:off x="2047875" y="4806950"/>
            <a:ext cx="9239885" cy="1142492"/>
          </a:xfrm>
          <a:prstGeom prst="rect">
            <a:avLst/>
          </a:prstGeom>
          <a:noFill/>
        </p:spPr>
        <p:txBody>
          <a:bodyPr wrap="square">
            <a:spAutoFit/>
          </a:bodyPr>
          <a:lstStyle>
            <a:defPPr>
              <a:defRPr lang="zh-CN"/>
            </a:defPPr>
            <a:lvl1pPr algn="ctr" defTabSz="1828800">
              <a:lnSpc>
                <a:spcPct val="130000"/>
              </a:lnSpc>
              <a:defRPr sz="1600">
                <a:latin typeface="微软雅黑 Light" panose="020B0502040204020203" pitchFamily="34" charset="-122"/>
                <a:ea typeface="微软雅黑 Light" panose="020B0502040204020203" pitchFamily="34" charset="-122"/>
                <a:cs typeface="Lato Light" charset="0"/>
              </a:defRPr>
            </a:lvl1pPr>
          </a:lstStyle>
          <a:p>
            <a:pPr algn="l" defTabSz="2437765" hangingPunct="0">
              <a:lnSpc>
                <a:spcPct val="150000"/>
              </a:lnSpc>
              <a:buSzPct val="25000"/>
              <a:defRPr/>
            </a:pPr>
            <a:r>
              <a:rPr lang="en-US" altLang="zh-CN" kern="0" dirty="0">
                <a:solidFill>
                  <a:schemeClr val="tx1"/>
                </a:solidFill>
                <a:latin typeface="华文楷体" panose="02010600040101010101" pitchFamily="2" charset="-122"/>
                <a:ea typeface="华文楷体" panose="02010600040101010101" pitchFamily="2" charset="-122"/>
                <a:sym typeface="Helvetica Neue" panose="02000503000000020004"/>
              </a:rPr>
              <a:t>——</a:t>
            </a:r>
            <a:r>
              <a:rPr lang="zh-CN" altLang="en-US" kern="0" dirty="0">
                <a:solidFill>
                  <a:schemeClr val="tx1"/>
                </a:solidFill>
                <a:latin typeface="华文楷体" panose="02010600040101010101" pitchFamily="2" charset="-122"/>
                <a:ea typeface="华文楷体" panose="02010600040101010101" pitchFamily="2" charset="-122"/>
                <a:sym typeface="Helvetica Neue" panose="02000503000000020004"/>
              </a:rPr>
              <a:t>基于一份数据对接多个计算引擎，实现数据按需使用和共享功能</a:t>
            </a:r>
            <a:r>
              <a:rPr lang="zh-CN" altLang="en-US" kern="0" dirty="0">
                <a:latin typeface="华文楷体" panose="02010600040101010101" pitchFamily="2" charset="-122"/>
                <a:ea typeface="华文楷体" panose="02010600040101010101" pitchFamily="2" charset="-122"/>
                <a:sym typeface="Helvetica Neue" panose="02000503000000020004"/>
              </a:rPr>
              <a:t>的</a:t>
            </a:r>
            <a:r>
              <a:rPr lang="zh-CN" altLang="en-US" kern="0" dirty="0">
                <a:solidFill>
                  <a:schemeClr val="tx1"/>
                </a:solidFill>
                <a:latin typeface="华文楷体" panose="02010600040101010101" pitchFamily="2" charset="-122"/>
                <a:ea typeface="华文楷体" panose="02010600040101010101" pitchFamily="2" charset="-122"/>
                <a:sym typeface="Helvetica Neue" panose="02000503000000020004"/>
              </a:rPr>
              <a:t>特性，深化全量数据思维下的新型运营理念 。通过不断夯实数据基础、向数据消费方提供丰富数据应用场景，优化多态灵活的数据消费体系。</a:t>
            </a:r>
            <a:endParaRPr lang="zh-CN" altLang="en-US" kern="0" dirty="0">
              <a:solidFill>
                <a:schemeClr val="tx1"/>
              </a:solidFill>
              <a:latin typeface="华文楷体" panose="02010600040101010101" pitchFamily="2" charset="-122"/>
              <a:ea typeface="华文楷体" panose="02010600040101010101" pitchFamily="2" charset="-122"/>
              <a:sym typeface="Helvetica Neue" panose="02000503000000020004"/>
            </a:endParaRPr>
          </a:p>
        </p:txBody>
      </p:sp>
      <p:sp>
        <p:nvSpPr>
          <p:cNvPr id="4" name="文本框 3"/>
          <p:cNvSpPr txBox="1"/>
          <p:nvPr/>
        </p:nvSpPr>
        <p:spPr>
          <a:xfrm>
            <a:off x="2031734" y="4276830"/>
            <a:ext cx="4549065" cy="481670"/>
          </a:xfrm>
          <a:prstGeom prst="rect">
            <a:avLst/>
          </a:prstGeom>
          <a:noFill/>
        </p:spPr>
        <p:txBody>
          <a:bodyPr wrap="square" rtlCol="0">
            <a:spAutoFit/>
          </a:bodyPr>
          <a:lstStyle/>
          <a:p>
            <a:pPr marL="0" marR="0" indent="0" defTabSz="2437765" eaLnBrk="1" fontAlgn="auto" latinLnBrk="0" hangingPunct="0">
              <a:lnSpc>
                <a:spcPct val="150000"/>
              </a:lnSpc>
              <a:spcBef>
                <a:spcPts val="0"/>
              </a:spcBef>
              <a:spcAft>
                <a:spcPts val="0"/>
              </a:spcAft>
              <a:buClrTx/>
              <a:buSzPct val="25000"/>
              <a:buFontTx/>
              <a:buNone/>
              <a:defRPr/>
            </a:pPr>
            <a:r>
              <a:rPr lang="zh-CN" altLang="en-US" sz="2000" b="1" kern="0" dirty="0">
                <a:solidFill>
                  <a:srgbClr val="C00000"/>
                </a:solidFill>
                <a:latin typeface="华文楷体" panose="02010600040101010101" pitchFamily="2" charset="-122"/>
                <a:ea typeface="华文楷体" panose="02010600040101010101" pitchFamily="2" charset="-122"/>
                <a:sym typeface="Helvetica Neue" panose="02000503000000020004"/>
              </a:rPr>
              <a:t>丰富多模态数据运营消费体系</a:t>
            </a:r>
            <a:endParaRPr lang="zh-CN" altLang="en-US" sz="2000" b="1" kern="0" dirty="0">
              <a:solidFill>
                <a:srgbClr val="C00000"/>
              </a:solidFill>
              <a:latin typeface="华文楷体" panose="02010600040101010101" pitchFamily="2" charset="-122"/>
              <a:ea typeface="华文楷体" panose="02010600040101010101" pitchFamily="2" charset="-122"/>
              <a:sym typeface="Helvetica Neue" panose="02000503000000020004"/>
            </a:endParaRPr>
          </a:p>
        </p:txBody>
      </p:sp>
      <p:grpSp>
        <p:nvGrpSpPr>
          <p:cNvPr id="5" name="组合 4"/>
          <p:cNvGrpSpPr/>
          <p:nvPr/>
        </p:nvGrpSpPr>
        <p:grpSpPr>
          <a:xfrm>
            <a:off x="744610" y="4393869"/>
            <a:ext cx="972457" cy="972457"/>
            <a:chOff x="899886" y="4920525"/>
            <a:chExt cx="972457" cy="972457"/>
          </a:xfrm>
        </p:grpSpPr>
        <p:sp>
          <p:nvSpPr>
            <p:cNvPr id="6" name="椭圆 5"/>
            <p:cNvSpPr/>
            <p:nvPr/>
          </p:nvSpPr>
          <p:spPr>
            <a:xfrm>
              <a:off x="899886" y="4920525"/>
              <a:ext cx="972457" cy="972457"/>
            </a:xfrm>
            <a:prstGeom prst="ellipse">
              <a:avLst/>
            </a:prstGeom>
            <a:solidFill>
              <a:srgbClr val="BB0A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华文楷体" panose="02010600040101010101" pitchFamily="2" charset="-122"/>
                <a:ea typeface="华文楷体" panose="02010600040101010101" pitchFamily="2" charset="-122"/>
              </a:endParaRPr>
            </a:p>
          </p:txBody>
        </p:sp>
        <p:sp>
          <p:nvSpPr>
            <p:cNvPr id="7" name="iconfont-1186-600061"/>
            <p:cNvSpPr/>
            <p:nvPr/>
          </p:nvSpPr>
          <p:spPr>
            <a:xfrm>
              <a:off x="1173576" y="5242379"/>
              <a:ext cx="454115" cy="362346"/>
            </a:xfrm>
            <a:custGeom>
              <a:avLst/>
              <a:gdLst>
                <a:gd name="T0" fmla="*/ 56 w 12800"/>
                <a:gd name="T1" fmla="*/ 0 h 11520"/>
                <a:gd name="T2" fmla="*/ 0 w 12800"/>
                <a:gd name="T3" fmla="*/ 11464 h 11520"/>
                <a:gd name="T4" fmla="*/ 2337 w 12800"/>
                <a:gd name="T5" fmla="*/ 11520 h 11520"/>
                <a:gd name="T6" fmla="*/ 4424 w 12800"/>
                <a:gd name="T7" fmla="*/ 9322 h 11520"/>
                <a:gd name="T8" fmla="*/ 6706 w 12800"/>
                <a:gd name="T9" fmla="*/ 11520 h 11520"/>
                <a:gd name="T10" fmla="*/ 6762 w 12800"/>
                <a:gd name="T11" fmla="*/ 83 h 11520"/>
                <a:gd name="T12" fmla="*/ 2894 w 12800"/>
                <a:gd name="T13" fmla="*/ 7652 h 11520"/>
                <a:gd name="T14" fmla="*/ 1280 w 12800"/>
                <a:gd name="T15" fmla="*/ 6066 h 11520"/>
                <a:gd name="T16" fmla="*/ 2894 w 12800"/>
                <a:gd name="T17" fmla="*/ 7652 h 11520"/>
                <a:gd name="T18" fmla="*/ 1280 w 12800"/>
                <a:gd name="T19" fmla="*/ 5287 h 11520"/>
                <a:gd name="T20" fmla="*/ 2894 w 12800"/>
                <a:gd name="T21" fmla="*/ 3701 h 11520"/>
                <a:gd name="T22" fmla="*/ 2894 w 12800"/>
                <a:gd name="T23" fmla="*/ 2922 h 11520"/>
                <a:gd name="T24" fmla="*/ 1280 w 12800"/>
                <a:gd name="T25" fmla="*/ 1336 h 11520"/>
                <a:gd name="T26" fmla="*/ 2894 w 12800"/>
                <a:gd name="T27" fmla="*/ 2922 h 11520"/>
                <a:gd name="T28" fmla="*/ 3840 w 12800"/>
                <a:gd name="T29" fmla="*/ 7652 h 11520"/>
                <a:gd name="T30" fmla="*/ 5454 w 12800"/>
                <a:gd name="T31" fmla="*/ 6066 h 11520"/>
                <a:gd name="T32" fmla="*/ 5454 w 12800"/>
                <a:gd name="T33" fmla="*/ 5287 h 11520"/>
                <a:gd name="T34" fmla="*/ 3840 w 12800"/>
                <a:gd name="T35" fmla="*/ 3701 h 11520"/>
                <a:gd name="T36" fmla="*/ 5454 w 12800"/>
                <a:gd name="T37" fmla="*/ 5287 h 11520"/>
                <a:gd name="T38" fmla="*/ 3840 w 12800"/>
                <a:gd name="T39" fmla="*/ 2922 h 11520"/>
                <a:gd name="T40" fmla="*/ 5454 w 12800"/>
                <a:gd name="T41" fmla="*/ 1336 h 11520"/>
                <a:gd name="T42" fmla="*/ 12466 w 12800"/>
                <a:gd name="T43" fmla="*/ 3701 h 11520"/>
                <a:gd name="T44" fmla="*/ 7763 w 12800"/>
                <a:gd name="T45" fmla="*/ 4035 h 11520"/>
                <a:gd name="T46" fmla="*/ 7791 w 12800"/>
                <a:gd name="T47" fmla="*/ 11492 h 11520"/>
                <a:gd name="T48" fmla="*/ 9544 w 12800"/>
                <a:gd name="T49" fmla="*/ 10045 h 11520"/>
                <a:gd name="T50" fmla="*/ 11019 w 12800"/>
                <a:gd name="T51" fmla="*/ 11492 h 11520"/>
                <a:gd name="T52" fmla="*/ 12772 w 12800"/>
                <a:gd name="T53" fmla="*/ 11464 h 11520"/>
                <a:gd name="T54" fmla="*/ 12466 w 12800"/>
                <a:gd name="T55" fmla="*/ 3701 h 11520"/>
                <a:gd name="T56" fmla="*/ 8403 w 12800"/>
                <a:gd name="T57" fmla="*/ 8821 h 11520"/>
                <a:gd name="T58" fmla="*/ 12104 w 12800"/>
                <a:gd name="T59" fmla="*/ 8042 h 11520"/>
                <a:gd name="T60" fmla="*/ 12104 w 12800"/>
                <a:gd name="T61" fmla="*/ 7263 h 11520"/>
                <a:gd name="T62" fmla="*/ 8403 w 12800"/>
                <a:gd name="T63" fmla="*/ 6483 h 11520"/>
                <a:gd name="T64" fmla="*/ 12104 w 12800"/>
                <a:gd name="T65" fmla="*/ 7263 h 11520"/>
                <a:gd name="T66" fmla="*/ 8403 w 12800"/>
                <a:gd name="T67" fmla="*/ 5677 h 11520"/>
                <a:gd name="T68" fmla="*/ 12104 w 12800"/>
                <a:gd name="T69" fmla="*/ 4897 h 11520"/>
                <a:gd name="T70" fmla="*/ 12104 w 12800"/>
                <a:gd name="T71" fmla="*/ 5677 h 11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800" h="11520">
                  <a:moveTo>
                    <a:pt x="6706" y="0"/>
                  </a:moveTo>
                  <a:lnTo>
                    <a:pt x="56" y="0"/>
                  </a:lnTo>
                  <a:cubicBezTo>
                    <a:pt x="28" y="0"/>
                    <a:pt x="0" y="28"/>
                    <a:pt x="0" y="83"/>
                  </a:cubicBezTo>
                  <a:lnTo>
                    <a:pt x="0" y="11464"/>
                  </a:lnTo>
                  <a:cubicBezTo>
                    <a:pt x="0" y="11492"/>
                    <a:pt x="28" y="11520"/>
                    <a:pt x="56" y="11520"/>
                  </a:cubicBezTo>
                  <a:lnTo>
                    <a:pt x="2337" y="11520"/>
                  </a:lnTo>
                  <a:lnTo>
                    <a:pt x="2337" y="9322"/>
                  </a:lnTo>
                  <a:lnTo>
                    <a:pt x="4424" y="9322"/>
                  </a:lnTo>
                  <a:lnTo>
                    <a:pt x="4424" y="11520"/>
                  </a:lnTo>
                  <a:lnTo>
                    <a:pt x="6706" y="11520"/>
                  </a:lnTo>
                  <a:cubicBezTo>
                    <a:pt x="6734" y="11520"/>
                    <a:pt x="6762" y="11492"/>
                    <a:pt x="6762" y="11464"/>
                  </a:cubicBezTo>
                  <a:lnTo>
                    <a:pt x="6762" y="83"/>
                  </a:lnTo>
                  <a:cubicBezTo>
                    <a:pt x="6762" y="28"/>
                    <a:pt x="6734" y="0"/>
                    <a:pt x="6706" y="0"/>
                  </a:cubicBezTo>
                  <a:close/>
                  <a:moveTo>
                    <a:pt x="2894" y="7652"/>
                  </a:moveTo>
                  <a:lnTo>
                    <a:pt x="1280" y="7652"/>
                  </a:lnTo>
                  <a:lnTo>
                    <a:pt x="1280" y="6066"/>
                  </a:lnTo>
                  <a:lnTo>
                    <a:pt x="2894" y="6066"/>
                  </a:lnTo>
                  <a:lnTo>
                    <a:pt x="2894" y="7652"/>
                  </a:lnTo>
                  <a:close/>
                  <a:moveTo>
                    <a:pt x="2894" y="5287"/>
                  </a:moveTo>
                  <a:lnTo>
                    <a:pt x="1280" y="5287"/>
                  </a:lnTo>
                  <a:lnTo>
                    <a:pt x="1280" y="3701"/>
                  </a:lnTo>
                  <a:lnTo>
                    <a:pt x="2894" y="3701"/>
                  </a:lnTo>
                  <a:lnTo>
                    <a:pt x="2894" y="5287"/>
                  </a:lnTo>
                  <a:close/>
                  <a:moveTo>
                    <a:pt x="2894" y="2922"/>
                  </a:moveTo>
                  <a:lnTo>
                    <a:pt x="1280" y="2922"/>
                  </a:lnTo>
                  <a:lnTo>
                    <a:pt x="1280" y="1336"/>
                  </a:lnTo>
                  <a:lnTo>
                    <a:pt x="2894" y="1336"/>
                  </a:lnTo>
                  <a:lnTo>
                    <a:pt x="2894" y="2922"/>
                  </a:lnTo>
                  <a:close/>
                  <a:moveTo>
                    <a:pt x="5454" y="7652"/>
                  </a:moveTo>
                  <a:lnTo>
                    <a:pt x="3840" y="7652"/>
                  </a:lnTo>
                  <a:lnTo>
                    <a:pt x="3840" y="6066"/>
                  </a:lnTo>
                  <a:lnTo>
                    <a:pt x="5454" y="6066"/>
                  </a:lnTo>
                  <a:lnTo>
                    <a:pt x="5454" y="7652"/>
                  </a:lnTo>
                  <a:close/>
                  <a:moveTo>
                    <a:pt x="5454" y="5287"/>
                  </a:moveTo>
                  <a:lnTo>
                    <a:pt x="3840" y="5287"/>
                  </a:lnTo>
                  <a:lnTo>
                    <a:pt x="3840" y="3701"/>
                  </a:lnTo>
                  <a:lnTo>
                    <a:pt x="5454" y="3701"/>
                  </a:lnTo>
                  <a:lnTo>
                    <a:pt x="5454" y="5287"/>
                  </a:lnTo>
                  <a:close/>
                  <a:moveTo>
                    <a:pt x="5454" y="2922"/>
                  </a:moveTo>
                  <a:lnTo>
                    <a:pt x="3840" y="2922"/>
                  </a:lnTo>
                  <a:lnTo>
                    <a:pt x="3840" y="1336"/>
                  </a:lnTo>
                  <a:lnTo>
                    <a:pt x="5454" y="1336"/>
                  </a:lnTo>
                  <a:lnTo>
                    <a:pt x="5454" y="2922"/>
                  </a:lnTo>
                  <a:close/>
                  <a:moveTo>
                    <a:pt x="12466" y="3701"/>
                  </a:moveTo>
                  <a:lnTo>
                    <a:pt x="8097" y="3701"/>
                  </a:lnTo>
                  <a:cubicBezTo>
                    <a:pt x="7903" y="3701"/>
                    <a:pt x="7763" y="3840"/>
                    <a:pt x="7763" y="4035"/>
                  </a:cubicBezTo>
                  <a:lnTo>
                    <a:pt x="7763" y="11464"/>
                  </a:lnTo>
                  <a:cubicBezTo>
                    <a:pt x="7763" y="11492"/>
                    <a:pt x="7791" y="11492"/>
                    <a:pt x="7791" y="11492"/>
                  </a:cubicBezTo>
                  <a:lnTo>
                    <a:pt x="9544" y="11492"/>
                  </a:lnTo>
                  <a:lnTo>
                    <a:pt x="9544" y="10045"/>
                  </a:lnTo>
                  <a:lnTo>
                    <a:pt x="11019" y="10045"/>
                  </a:lnTo>
                  <a:lnTo>
                    <a:pt x="11019" y="11492"/>
                  </a:lnTo>
                  <a:lnTo>
                    <a:pt x="12744" y="11492"/>
                  </a:lnTo>
                  <a:cubicBezTo>
                    <a:pt x="12772" y="11492"/>
                    <a:pt x="12772" y="11464"/>
                    <a:pt x="12772" y="11464"/>
                  </a:cubicBezTo>
                  <a:lnTo>
                    <a:pt x="12772" y="4035"/>
                  </a:lnTo>
                  <a:cubicBezTo>
                    <a:pt x="12800" y="3868"/>
                    <a:pt x="12633" y="3701"/>
                    <a:pt x="12466" y="3701"/>
                  </a:cubicBezTo>
                  <a:close/>
                  <a:moveTo>
                    <a:pt x="12104" y="8821"/>
                  </a:moveTo>
                  <a:lnTo>
                    <a:pt x="8403" y="8821"/>
                  </a:lnTo>
                  <a:lnTo>
                    <a:pt x="8403" y="8042"/>
                  </a:lnTo>
                  <a:lnTo>
                    <a:pt x="12104" y="8042"/>
                  </a:lnTo>
                  <a:lnTo>
                    <a:pt x="12104" y="8821"/>
                  </a:lnTo>
                  <a:close/>
                  <a:moveTo>
                    <a:pt x="12104" y="7263"/>
                  </a:moveTo>
                  <a:lnTo>
                    <a:pt x="8403" y="7263"/>
                  </a:lnTo>
                  <a:lnTo>
                    <a:pt x="8403" y="6483"/>
                  </a:lnTo>
                  <a:lnTo>
                    <a:pt x="12104" y="6483"/>
                  </a:lnTo>
                  <a:lnTo>
                    <a:pt x="12104" y="7263"/>
                  </a:lnTo>
                  <a:close/>
                  <a:moveTo>
                    <a:pt x="12104" y="5677"/>
                  </a:moveTo>
                  <a:lnTo>
                    <a:pt x="8403" y="5677"/>
                  </a:lnTo>
                  <a:lnTo>
                    <a:pt x="8403" y="4897"/>
                  </a:lnTo>
                  <a:lnTo>
                    <a:pt x="12104" y="4897"/>
                  </a:lnTo>
                  <a:lnTo>
                    <a:pt x="12104" y="5677"/>
                  </a:lnTo>
                  <a:close/>
                  <a:moveTo>
                    <a:pt x="12104" y="5677"/>
                  </a:move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华文楷体" panose="02010600040101010101" pitchFamily="2" charset="-122"/>
                <a:ea typeface="华文楷体" panose="02010600040101010101" pitchFamily="2" charset="-122"/>
              </a:endParaRPr>
            </a:p>
          </p:txBody>
        </p:sp>
      </p:grpSp>
      <p:sp>
        <p:nvSpPr>
          <p:cNvPr id="8" name="文本框 7"/>
          <p:cNvSpPr txBox="1"/>
          <p:nvPr/>
        </p:nvSpPr>
        <p:spPr>
          <a:xfrm>
            <a:off x="2039620" y="3060700"/>
            <a:ext cx="9247505" cy="1142492"/>
          </a:xfrm>
          <a:prstGeom prst="rect">
            <a:avLst/>
          </a:prstGeom>
          <a:noFill/>
        </p:spPr>
        <p:txBody>
          <a:bodyPr wrap="square">
            <a:spAutoFit/>
          </a:bodyPr>
          <a:lstStyle>
            <a:defPPr>
              <a:defRPr lang="zh-CN"/>
            </a:defPPr>
            <a:lvl1pPr algn="ctr" defTabSz="1828800">
              <a:lnSpc>
                <a:spcPct val="130000"/>
              </a:lnSpc>
              <a:defRPr sz="1600">
                <a:latin typeface="微软雅黑 Light" panose="020B0502040204020203" pitchFamily="34" charset="-122"/>
                <a:ea typeface="微软雅黑 Light" panose="020B0502040204020203" pitchFamily="34" charset="-122"/>
                <a:cs typeface="Lato Light" charset="0"/>
              </a:defRPr>
            </a:lvl1pPr>
          </a:lstStyle>
          <a:p>
            <a:pPr algn="l" defTabSz="2437765" hangingPunct="0">
              <a:lnSpc>
                <a:spcPct val="150000"/>
              </a:lnSpc>
              <a:buSzPct val="25000"/>
              <a:defRPr/>
            </a:pPr>
            <a:r>
              <a:rPr lang="en-US" altLang="zh-CN" kern="0" dirty="0">
                <a:solidFill>
                  <a:schemeClr val="tx1"/>
                </a:solidFill>
                <a:latin typeface="华文楷体" panose="02010600040101010101" pitchFamily="2" charset="-122"/>
                <a:ea typeface="华文楷体" panose="02010600040101010101" pitchFamily="2" charset="-122"/>
                <a:sym typeface="Helvetica Neue" panose="02000503000000020004"/>
              </a:rPr>
              <a:t>——</a:t>
            </a:r>
            <a:r>
              <a:rPr lang="zh-CN" altLang="en-US" kern="0" dirty="0">
                <a:solidFill>
                  <a:schemeClr val="tx1"/>
                </a:solidFill>
                <a:latin typeface="华文楷体" panose="02010600040101010101" pitchFamily="2" charset="-122"/>
                <a:ea typeface="华文楷体" panose="02010600040101010101" pitchFamily="2" charset="-122"/>
                <a:sym typeface="Helvetica Neue" panose="02000503000000020004"/>
              </a:rPr>
              <a:t>基于计算存储分离架构的平台技术特性，践行“松耦合、层次化”的数据架构原则，完成数据仓库、数据湖数据融合，全面重构数据存储机制和数据计算流程，将体外集市按照租户应用模式迁移</a:t>
            </a:r>
            <a:r>
              <a:rPr lang="en-US" altLang="zh-CN" kern="0" dirty="0">
                <a:solidFill>
                  <a:schemeClr val="tx1"/>
                </a:solidFill>
                <a:latin typeface="华文楷体" panose="02010600040101010101" pitchFamily="2" charset="-122"/>
                <a:ea typeface="华文楷体" panose="02010600040101010101" pitchFamily="2" charset="-122"/>
                <a:sym typeface="Helvetica Neue" panose="02000503000000020004"/>
              </a:rPr>
              <a:t>/</a:t>
            </a:r>
            <a:r>
              <a:rPr lang="zh-CN" altLang="en-US" kern="0" dirty="0">
                <a:solidFill>
                  <a:schemeClr val="tx1"/>
                </a:solidFill>
                <a:latin typeface="华文楷体" panose="02010600040101010101" pitchFamily="2" charset="-122"/>
                <a:ea typeface="华文楷体" panose="02010600040101010101" pitchFamily="2" charset="-122"/>
                <a:sym typeface="Helvetica Neue" panose="02000503000000020004"/>
              </a:rPr>
              <a:t>建设到新平台。满足降冗余、提易读、压时效、拓应用、全链通、广供给的应用管理需求。</a:t>
            </a:r>
            <a:endParaRPr lang="zh-CN" altLang="en-US" b="1" kern="0" dirty="0">
              <a:solidFill>
                <a:schemeClr val="tx1"/>
              </a:solidFill>
              <a:latin typeface="华文楷体" panose="02010600040101010101" pitchFamily="2" charset="-122"/>
              <a:ea typeface="华文楷体" panose="02010600040101010101" pitchFamily="2" charset="-122"/>
              <a:sym typeface="Helvetica Neue" panose="02000503000000020004"/>
            </a:endParaRPr>
          </a:p>
        </p:txBody>
      </p:sp>
      <p:sp>
        <p:nvSpPr>
          <p:cNvPr id="9" name="文本框 8"/>
          <p:cNvSpPr txBox="1"/>
          <p:nvPr/>
        </p:nvSpPr>
        <p:spPr>
          <a:xfrm>
            <a:off x="2031734" y="2550979"/>
            <a:ext cx="5591203" cy="481670"/>
          </a:xfrm>
          <a:prstGeom prst="rect">
            <a:avLst/>
          </a:prstGeom>
          <a:noFill/>
        </p:spPr>
        <p:txBody>
          <a:bodyPr wrap="square" rtlCol="0">
            <a:spAutoFit/>
          </a:bodyPr>
          <a:lstStyle/>
          <a:p>
            <a:pPr marL="0" marR="0" indent="0" defTabSz="2437765" eaLnBrk="1" fontAlgn="auto" latinLnBrk="0" hangingPunct="0">
              <a:lnSpc>
                <a:spcPct val="150000"/>
              </a:lnSpc>
              <a:spcBef>
                <a:spcPts val="0"/>
              </a:spcBef>
              <a:spcAft>
                <a:spcPts val="0"/>
              </a:spcAft>
              <a:buClrTx/>
              <a:buSzPct val="25000"/>
              <a:buFontTx/>
              <a:buNone/>
              <a:defRPr/>
            </a:pPr>
            <a:r>
              <a:rPr lang="zh-CN" altLang="en-US" sz="2000" b="1" kern="0" dirty="0">
                <a:solidFill>
                  <a:srgbClr val="C00000"/>
                </a:solidFill>
                <a:latin typeface="华文楷体" panose="02010600040101010101" pitchFamily="2" charset="-122"/>
                <a:ea typeface="华文楷体" panose="02010600040101010101" pitchFamily="2" charset="-122"/>
                <a:sym typeface="Helvetica Neue" panose="02000503000000020004"/>
              </a:rPr>
              <a:t>重构湖仓一体数据架构体系</a:t>
            </a:r>
            <a:endParaRPr lang="en-US" altLang="zh-CN" sz="2000" b="1" kern="0" dirty="0">
              <a:solidFill>
                <a:srgbClr val="C00000"/>
              </a:solidFill>
              <a:latin typeface="华文楷体" panose="02010600040101010101" pitchFamily="2" charset="-122"/>
              <a:ea typeface="华文楷体" panose="02010600040101010101" pitchFamily="2" charset="-122"/>
              <a:sym typeface="Helvetica Neue" panose="02000503000000020004"/>
            </a:endParaRPr>
          </a:p>
        </p:txBody>
      </p:sp>
      <p:grpSp>
        <p:nvGrpSpPr>
          <p:cNvPr id="10" name="组合 9"/>
          <p:cNvGrpSpPr/>
          <p:nvPr/>
        </p:nvGrpSpPr>
        <p:grpSpPr>
          <a:xfrm>
            <a:off x="744610" y="2552990"/>
            <a:ext cx="972457" cy="972457"/>
            <a:chOff x="899886" y="3258548"/>
            <a:chExt cx="972457" cy="972457"/>
          </a:xfrm>
        </p:grpSpPr>
        <p:sp>
          <p:nvSpPr>
            <p:cNvPr id="11" name="椭圆 10"/>
            <p:cNvSpPr/>
            <p:nvPr/>
          </p:nvSpPr>
          <p:spPr>
            <a:xfrm>
              <a:off x="899886" y="3258548"/>
              <a:ext cx="972457" cy="972457"/>
            </a:xfrm>
            <a:prstGeom prst="ellipse">
              <a:avLst/>
            </a:prstGeom>
            <a:solidFill>
              <a:srgbClr val="BB0A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华文楷体" panose="02010600040101010101" pitchFamily="2" charset="-122"/>
                <a:ea typeface="华文楷体" panose="02010600040101010101" pitchFamily="2" charset="-122"/>
              </a:endParaRPr>
            </a:p>
          </p:txBody>
        </p:sp>
        <p:sp>
          <p:nvSpPr>
            <p:cNvPr id="12" name="iconfont-1187-868615"/>
            <p:cNvSpPr/>
            <p:nvPr/>
          </p:nvSpPr>
          <p:spPr>
            <a:xfrm>
              <a:off x="1184628" y="3530390"/>
              <a:ext cx="414488" cy="412890"/>
            </a:xfrm>
            <a:custGeom>
              <a:avLst/>
              <a:gdLst>
                <a:gd name="T0" fmla="*/ 12123 w 12728"/>
                <a:gd name="T1" fmla="*/ 2794 h 12755"/>
                <a:gd name="T2" fmla="*/ 11574 w 12728"/>
                <a:gd name="T3" fmla="*/ 3342 h 12755"/>
                <a:gd name="T4" fmla="*/ 9386 w 12728"/>
                <a:gd name="T5" fmla="*/ 1151 h 12755"/>
                <a:gd name="T6" fmla="*/ 9932 w 12728"/>
                <a:gd name="T7" fmla="*/ 605 h 12755"/>
                <a:gd name="T8" fmla="*/ 12123 w 12728"/>
                <a:gd name="T9" fmla="*/ 605 h 12755"/>
                <a:gd name="T10" fmla="*/ 12123 w 12728"/>
                <a:gd name="T11" fmla="*/ 2794 h 12755"/>
                <a:gd name="T12" fmla="*/ 10479 w 12728"/>
                <a:gd name="T13" fmla="*/ 4436 h 12755"/>
                <a:gd name="T14" fmla="*/ 7742 w 12728"/>
                <a:gd name="T15" fmla="*/ 7169 h 12755"/>
                <a:gd name="T16" fmla="*/ 3926 w 12728"/>
                <a:gd name="T17" fmla="*/ 8827 h 12755"/>
                <a:gd name="T18" fmla="*/ 5551 w 12728"/>
                <a:gd name="T19" fmla="*/ 4980 h 12755"/>
                <a:gd name="T20" fmla="*/ 8290 w 12728"/>
                <a:gd name="T21" fmla="*/ 2245 h 12755"/>
                <a:gd name="T22" fmla="*/ 10479 w 12728"/>
                <a:gd name="T23" fmla="*/ 4436 h 12755"/>
                <a:gd name="T24" fmla="*/ 4711 w 12728"/>
                <a:gd name="T25" fmla="*/ 1735 h 12755"/>
                <a:gd name="T26" fmla="*/ 2356 w 12728"/>
                <a:gd name="T27" fmla="*/ 1735 h 12755"/>
                <a:gd name="T28" fmla="*/ 1570 w 12728"/>
                <a:gd name="T29" fmla="*/ 2522 h 12755"/>
                <a:gd name="T30" fmla="*/ 1570 w 12728"/>
                <a:gd name="T31" fmla="*/ 10392 h 12755"/>
                <a:gd name="T32" fmla="*/ 2356 w 12728"/>
                <a:gd name="T33" fmla="*/ 11179 h 12755"/>
                <a:gd name="T34" fmla="*/ 10210 w 12728"/>
                <a:gd name="T35" fmla="*/ 11179 h 12755"/>
                <a:gd name="T36" fmla="*/ 10995 w 12728"/>
                <a:gd name="T37" fmla="*/ 10392 h 12755"/>
                <a:gd name="T38" fmla="*/ 10995 w 12728"/>
                <a:gd name="T39" fmla="*/ 7245 h 12755"/>
                <a:gd name="T40" fmla="*/ 11780 w 12728"/>
                <a:gd name="T41" fmla="*/ 6458 h 12755"/>
                <a:gd name="T42" fmla="*/ 12565 w 12728"/>
                <a:gd name="T43" fmla="*/ 7245 h 12755"/>
                <a:gd name="T44" fmla="*/ 12565 w 12728"/>
                <a:gd name="T45" fmla="*/ 11181 h 12755"/>
                <a:gd name="T46" fmla="*/ 10995 w 12728"/>
                <a:gd name="T47" fmla="*/ 12755 h 12755"/>
                <a:gd name="T48" fmla="*/ 1570 w 12728"/>
                <a:gd name="T49" fmla="*/ 12755 h 12755"/>
                <a:gd name="T50" fmla="*/ 0 w 12728"/>
                <a:gd name="T51" fmla="*/ 11181 h 12755"/>
                <a:gd name="T52" fmla="*/ 0 w 12728"/>
                <a:gd name="T53" fmla="*/ 1735 h 12755"/>
                <a:gd name="T54" fmla="*/ 1570 w 12728"/>
                <a:gd name="T55" fmla="*/ 161 h 12755"/>
                <a:gd name="T56" fmla="*/ 4711 w 12728"/>
                <a:gd name="T57" fmla="*/ 161 h 12755"/>
                <a:gd name="T58" fmla="*/ 5496 w 12728"/>
                <a:gd name="T59" fmla="*/ 948 h 12755"/>
                <a:gd name="T60" fmla="*/ 4711 w 12728"/>
                <a:gd name="T61" fmla="*/ 1735 h 12755"/>
                <a:gd name="T62" fmla="*/ 4711 w 12728"/>
                <a:gd name="T63" fmla="*/ 1735 h 1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728" h="12755">
                  <a:moveTo>
                    <a:pt x="12123" y="2794"/>
                  </a:moveTo>
                  <a:lnTo>
                    <a:pt x="11574" y="3342"/>
                  </a:lnTo>
                  <a:lnTo>
                    <a:pt x="9386" y="1151"/>
                  </a:lnTo>
                  <a:lnTo>
                    <a:pt x="9932" y="605"/>
                  </a:lnTo>
                  <a:cubicBezTo>
                    <a:pt x="10537" y="0"/>
                    <a:pt x="11518" y="0"/>
                    <a:pt x="12123" y="605"/>
                  </a:cubicBezTo>
                  <a:cubicBezTo>
                    <a:pt x="12728" y="1208"/>
                    <a:pt x="12728" y="2189"/>
                    <a:pt x="12123" y="2794"/>
                  </a:cubicBezTo>
                  <a:close/>
                  <a:moveTo>
                    <a:pt x="10479" y="4436"/>
                  </a:moveTo>
                  <a:lnTo>
                    <a:pt x="7742" y="7169"/>
                  </a:lnTo>
                  <a:lnTo>
                    <a:pt x="3926" y="8827"/>
                  </a:lnTo>
                  <a:lnTo>
                    <a:pt x="5551" y="4980"/>
                  </a:lnTo>
                  <a:lnTo>
                    <a:pt x="8290" y="2245"/>
                  </a:lnTo>
                  <a:lnTo>
                    <a:pt x="10479" y="4436"/>
                  </a:lnTo>
                  <a:close/>
                  <a:moveTo>
                    <a:pt x="4711" y="1735"/>
                  </a:moveTo>
                  <a:lnTo>
                    <a:pt x="2356" y="1735"/>
                  </a:lnTo>
                  <a:cubicBezTo>
                    <a:pt x="1921" y="1735"/>
                    <a:pt x="1570" y="2088"/>
                    <a:pt x="1570" y="2522"/>
                  </a:cubicBezTo>
                  <a:lnTo>
                    <a:pt x="1570" y="10392"/>
                  </a:lnTo>
                  <a:cubicBezTo>
                    <a:pt x="1570" y="10826"/>
                    <a:pt x="1921" y="11179"/>
                    <a:pt x="2356" y="11179"/>
                  </a:cubicBezTo>
                  <a:lnTo>
                    <a:pt x="10210" y="11179"/>
                  </a:lnTo>
                  <a:cubicBezTo>
                    <a:pt x="10644" y="11179"/>
                    <a:pt x="10995" y="10826"/>
                    <a:pt x="10995" y="10392"/>
                  </a:cubicBezTo>
                  <a:lnTo>
                    <a:pt x="10995" y="7245"/>
                  </a:lnTo>
                  <a:cubicBezTo>
                    <a:pt x="10995" y="6811"/>
                    <a:pt x="11346" y="6458"/>
                    <a:pt x="11780" y="6458"/>
                  </a:cubicBezTo>
                  <a:cubicBezTo>
                    <a:pt x="12214" y="6458"/>
                    <a:pt x="12565" y="6811"/>
                    <a:pt x="12565" y="7245"/>
                  </a:cubicBezTo>
                  <a:lnTo>
                    <a:pt x="12565" y="11181"/>
                  </a:lnTo>
                  <a:cubicBezTo>
                    <a:pt x="12565" y="12049"/>
                    <a:pt x="11861" y="12755"/>
                    <a:pt x="10995" y="12755"/>
                  </a:cubicBezTo>
                  <a:lnTo>
                    <a:pt x="1570" y="12755"/>
                  </a:lnTo>
                  <a:cubicBezTo>
                    <a:pt x="704" y="12755"/>
                    <a:pt x="0" y="12051"/>
                    <a:pt x="0" y="11181"/>
                  </a:cubicBezTo>
                  <a:lnTo>
                    <a:pt x="0" y="1735"/>
                  </a:lnTo>
                  <a:cubicBezTo>
                    <a:pt x="0" y="866"/>
                    <a:pt x="704" y="161"/>
                    <a:pt x="1570" y="161"/>
                  </a:cubicBezTo>
                  <a:lnTo>
                    <a:pt x="4711" y="161"/>
                  </a:lnTo>
                  <a:cubicBezTo>
                    <a:pt x="5145" y="161"/>
                    <a:pt x="5496" y="514"/>
                    <a:pt x="5496" y="948"/>
                  </a:cubicBezTo>
                  <a:cubicBezTo>
                    <a:pt x="5496" y="1384"/>
                    <a:pt x="5145" y="1735"/>
                    <a:pt x="4711" y="1735"/>
                  </a:cubicBezTo>
                  <a:close/>
                  <a:moveTo>
                    <a:pt x="4711" y="1735"/>
                  </a:move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华文楷体" panose="02010600040101010101" pitchFamily="2" charset="-122"/>
                <a:ea typeface="华文楷体" panose="02010600040101010101" pitchFamily="2" charset="-122"/>
              </a:endParaRPr>
            </a:p>
          </p:txBody>
        </p:sp>
      </p:grpSp>
      <p:sp>
        <p:nvSpPr>
          <p:cNvPr id="13" name="文本框 12"/>
          <p:cNvSpPr txBox="1"/>
          <p:nvPr/>
        </p:nvSpPr>
        <p:spPr>
          <a:xfrm>
            <a:off x="2032000" y="1449070"/>
            <a:ext cx="9515475" cy="773160"/>
          </a:xfrm>
          <a:prstGeom prst="rect">
            <a:avLst/>
          </a:prstGeom>
          <a:noFill/>
        </p:spPr>
        <p:txBody>
          <a:bodyPr wrap="square">
            <a:spAutoFit/>
          </a:bodyPr>
          <a:lstStyle>
            <a:defPPr>
              <a:defRPr lang="zh-CN"/>
            </a:defPPr>
            <a:lvl1pPr algn="ctr" defTabSz="1828800">
              <a:lnSpc>
                <a:spcPct val="130000"/>
              </a:lnSpc>
              <a:defRPr sz="1600">
                <a:latin typeface="微软雅黑 Light" panose="020B0502040204020203" pitchFamily="34" charset="-122"/>
                <a:ea typeface="微软雅黑 Light" panose="020B0502040204020203" pitchFamily="34" charset="-122"/>
                <a:cs typeface="Lato Light" charset="0"/>
              </a:defRPr>
            </a:lvl1pPr>
          </a:lstStyle>
          <a:p>
            <a:pPr marL="0" marR="0" indent="0" algn="l" defTabSz="2437765" eaLnBrk="1" fontAlgn="auto" latinLnBrk="0" hangingPunct="0">
              <a:lnSpc>
                <a:spcPct val="150000"/>
              </a:lnSpc>
              <a:spcBef>
                <a:spcPts val="0"/>
              </a:spcBef>
              <a:spcAft>
                <a:spcPts val="0"/>
              </a:spcAft>
              <a:buClrTx/>
              <a:buSzPct val="25000"/>
              <a:buFontTx/>
              <a:buNone/>
              <a:defRPr/>
            </a:pPr>
            <a:r>
              <a:rPr lang="en-US" altLang="zh-CN" kern="0" dirty="0">
                <a:solidFill>
                  <a:schemeClr val="tx1"/>
                </a:solidFill>
                <a:latin typeface="华文楷体" panose="02010600040101010101" pitchFamily="2" charset="-122"/>
                <a:ea typeface="华文楷体" panose="02010600040101010101" pitchFamily="2" charset="-122"/>
                <a:sym typeface="Helvetica Neue" panose="02000503000000020004"/>
              </a:rPr>
              <a:t>——</a:t>
            </a:r>
            <a:r>
              <a:rPr lang="zh-CN" altLang="zh-CN" kern="0" dirty="0">
                <a:latin typeface="华文楷体" panose="02010600040101010101" pitchFamily="2" charset="-122"/>
                <a:ea typeface="华文楷体" panose="02010600040101010101" pitchFamily="2" charset="-122"/>
              </a:rPr>
              <a:t>基于国产硬件、国产芯片、国产操作系统、国产极速云数据库，建设具备</a:t>
            </a:r>
            <a:r>
              <a:rPr lang="zh-CN" altLang="en-US" kern="0" dirty="0">
                <a:latin typeface="华文楷体" panose="02010600040101010101" pitchFamily="2" charset="-122"/>
                <a:ea typeface="华文楷体" panose="02010600040101010101" pitchFamily="2" charset="-122"/>
              </a:rPr>
              <a:t>：</a:t>
            </a:r>
            <a:r>
              <a:rPr lang="zh-CN" altLang="zh-CN" kern="0" dirty="0">
                <a:latin typeface="华文楷体" panose="02010600040101010101" pitchFamily="2" charset="-122"/>
                <a:ea typeface="华文楷体" panose="02010600040101010101" pitchFamily="2" charset="-122"/>
              </a:rPr>
              <a:t>云原生、数据一致、无冗余、超高并发、多类型数据支持、实时等，六大特性的新一代分布式湖仓一体数据</a:t>
            </a:r>
            <a:r>
              <a:rPr lang="zh-CN" altLang="en-US" kern="0" dirty="0">
                <a:latin typeface="华文楷体" panose="02010600040101010101" pitchFamily="2" charset="-122"/>
                <a:ea typeface="华文楷体" panose="02010600040101010101" pitchFamily="2" charset="-122"/>
              </a:rPr>
              <a:t>底座</a:t>
            </a:r>
            <a:r>
              <a:rPr lang="zh-CN" altLang="zh-CN" kern="0" dirty="0">
                <a:latin typeface="华文楷体" panose="02010600040101010101" pitchFamily="2" charset="-122"/>
                <a:ea typeface="华文楷体" panose="02010600040101010101" pitchFamily="2" charset="-122"/>
              </a:rPr>
              <a:t> </a:t>
            </a:r>
            <a:r>
              <a:rPr lang="zh-CN" altLang="en-US" kern="0" dirty="0">
                <a:latin typeface="华文楷体" panose="02010600040101010101" pitchFamily="2" charset="-122"/>
                <a:ea typeface="华文楷体" panose="02010600040101010101" pitchFamily="2" charset="-122"/>
                <a:sym typeface="Helvetica Neue" panose="02000503000000020004"/>
              </a:rPr>
              <a:t>。</a:t>
            </a:r>
            <a:endParaRPr lang="zh-CN" altLang="en-US" kern="0" dirty="0">
              <a:latin typeface="华文楷体" panose="02010600040101010101" pitchFamily="2" charset="-122"/>
              <a:ea typeface="华文楷体" panose="02010600040101010101" pitchFamily="2" charset="-122"/>
              <a:sym typeface="Helvetica Neue" panose="02000503000000020004"/>
            </a:endParaRPr>
          </a:p>
        </p:txBody>
      </p:sp>
      <p:sp>
        <p:nvSpPr>
          <p:cNvPr id="14" name="文本框 13"/>
          <p:cNvSpPr txBox="1"/>
          <p:nvPr/>
        </p:nvSpPr>
        <p:spPr>
          <a:xfrm>
            <a:off x="2039659" y="930552"/>
            <a:ext cx="5591203" cy="481670"/>
          </a:xfrm>
          <a:prstGeom prst="rect">
            <a:avLst/>
          </a:prstGeom>
          <a:noFill/>
        </p:spPr>
        <p:txBody>
          <a:bodyPr wrap="square" rtlCol="0">
            <a:spAutoFit/>
          </a:bodyPr>
          <a:lstStyle/>
          <a:p>
            <a:pPr marL="0" marR="0" indent="0" defTabSz="2437765" eaLnBrk="1" fontAlgn="auto" latinLnBrk="0" hangingPunct="0">
              <a:lnSpc>
                <a:spcPct val="150000"/>
              </a:lnSpc>
              <a:spcBef>
                <a:spcPts val="0"/>
              </a:spcBef>
              <a:spcAft>
                <a:spcPts val="0"/>
              </a:spcAft>
              <a:buClrTx/>
              <a:buSzPct val="25000"/>
              <a:buFontTx/>
              <a:buNone/>
              <a:defRPr/>
            </a:pPr>
            <a:r>
              <a:rPr lang="zh-CN" altLang="en-US" sz="2000" b="1" kern="0" dirty="0">
                <a:solidFill>
                  <a:srgbClr val="C00000"/>
                </a:solidFill>
                <a:latin typeface="华文楷体" panose="02010600040101010101" pitchFamily="2" charset="-122"/>
                <a:ea typeface="华文楷体" panose="02010600040101010101" pitchFamily="2" charset="-122"/>
                <a:sym typeface="Helvetica Neue" panose="02000503000000020004"/>
              </a:rPr>
              <a:t>实现大数据技术栈国产自主可控</a:t>
            </a:r>
            <a:endParaRPr lang="en-US" altLang="zh-CN" sz="2000" b="1" kern="0" dirty="0">
              <a:solidFill>
                <a:srgbClr val="C00000"/>
              </a:solidFill>
              <a:latin typeface="华文楷体" panose="02010600040101010101" pitchFamily="2" charset="-122"/>
              <a:ea typeface="华文楷体" panose="02010600040101010101" pitchFamily="2" charset="-122"/>
              <a:sym typeface="Helvetica Neue" panose="02000503000000020004"/>
            </a:endParaRPr>
          </a:p>
        </p:txBody>
      </p:sp>
      <p:grpSp>
        <p:nvGrpSpPr>
          <p:cNvPr id="15" name="组合 14"/>
          <p:cNvGrpSpPr/>
          <p:nvPr/>
        </p:nvGrpSpPr>
        <p:grpSpPr>
          <a:xfrm>
            <a:off x="744610" y="992438"/>
            <a:ext cx="972457" cy="972457"/>
            <a:chOff x="899886" y="1596571"/>
            <a:chExt cx="972457" cy="972457"/>
          </a:xfrm>
        </p:grpSpPr>
        <p:sp>
          <p:nvSpPr>
            <p:cNvPr id="16" name="椭圆 15"/>
            <p:cNvSpPr/>
            <p:nvPr/>
          </p:nvSpPr>
          <p:spPr>
            <a:xfrm>
              <a:off x="899886" y="1596571"/>
              <a:ext cx="972457" cy="972457"/>
            </a:xfrm>
            <a:prstGeom prst="ellipse">
              <a:avLst/>
            </a:prstGeom>
            <a:solidFill>
              <a:srgbClr val="BB0A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华文楷体" panose="02010600040101010101" pitchFamily="2" charset="-122"/>
                <a:ea typeface="华文楷体" panose="02010600040101010101" pitchFamily="2" charset="-122"/>
              </a:endParaRPr>
            </a:p>
          </p:txBody>
        </p:sp>
        <p:sp>
          <p:nvSpPr>
            <p:cNvPr id="17" name="iconfont-1187-868620"/>
            <p:cNvSpPr/>
            <p:nvPr/>
          </p:nvSpPr>
          <p:spPr>
            <a:xfrm>
              <a:off x="1211717" y="1882074"/>
              <a:ext cx="414999" cy="366806"/>
            </a:xfrm>
            <a:custGeom>
              <a:avLst/>
              <a:gdLst>
                <a:gd name="T0" fmla="*/ 9600 w 12799"/>
                <a:gd name="T1" fmla="*/ 9396 h 10669"/>
                <a:gd name="T2" fmla="*/ 1280 w 12799"/>
                <a:gd name="T3" fmla="*/ 9396 h 10669"/>
                <a:gd name="T4" fmla="*/ 1280 w 12799"/>
                <a:gd name="T5" fmla="*/ 3407 h 10669"/>
                <a:gd name="T6" fmla="*/ 3197 w 12799"/>
                <a:gd name="T7" fmla="*/ 3407 h 10669"/>
                <a:gd name="T8" fmla="*/ 4620 w 12799"/>
                <a:gd name="T9" fmla="*/ 2133 h 10669"/>
                <a:gd name="T10" fmla="*/ 640 w 12799"/>
                <a:gd name="T11" fmla="*/ 2133 h 10669"/>
                <a:gd name="T12" fmla="*/ 0 w 12799"/>
                <a:gd name="T13" fmla="*/ 2770 h 10669"/>
                <a:gd name="T14" fmla="*/ 0 w 12799"/>
                <a:gd name="T15" fmla="*/ 10032 h 10669"/>
                <a:gd name="T16" fmla="*/ 640 w 12799"/>
                <a:gd name="T17" fmla="*/ 10669 h 10669"/>
                <a:gd name="T18" fmla="*/ 10240 w 12799"/>
                <a:gd name="T19" fmla="*/ 10669 h 10669"/>
                <a:gd name="T20" fmla="*/ 10880 w 12799"/>
                <a:gd name="T21" fmla="*/ 10032 h 10669"/>
                <a:gd name="T22" fmla="*/ 10880 w 12799"/>
                <a:gd name="T23" fmla="*/ 6400 h 10669"/>
                <a:gd name="T24" fmla="*/ 9600 w 12799"/>
                <a:gd name="T25" fmla="*/ 7447 h 10669"/>
                <a:gd name="T26" fmla="*/ 9600 w 12799"/>
                <a:gd name="T27" fmla="*/ 9396 h 10669"/>
                <a:gd name="T28" fmla="*/ 8533 w 12799"/>
                <a:gd name="T29" fmla="*/ 4266 h 10669"/>
                <a:gd name="T30" fmla="*/ 8533 w 12799"/>
                <a:gd name="T31" fmla="*/ 6396 h 10669"/>
                <a:gd name="T32" fmla="*/ 12799 w 12799"/>
                <a:gd name="T33" fmla="*/ 3213 h 10669"/>
                <a:gd name="T34" fmla="*/ 8533 w 12799"/>
                <a:gd name="T35" fmla="*/ 0 h 10669"/>
                <a:gd name="T36" fmla="*/ 8533 w 12799"/>
                <a:gd name="T37" fmla="*/ 1990 h 10669"/>
                <a:gd name="T38" fmla="*/ 3200 w 12799"/>
                <a:gd name="T39" fmla="*/ 7466 h 10669"/>
                <a:gd name="T40" fmla="*/ 8533 w 12799"/>
                <a:gd name="T41" fmla="*/ 4266 h 10669"/>
                <a:gd name="T42" fmla="*/ 8533 w 12799"/>
                <a:gd name="T43" fmla="*/ 4266 h 106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99" h="10669">
                  <a:moveTo>
                    <a:pt x="9600" y="9396"/>
                  </a:moveTo>
                  <a:lnTo>
                    <a:pt x="1280" y="9396"/>
                  </a:lnTo>
                  <a:lnTo>
                    <a:pt x="1280" y="3407"/>
                  </a:lnTo>
                  <a:lnTo>
                    <a:pt x="3197" y="3407"/>
                  </a:lnTo>
                  <a:cubicBezTo>
                    <a:pt x="3197" y="3407"/>
                    <a:pt x="3667" y="2750"/>
                    <a:pt x="4620" y="2133"/>
                  </a:cubicBezTo>
                  <a:lnTo>
                    <a:pt x="640" y="2133"/>
                  </a:lnTo>
                  <a:cubicBezTo>
                    <a:pt x="287" y="2133"/>
                    <a:pt x="0" y="2416"/>
                    <a:pt x="0" y="2770"/>
                  </a:cubicBezTo>
                  <a:lnTo>
                    <a:pt x="0" y="10032"/>
                  </a:lnTo>
                  <a:cubicBezTo>
                    <a:pt x="0" y="10382"/>
                    <a:pt x="287" y="10669"/>
                    <a:pt x="640" y="10669"/>
                  </a:cubicBezTo>
                  <a:lnTo>
                    <a:pt x="10240" y="10669"/>
                  </a:lnTo>
                  <a:cubicBezTo>
                    <a:pt x="10593" y="10669"/>
                    <a:pt x="10880" y="10386"/>
                    <a:pt x="10880" y="10032"/>
                  </a:cubicBezTo>
                  <a:lnTo>
                    <a:pt x="10880" y="6400"/>
                  </a:lnTo>
                  <a:lnTo>
                    <a:pt x="9600" y="7447"/>
                  </a:lnTo>
                  <a:lnTo>
                    <a:pt x="9600" y="9396"/>
                  </a:lnTo>
                  <a:close/>
                  <a:moveTo>
                    <a:pt x="8533" y="4266"/>
                  </a:moveTo>
                  <a:lnTo>
                    <a:pt x="8533" y="6396"/>
                  </a:lnTo>
                  <a:lnTo>
                    <a:pt x="12799" y="3213"/>
                  </a:lnTo>
                  <a:lnTo>
                    <a:pt x="8533" y="0"/>
                  </a:lnTo>
                  <a:lnTo>
                    <a:pt x="8533" y="1990"/>
                  </a:lnTo>
                  <a:cubicBezTo>
                    <a:pt x="3373" y="1990"/>
                    <a:pt x="3200" y="7466"/>
                    <a:pt x="3200" y="7466"/>
                  </a:cubicBezTo>
                  <a:cubicBezTo>
                    <a:pt x="4660" y="5083"/>
                    <a:pt x="5733" y="4266"/>
                    <a:pt x="8533" y="4266"/>
                  </a:cubicBezTo>
                  <a:close/>
                  <a:moveTo>
                    <a:pt x="8533" y="4266"/>
                  </a:move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华文楷体" panose="02010600040101010101" pitchFamily="2" charset="-122"/>
                <a:ea typeface="华文楷体" panose="02010600040101010101" pitchFamily="2" charset="-122"/>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1.2 </a:t>
            </a:r>
            <a:r>
              <a:rPr lang="zh-CN" altLang="en-US" dirty="0"/>
              <a:t>项目规划蓝图</a:t>
            </a:r>
            <a:endParaRPr lang="zh-CN" altLang="en-US" dirty="0"/>
          </a:p>
        </p:txBody>
      </p:sp>
      <p:sp>
        <p:nvSpPr>
          <p:cNvPr id="100" name="灯片编号占位符 1"/>
          <p:cNvSpPr txBox="1"/>
          <p:nvPr/>
        </p:nvSpPr>
        <p:spPr>
          <a:xfrm>
            <a:off x="151412" y="6501918"/>
            <a:ext cx="400587" cy="253916"/>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6CB4B4D-7CA3-9044-876B-883B54F8677D}" type="slidenum">
              <a:rPr lang="en-US" altLang="zh-CN" smtClean="0">
                <a:latin typeface="华文楷体" panose="02010600040101010101" pitchFamily="2" charset="-122"/>
                <a:ea typeface="华文楷体" panose="02010600040101010101" pitchFamily="2" charset="-122"/>
              </a:rPr>
            </a:fld>
            <a:endParaRPr lang="en-US" altLang="zh-CN" dirty="0">
              <a:latin typeface="华文楷体" panose="02010600040101010101" pitchFamily="2" charset="-122"/>
              <a:ea typeface="华文楷体" panose="02010600040101010101" pitchFamily="2" charset="-122"/>
            </a:endParaRPr>
          </a:p>
        </p:txBody>
      </p:sp>
      <p:sp>
        <p:nvSpPr>
          <p:cNvPr id="16" name="文本框 15"/>
          <p:cNvSpPr txBox="1"/>
          <p:nvPr/>
        </p:nvSpPr>
        <p:spPr>
          <a:xfrm>
            <a:off x="794213" y="980885"/>
            <a:ext cx="4616970" cy="341632"/>
          </a:xfrm>
          <a:prstGeom prst="rect">
            <a:avLst/>
          </a:prstGeom>
          <a:noFill/>
        </p:spPr>
        <p:txBody>
          <a:bodyPr wrap="none" rtlCol="0">
            <a:spAutoFit/>
          </a:bodyPr>
          <a:lstStyle/>
          <a:p>
            <a:pPr defTabSz="914400">
              <a:lnSpc>
                <a:spcPct val="90000"/>
              </a:lnSpc>
              <a:spcBef>
                <a:spcPct val="0"/>
              </a:spcBef>
            </a:pPr>
            <a:r>
              <a:rPr lang="zh-CN" altLang="en-US" b="1" dirty="0">
                <a:solidFill>
                  <a:srgbClr val="BB0A14"/>
                </a:solidFill>
                <a:latin typeface="华文楷体" panose="02010600040101010101" pitchFamily="2" charset="-122"/>
                <a:ea typeface="华文楷体" panose="02010600040101010101" pitchFamily="2" charset="-122"/>
                <a:cs typeface="+mj-cs"/>
              </a:rPr>
              <a:t>湖仓平台建设第一阶段</a:t>
            </a:r>
            <a:r>
              <a:rPr lang="en-US" altLang="zh-CN" b="1" dirty="0">
                <a:solidFill>
                  <a:srgbClr val="BB0A14"/>
                </a:solidFill>
                <a:latin typeface="华文楷体" panose="02010600040101010101" pitchFamily="2" charset="-122"/>
                <a:ea typeface="华文楷体" panose="02010600040101010101" pitchFamily="2" charset="-122"/>
                <a:cs typeface="+mj-cs"/>
              </a:rPr>
              <a:t>-</a:t>
            </a:r>
            <a:r>
              <a:rPr lang="zh-CN" altLang="en-US" b="1" dirty="0">
                <a:solidFill>
                  <a:srgbClr val="BB0A14"/>
                </a:solidFill>
                <a:latin typeface="华文楷体" panose="02010600040101010101" pitchFamily="2" charset="-122"/>
                <a:ea typeface="华文楷体" panose="02010600040101010101" pitchFamily="2" charset="-122"/>
                <a:cs typeface="+mj-cs"/>
              </a:rPr>
              <a:t>逻辑融合（</a:t>
            </a:r>
            <a:r>
              <a:rPr lang="en-US" altLang="zh-CN" b="1" dirty="0">
                <a:solidFill>
                  <a:srgbClr val="BB0A14"/>
                </a:solidFill>
                <a:latin typeface="华文楷体" panose="02010600040101010101" pitchFamily="2" charset="-122"/>
                <a:ea typeface="华文楷体" panose="02010600040101010101" pitchFamily="2" charset="-122"/>
                <a:cs typeface="+mj-cs"/>
              </a:rPr>
              <a:t>2023</a:t>
            </a:r>
            <a:r>
              <a:rPr lang="zh-CN" altLang="en-US" b="1" dirty="0">
                <a:solidFill>
                  <a:srgbClr val="BB0A14"/>
                </a:solidFill>
                <a:latin typeface="华文楷体" panose="02010600040101010101" pitchFamily="2" charset="-122"/>
                <a:ea typeface="华文楷体" panose="02010600040101010101" pitchFamily="2" charset="-122"/>
                <a:cs typeface="+mj-cs"/>
              </a:rPr>
              <a:t>年）</a:t>
            </a:r>
            <a:endParaRPr lang="en-US" altLang="zh-CN" b="1" dirty="0">
              <a:solidFill>
                <a:srgbClr val="BB0A14"/>
              </a:solidFill>
              <a:latin typeface="华文楷体" panose="02010600040101010101" pitchFamily="2" charset="-122"/>
              <a:ea typeface="华文楷体" panose="02010600040101010101" pitchFamily="2" charset="-122"/>
              <a:cs typeface="+mj-cs"/>
            </a:endParaRPr>
          </a:p>
        </p:txBody>
      </p:sp>
      <p:sp>
        <p:nvSpPr>
          <p:cNvPr id="19" name="文本框 18"/>
          <p:cNvSpPr txBox="1"/>
          <p:nvPr/>
        </p:nvSpPr>
        <p:spPr>
          <a:xfrm>
            <a:off x="184086" y="1365989"/>
            <a:ext cx="5596074" cy="3969385"/>
          </a:xfrm>
          <a:prstGeom prst="rect">
            <a:avLst/>
          </a:prstGeom>
          <a:noFill/>
        </p:spPr>
        <p:txBody>
          <a:bodyPr wrap="square" rtlCol="0">
            <a:spAutoFit/>
          </a:bodyPr>
          <a:lstStyle/>
          <a:p>
            <a:pPr marL="342900" indent="-342900">
              <a:lnSpc>
                <a:spcPct val="150000"/>
              </a:lnSpc>
              <a:buFont typeface="+mj-lt"/>
              <a:buAutoNum type="arabicPeriod"/>
            </a:pPr>
            <a:r>
              <a:rPr lang="zh-CN" altLang="en-US" sz="1400" dirty="0">
                <a:latin typeface="华文楷体" panose="02010600040101010101" pitchFamily="2" charset="-122"/>
                <a:ea typeface="华文楷体" panose="02010600040101010101" pitchFamily="2" charset="-122"/>
              </a:rPr>
              <a:t>湖仓一体基础软件调研和采购（</a:t>
            </a:r>
            <a:r>
              <a:rPr lang="en-US" altLang="zh-CN" sz="1400" dirty="0">
                <a:latin typeface="华文楷体" panose="02010600040101010101" pitchFamily="2" charset="-122"/>
                <a:ea typeface="华文楷体" panose="02010600040101010101" pitchFamily="2" charset="-122"/>
              </a:rPr>
              <a:t>2022-12</a:t>
            </a:r>
            <a:r>
              <a:rPr lang="zh-CN" altLang="en-US" sz="1400" dirty="0">
                <a:latin typeface="华文楷体" panose="02010600040101010101" pitchFamily="2" charset="-122"/>
                <a:ea typeface="华文楷体" panose="02010600040101010101" pitchFamily="2" charset="-122"/>
              </a:rPr>
              <a:t>）</a:t>
            </a:r>
            <a:endParaRPr lang="zh-CN" altLang="en-US" sz="1400" dirty="0">
              <a:latin typeface="华文楷体" panose="02010600040101010101" pitchFamily="2" charset="-122"/>
              <a:ea typeface="华文楷体" panose="02010600040101010101" pitchFamily="2" charset="-122"/>
            </a:endParaRPr>
          </a:p>
          <a:p>
            <a:pPr marL="342900" indent="-342900">
              <a:lnSpc>
                <a:spcPct val="150000"/>
              </a:lnSpc>
              <a:buFont typeface="+mj-lt"/>
              <a:buAutoNum type="arabicPeriod"/>
            </a:pPr>
            <a:r>
              <a:rPr lang="zh-CN" altLang="en-US" sz="1400" dirty="0">
                <a:latin typeface="华文楷体" panose="02010600040101010101" pitchFamily="2" charset="-122"/>
                <a:ea typeface="华文楷体" panose="02010600040101010101" pitchFamily="2" charset="-122"/>
              </a:rPr>
              <a:t>测试环境信创资源（</a:t>
            </a:r>
            <a:r>
              <a:rPr lang="en-US" altLang="zh-CN" sz="1400" dirty="0">
                <a:latin typeface="华文楷体" panose="02010600040101010101" pitchFamily="2" charset="-122"/>
                <a:ea typeface="华文楷体" panose="02010600040101010101" pitchFamily="2" charset="-122"/>
              </a:rPr>
              <a:t>2022-12</a:t>
            </a:r>
            <a:r>
              <a:rPr lang="zh-CN" altLang="en-US" sz="1400" dirty="0">
                <a:latin typeface="华文楷体" panose="02010600040101010101" pitchFamily="2" charset="-122"/>
                <a:ea typeface="华文楷体" panose="02010600040101010101" pitchFamily="2" charset="-122"/>
              </a:rPr>
              <a:t>），生产环境资源（</a:t>
            </a:r>
            <a:r>
              <a:rPr lang="en-US" altLang="zh-CN" sz="1400" dirty="0">
                <a:latin typeface="华文楷体" panose="02010600040101010101" pitchFamily="2" charset="-122"/>
                <a:ea typeface="华文楷体" panose="02010600040101010101" pitchFamily="2" charset="-122"/>
              </a:rPr>
              <a:t>2023-3</a:t>
            </a:r>
            <a:r>
              <a:rPr lang="zh-CN" altLang="en-US" sz="1400" dirty="0">
                <a:latin typeface="华文楷体" panose="02010600040101010101" pitchFamily="2" charset="-122"/>
                <a:ea typeface="华文楷体" panose="02010600040101010101" pitchFamily="2" charset="-122"/>
              </a:rPr>
              <a:t>）</a:t>
            </a:r>
            <a:endParaRPr lang="zh-CN" altLang="en-US" sz="1400" dirty="0">
              <a:latin typeface="华文楷体" panose="02010600040101010101" pitchFamily="2" charset="-122"/>
              <a:ea typeface="华文楷体" panose="02010600040101010101" pitchFamily="2" charset="-122"/>
            </a:endParaRPr>
          </a:p>
          <a:p>
            <a:pPr marL="342900" indent="-342900">
              <a:lnSpc>
                <a:spcPct val="150000"/>
              </a:lnSpc>
              <a:buFont typeface="+mj-lt"/>
              <a:buAutoNum type="arabicPeriod"/>
            </a:pPr>
            <a:r>
              <a:rPr lang="zh-CN" altLang="en-US" sz="1400" dirty="0">
                <a:latin typeface="华文楷体" panose="02010600040101010101" pitchFamily="2" charset="-122"/>
                <a:ea typeface="华文楷体" panose="02010600040101010101" pitchFamily="2" charset="-122"/>
                <a:sym typeface="+mn-ea"/>
              </a:rPr>
              <a:t>搭建存算分离、湖仓一体的信创数据平台（</a:t>
            </a:r>
            <a:r>
              <a:rPr lang="en-US" altLang="zh-CN" sz="1400" dirty="0">
                <a:latin typeface="华文楷体" panose="02010600040101010101" pitchFamily="2" charset="-122"/>
                <a:ea typeface="华文楷体" panose="02010600040101010101" pitchFamily="2" charset="-122"/>
                <a:sym typeface="+mn-ea"/>
              </a:rPr>
              <a:t>2023-3</a:t>
            </a:r>
            <a:r>
              <a:rPr lang="zh-CN" altLang="en-US" sz="1400" dirty="0">
                <a:latin typeface="华文楷体" panose="02010600040101010101" pitchFamily="2" charset="-122"/>
                <a:ea typeface="华文楷体" panose="02010600040101010101" pitchFamily="2" charset="-122"/>
                <a:sym typeface="+mn-ea"/>
              </a:rPr>
              <a:t>）</a:t>
            </a:r>
            <a:endParaRPr lang="zh-CN" altLang="en-US" sz="1400" dirty="0">
              <a:latin typeface="华文楷体" panose="02010600040101010101" pitchFamily="2" charset="-122"/>
              <a:ea typeface="华文楷体" panose="02010600040101010101" pitchFamily="2" charset="-122"/>
            </a:endParaRPr>
          </a:p>
          <a:p>
            <a:pPr marL="342900" indent="-342900">
              <a:lnSpc>
                <a:spcPct val="150000"/>
              </a:lnSpc>
              <a:buFont typeface="+mj-lt"/>
              <a:buAutoNum type="arabicPeriod"/>
            </a:pPr>
            <a:r>
              <a:rPr lang="zh-CN" altLang="en-US" sz="1400" dirty="0">
                <a:latin typeface="华文楷体" panose="02010600040101010101" pitchFamily="2" charset="-122"/>
                <a:ea typeface="华文楷体" panose="02010600040101010101" pitchFamily="2" charset="-122"/>
              </a:rPr>
              <a:t>将数仓</a:t>
            </a:r>
            <a:r>
              <a:rPr lang="en-US" altLang="zh-CN" sz="1400" dirty="0">
                <a:latin typeface="华文楷体" panose="02010600040101010101" pitchFamily="2" charset="-122"/>
                <a:ea typeface="华文楷体" panose="02010600040101010101" pitchFamily="2" charset="-122"/>
              </a:rPr>
              <a:t>GP</a:t>
            </a:r>
            <a:r>
              <a:rPr lang="zh-CN" altLang="en-US" sz="1400" dirty="0">
                <a:latin typeface="华文楷体" panose="02010600040101010101" pitchFamily="2" charset="-122"/>
                <a:ea typeface="华文楷体" panose="02010600040101010101" pitchFamily="2" charset="-122"/>
              </a:rPr>
              <a:t>集群的数据和应用迁移到新平台（</a:t>
            </a:r>
            <a:r>
              <a:rPr lang="en-US" altLang="zh-CN" sz="1400" dirty="0">
                <a:latin typeface="华文楷体" panose="02010600040101010101" pitchFamily="2" charset="-122"/>
                <a:ea typeface="华文楷体" panose="02010600040101010101" pitchFamily="2" charset="-122"/>
              </a:rPr>
              <a:t>2023-6</a:t>
            </a:r>
            <a:r>
              <a:rPr lang="zh-CN" altLang="en-US" sz="1400" dirty="0">
                <a:latin typeface="华文楷体" panose="02010600040101010101" pitchFamily="2" charset="-122"/>
                <a:ea typeface="华文楷体" panose="02010600040101010101" pitchFamily="2" charset="-122"/>
              </a:rPr>
              <a:t>）</a:t>
            </a:r>
            <a:endParaRPr lang="en-US" altLang="zh-CN" sz="1400" dirty="0">
              <a:latin typeface="华文楷体" panose="02010600040101010101" pitchFamily="2" charset="-122"/>
              <a:ea typeface="华文楷体" panose="02010600040101010101" pitchFamily="2" charset="-122"/>
            </a:endParaRPr>
          </a:p>
          <a:p>
            <a:pPr marL="342900" indent="-342900">
              <a:lnSpc>
                <a:spcPct val="150000"/>
              </a:lnSpc>
              <a:buFont typeface="+mj-lt"/>
              <a:buAutoNum type="arabicPeriod"/>
            </a:pPr>
            <a:r>
              <a:rPr lang="zh-CN" altLang="en-US" sz="1400" dirty="0">
                <a:latin typeface="华文楷体" panose="02010600040101010101" pitchFamily="2" charset="-122"/>
                <a:ea typeface="华文楷体" panose="02010600040101010101" pitchFamily="2" charset="-122"/>
              </a:rPr>
              <a:t>提供动态伸缩的高性能计算集群，支撑</a:t>
            </a:r>
            <a:r>
              <a:rPr lang="en-US" altLang="zh-CN" sz="1400" dirty="0">
                <a:latin typeface="华文楷体" panose="02010600040101010101" pitchFamily="2" charset="-122"/>
                <a:ea typeface="华文楷体" panose="02010600040101010101" pitchFamily="2" charset="-122"/>
              </a:rPr>
              <a:t>CRM</a:t>
            </a:r>
            <a:r>
              <a:rPr lang="zh-CN" altLang="en-US" sz="1400" dirty="0">
                <a:latin typeface="华文楷体" panose="02010600040101010101" pitchFamily="2" charset="-122"/>
                <a:ea typeface="华文楷体" panose="02010600040101010101" pitchFamily="2" charset="-122"/>
              </a:rPr>
              <a:t>集市、</a:t>
            </a:r>
            <a:r>
              <a:rPr lang="en-US" altLang="zh-CN" sz="1400" dirty="0">
                <a:latin typeface="华文楷体" panose="02010600040101010101" pitchFamily="2" charset="-122"/>
                <a:ea typeface="华文楷体" panose="02010600040101010101" pitchFamily="2" charset="-122"/>
              </a:rPr>
              <a:t>MOT</a:t>
            </a:r>
            <a:r>
              <a:rPr lang="zh-CN" altLang="en-US" sz="1400" dirty="0">
                <a:latin typeface="华文楷体" panose="02010600040101010101" pitchFamily="2" charset="-122"/>
                <a:ea typeface="华文楷体" panose="02010600040101010101" pitchFamily="2" charset="-122"/>
              </a:rPr>
              <a:t>集市的建设（</a:t>
            </a:r>
            <a:r>
              <a:rPr lang="en-US" altLang="zh-CN" sz="1400" dirty="0">
                <a:latin typeface="华文楷体" panose="02010600040101010101" pitchFamily="2" charset="-122"/>
                <a:ea typeface="华文楷体" panose="02010600040101010101" pitchFamily="2" charset="-122"/>
              </a:rPr>
              <a:t>2023-6</a:t>
            </a:r>
            <a:r>
              <a:rPr lang="zh-CN" altLang="en-US" sz="1400" dirty="0">
                <a:latin typeface="华文楷体" panose="02010600040101010101" pitchFamily="2" charset="-122"/>
                <a:ea typeface="华文楷体" panose="02010600040101010101" pitchFamily="2" charset="-122"/>
              </a:rPr>
              <a:t>）</a:t>
            </a:r>
            <a:endParaRPr lang="zh-CN" altLang="en-US" sz="1400" dirty="0">
              <a:latin typeface="华文楷体" panose="02010600040101010101" pitchFamily="2" charset="-122"/>
              <a:ea typeface="华文楷体" panose="02010600040101010101" pitchFamily="2" charset="-122"/>
            </a:endParaRPr>
          </a:p>
          <a:p>
            <a:pPr marL="342900" indent="-342900">
              <a:lnSpc>
                <a:spcPct val="150000"/>
              </a:lnSpc>
              <a:buFont typeface="+mj-lt"/>
              <a:buAutoNum type="arabicPeriod"/>
            </a:pPr>
            <a:r>
              <a:rPr lang="en-US" altLang="zh-CN" sz="1400" dirty="0">
                <a:latin typeface="华文楷体" panose="02010600040101010101" pitchFamily="2" charset="-122"/>
                <a:ea typeface="华文楷体" panose="02010600040101010101" pitchFamily="2" charset="-122"/>
                <a:sym typeface="+mn-ea"/>
              </a:rPr>
              <a:t>Hive</a:t>
            </a:r>
            <a:r>
              <a:rPr lang="zh-CN" altLang="en-US" sz="1400" dirty="0">
                <a:latin typeface="华文楷体" panose="02010600040101010101" pitchFamily="2" charset="-122"/>
                <a:ea typeface="华文楷体" panose="02010600040101010101" pitchFamily="2" charset="-122"/>
                <a:sym typeface="+mn-ea"/>
              </a:rPr>
              <a:t>应用迁移到高性能</a:t>
            </a:r>
            <a:r>
              <a:rPr lang="en-US" altLang="zh-CN" sz="1400" dirty="0">
                <a:latin typeface="华文楷体" panose="02010600040101010101" pitchFamily="2" charset="-122"/>
                <a:ea typeface="华文楷体" panose="02010600040101010101" pitchFamily="2" charset="-122"/>
                <a:sym typeface="+mn-ea"/>
              </a:rPr>
              <a:t>SQL</a:t>
            </a:r>
            <a:r>
              <a:rPr lang="zh-CN" altLang="en-US" sz="1400" dirty="0">
                <a:latin typeface="华文楷体" panose="02010600040101010101" pitchFamily="2" charset="-122"/>
                <a:ea typeface="华文楷体" panose="02010600040101010101" pitchFamily="2" charset="-122"/>
                <a:sym typeface="+mn-ea"/>
              </a:rPr>
              <a:t>引擎，打通与数据湖的直接访问链路，实现湖、仓的数据融合（</a:t>
            </a:r>
            <a:r>
              <a:rPr lang="en-US" altLang="zh-CN" sz="1400" dirty="0">
                <a:latin typeface="华文楷体" panose="02010600040101010101" pitchFamily="2" charset="-122"/>
                <a:ea typeface="华文楷体" panose="02010600040101010101" pitchFamily="2" charset="-122"/>
                <a:sym typeface="+mn-ea"/>
              </a:rPr>
              <a:t>2023-8</a:t>
            </a:r>
            <a:r>
              <a:rPr lang="zh-CN" altLang="en-US" sz="1400" dirty="0">
                <a:latin typeface="华文楷体" panose="02010600040101010101" pitchFamily="2" charset="-122"/>
                <a:ea typeface="华文楷体" panose="02010600040101010101" pitchFamily="2" charset="-122"/>
                <a:sym typeface="+mn-ea"/>
              </a:rPr>
              <a:t>）</a:t>
            </a:r>
            <a:endParaRPr lang="en-US" altLang="zh-CN" sz="1400" dirty="0">
              <a:latin typeface="华文楷体" panose="02010600040101010101" pitchFamily="2" charset="-122"/>
              <a:ea typeface="华文楷体" panose="02010600040101010101" pitchFamily="2" charset="-122"/>
            </a:endParaRPr>
          </a:p>
          <a:p>
            <a:pPr marL="342900" indent="-342900">
              <a:lnSpc>
                <a:spcPct val="150000"/>
              </a:lnSpc>
              <a:buFont typeface="+mj-lt"/>
              <a:buAutoNum type="arabicPeriod"/>
            </a:pPr>
            <a:r>
              <a:rPr lang="zh-CN" altLang="en-US" sz="1400" dirty="0">
                <a:latin typeface="华文楷体" panose="02010600040101010101" pitchFamily="2" charset="-122"/>
                <a:ea typeface="华文楷体" panose="02010600040101010101" pitchFamily="2" charset="-122"/>
              </a:rPr>
              <a:t>确定数据湖与数仓的分工与定位，数据湖定位：贴源数据、历史数据、贴源层数据清洗</a:t>
            </a:r>
            <a:r>
              <a:rPr lang="en-US" altLang="zh-CN" sz="1400" dirty="0">
                <a:latin typeface="华文楷体" panose="02010600040101010101" pitchFamily="2" charset="-122"/>
                <a:ea typeface="华文楷体" panose="02010600040101010101" pitchFamily="2" charset="-122"/>
              </a:rPr>
              <a:t> </a:t>
            </a:r>
            <a:r>
              <a:rPr lang="zh-CN" altLang="en-US" sz="1400" dirty="0">
                <a:latin typeface="华文楷体" panose="02010600040101010101" pitchFamily="2" charset="-122"/>
                <a:ea typeface="华文楷体" panose="02010600040101010101" pitchFamily="2" charset="-122"/>
              </a:rPr>
              <a:t>；数据仓库定位：数据模型整合层、公共层数据加工</a:t>
            </a:r>
            <a:endParaRPr lang="en-US" altLang="zh-CN" sz="1400" dirty="0">
              <a:latin typeface="华文楷体" panose="02010600040101010101" pitchFamily="2" charset="-122"/>
              <a:ea typeface="华文楷体" panose="02010600040101010101" pitchFamily="2" charset="-122"/>
            </a:endParaRPr>
          </a:p>
          <a:p>
            <a:pPr marL="342900" indent="-342900">
              <a:lnSpc>
                <a:spcPct val="150000"/>
              </a:lnSpc>
              <a:buFont typeface="+mj-lt"/>
              <a:buAutoNum type="arabicPeriod"/>
            </a:pPr>
            <a:endParaRPr lang="zh-CN" altLang="en-US" sz="1400" dirty="0">
              <a:latin typeface="微软雅黑" panose="020B0503020204020204" charset="-122"/>
              <a:ea typeface="微软雅黑" panose="020B0503020204020204" charset="-122"/>
            </a:endParaRPr>
          </a:p>
        </p:txBody>
      </p:sp>
      <p:sp>
        <p:nvSpPr>
          <p:cNvPr id="29" name="文本框 28"/>
          <p:cNvSpPr txBox="1"/>
          <p:nvPr/>
        </p:nvSpPr>
        <p:spPr>
          <a:xfrm>
            <a:off x="6498033" y="981218"/>
            <a:ext cx="4780476" cy="369332"/>
          </a:xfrm>
          <a:prstGeom prst="rect">
            <a:avLst/>
          </a:prstGeom>
          <a:noFill/>
        </p:spPr>
        <p:txBody>
          <a:bodyPr wrap="none" rtlCol="0">
            <a:spAutoFit/>
          </a:bodyPr>
          <a:lstStyle/>
          <a:p>
            <a:r>
              <a:rPr lang="zh-CN" altLang="en-US" b="1" dirty="0">
                <a:solidFill>
                  <a:srgbClr val="BB0A14"/>
                </a:solidFill>
                <a:latin typeface="华文楷体" panose="02010600040101010101" pitchFamily="2" charset="-122"/>
                <a:ea typeface="华文楷体" panose="02010600040101010101" pitchFamily="2" charset="-122"/>
              </a:rPr>
              <a:t>湖仓平台建设第二阶段</a:t>
            </a:r>
            <a:r>
              <a:rPr lang="en-US" altLang="zh-CN" b="1" dirty="0">
                <a:solidFill>
                  <a:srgbClr val="BB0A14"/>
                </a:solidFill>
                <a:latin typeface="华文楷体" panose="02010600040101010101" pitchFamily="2" charset="-122"/>
                <a:ea typeface="华文楷体" panose="02010600040101010101" pitchFamily="2" charset="-122"/>
              </a:rPr>
              <a:t>-</a:t>
            </a:r>
            <a:r>
              <a:rPr lang="zh-CN" altLang="en-US" b="1" dirty="0">
                <a:solidFill>
                  <a:srgbClr val="BB0A14"/>
                </a:solidFill>
                <a:latin typeface="华文楷体" panose="02010600040101010101" pitchFamily="2" charset="-122"/>
                <a:ea typeface="华文楷体" panose="02010600040101010101" pitchFamily="2" charset="-122"/>
              </a:rPr>
              <a:t>物理融合（</a:t>
            </a:r>
            <a:r>
              <a:rPr lang="en-US" altLang="zh-CN" b="1" dirty="0">
                <a:solidFill>
                  <a:srgbClr val="BB0A14"/>
                </a:solidFill>
                <a:latin typeface="华文楷体" panose="02010600040101010101" pitchFamily="2" charset="-122"/>
                <a:ea typeface="华文楷体" panose="02010600040101010101" pitchFamily="2" charset="-122"/>
              </a:rPr>
              <a:t>2024</a:t>
            </a:r>
            <a:r>
              <a:rPr lang="zh-CN" altLang="en-US" b="1" dirty="0">
                <a:solidFill>
                  <a:srgbClr val="BB0A14"/>
                </a:solidFill>
                <a:latin typeface="华文楷体" panose="02010600040101010101" pitchFamily="2" charset="-122"/>
                <a:ea typeface="华文楷体" panose="02010600040101010101" pitchFamily="2" charset="-122"/>
              </a:rPr>
              <a:t>年）</a:t>
            </a:r>
            <a:endParaRPr lang="en-US" altLang="zh-CN" b="1" dirty="0">
              <a:solidFill>
                <a:srgbClr val="BB0A14"/>
              </a:solidFill>
              <a:latin typeface="华文楷体" panose="02010600040101010101" pitchFamily="2" charset="-122"/>
              <a:ea typeface="华文楷体" panose="02010600040101010101" pitchFamily="2" charset="-122"/>
            </a:endParaRPr>
          </a:p>
        </p:txBody>
      </p:sp>
      <p:sp>
        <p:nvSpPr>
          <p:cNvPr id="101" name="文本框 100"/>
          <p:cNvSpPr txBox="1"/>
          <p:nvPr/>
        </p:nvSpPr>
        <p:spPr>
          <a:xfrm>
            <a:off x="6025721" y="1363230"/>
            <a:ext cx="5886897" cy="2353310"/>
          </a:xfrm>
          <a:prstGeom prst="rect">
            <a:avLst/>
          </a:prstGeom>
          <a:noFill/>
        </p:spPr>
        <p:txBody>
          <a:bodyPr wrap="square" rtlCol="0">
            <a:spAutoFit/>
          </a:bodyPr>
          <a:lstStyle/>
          <a:p>
            <a:pPr marL="342900" indent="-342900">
              <a:lnSpc>
                <a:spcPct val="150000"/>
              </a:lnSpc>
              <a:buFont typeface="+mj-lt"/>
              <a:buAutoNum type="arabicPeriod"/>
            </a:pPr>
            <a:r>
              <a:rPr lang="zh-CN" altLang="en-US" sz="1400" dirty="0">
                <a:latin typeface="华文楷体" panose="02010600040101010101" pitchFamily="2" charset="-122"/>
                <a:ea typeface="华文楷体" panose="02010600040101010101" pitchFamily="2" charset="-122"/>
              </a:rPr>
              <a:t>将数据湖数据归集到湖仓一体平台统一管理，统一存储层，统一元数据管理，数据不复制搬迁</a:t>
            </a:r>
            <a:endParaRPr lang="zh-CN" altLang="en-US" sz="1400" dirty="0">
              <a:latin typeface="华文楷体" panose="02010600040101010101" pitchFamily="2" charset="-122"/>
              <a:ea typeface="华文楷体" panose="02010600040101010101" pitchFamily="2" charset="-122"/>
            </a:endParaRPr>
          </a:p>
          <a:p>
            <a:pPr marL="342900" indent="-342900">
              <a:lnSpc>
                <a:spcPct val="150000"/>
              </a:lnSpc>
              <a:buFont typeface="+mj-lt"/>
              <a:buAutoNum type="arabicPeriod"/>
            </a:pPr>
            <a:r>
              <a:rPr lang="zh-CN" altLang="en-US" sz="1400" dirty="0">
                <a:latin typeface="华文楷体" panose="02010600040101010101" pitchFamily="2" charset="-122"/>
                <a:ea typeface="华文楷体" panose="02010600040101010101" pitchFamily="2" charset="-122"/>
              </a:rPr>
              <a:t>整合、优化数据仓库、数据湖的数据模型，提升数据供给效率</a:t>
            </a:r>
            <a:endParaRPr lang="zh-CN" altLang="en-US" sz="1400" dirty="0">
              <a:latin typeface="华文楷体" panose="02010600040101010101" pitchFamily="2" charset="-122"/>
              <a:ea typeface="华文楷体" panose="02010600040101010101" pitchFamily="2" charset="-122"/>
            </a:endParaRPr>
          </a:p>
          <a:p>
            <a:pPr marL="342900" indent="-342900">
              <a:lnSpc>
                <a:spcPct val="150000"/>
              </a:lnSpc>
              <a:buFont typeface="+mj-lt"/>
              <a:buAutoNum type="arabicPeriod"/>
            </a:pPr>
            <a:r>
              <a:rPr lang="zh-CN" altLang="en-US" sz="1400" dirty="0">
                <a:latin typeface="华文楷体" panose="02010600040101010101" pitchFamily="2" charset="-122"/>
                <a:ea typeface="华文楷体" panose="02010600040101010101" pitchFamily="2" charset="-122"/>
                <a:sym typeface="+mn-ea"/>
              </a:rPr>
              <a:t>打通</a:t>
            </a:r>
            <a:r>
              <a:rPr lang="en-US" altLang="zh-CN" sz="1400" dirty="0">
                <a:latin typeface="华文楷体" panose="02010600040101010101" pitchFamily="2" charset="-122"/>
                <a:ea typeface="华文楷体" panose="02010600040101010101" pitchFamily="2" charset="-122"/>
                <a:sym typeface="+mn-ea"/>
              </a:rPr>
              <a:t>Flink</a:t>
            </a:r>
            <a:r>
              <a:rPr lang="zh-CN" altLang="en-US" sz="1400" dirty="0">
                <a:latin typeface="华文楷体" panose="02010600040101010101" pitchFamily="2" charset="-122"/>
                <a:ea typeface="华文楷体" panose="02010600040101010101" pitchFamily="2" charset="-122"/>
                <a:sym typeface="+mn-ea"/>
              </a:rPr>
              <a:t>实时计算引擎，将</a:t>
            </a:r>
            <a:r>
              <a:rPr lang="zh-CN" sz="1400" dirty="0" err="1">
                <a:latin typeface="华文楷体" panose="02010600040101010101" pitchFamily="2" charset="-122"/>
                <a:ea typeface="华文楷体" panose="02010600040101010101" pitchFamily="2" charset="-122"/>
                <a:sym typeface="+mn-ea"/>
              </a:rPr>
              <a:t>实时</a:t>
            </a:r>
            <a:r>
              <a:rPr lang="zh-CN" altLang="en-US" sz="1400" dirty="0">
                <a:latin typeface="华文楷体" panose="02010600040101010101" pitchFamily="2" charset="-122"/>
                <a:ea typeface="华文楷体" panose="02010600040101010101" pitchFamily="2" charset="-122"/>
                <a:sym typeface="+mn-ea"/>
              </a:rPr>
              <a:t>应用逐步迁移到高性能</a:t>
            </a:r>
            <a:r>
              <a:rPr lang="en-US" altLang="zh-CN" sz="1400" dirty="0">
                <a:latin typeface="华文楷体" panose="02010600040101010101" pitchFamily="2" charset="-122"/>
                <a:ea typeface="华文楷体" panose="02010600040101010101" pitchFamily="2" charset="-122"/>
                <a:sym typeface="+mn-ea"/>
              </a:rPr>
              <a:t>SQL</a:t>
            </a:r>
            <a:r>
              <a:rPr lang="zh-CN" altLang="en-US" sz="1400" dirty="0">
                <a:latin typeface="华文楷体" panose="02010600040101010101" pitchFamily="2" charset="-122"/>
                <a:ea typeface="华文楷体" panose="02010600040101010101" pitchFamily="2" charset="-122"/>
                <a:sym typeface="+mn-ea"/>
              </a:rPr>
              <a:t>引擎，</a:t>
            </a:r>
            <a:r>
              <a:rPr lang="zh-CN" altLang="en-US" sz="1400" dirty="0">
                <a:solidFill>
                  <a:schemeClr val="tx1"/>
                </a:solidFill>
                <a:latin typeface="华文楷体" panose="02010600040101010101" pitchFamily="2" charset="-122"/>
                <a:ea typeface="华文楷体" panose="02010600040101010101" pitchFamily="2" charset="-122"/>
                <a:sym typeface="+mn-ea"/>
              </a:rPr>
              <a:t>实现</a:t>
            </a:r>
            <a:r>
              <a:rPr lang="zh-CN" altLang="en-US" sz="1400" dirty="0">
                <a:latin typeface="华文楷体" panose="02010600040101010101" pitchFamily="2" charset="-122"/>
                <a:ea typeface="华文楷体" panose="02010600040101010101" pitchFamily="2" charset="-122"/>
                <a:sym typeface="+mn-ea"/>
              </a:rPr>
              <a:t>实时湖仓</a:t>
            </a:r>
            <a:endParaRPr lang="en-US" altLang="zh-CN" sz="1400" dirty="0">
              <a:latin typeface="华文楷体" panose="02010600040101010101" pitchFamily="2" charset="-122"/>
              <a:ea typeface="华文楷体" panose="02010600040101010101" pitchFamily="2" charset="-122"/>
            </a:endParaRPr>
          </a:p>
          <a:p>
            <a:pPr marL="342900" indent="-342900">
              <a:lnSpc>
                <a:spcPct val="150000"/>
              </a:lnSpc>
              <a:buFont typeface="+mj-lt"/>
              <a:buAutoNum type="arabicPeriod"/>
            </a:pPr>
            <a:r>
              <a:rPr lang="zh-CN" altLang="en-US" sz="1400" dirty="0">
                <a:latin typeface="华文楷体" panose="02010600040101010101" pitchFamily="2" charset="-122"/>
                <a:ea typeface="华文楷体" panose="02010600040101010101" pitchFamily="2" charset="-122"/>
              </a:rPr>
              <a:t>持续的平台完善建设，平台内置多种计算引擎，且支持多种计算引擎访问同一份数据</a:t>
            </a:r>
            <a:endParaRPr lang="en-US" altLang="zh-CN" sz="1400" dirty="0">
              <a:latin typeface="华文楷体" panose="02010600040101010101" pitchFamily="2" charset="-122"/>
              <a:ea typeface="华文楷体" panose="02010600040101010101" pitchFamily="2" charset="-122"/>
            </a:endParaRPr>
          </a:p>
        </p:txBody>
      </p:sp>
      <p:grpSp>
        <p:nvGrpSpPr>
          <p:cNvPr id="102" name="组合 101"/>
          <p:cNvGrpSpPr/>
          <p:nvPr/>
        </p:nvGrpSpPr>
        <p:grpSpPr>
          <a:xfrm>
            <a:off x="610235" y="5273040"/>
            <a:ext cx="1186180" cy="648970"/>
            <a:chOff x="625949" y="3598241"/>
            <a:chExt cx="1630825" cy="793288"/>
          </a:xfrm>
          <a:noFill/>
        </p:grpSpPr>
        <p:sp>
          <p:nvSpPr>
            <p:cNvPr id="103" name="圆柱体 102"/>
            <p:cNvSpPr/>
            <p:nvPr/>
          </p:nvSpPr>
          <p:spPr>
            <a:xfrm>
              <a:off x="625949" y="3598241"/>
              <a:ext cx="732731" cy="793288"/>
            </a:xfrm>
            <a:prstGeom prst="can">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圆柱体 103"/>
            <p:cNvSpPr/>
            <p:nvPr/>
          </p:nvSpPr>
          <p:spPr>
            <a:xfrm>
              <a:off x="1503963" y="3598241"/>
              <a:ext cx="732731" cy="793288"/>
            </a:xfrm>
            <a:prstGeom prst="can">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文本框 104"/>
            <p:cNvSpPr txBox="1"/>
            <p:nvPr/>
          </p:nvSpPr>
          <p:spPr>
            <a:xfrm>
              <a:off x="689681" y="3848181"/>
              <a:ext cx="1567093" cy="374910"/>
            </a:xfrm>
            <a:prstGeom prst="rect">
              <a:avLst/>
            </a:prstGeom>
            <a:grpFill/>
          </p:spPr>
          <p:txBody>
            <a:bodyPr wrap="square" rtlCol="0">
              <a:spAutoFit/>
            </a:bodyPr>
            <a:lstStyle/>
            <a:p>
              <a:pPr algn="ctr"/>
              <a:r>
                <a:rPr lang="en-US" altLang="zh-CN" sz="1400" dirty="0"/>
                <a:t>Greenplum</a:t>
              </a:r>
              <a:endParaRPr lang="en-US" altLang="zh-CN" sz="1400" dirty="0"/>
            </a:p>
          </p:txBody>
        </p:sp>
      </p:grpSp>
      <p:sp>
        <p:nvSpPr>
          <p:cNvPr id="106" name="圆柱体 105"/>
          <p:cNvSpPr/>
          <p:nvPr/>
        </p:nvSpPr>
        <p:spPr>
          <a:xfrm>
            <a:off x="2593340" y="5177155"/>
            <a:ext cx="1135380" cy="775335"/>
          </a:xfrm>
          <a:prstGeom prst="can">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信创数仓</a:t>
            </a:r>
            <a:endParaRPr lang="zh-CN" altLang="en-US" dirty="0"/>
          </a:p>
        </p:txBody>
      </p:sp>
      <p:sp>
        <p:nvSpPr>
          <p:cNvPr id="107" name="矩形 106"/>
          <p:cNvSpPr/>
          <p:nvPr/>
        </p:nvSpPr>
        <p:spPr>
          <a:xfrm>
            <a:off x="4434840" y="5323205"/>
            <a:ext cx="1301115" cy="629285"/>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TBDS HDFS</a:t>
            </a:r>
            <a:endParaRPr lang="en-US" altLang="zh-CN" sz="1600" dirty="0"/>
          </a:p>
        </p:txBody>
      </p:sp>
      <p:sp>
        <p:nvSpPr>
          <p:cNvPr id="108" name="文本框 107"/>
          <p:cNvSpPr txBox="1"/>
          <p:nvPr/>
        </p:nvSpPr>
        <p:spPr>
          <a:xfrm>
            <a:off x="1920393" y="5240335"/>
            <a:ext cx="488950" cy="275590"/>
          </a:xfrm>
          <a:prstGeom prst="rect">
            <a:avLst/>
          </a:prstGeom>
          <a:noFill/>
        </p:spPr>
        <p:txBody>
          <a:bodyPr wrap="none" rtlCol="0">
            <a:spAutoFit/>
          </a:bodyPr>
          <a:lstStyle/>
          <a:p>
            <a:r>
              <a:rPr lang="zh-CN" altLang="en-US" sz="1200" b="1" dirty="0"/>
              <a:t>迁移</a:t>
            </a:r>
            <a:endParaRPr lang="zh-CN" altLang="en-US" sz="1200" b="1" dirty="0"/>
          </a:p>
        </p:txBody>
      </p:sp>
      <p:sp>
        <p:nvSpPr>
          <p:cNvPr id="109" name="矩形 108"/>
          <p:cNvSpPr/>
          <p:nvPr/>
        </p:nvSpPr>
        <p:spPr>
          <a:xfrm>
            <a:off x="2565400" y="4944745"/>
            <a:ext cx="3170555" cy="1334770"/>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文本框 109"/>
          <p:cNvSpPr txBox="1"/>
          <p:nvPr/>
        </p:nvSpPr>
        <p:spPr>
          <a:xfrm>
            <a:off x="3647695" y="5152300"/>
            <a:ext cx="800219" cy="276999"/>
          </a:xfrm>
          <a:prstGeom prst="rect">
            <a:avLst/>
          </a:prstGeom>
          <a:noFill/>
        </p:spPr>
        <p:txBody>
          <a:bodyPr wrap="none" rtlCol="0">
            <a:spAutoFit/>
          </a:bodyPr>
          <a:lstStyle/>
          <a:p>
            <a:r>
              <a:rPr lang="zh-CN" altLang="en-US" sz="1200" dirty="0">
                <a:latin typeface="微软雅黑" panose="020B0503020204020204" charset="-122"/>
                <a:ea typeface="微软雅黑" panose="020B0503020204020204" charset="-122"/>
              </a:rPr>
              <a:t>数据互访</a:t>
            </a:r>
            <a:endParaRPr lang="zh-CN" altLang="en-US" sz="1200" dirty="0">
              <a:latin typeface="微软雅黑" panose="020B0503020204020204" charset="-122"/>
              <a:ea typeface="微软雅黑" panose="020B0503020204020204" charset="-122"/>
            </a:endParaRPr>
          </a:p>
        </p:txBody>
      </p:sp>
      <p:cxnSp>
        <p:nvCxnSpPr>
          <p:cNvPr id="111" name="直接连接符 63"/>
          <p:cNvCxnSpPr/>
          <p:nvPr/>
        </p:nvCxnSpPr>
        <p:spPr>
          <a:xfrm>
            <a:off x="5928734" y="959008"/>
            <a:ext cx="0" cy="5400000"/>
          </a:xfrm>
          <a:prstGeom prst="line">
            <a:avLst/>
          </a:prstGeom>
          <a:ln w="127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12" name="文本框 111"/>
          <p:cNvSpPr txBox="1"/>
          <p:nvPr/>
        </p:nvSpPr>
        <p:spPr>
          <a:xfrm>
            <a:off x="3631185" y="5925095"/>
            <a:ext cx="944880" cy="275590"/>
          </a:xfrm>
          <a:prstGeom prst="rect">
            <a:avLst/>
          </a:prstGeom>
          <a:noFill/>
        </p:spPr>
        <p:txBody>
          <a:bodyPr wrap="none" rtlCol="0">
            <a:spAutoFit/>
          </a:bodyPr>
          <a:lstStyle/>
          <a:p>
            <a:r>
              <a:rPr lang="zh-CN" altLang="en-US" sz="1200" b="1" dirty="0">
                <a:latin typeface="微软雅黑" panose="020B0503020204020204" charset="-122"/>
                <a:ea typeface="微软雅黑" panose="020B0503020204020204" charset="-122"/>
              </a:rPr>
              <a:t>湖仓一体化</a:t>
            </a:r>
            <a:endParaRPr lang="zh-CN" altLang="en-US" sz="1200" b="1" dirty="0">
              <a:latin typeface="微软雅黑" panose="020B0503020204020204" charset="-122"/>
              <a:ea typeface="微软雅黑" panose="020B0503020204020204" charset="-122"/>
            </a:endParaRPr>
          </a:p>
        </p:txBody>
      </p:sp>
      <p:sp>
        <p:nvSpPr>
          <p:cNvPr id="113" name="左右箭头 112"/>
          <p:cNvSpPr/>
          <p:nvPr/>
        </p:nvSpPr>
        <p:spPr>
          <a:xfrm>
            <a:off x="3719830" y="5443855"/>
            <a:ext cx="687705" cy="215900"/>
          </a:xfrm>
          <a:prstGeom prst="leftRightArrow">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虚尾箭头 113"/>
          <p:cNvSpPr/>
          <p:nvPr/>
        </p:nvSpPr>
        <p:spPr>
          <a:xfrm>
            <a:off x="1800860" y="5516245"/>
            <a:ext cx="766445" cy="215900"/>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5" name="组合 114"/>
          <p:cNvGrpSpPr/>
          <p:nvPr/>
        </p:nvGrpSpPr>
        <p:grpSpPr>
          <a:xfrm>
            <a:off x="6179185" y="3798570"/>
            <a:ext cx="5534025" cy="2560320"/>
            <a:chOff x="1037" y="1734"/>
            <a:chExt cx="12647" cy="8832"/>
          </a:xfrm>
        </p:grpSpPr>
        <p:sp>
          <p:nvSpPr>
            <p:cNvPr id="116" name="矩形 115"/>
            <p:cNvSpPr/>
            <p:nvPr/>
          </p:nvSpPr>
          <p:spPr>
            <a:xfrm>
              <a:off x="1037" y="1734"/>
              <a:ext cx="12647" cy="8832"/>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a:p>
          </p:txBody>
        </p:sp>
        <p:sp>
          <p:nvSpPr>
            <p:cNvPr id="117" name="数据仓库服务"/>
            <p:cNvSpPr/>
            <p:nvPr/>
          </p:nvSpPr>
          <p:spPr>
            <a:xfrm>
              <a:off x="8513" y="3140"/>
              <a:ext cx="4805" cy="3402"/>
            </a:xfrm>
            <a:prstGeom prst="roundRect">
              <a:avLst>
                <a:gd name="adj" fmla="val 7597"/>
              </a:avLst>
            </a:prstGeom>
            <a:noFill/>
            <a:ln w="19050" cap="flat">
              <a:solidFill>
                <a:srgbClr val="4472C4">
                  <a:lumMod val="60000"/>
                  <a:lumOff val="40000"/>
                </a:srgbClr>
              </a:solidFill>
              <a:prstDash val="solid"/>
              <a:miter lim="400000"/>
            </a:ln>
            <a:effectLst/>
          </p:spPr>
          <p:txBody>
            <a:bodyPr wrap="square" lIns="0" tIns="0" rIns="0" bIns="0" numCol="1" anchor="ctr">
              <a:noAutofit/>
            </a:bodyPr>
            <a:lstStyle>
              <a:lvl1pPr algn="l" defTabSz="825500">
                <a:defRPr sz="1000" b="1">
                  <a:solidFill>
                    <a:srgbClr val="FFFFFF"/>
                  </a:solidFill>
                  <a:effectLst>
                    <a:outerShdw blurRad="25400" dist="23998" dir="2700000" rotWithShape="0">
                      <a:srgbClr val="000000">
                        <a:alpha val="31034"/>
                      </a:srgbClr>
                    </a:outerShdw>
                  </a:effectLst>
                  <a:latin typeface="Helvetica"/>
                  <a:ea typeface="Helvetica"/>
                  <a:cs typeface="Helvetica"/>
                  <a:sym typeface="Helvetica"/>
                </a:defRPr>
              </a:lvl1pPr>
            </a:lstStyle>
            <a:p>
              <a:pPr algn="ctr" defTabSz="824230" hangingPunct="0">
                <a:defRPr/>
              </a:pPr>
              <a:r>
                <a:rPr lang="zh-CN" altLang="en-US" sz="700" kern="0" dirty="0">
                  <a:solidFill>
                    <a:sysClr val="windowText" lastClr="000000"/>
                  </a:solidFill>
                  <a:effectLst/>
                  <a:latin typeface="微软雅黑" panose="020B0503020204020204" charset="-122"/>
                  <a:ea typeface="微软雅黑" panose="020B0503020204020204" charset="-122"/>
                  <a:cs typeface="微软雅黑" panose="020B0503020204020204" charset="-122"/>
                </a:rPr>
                <a:t>面向数据计算及服务多集群</a:t>
              </a:r>
              <a:endParaRPr lang="en-US" altLang="zh-CN" sz="700" kern="0" dirty="0">
                <a:solidFill>
                  <a:sysClr val="windowText" lastClr="000000"/>
                </a:solidFill>
                <a:effectLst/>
                <a:latin typeface="微软雅黑" panose="020B0503020204020204" charset="-122"/>
                <a:ea typeface="微软雅黑" panose="020B0503020204020204" charset="-122"/>
                <a:cs typeface="微软雅黑" panose="020B0503020204020204" charset="-122"/>
              </a:endParaRPr>
            </a:p>
            <a:p>
              <a:pPr algn="ctr" defTabSz="824230" hangingPunct="0">
                <a:defRPr/>
              </a:pPr>
              <a:endParaRPr lang="en-US" altLang="zh-CN" sz="700" kern="0" dirty="0">
                <a:solidFill>
                  <a:sysClr val="windowText" lastClr="000000"/>
                </a:solidFill>
                <a:effectLst/>
                <a:latin typeface="微软雅黑" panose="020B0503020204020204" charset="-122"/>
                <a:ea typeface="微软雅黑" panose="020B0503020204020204" charset="-122"/>
                <a:cs typeface="微软雅黑" panose="020B0503020204020204" charset="-122"/>
              </a:endParaRPr>
            </a:p>
            <a:p>
              <a:pPr algn="ctr" defTabSz="824230" hangingPunct="0">
                <a:defRPr/>
              </a:pPr>
              <a:endParaRPr lang="en-US" altLang="zh-CN" sz="700" kern="0" dirty="0">
                <a:solidFill>
                  <a:sysClr val="windowText" lastClr="000000"/>
                </a:solidFill>
                <a:effectLst/>
                <a:latin typeface="微软雅黑" panose="020B0503020204020204" charset="-122"/>
                <a:ea typeface="微软雅黑" panose="020B0503020204020204" charset="-122"/>
                <a:cs typeface="微软雅黑" panose="020B0503020204020204" charset="-122"/>
              </a:endParaRPr>
            </a:p>
            <a:p>
              <a:pPr algn="ctr" defTabSz="824230" hangingPunct="0">
                <a:defRPr/>
              </a:pPr>
              <a:endParaRPr lang="en-US" altLang="zh-CN" sz="700" kern="0" dirty="0">
                <a:solidFill>
                  <a:sysClr val="windowText" lastClr="000000"/>
                </a:solidFill>
                <a:effectLst/>
                <a:latin typeface="微软雅黑" panose="020B0503020204020204" charset="-122"/>
                <a:ea typeface="微软雅黑" panose="020B0503020204020204" charset="-122"/>
                <a:cs typeface="微软雅黑" panose="020B0503020204020204" charset="-122"/>
              </a:endParaRPr>
            </a:p>
            <a:p>
              <a:pPr algn="ctr" defTabSz="824230" hangingPunct="0">
                <a:defRPr/>
              </a:pPr>
              <a:endParaRPr lang="en-US" altLang="zh-CN" sz="700" kern="0" dirty="0">
                <a:solidFill>
                  <a:sysClr val="windowText" lastClr="000000"/>
                </a:solidFill>
                <a:effectLst/>
                <a:latin typeface="微软雅黑" panose="020B0503020204020204" charset="-122"/>
                <a:ea typeface="微软雅黑" panose="020B0503020204020204" charset="-122"/>
                <a:cs typeface="微软雅黑" panose="020B0503020204020204" charset="-122"/>
              </a:endParaRPr>
            </a:p>
            <a:p>
              <a:pPr algn="ctr" defTabSz="824230" hangingPunct="0">
                <a:defRPr/>
              </a:pPr>
              <a:endParaRPr lang="en-US" altLang="zh-CN" sz="700" kern="0" dirty="0">
                <a:solidFill>
                  <a:sysClr val="windowText" lastClr="000000"/>
                </a:solidFill>
                <a:effectLst/>
                <a:latin typeface="微软雅黑" panose="020B0503020204020204" charset="-122"/>
                <a:ea typeface="微软雅黑" panose="020B0503020204020204" charset="-122"/>
                <a:cs typeface="微软雅黑" panose="020B0503020204020204" charset="-122"/>
              </a:endParaRPr>
            </a:p>
            <a:p>
              <a:pPr algn="ctr" defTabSz="824230" hangingPunct="0">
                <a:defRPr/>
              </a:pPr>
              <a:endParaRPr lang="en-US" altLang="zh-CN" sz="700" kern="0" dirty="0">
                <a:solidFill>
                  <a:sysClr val="windowText" lastClr="000000"/>
                </a:solidFill>
                <a:effectLst/>
                <a:latin typeface="微软雅黑" panose="020B0503020204020204" charset="-122"/>
                <a:ea typeface="微软雅黑" panose="020B0503020204020204" charset="-122"/>
                <a:cs typeface="微软雅黑" panose="020B0503020204020204" charset="-122"/>
              </a:endParaRPr>
            </a:p>
            <a:p>
              <a:pPr algn="ctr" defTabSz="824230" hangingPunct="0">
                <a:defRPr/>
              </a:pPr>
              <a:endParaRPr lang="en-US" altLang="zh-CN" sz="700" kern="0" dirty="0">
                <a:solidFill>
                  <a:sysClr val="windowText" lastClr="000000"/>
                </a:solidFill>
                <a:effectLst/>
                <a:latin typeface="微软雅黑" panose="020B0503020204020204" charset="-122"/>
                <a:ea typeface="微软雅黑" panose="020B0503020204020204" charset="-122"/>
                <a:cs typeface="微软雅黑" panose="020B0503020204020204" charset="-122"/>
              </a:endParaRPr>
            </a:p>
            <a:p>
              <a:pPr algn="ctr" defTabSz="824230" hangingPunct="0">
                <a:defRPr/>
              </a:pPr>
              <a:endParaRPr lang="en-US" altLang="zh-CN" sz="700" kern="0" dirty="0">
                <a:solidFill>
                  <a:sysClr val="windowText" lastClr="000000"/>
                </a:solidFill>
                <a:effectLst/>
                <a:latin typeface="微软雅黑" panose="020B0503020204020204" charset="-122"/>
                <a:ea typeface="微软雅黑" panose="020B0503020204020204" charset="-122"/>
                <a:cs typeface="微软雅黑" panose="020B0503020204020204" charset="-122"/>
              </a:endParaRPr>
            </a:p>
            <a:p>
              <a:pPr algn="ctr" defTabSz="824230" hangingPunct="0">
                <a:defRPr/>
              </a:pPr>
              <a:endParaRPr lang="en-US" altLang="zh-CN" sz="700" kern="0" dirty="0">
                <a:solidFill>
                  <a:sysClr val="windowText" lastClr="000000"/>
                </a:solidFill>
                <a:effectLst/>
                <a:latin typeface="微软雅黑" panose="020B0503020204020204" charset="-122"/>
                <a:ea typeface="微软雅黑" panose="020B0503020204020204" charset="-122"/>
                <a:cs typeface="微软雅黑" panose="020B0503020204020204" charset="-122"/>
              </a:endParaRPr>
            </a:p>
          </p:txBody>
        </p:sp>
        <p:sp>
          <p:nvSpPr>
            <p:cNvPr id="118" name="数据仓库服务"/>
            <p:cNvSpPr/>
            <p:nvPr/>
          </p:nvSpPr>
          <p:spPr>
            <a:xfrm>
              <a:off x="3249" y="3148"/>
              <a:ext cx="4845" cy="3402"/>
            </a:xfrm>
            <a:prstGeom prst="roundRect">
              <a:avLst>
                <a:gd name="adj" fmla="val 7597"/>
              </a:avLst>
            </a:prstGeom>
            <a:noFill/>
            <a:ln w="19050" cap="flat">
              <a:solidFill>
                <a:srgbClr val="4472C4">
                  <a:lumMod val="60000"/>
                  <a:lumOff val="40000"/>
                </a:srgbClr>
              </a:solidFill>
              <a:prstDash val="solid"/>
              <a:miter lim="400000"/>
            </a:ln>
            <a:effectLst/>
          </p:spPr>
          <p:txBody>
            <a:bodyPr wrap="square" lIns="0" tIns="0" rIns="0" bIns="0" numCol="1" anchor="ctr">
              <a:noAutofit/>
            </a:bodyPr>
            <a:lstStyle>
              <a:lvl1pPr algn="l" defTabSz="825500">
                <a:defRPr sz="1000" b="1">
                  <a:solidFill>
                    <a:srgbClr val="FFFFFF"/>
                  </a:solidFill>
                  <a:effectLst>
                    <a:outerShdw blurRad="25400" dist="23998" dir="2700000" rotWithShape="0">
                      <a:srgbClr val="000000">
                        <a:alpha val="31034"/>
                      </a:srgbClr>
                    </a:outerShdw>
                  </a:effectLst>
                  <a:latin typeface="Helvetica"/>
                  <a:ea typeface="Helvetica"/>
                  <a:cs typeface="Helvetica"/>
                  <a:sym typeface="Helvetica"/>
                </a:defRPr>
              </a:lvl1pPr>
            </a:lstStyle>
            <a:p>
              <a:pPr algn="ctr" defTabSz="824230" hangingPunct="0">
                <a:defRPr/>
              </a:pPr>
              <a:r>
                <a:rPr lang="zh-CN" altLang="en-US" sz="700" kern="0" dirty="0">
                  <a:solidFill>
                    <a:sysClr val="windowText" lastClr="000000"/>
                  </a:solidFill>
                  <a:effectLst/>
                  <a:latin typeface="微软雅黑" panose="020B0503020204020204" charset="-122"/>
                  <a:ea typeface="微软雅黑" panose="020B0503020204020204" charset="-122"/>
                  <a:cs typeface="微软雅黑" panose="020B0503020204020204" charset="-122"/>
                </a:rPr>
                <a:t>面向分析的数据库多集群</a:t>
              </a:r>
              <a:endParaRPr lang="en-US" altLang="zh-CN" sz="700" kern="0" dirty="0">
                <a:solidFill>
                  <a:sysClr val="windowText" lastClr="000000"/>
                </a:solidFill>
                <a:effectLst/>
                <a:latin typeface="微软雅黑" panose="020B0503020204020204" charset="-122"/>
                <a:ea typeface="微软雅黑" panose="020B0503020204020204" charset="-122"/>
                <a:cs typeface="微软雅黑" panose="020B0503020204020204" charset="-122"/>
              </a:endParaRPr>
            </a:p>
            <a:p>
              <a:pPr algn="ctr" defTabSz="824230" hangingPunct="0">
                <a:defRPr/>
              </a:pPr>
              <a:endParaRPr lang="en-US" altLang="zh-CN" sz="700" kern="0" dirty="0">
                <a:solidFill>
                  <a:sysClr val="windowText" lastClr="000000"/>
                </a:solidFill>
                <a:effectLst/>
                <a:latin typeface="微软雅黑" panose="020B0503020204020204" charset="-122"/>
                <a:ea typeface="微软雅黑" panose="020B0503020204020204" charset="-122"/>
                <a:cs typeface="微软雅黑" panose="020B0503020204020204" charset="-122"/>
              </a:endParaRPr>
            </a:p>
            <a:p>
              <a:pPr algn="ctr" defTabSz="824230" hangingPunct="0">
                <a:defRPr/>
              </a:pPr>
              <a:endParaRPr lang="en-US" altLang="zh-CN" sz="700" kern="0" dirty="0">
                <a:solidFill>
                  <a:sysClr val="windowText" lastClr="000000"/>
                </a:solidFill>
                <a:effectLst/>
                <a:latin typeface="微软雅黑" panose="020B0503020204020204" charset="-122"/>
                <a:ea typeface="微软雅黑" panose="020B0503020204020204" charset="-122"/>
                <a:cs typeface="微软雅黑" panose="020B0503020204020204" charset="-122"/>
              </a:endParaRPr>
            </a:p>
            <a:p>
              <a:pPr algn="ctr" defTabSz="824230" hangingPunct="0">
                <a:defRPr/>
              </a:pPr>
              <a:endParaRPr lang="en-US" altLang="zh-CN" sz="700" kern="0" dirty="0">
                <a:solidFill>
                  <a:sysClr val="windowText" lastClr="000000"/>
                </a:solidFill>
                <a:effectLst/>
                <a:latin typeface="微软雅黑" panose="020B0503020204020204" charset="-122"/>
                <a:ea typeface="微软雅黑" panose="020B0503020204020204" charset="-122"/>
                <a:cs typeface="微软雅黑" panose="020B0503020204020204" charset="-122"/>
              </a:endParaRPr>
            </a:p>
            <a:p>
              <a:pPr algn="ctr" defTabSz="824230" hangingPunct="0">
                <a:defRPr/>
              </a:pPr>
              <a:endParaRPr lang="en-US" altLang="zh-CN" sz="700" kern="0" dirty="0">
                <a:solidFill>
                  <a:sysClr val="windowText" lastClr="000000"/>
                </a:solidFill>
                <a:effectLst/>
                <a:latin typeface="微软雅黑" panose="020B0503020204020204" charset="-122"/>
                <a:ea typeface="微软雅黑" panose="020B0503020204020204" charset="-122"/>
                <a:cs typeface="微软雅黑" panose="020B0503020204020204" charset="-122"/>
              </a:endParaRPr>
            </a:p>
            <a:p>
              <a:pPr algn="ctr" defTabSz="824230" hangingPunct="0">
                <a:defRPr/>
              </a:pPr>
              <a:endParaRPr lang="en-US" altLang="zh-CN" sz="700" kern="0" dirty="0">
                <a:solidFill>
                  <a:sysClr val="windowText" lastClr="000000"/>
                </a:solidFill>
                <a:effectLst/>
                <a:latin typeface="微软雅黑" panose="020B0503020204020204" charset="-122"/>
                <a:ea typeface="微软雅黑" panose="020B0503020204020204" charset="-122"/>
                <a:cs typeface="微软雅黑" panose="020B0503020204020204" charset="-122"/>
              </a:endParaRPr>
            </a:p>
            <a:p>
              <a:pPr algn="ctr" defTabSz="824230" hangingPunct="0">
                <a:defRPr/>
              </a:pPr>
              <a:endParaRPr lang="en-US" altLang="zh-CN" sz="700" kern="0" dirty="0">
                <a:solidFill>
                  <a:sysClr val="windowText" lastClr="000000"/>
                </a:solidFill>
                <a:effectLst/>
                <a:latin typeface="微软雅黑" panose="020B0503020204020204" charset="-122"/>
                <a:ea typeface="微软雅黑" panose="020B0503020204020204" charset="-122"/>
                <a:cs typeface="微软雅黑" panose="020B0503020204020204" charset="-122"/>
              </a:endParaRPr>
            </a:p>
            <a:p>
              <a:pPr algn="ctr" defTabSz="824230" hangingPunct="0">
                <a:defRPr/>
              </a:pPr>
              <a:endParaRPr lang="en-US" altLang="zh-CN" sz="700" kern="0" dirty="0">
                <a:solidFill>
                  <a:sysClr val="windowText" lastClr="000000"/>
                </a:solidFill>
                <a:effectLst/>
                <a:latin typeface="微软雅黑" panose="020B0503020204020204" charset="-122"/>
                <a:ea typeface="微软雅黑" panose="020B0503020204020204" charset="-122"/>
                <a:cs typeface="微软雅黑" panose="020B0503020204020204" charset="-122"/>
              </a:endParaRPr>
            </a:p>
            <a:p>
              <a:pPr algn="ctr" defTabSz="824230" hangingPunct="0">
                <a:defRPr/>
              </a:pPr>
              <a:endParaRPr lang="en-US" altLang="zh-CN" sz="700" kern="0" dirty="0">
                <a:solidFill>
                  <a:sysClr val="windowText" lastClr="000000"/>
                </a:solidFill>
                <a:effectLst/>
                <a:latin typeface="微软雅黑" panose="020B0503020204020204" charset="-122"/>
                <a:ea typeface="微软雅黑" panose="020B0503020204020204" charset="-122"/>
                <a:cs typeface="微软雅黑" panose="020B0503020204020204" charset="-122"/>
              </a:endParaRPr>
            </a:p>
            <a:p>
              <a:pPr algn="ctr" defTabSz="824230" hangingPunct="0">
                <a:defRPr/>
              </a:pPr>
              <a:endParaRPr lang="en-US" altLang="zh-CN" sz="700" kern="0" dirty="0">
                <a:solidFill>
                  <a:sysClr val="windowText" lastClr="000000"/>
                </a:solidFill>
                <a:effectLst/>
                <a:latin typeface="微软雅黑" panose="020B0503020204020204" charset="-122"/>
                <a:ea typeface="微软雅黑" panose="020B0503020204020204" charset="-122"/>
                <a:cs typeface="微软雅黑" panose="020B0503020204020204" charset="-122"/>
              </a:endParaRPr>
            </a:p>
          </p:txBody>
        </p:sp>
        <p:sp>
          <p:nvSpPr>
            <p:cNvPr id="119" name="矩形 118"/>
            <p:cNvSpPr/>
            <p:nvPr/>
          </p:nvSpPr>
          <p:spPr>
            <a:xfrm>
              <a:off x="6127" y="6902"/>
              <a:ext cx="7309" cy="3330"/>
            </a:xfrm>
            <a:prstGeom prst="rect">
              <a:avLst/>
            </a:prstGeom>
            <a:noFill/>
            <a:ln w="28575" cap="flat" cmpd="sng" algn="ctr">
              <a:solidFill>
                <a:srgbClr val="0070C0"/>
              </a:solidFill>
              <a:prstDash val="dash"/>
              <a:miter lim="800000"/>
            </a:ln>
            <a:effectLst/>
          </p:spPr>
          <p:txBody>
            <a:bodyPr rtlCol="0" anchor="t"/>
            <a:lstStyle/>
            <a:p>
              <a:pPr algn="ctr" defTabSz="914400">
                <a:defRPr/>
              </a:pPr>
              <a:r>
                <a:rPr kumimoji="1" lang="zh-CN" altLang="en-US" sz="700" b="1" kern="0" dirty="0">
                  <a:solidFill>
                    <a:prstClr val="black"/>
                  </a:solidFill>
                  <a:latin typeface="等线" panose="02010600030101010101" charset="-122"/>
                  <a:ea typeface="等线" panose="02010600030101010101" charset="-122"/>
                  <a:cs typeface="微软雅黑" panose="020B0503020204020204" charset="-122"/>
                </a:rPr>
                <a:t>数据湖统一存储池存储管理</a:t>
              </a:r>
              <a:endParaRPr kumimoji="1" lang="zh-CN" altLang="en-US" sz="700" b="1" kern="0" dirty="0">
                <a:solidFill>
                  <a:prstClr val="black"/>
                </a:solidFill>
                <a:latin typeface="等线" panose="02010600030101010101" charset="-122"/>
                <a:ea typeface="等线" panose="02010600030101010101" charset="-122"/>
                <a:cs typeface="微软雅黑" panose="020B0503020204020204" charset="-122"/>
              </a:endParaRPr>
            </a:p>
          </p:txBody>
        </p:sp>
        <p:sp>
          <p:nvSpPr>
            <p:cNvPr id="120" name="矩形 119"/>
            <p:cNvSpPr/>
            <p:nvPr/>
          </p:nvSpPr>
          <p:spPr>
            <a:xfrm>
              <a:off x="6335" y="7967"/>
              <a:ext cx="6692" cy="811"/>
            </a:xfrm>
            <a:prstGeom prst="rect">
              <a:avLst/>
            </a:prstGeom>
            <a:solidFill>
              <a:srgbClr val="A5A5A5"/>
            </a:solidFill>
            <a:ln w="12700" cap="flat" cmpd="sng" algn="ctr">
              <a:noFill/>
              <a:prstDash val="solid"/>
              <a:miter lim="800000"/>
            </a:ln>
            <a:effectLst/>
          </p:spPr>
          <p:txBody>
            <a:bodyPr rtlCol="0" anchor="ctr"/>
            <a:lstStyle/>
            <a:p>
              <a:pPr algn="ctr" defTabSz="914400">
                <a:defRPr/>
              </a:pPr>
              <a:r>
                <a:rPr kumimoji="1" lang="zh-CN" altLang="en-US" sz="600" b="1" kern="0" dirty="0">
                  <a:solidFill>
                    <a:prstClr val="white"/>
                  </a:solidFill>
                  <a:latin typeface="等线" panose="02010600030101010101" charset="-122"/>
                  <a:ea typeface="等线" panose="02010600030101010101" charset="-122"/>
                  <a:cs typeface="微软雅黑" panose="020B0503020204020204" charset="-122"/>
                </a:rPr>
                <a:t>智能数据管理</a:t>
              </a:r>
              <a:r>
                <a:rPr kumimoji="1" lang="en-US" altLang="zh-CN" sz="600" b="1" kern="0" dirty="0">
                  <a:solidFill>
                    <a:prstClr val="white"/>
                  </a:solidFill>
                  <a:latin typeface="等线" panose="02010600030101010101" charset="-122"/>
                  <a:ea typeface="等线" panose="02010600030101010101" charset="-122"/>
                  <a:cs typeface="微软雅黑" panose="020B0503020204020204" charset="-122"/>
                </a:rPr>
                <a:t>/</a:t>
              </a:r>
              <a:r>
                <a:rPr kumimoji="1" lang="zh-CN" altLang="en-US" sz="600" b="1" kern="0" dirty="0">
                  <a:solidFill>
                    <a:prstClr val="white"/>
                  </a:solidFill>
                  <a:latin typeface="等线" panose="02010600030101010101" charset="-122"/>
                  <a:ea typeface="等线" panose="02010600030101010101" charset="-122"/>
                  <a:cs typeface="微软雅黑" panose="020B0503020204020204" charset="-122"/>
                </a:rPr>
                <a:t>统一智能调度</a:t>
              </a:r>
              <a:endParaRPr kumimoji="1" lang="zh-CN" altLang="en-US" sz="600" b="1" kern="0" dirty="0">
                <a:solidFill>
                  <a:prstClr val="white"/>
                </a:solidFill>
                <a:latin typeface="等线" panose="02010600030101010101" charset="-122"/>
                <a:ea typeface="等线" panose="02010600030101010101" charset="-122"/>
                <a:cs typeface="微软雅黑" panose="020B0503020204020204" charset="-122"/>
              </a:endParaRPr>
            </a:p>
          </p:txBody>
        </p:sp>
        <p:sp>
          <p:nvSpPr>
            <p:cNvPr id="121" name="矩形 120"/>
            <p:cNvSpPr/>
            <p:nvPr/>
          </p:nvSpPr>
          <p:spPr>
            <a:xfrm>
              <a:off x="6348" y="7334"/>
              <a:ext cx="2130" cy="536"/>
            </a:xfrm>
            <a:prstGeom prst="rect">
              <a:avLst/>
            </a:prstGeom>
            <a:solidFill>
              <a:srgbClr val="4BACC6"/>
            </a:solidFill>
            <a:ln w="12700" cap="flat" cmpd="sng" algn="ctr">
              <a:noFill/>
              <a:prstDash val="solid"/>
              <a:miter lim="800000"/>
            </a:ln>
            <a:effectLst/>
          </p:spPr>
          <p:txBody>
            <a:bodyPr rtlCol="0" anchor="ctr"/>
            <a:lstStyle/>
            <a:p>
              <a:pPr algn="ctr" defTabSz="914400">
                <a:defRPr/>
              </a:pPr>
              <a:r>
                <a:rPr kumimoji="1" lang="zh-CN" altLang="en-US" sz="600" b="1" kern="0" dirty="0">
                  <a:solidFill>
                    <a:prstClr val="white"/>
                  </a:solidFill>
                  <a:latin typeface="等线" panose="02010600030101010101" charset="-122"/>
                  <a:ea typeface="等线" panose="02010600030101010101" charset="-122"/>
                  <a:cs typeface="微软雅黑" panose="020B0503020204020204" charset="-122"/>
                </a:rPr>
                <a:t>对象存储</a:t>
              </a:r>
              <a:endParaRPr kumimoji="1" lang="zh-CN" altLang="en-US" sz="600" b="1" kern="0" dirty="0">
                <a:solidFill>
                  <a:prstClr val="white"/>
                </a:solidFill>
                <a:latin typeface="等线" panose="02010600030101010101" charset="-122"/>
                <a:ea typeface="等线" panose="02010600030101010101" charset="-122"/>
                <a:cs typeface="微软雅黑" panose="020B0503020204020204" charset="-122"/>
              </a:endParaRPr>
            </a:p>
          </p:txBody>
        </p:sp>
        <p:sp>
          <p:nvSpPr>
            <p:cNvPr id="122" name="矩形 121"/>
            <p:cNvSpPr/>
            <p:nvPr/>
          </p:nvSpPr>
          <p:spPr>
            <a:xfrm>
              <a:off x="8606" y="7334"/>
              <a:ext cx="2325" cy="536"/>
            </a:xfrm>
            <a:prstGeom prst="rect">
              <a:avLst/>
            </a:prstGeom>
            <a:solidFill>
              <a:srgbClr val="4BACC6"/>
            </a:solidFill>
            <a:ln w="12700" cap="flat" cmpd="sng" algn="ctr">
              <a:noFill/>
              <a:prstDash val="solid"/>
              <a:miter lim="800000"/>
            </a:ln>
            <a:effectLst/>
          </p:spPr>
          <p:txBody>
            <a:bodyPr rtlCol="0" anchor="ctr"/>
            <a:lstStyle/>
            <a:p>
              <a:pPr algn="ctr" defTabSz="914400">
                <a:defRPr/>
              </a:pPr>
              <a:r>
                <a:rPr kumimoji="1" lang="en-US" altLang="zh-CN" sz="600" b="1" kern="0" dirty="0">
                  <a:solidFill>
                    <a:prstClr val="white"/>
                  </a:solidFill>
                  <a:latin typeface="等线" panose="02010600030101010101" charset="-122"/>
                  <a:ea typeface="等线" panose="02010600030101010101" charset="-122"/>
                  <a:cs typeface="微软雅黑" panose="020B0503020204020204" charset="-122"/>
                </a:rPr>
                <a:t>HDFS</a:t>
              </a:r>
              <a:endParaRPr kumimoji="1" lang="en-US" altLang="zh-CN" sz="600" b="1" kern="0" dirty="0">
                <a:solidFill>
                  <a:prstClr val="white"/>
                </a:solidFill>
                <a:latin typeface="等线" panose="02010600030101010101" charset="-122"/>
                <a:ea typeface="等线" panose="02010600030101010101" charset="-122"/>
                <a:cs typeface="微软雅黑" panose="020B0503020204020204" charset="-122"/>
              </a:endParaRPr>
            </a:p>
          </p:txBody>
        </p:sp>
        <p:pic>
          <p:nvPicPr>
            <p:cNvPr id="123" name="图片 122"/>
            <p:cNvPicPr>
              <a:picLocks noChangeAspect="1"/>
            </p:cNvPicPr>
            <p:nvPr/>
          </p:nvPicPr>
          <p:blipFill>
            <a:blip r:embed="rId1"/>
            <a:stretch>
              <a:fillRect/>
            </a:stretch>
          </p:blipFill>
          <p:spPr>
            <a:xfrm>
              <a:off x="6579" y="9264"/>
              <a:ext cx="550" cy="883"/>
            </a:xfrm>
            <a:prstGeom prst="rect">
              <a:avLst/>
            </a:prstGeom>
          </p:spPr>
        </p:pic>
        <p:pic>
          <p:nvPicPr>
            <p:cNvPr id="124" name="图片 123"/>
            <p:cNvPicPr>
              <a:picLocks noChangeAspect="1"/>
            </p:cNvPicPr>
            <p:nvPr/>
          </p:nvPicPr>
          <p:blipFill>
            <a:blip r:embed="rId2"/>
            <a:stretch>
              <a:fillRect/>
            </a:stretch>
          </p:blipFill>
          <p:spPr>
            <a:xfrm>
              <a:off x="8352" y="9295"/>
              <a:ext cx="645" cy="781"/>
            </a:xfrm>
            <a:prstGeom prst="rect">
              <a:avLst/>
            </a:prstGeom>
          </p:spPr>
        </p:pic>
        <p:pic>
          <p:nvPicPr>
            <p:cNvPr id="125" name="图片 124"/>
            <p:cNvPicPr>
              <a:picLocks noChangeAspect="1"/>
            </p:cNvPicPr>
            <p:nvPr/>
          </p:nvPicPr>
          <p:blipFill>
            <a:blip r:embed="rId3"/>
            <a:stretch>
              <a:fillRect/>
            </a:stretch>
          </p:blipFill>
          <p:spPr>
            <a:xfrm>
              <a:off x="8988" y="9237"/>
              <a:ext cx="903" cy="1072"/>
            </a:xfrm>
            <a:prstGeom prst="rect">
              <a:avLst/>
            </a:prstGeom>
          </p:spPr>
        </p:pic>
        <p:pic>
          <p:nvPicPr>
            <p:cNvPr id="126" name="图片 125"/>
            <p:cNvPicPr>
              <a:picLocks noChangeAspect="1"/>
            </p:cNvPicPr>
            <p:nvPr/>
          </p:nvPicPr>
          <p:blipFill>
            <a:blip r:embed="rId4"/>
            <a:stretch>
              <a:fillRect/>
            </a:stretch>
          </p:blipFill>
          <p:spPr>
            <a:xfrm>
              <a:off x="9798" y="9198"/>
              <a:ext cx="821" cy="975"/>
            </a:xfrm>
            <a:prstGeom prst="rect">
              <a:avLst/>
            </a:prstGeom>
          </p:spPr>
        </p:pic>
        <p:pic>
          <p:nvPicPr>
            <p:cNvPr id="127" name="图片 126"/>
            <p:cNvPicPr>
              <a:picLocks noChangeAspect="1"/>
            </p:cNvPicPr>
            <p:nvPr/>
          </p:nvPicPr>
          <p:blipFill>
            <a:blip r:embed="rId5"/>
            <a:stretch>
              <a:fillRect/>
            </a:stretch>
          </p:blipFill>
          <p:spPr>
            <a:xfrm>
              <a:off x="11846" y="9269"/>
              <a:ext cx="727" cy="863"/>
            </a:xfrm>
            <a:prstGeom prst="rect">
              <a:avLst/>
            </a:prstGeom>
          </p:spPr>
        </p:pic>
        <p:pic>
          <p:nvPicPr>
            <p:cNvPr id="128" name="图片 127"/>
            <p:cNvPicPr>
              <a:picLocks noChangeAspect="1"/>
            </p:cNvPicPr>
            <p:nvPr/>
          </p:nvPicPr>
          <p:blipFill>
            <a:blip r:embed="rId6"/>
            <a:stretch>
              <a:fillRect/>
            </a:stretch>
          </p:blipFill>
          <p:spPr>
            <a:xfrm>
              <a:off x="10506" y="9551"/>
              <a:ext cx="1327" cy="419"/>
            </a:xfrm>
            <a:prstGeom prst="rect">
              <a:avLst/>
            </a:prstGeom>
          </p:spPr>
        </p:pic>
        <p:sp>
          <p:nvSpPr>
            <p:cNvPr id="129" name="矩形 128"/>
            <p:cNvSpPr/>
            <p:nvPr/>
          </p:nvSpPr>
          <p:spPr>
            <a:xfrm>
              <a:off x="4417" y="6905"/>
              <a:ext cx="718" cy="3204"/>
            </a:xfrm>
            <a:prstGeom prst="rect">
              <a:avLst/>
            </a:prstGeom>
            <a:solidFill>
              <a:srgbClr val="0070C0"/>
            </a:solidFill>
            <a:ln w="12700" cap="flat" cmpd="sng" algn="ctr">
              <a:noFill/>
              <a:prstDash val="solid"/>
              <a:miter lim="800000"/>
            </a:ln>
            <a:effectLst/>
          </p:spPr>
          <p:txBody>
            <a:bodyPr rtlCol="0" anchor="ctr"/>
            <a:lstStyle/>
            <a:p>
              <a:pPr algn="ctr" defTabSz="914400">
                <a:defRPr/>
              </a:pPr>
              <a:r>
                <a:rPr kumimoji="1" lang="zh-CN" altLang="en-US" sz="800" b="1" kern="0" dirty="0">
                  <a:solidFill>
                    <a:prstClr val="white"/>
                  </a:solidFill>
                  <a:latin typeface="等线" panose="02010600030101010101" charset="-122"/>
                  <a:ea typeface="等线" panose="02010600030101010101" charset="-122"/>
                  <a:cs typeface="微软雅黑" panose="020B0503020204020204" charset="-122"/>
                </a:rPr>
                <a:t>数据采集</a:t>
              </a:r>
              <a:endParaRPr kumimoji="1" lang="zh-CN" altLang="en-US" sz="800" b="1" kern="0" dirty="0">
                <a:solidFill>
                  <a:prstClr val="white"/>
                </a:solidFill>
                <a:latin typeface="等线" panose="02010600030101010101" charset="-122"/>
                <a:ea typeface="等线" panose="02010600030101010101" charset="-122"/>
                <a:cs typeface="微软雅黑" panose="020B0503020204020204" charset="-122"/>
              </a:endParaRPr>
            </a:p>
          </p:txBody>
        </p:sp>
        <p:sp>
          <p:nvSpPr>
            <p:cNvPr id="130" name="右箭头 49"/>
            <p:cNvSpPr/>
            <p:nvPr/>
          </p:nvSpPr>
          <p:spPr>
            <a:xfrm>
              <a:off x="3786" y="7330"/>
              <a:ext cx="520" cy="2247"/>
            </a:xfrm>
            <a:prstGeom prst="rightArrow">
              <a:avLst/>
            </a:prstGeom>
            <a:solidFill>
              <a:srgbClr val="FFC000"/>
            </a:solidFill>
            <a:ln w="12700" cap="flat" cmpd="sng" algn="ctr">
              <a:noFill/>
              <a:prstDash val="solid"/>
              <a:miter lim="800000"/>
            </a:ln>
            <a:effectLst/>
          </p:spPr>
          <p:txBody>
            <a:bodyPr wrap="square" rtlCol="0" anchor="ctr">
              <a:spAutoFit/>
            </a:bodyPr>
            <a:lstStyle/>
            <a:p>
              <a:pPr algn="ctr" defTabSz="914400" fontAlgn="base">
                <a:lnSpc>
                  <a:spcPct val="90000"/>
                </a:lnSpc>
                <a:spcBef>
                  <a:spcPct val="0"/>
                </a:spcBef>
                <a:spcAft>
                  <a:spcPct val="0"/>
                </a:spcAft>
                <a:buClr>
                  <a:srgbClr val="2DB6B3"/>
                </a:buClr>
                <a:defRPr/>
              </a:pPr>
              <a:endParaRPr kumimoji="1" lang="zh-CN" altLang="en-US" sz="1400" b="1" kern="0" dirty="0">
                <a:solidFill>
                  <a:prstClr val="white"/>
                </a:solidFill>
                <a:latin typeface="等线" panose="02010600030101010101" charset="-122"/>
                <a:ea typeface="等线" panose="02010600030101010101" charset="-122"/>
              </a:endParaRPr>
            </a:p>
          </p:txBody>
        </p:sp>
        <p:sp>
          <p:nvSpPr>
            <p:cNvPr id="131" name="文本框 130"/>
            <p:cNvSpPr txBox="1"/>
            <p:nvPr/>
          </p:nvSpPr>
          <p:spPr>
            <a:xfrm>
              <a:off x="6307" y="8846"/>
              <a:ext cx="1241" cy="633"/>
            </a:xfrm>
            <a:prstGeom prst="rect">
              <a:avLst/>
            </a:prstGeom>
            <a:noFill/>
          </p:spPr>
          <p:txBody>
            <a:bodyPr wrap="square" rtlCol="0">
              <a:spAutoFit/>
            </a:bodyPr>
            <a:lstStyle/>
            <a:p>
              <a:pPr algn="ctr" defTabSz="914400">
                <a:defRPr/>
              </a:pPr>
              <a:r>
                <a:rPr kumimoji="1" lang="zh-CN" altLang="en-US" sz="600" b="1" kern="0" dirty="0">
                  <a:solidFill>
                    <a:prstClr val="black"/>
                  </a:solidFill>
                  <a:ea typeface="宋体" panose="02010600030101010101" pitchFamily="2" charset="-122"/>
                </a:rPr>
                <a:t>原始数据</a:t>
              </a:r>
              <a:endParaRPr kumimoji="1" lang="zh-CN" altLang="en-US" sz="600" b="1" kern="0" dirty="0">
                <a:solidFill>
                  <a:prstClr val="black"/>
                </a:solidFill>
                <a:ea typeface="宋体" panose="02010600030101010101" pitchFamily="2" charset="-122"/>
              </a:endParaRPr>
            </a:p>
          </p:txBody>
        </p:sp>
        <p:sp>
          <p:nvSpPr>
            <p:cNvPr id="132" name="文本框 131"/>
            <p:cNvSpPr txBox="1"/>
            <p:nvPr/>
          </p:nvSpPr>
          <p:spPr>
            <a:xfrm>
              <a:off x="7290" y="8848"/>
              <a:ext cx="1480" cy="633"/>
            </a:xfrm>
            <a:prstGeom prst="rect">
              <a:avLst/>
            </a:prstGeom>
            <a:noFill/>
          </p:spPr>
          <p:txBody>
            <a:bodyPr wrap="square" rtlCol="0">
              <a:spAutoFit/>
            </a:bodyPr>
            <a:lstStyle/>
            <a:p>
              <a:pPr algn="ctr" defTabSz="914400">
                <a:defRPr/>
              </a:pPr>
              <a:r>
                <a:rPr kumimoji="1" lang="zh-CN" altLang="en-US" sz="600" b="1" kern="0" dirty="0">
                  <a:solidFill>
                    <a:prstClr val="black"/>
                  </a:solidFill>
                  <a:ea typeface="宋体" panose="02010600030101010101" pitchFamily="2" charset="-122"/>
                </a:rPr>
                <a:t>预处理数据</a:t>
              </a:r>
              <a:endParaRPr kumimoji="1" lang="zh-CN" altLang="en-US" sz="600" b="1" kern="0" dirty="0">
                <a:solidFill>
                  <a:prstClr val="black"/>
                </a:solidFill>
                <a:ea typeface="宋体" panose="02010600030101010101" pitchFamily="2" charset="-122"/>
              </a:endParaRPr>
            </a:p>
          </p:txBody>
        </p:sp>
        <p:sp>
          <p:nvSpPr>
            <p:cNvPr id="133" name="文本框 132"/>
            <p:cNvSpPr txBox="1"/>
            <p:nvPr/>
          </p:nvSpPr>
          <p:spPr>
            <a:xfrm>
              <a:off x="10528" y="8874"/>
              <a:ext cx="1241" cy="633"/>
            </a:xfrm>
            <a:prstGeom prst="rect">
              <a:avLst/>
            </a:prstGeom>
            <a:noFill/>
          </p:spPr>
          <p:txBody>
            <a:bodyPr wrap="square" rtlCol="0">
              <a:spAutoFit/>
            </a:bodyPr>
            <a:lstStyle/>
            <a:p>
              <a:pPr algn="ctr" defTabSz="914400">
                <a:defRPr/>
              </a:pPr>
              <a:r>
                <a:rPr kumimoji="1" lang="zh-CN" altLang="en-US" sz="600" b="1" kern="0" dirty="0">
                  <a:solidFill>
                    <a:prstClr val="black"/>
                  </a:solidFill>
                  <a:ea typeface="宋体" panose="02010600030101010101" pitchFamily="2" charset="-122"/>
                </a:rPr>
                <a:t>统计数据</a:t>
              </a:r>
              <a:endParaRPr kumimoji="1" lang="zh-CN" altLang="en-US" sz="600" b="1" kern="0" dirty="0">
                <a:solidFill>
                  <a:prstClr val="black"/>
                </a:solidFill>
                <a:ea typeface="宋体" panose="02010600030101010101" pitchFamily="2" charset="-122"/>
              </a:endParaRPr>
            </a:p>
          </p:txBody>
        </p:sp>
        <p:sp>
          <p:nvSpPr>
            <p:cNvPr id="134" name="文本框 133"/>
            <p:cNvSpPr txBox="1"/>
            <p:nvPr/>
          </p:nvSpPr>
          <p:spPr>
            <a:xfrm>
              <a:off x="2725" y="7188"/>
              <a:ext cx="1392" cy="686"/>
            </a:xfrm>
            <a:prstGeom prst="rect">
              <a:avLst/>
            </a:prstGeom>
            <a:noFill/>
          </p:spPr>
          <p:txBody>
            <a:bodyPr wrap="square" rtlCol="0">
              <a:spAutoFit/>
            </a:bodyPr>
            <a:lstStyle/>
            <a:p>
              <a:pPr algn="ctr" defTabSz="914400">
                <a:defRPr/>
              </a:pPr>
              <a:r>
                <a:rPr kumimoji="1" lang="zh-CN" altLang="en-US" sz="700" b="1" kern="0" dirty="0">
                  <a:solidFill>
                    <a:prstClr val="black"/>
                  </a:solidFill>
                  <a:ea typeface="宋体" panose="02010600030101010101" pitchFamily="2" charset="-122"/>
                </a:rPr>
                <a:t>日志文件</a:t>
              </a:r>
              <a:endParaRPr kumimoji="1" lang="zh-CN" altLang="en-US" sz="700" b="1" kern="0" dirty="0">
                <a:solidFill>
                  <a:prstClr val="black"/>
                </a:solidFill>
                <a:ea typeface="宋体" panose="02010600030101010101" pitchFamily="2" charset="-122"/>
              </a:endParaRPr>
            </a:p>
          </p:txBody>
        </p:sp>
        <p:sp>
          <p:nvSpPr>
            <p:cNvPr id="135" name="文本框 134"/>
            <p:cNvSpPr txBox="1"/>
            <p:nvPr/>
          </p:nvSpPr>
          <p:spPr>
            <a:xfrm>
              <a:off x="2905" y="7708"/>
              <a:ext cx="1115" cy="686"/>
            </a:xfrm>
            <a:prstGeom prst="rect">
              <a:avLst/>
            </a:prstGeom>
            <a:noFill/>
          </p:spPr>
          <p:txBody>
            <a:bodyPr wrap="square" rtlCol="0">
              <a:spAutoFit/>
            </a:bodyPr>
            <a:lstStyle/>
            <a:p>
              <a:pPr algn="ctr" defTabSz="914400">
                <a:defRPr/>
              </a:pPr>
              <a:r>
                <a:rPr kumimoji="1" lang="zh-CN" altLang="en-US" sz="700" b="1" kern="0" dirty="0">
                  <a:solidFill>
                    <a:prstClr val="black"/>
                  </a:solidFill>
                  <a:ea typeface="宋体" panose="02010600030101010101" pitchFamily="2" charset="-122"/>
                </a:rPr>
                <a:t>数据库</a:t>
              </a:r>
              <a:endParaRPr kumimoji="1" lang="zh-CN" altLang="en-US" sz="700" b="1" kern="0" dirty="0">
                <a:solidFill>
                  <a:prstClr val="black"/>
                </a:solidFill>
                <a:ea typeface="宋体" panose="02010600030101010101" pitchFamily="2" charset="-122"/>
              </a:endParaRPr>
            </a:p>
          </p:txBody>
        </p:sp>
        <p:sp>
          <p:nvSpPr>
            <p:cNvPr id="136" name="文本框 135"/>
            <p:cNvSpPr txBox="1"/>
            <p:nvPr/>
          </p:nvSpPr>
          <p:spPr>
            <a:xfrm>
              <a:off x="3000" y="8290"/>
              <a:ext cx="838" cy="686"/>
            </a:xfrm>
            <a:prstGeom prst="rect">
              <a:avLst/>
            </a:prstGeom>
            <a:noFill/>
          </p:spPr>
          <p:txBody>
            <a:bodyPr wrap="square" rtlCol="0">
              <a:spAutoFit/>
            </a:bodyPr>
            <a:lstStyle/>
            <a:p>
              <a:pPr algn="ctr" defTabSz="914400">
                <a:defRPr/>
              </a:pPr>
              <a:r>
                <a:rPr kumimoji="1" lang="zh-CN" altLang="en-US" sz="700" b="1" kern="0" dirty="0">
                  <a:solidFill>
                    <a:prstClr val="black"/>
                  </a:solidFill>
                  <a:ea typeface="宋体" panose="02010600030101010101" pitchFamily="2" charset="-122"/>
                </a:rPr>
                <a:t>文件</a:t>
              </a:r>
              <a:endParaRPr kumimoji="1" lang="zh-CN" altLang="en-US" sz="700" b="1" kern="0" dirty="0">
                <a:solidFill>
                  <a:prstClr val="black"/>
                </a:solidFill>
                <a:ea typeface="宋体" panose="02010600030101010101" pitchFamily="2" charset="-122"/>
              </a:endParaRPr>
            </a:p>
          </p:txBody>
        </p:sp>
        <p:sp>
          <p:nvSpPr>
            <p:cNvPr id="137" name="文本框 136"/>
            <p:cNvSpPr txBox="1"/>
            <p:nvPr/>
          </p:nvSpPr>
          <p:spPr>
            <a:xfrm>
              <a:off x="3000" y="8791"/>
              <a:ext cx="838" cy="686"/>
            </a:xfrm>
            <a:prstGeom prst="rect">
              <a:avLst/>
            </a:prstGeom>
            <a:noFill/>
          </p:spPr>
          <p:txBody>
            <a:bodyPr wrap="square" rtlCol="0">
              <a:spAutoFit/>
            </a:bodyPr>
            <a:lstStyle/>
            <a:p>
              <a:pPr algn="ctr" defTabSz="914400">
                <a:defRPr/>
              </a:pPr>
              <a:r>
                <a:rPr kumimoji="1" lang="zh-CN" altLang="en-US" sz="700" b="1" kern="0" dirty="0">
                  <a:solidFill>
                    <a:prstClr val="black"/>
                  </a:solidFill>
                  <a:ea typeface="宋体" panose="02010600030101010101" pitchFamily="2" charset="-122"/>
                </a:rPr>
                <a:t>照片</a:t>
              </a:r>
              <a:endParaRPr kumimoji="1" lang="zh-CN" altLang="en-US" sz="700" b="1" kern="0" dirty="0">
                <a:solidFill>
                  <a:prstClr val="black"/>
                </a:solidFill>
                <a:ea typeface="宋体" panose="02010600030101010101" pitchFamily="2" charset="-122"/>
              </a:endParaRPr>
            </a:p>
          </p:txBody>
        </p:sp>
        <p:sp>
          <p:nvSpPr>
            <p:cNvPr id="138" name="文本框 137"/>
            <p:cNvSpPr txBox="1"/>
            <p:nvPr/>
          </p:nvSpPr>
          <p:spPr>
            <a:xfrm>
              <a:off x="3000" y="9324"/>
              <a:ext cx="838" cy="686"/>
            </a:xfrm>
            <a:prstGeom prst="rect">
              <a:avLst/>
            </a:prstGeom>
            <a:noFill/>
          </p:spPr>
          <p:txBody>
            <a:bodyPr wrap="square" rtlCol="0">
              <a:spAutoFit/>
            </a:bodyPr>
            <a:lstStyle/>
            <a:p>
              <a:pPr algn="ctr" defTabSz="914400">
                <a:defRPr/>
              </a:pPr>
              <a:r>
                <a:rPr kumimoji="1" lang="zh-CN" altLang="en-US" sz="700" b="1" kern="0" dirty="0">
                  <a:solidFill>
                    <a:prstClr val="black"/>
                  </a:solidFill>
                  <a:ea typeface="宋体" panose="02010600030101010101" pitchFamily="2" charset="-122"/>
                </a:rPr>
                <a:t>视频</a:t>
              </a:r>
              <a:endParaRPr kumimoji="1" lang="zh-CN" altLang="en-US" sz="700" b="1" kern="0" dirty="0">
                <a:solidFill>
                  <a:prstClr val="black"/>
                </a:solidFill>
                <a:ea typeface="宋体" panose="02010600030101010101" pitchFamily="2" charset="-122"/>
              </a:endParaRPr>
            </a:p>
          </p:txBody>
        </p:sp>
        <p:sp>
          <p:nvSpPr>
            <p:cNvPr id="139" name="文本框 138"/>
            <p:cNvSpPr txBox="1"/>
            <p:nvPr/>
          </p:nvSpPr>
          <p:spPr>
            <a:xfrm>
              <a:off x="2889" y="6795"/>
              <a:ext cx="1115" cy="686"/>
            </a:xfrm>
            <a:prstGeom prst="rect">
              <a:avLst/>
            </a:prstGeom>
            <a:noFill/>
          </p:spPr>
          <p:txBody>
            <a:bodyPr wrap="square" rtlCol="0">
              <a:spAutoFit/>
            </a:bodyPr>
            <a:lstStyle/>
            <a:p>
              <a:pPr algn="ctr" defTabSz="914400">
                <a:defRPr/>
              </a:pPr>
              <a:r>
                <a:rPr kumimoji="1" lang="zh-CN" altLang="en-US" sz="700" b="1" kern="0" dirty="0">
                  <a:solidFill>
                    <a:prstClr val="black"/>
                  </a:solidFill>
                  <a:ea typeface="宋体" panose="02010600030101010101" pitchFamily="2" charset="-122"/>
                </a:rPr>
                <a:t>数据流</a:t>
              </a:r>
              <a:endParaRPr kumimoji="1" lang="zh-CN" altLang="en-US" sz="700" b="1" kern="0" dirty="0">
                <a:solidFill>
                  <a:prstClr val="black"/>
                </a:solidFill>
                <a:ea typeface="宋体" panose="02010600030101010101" pitchFamily="2" charset="-122"/>
              </a:endParaRPr>
            </a:p>
          </p:txBody>
        </p:sp>
        <p:sp>
          <p:nvSpPr>
            <p:cNvPr id="140" name="文本框 139"/>
            <p:cNvSpPr txBox="1"/>
            <p:nvPr/>
          </p:nvSpPr>
          <p:spPr>
            <a:xfrm>
              <a:off x="2917" y="9764"/>
              <a:ext cx="915" cy="686"/>
            </a:xfrm>
            <a:prstGeom prst="rect">
              <a:avLst/>
            </a:prstGeom>
            <a:noFill/>
          </p:spPr>
          <p:txBody>
            <a:bodyPr wrap="square" rtlCol="0">
              <a:spAutoFit/>
            </a:bodyPr>
            <a:lstStyle/>
            <a:p>
              <a:pPr algn="ctr" defTabSz="914400">
                <a:defRPr/>
              </a:pPr>
              <a:r>
                <a:rPr kumimoji="1" lang="en-US" altLang="zh-CN" sz="700" b="1" kern="0" dirty="0">
                  <a:solidFill>
                    <a:prstClr val="black"/>
                  </a:solidFill>
                  <a:ea typeface="宋体" panose="02010600030101010101" pitchFamily="2" charset="-122"/>
                </a:rPr>
                <a:t>…….</a:t>
              </a:r>
              <a:endParaRPr kumimoji="1" lang="en-US" altLang="zh-CN" sz="700" b="1" kern="0" dirty="0">
                <a:solidFill>
                  <a:prstClr val="black"/>
                </a:solidFill>
                <a:ea typeface="宋体" panose="02010600030101010101" pitchFamily="2" charset="-122"/>
              </a:endParaRPr>
            </a:p>
          </p:txBody>
        </p:sp>
        <p:sp>
          <p:nvSpPr>
            <p:cNvPr id="141" name="文本框 140"/>
            <p:cNvSpPr txBox="1"/>
            <p:nvPr/>
          </p:nvSpPr>
          <p:spPr>
            <a:xfrm>
              <a:off x="8532" y="8840"/>
              <a:ext cx="2196" cy="633"/>
            </a:xfrm>
            <a:prstGeom prst="rect">
              <a:avLst/>
            </a:prstGeom>
            <a:noFill/>
          </p:spPr>
          <p:txBody>
            <a:bodyPr wrap="square" rtlCol="0">
              <a:spAutoFit/>
            </a:bodyPr>
            <a:lstStyle/>
            <a:p>
              <a:pPr algn="ctr" defTabSz="914400">
                <a:defRPr/>
              </a:pPr>
              <a:r>
                <a:rPr kumimoji="1" lang="zh-CN" altLang="en-US" sz="600" b="1" kern="0" dirty="0">
                  <a:solidFill>
                    <a:prstClr val="black"/>
                  </a:solidFill>
                  <a:ea typeface="宋体" panose="02010600030101010101" pitchFamily="2" charset="-122"/>
                </a:rPr>
                <a:t>机器学习结果数据</a:t>
              </a:r>
              <a:endParaRPr kumimoji="1" lang="zh-CN" altLang="en-US" sz="600" b="1" kern="0" dirty="0">
                <a:solidFill>
                  <a:prstClr val="black"/>
                </a:solidFill>
                <a:ea typeface="宋体" panose="02010600030101010101" pitchFamily="2" charset="-122"/>
              </a:endParaRPr>
            </a:p>
          </p:txBody>
        </p:sp>
        <p:pic>
          <p:nvPicPr>
            <p:cNvPr id="142" name="Picture 2" descr="Image result for orc icon spark"/>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394" y="9632"/>
              <a:ext cx="922" cy="444"/>
            </a:xfrm>
            <a:prstGeom prst="rect">
              <a:avLst/>
            </a:prstGeom>
            <a:noFill/>
            <a:extLst>
              <a:ext uri="{909E8E84-426E-40DD-AFC4-6F175D3DCCD1}">
                <a14:hiddenFill xmlns:a14="http://schemas.microsoft.com/office/drawing/2010/main">
                  <a:solidFill>
                    <a:srgbClr val="FFFFFF"/>
                  </a:solidFill>
                </a14:hiddenFill>
              </a:ext>
            </a:extLst>
          </p:spPr>
        </p:pic>
        <p:sp>
          <p:nvSpPr>
            <p:cNvPr id="143" name="文本框 142"/>
            <p:cNvSpPr txBox="1"/>
            <p:nvPr/>
          </p:nvSpPr>
          <p:spPr>
            <a:xfrm>
              <a:off x="11526" y="8710"/>
              <a:ext cx="838" cy="686"/>
            </a:xfrm>
            <a:prstGeom prst="rect">
              <a:avLst/>
            </a:prstGeom>
            <a:noFill/>
          </p:spPr>
          <p:txBody>
            <a:bodyPr wrap="square" rtlCol="0">
              <a:spAutoFit/>
            </a:bodyPr>
            <a:lstStyle/>
            <a:p>
              <a:pPr algn="ctr" defTabSz="914400">
                <a:defRPr/>
              </a:pPr>
              <a:r>
                <a:rPr kumimoji="1" lang="en-US" altLang="zh-CN" sz="700" b="1" kern="0" dirty="0">
                  <a:solidFill>
                    <a:prstClr val="black"/>
                  </a:solidFill>
                  <a:ea typeface="宋体" panose="02010600030101010101" pitchFamily="2" charset="-122"/>
                </a:rPr>
                <a:t>……</a:t>
              </a:r>
              <a:endParaRPr kumimoji="1" lang="en-US" altLang="zh-CN" sz="700" b="1" kern="0" dirty="0">
                <a:solidFill>
                  <a:prstClr val="black"/>
                </a:solidFill>
                <a:ea typeface="宋体" panose="02010600030101010101" pitchFamily="2" charset="-122"/>
              </a:endParaRPr>
            </a:p>
          </p:txBody>
        </p:sp>
        <p:sp>
          <p:nvSpPr>
            <p:cNvPr id="144" name="文本框 143"/>
            <p:cNvSpPr txBox="1"/>
            <p:nvPr/>
          </p:nvSpPr>
          <p:spPr>
            <a:xfrm>
              <a:off x="12426" y="9227"/>
              <a:ext cx="613" cy="1058"/>
            </a:xfrm>
            <a:prstGeom prst="rect">
              <a:avLst/>
            </a:prstGeom>
            <a:noFill/>
          </p:spPr>
          <p:txBody>
            <a:bodyPr wrap="square" rtlCol="0">
              <a:spAutoFit/>
            </a:bodyPr>
            <a:lstStyle/>
            <a:p>
              <a:pPr algn="ctr" defTabSz="914400">
                <a:defRPr/>
              </a:pPr>
              <a:r>
                <a:rPr kumimoji="1" lang="en-US" altLang="zh-CN" sz="700" b="1" kern="0" dirty="0">
                  <a:solidFill>
                    <a:prstClr val="black"/>
                  </a:solidFill>
                  <a:ea typeface="宋体" panose="02010600030101010101" pitchFamily="2" charset="-122"/>
                </a:rPr>
                <a:t>……</a:t>
              </a:r>
              <a:endParaRPr kumimoji="1" lang="en-US" altLang="zh-CN" sz="700" b="1" kern="0" dirty="0">
                <a:solidFill>
                  <a:prstClr val="black"/>
                </a:solidFill>
                <a:ea typeface="宋体" panose="02010600030101010101" pitchFamily="2" charset="-122"/>
              </a:endParaRPr>
            </a:p>
          </p:txBody>
        </p:sp>
        <p:sp>
          <p:nvSpPr>
            <p:cNvPr id="145" name="矩形 144"/>
            <p:cNvSpPr/>
            <p:nvPr/>
          </p:nvSpPr>
          <p:spPr>
            <a:xfrm>
              <a:off x="11059" y="7334"/>
              <a:ext cx="1964" cy="536"/>
            </a:xfrm>
            <a:prstGeom prst="rect">
              <a:avLst/>
            </a:prstGeom>
            <a:solidFill>
              <a:srgbClr val="4BACC6"/>
            </a:solidFill>
            <a:ln w="12700" cap="flat" cmpd="sng" algn="ctr">
              <a:noFill/>
              <a:prstDash val="solid"/>
              <a:miter lim="800000"/>
            </a:ln>
            <a:effectLst/>
          </p:spPr>
          <p:txBody>
            <a:bodyPr rtlCol="0" anchor="ctr"/>
            <a:lstStyle/>
            <a:p>
              <a:pPr algn="ctr" defTabSz="914400">
                <a:defRPr/>
              </a:pPr>
              <a:r>
                <a:rPr kumimoji="1" lang="en-US" altLang="zh-CN" sz="600" b="1" kern="0" dirty="0">
                  <a:solidFill>
                    <a:prstClr val="white"/>
                  </a:solidFill>
                  <a:latin typeface="等线" panose="02010600030101010101" charset="-122"/>
                  <a:ea typeface="等线" panose="02010600030101010101" charset="-122"/>
                  <a:cs typeface="微软雅黑" panose="020B0503020204020204" charset="-122"/>
                </a:rPr>
                <a:t>……</a:t>
              </a:r>
              <a:endParaRPr kumimoji="1" lang="en-US" altLang="zh-CN" sz="600" b="1" kern="0" dirty="0">
                <a:solidFill>
                  <a:prstClr val="white"/>
                </a:solidFill>
                <a:latin typeface="等线" panose="02010600030101010101" charset="-122"/>
                <a:ea typeface="等线" panose="02010600030101010101" charset="-122"/>
                <a:cs typeface="微软雅黑" panose="020B0503020204020204" charset="-122"/>
              </a:endParaRPr>
            </a:p>
          </p:txBody>
        </p:sp>
        <p:sp>
          <p:nvSpPr>
            <p:cNvPr id="146" name="矩形 145"/>
            <p:cNvSpPr/>
            <p:nvPr/>
          </p:nvSpPr>
          <p:spPr>
            <a:xfrm>
              <a:off x="5251" y="6902"/>
              <a:ext cx="718" cy="3204"/>
            </a:xfrm>
            <a:prstGeom prst="rect">
              <a:avLst/>
            </a:prstGeom>
            <a:solidFill>
              <a:srgbClr val="0070C0"/>
            </a:solidFill>
            <a:ln w="12700" cap="flat" cmpd="sng" algn="ctr">
              <a:noFill/>
              <a:prstDash val="solid"/>
              <a:miter lim="800000"/>
            </a:ln>
            <a:effectLst/>
          </p:spPr>
          <p:txBody>
            <a:bodyPr rtlCol="0" anchor="ctr"/>
            <a:lstStyle/>
            <a:p>
              <a:pPr algn="ctr" defTabSz="914400">
                <a:defRPr/>
              </a:pPr>
              <a:r>
                <a:rPr kumimoji="1" lang="zh-CN" altLang="en-US" sz="800" b="1" kern="0" dirty="0">
                  <a:solidFill>
                    <a:prstClr val="white"/>
                  </a:solidFill>
                  <a:latin typeface="等线" panose="02010600030101010101" charset="-122"/>
                  <a:ea typeface="等线" panose="02010600030101010101" charset="-122"/>
                  <a:cs typeface="微软雅黑" panose="020B0503020204020204" charset="-122"/>
                </a:rPr>
                <a:t>数据</a:t>
              </a:r>
              <a:endParaRPr kumimoji="1" lang="en-US" altLang="zh-CN" sz="800" b="1" kern="0" dirty="0">
                <a:solidFill>
                  <a:prstClr val="white"/>
                </a:solidFill>
                <a:latin typeface="等线" panose="02010600030101010101" charset="-122"/>
                <a:ea typeface="等线" panose="02010600030101010101" charset="-122"/>
                <a:cs typeface="微软雅黑" panose="020B0503020204020204" charset="-122"/>
              </a:endParaRPr>
            </a:p>
            <a:p>
              <a:pPr algn="ctr" defTabSz="914400">
                <a:defRPr/>
              </a:pPr>
              <a:r>
                <a:rPr kumimoji="1" lang="zh-CN" altLang="en-US" sz="800" b="1" kern="0" dirty="0">
                  <a:solidFill>
                    <a:prstClr val="white"/>
                  </a:solidFill>
                  <a:latin typeface="等线" panose="02010600030101010101" charset="-122"/>
                  <a:ea typeface="等线" panose="02010600030101010101" charset="-122"/>
                  <a:cs typeface="微软雅黑" panose="020B0503020204020204" charset="-122"/>
                </a:rPr>
                <a:t>集成</a:t>
              </a:r>
              <a:endParaRPr kumimoji="1" lang="zh-CN" altLang="en-US" sz="800" b="1" kern="0" dirty="0">
                <a:solidFill>
                  <a:prstClr val="white"/>
                </a:solidFill>
                <a:latin typeface="等线" panose="02010600030101010101" charset="-122"/>
                <a:ea typeface="等线" panose="02010600030101010101" charset="-122"/>
                <a:cs typeface="微软雅黑" panose="020B0503020204020204" charset="-122"/>
              </a:endParaRPr>
            </a:p>
          </p:txBody>
        </p:sp>
        <p:sp>
          <p:nvSpPr>
            <p:cNvPr id="147" name="矩形"/>
            <p:cNvSpPr/>
            <p:nvPr/>
          </p:nvSpPr>
          <p:spPr>
            <a:xfrm>
              <a:off x="3510" y="4552"/>
              <a:ext cx="1803" cy="753"/>
            </a:xfrm>
            <a:prstGeom prst="rect">
              <a:avLst/>
            </a:prstGeom>
            <a:solidFill>
              <a:srgbClr val="005696"/>
            </a:solidFill>
            <a:ln w="25400" cap="flat">
              <a:noFill/>
              <a:prstDash val="solid"/>
              <a:miter lim="400000"/>
            </a:ln>
            <a:effectLst/>
          </p:spPr>
          <p:txBody>
            <a:bodyPr wrap="square" lIns="67703" tIns="67703" rIns="67703" bIns="67703" numCol="1" anchor="ctr">
              <a:noAutofit/>
            </a:bodyPr>
            <a:lstStyle/>
            <a:p>
              <a:pPr defTabSz="582930" hangingPunct="0">
                <a:defRPr/>
              </a:pPr>
              <a:endParaRPr sz="500" b="1" kern="0">
                <a:solidFill>
                  <a:sysClr val="windowText" lastClr="000000"/>
                </a:solidFill>
                <a:ea typeface="宋体" panose="02010600030101010101" pitchFamily="2" charset="-122"/>
                <a:sym typeface="Helvetica"/>
              </a:endParaRPr>
            </a:p>
          </p:txBody>
        </p:sp>
        <p:sp>
          <p:nvSpPr>
            <p:cNvPr id="148" name="矩形"/>
            <p:cNvSpPr/>
            <p:nvPr/>
          </p:nvSpPr>
          <p:spPr>
            <a:xfrm>
              <a:off x="3510" y="5361"/>
              <a:ext cx="1803" cy="649"/>
            </a:xfrm>
            <a:prstGeom prst="rect">
              <a:avLst/>
            </a:prstGeom>
            <a:solidFill>
              <a:srgbClr val="005696"/>
            </a:solidFill>
            <a:ln w="25400" cap="flat">
              <a:noFill/>
              <a:prstDash val="solid"/>
              <a:miter lim="400000"/>
            </a:ln>
            <a:effectLst/>
          </p:spPr>
          <p:txBody>
            <a:bodyPr wrap="square" lIns="67703" tIns="67703" rIns="67703" bIns="67703" numCol="1" anchor="ctr">
              <a:noAutofit/>
            </a:bodyPr>
            <a:lstStyle/>
            <a:p>
              <a:pPr algn="ctr" defTabSz="582930" hangingPunct="0">
                <a:defRPr/>
              </a:pPr>
              <a:r>
                <a:rPr lang="zh-CN" altLang="en-US" sz="800" b="1" kern="0" dirty="0">
                  <a:solidFill>
                    <a:prstClr val="white"/>
                  </a:solidFill>
                  <a:ea typeface="宋体" panose="02010600030101010101" pitchFamily="2" charset="-122"/>
                  <a:sym typeface="Helvetica"/>
                </a:rPr>
                <a:t>缓存</a:t>
              </a:r>
              <a:endParaRPr lang="zh-CN" altLang="en-US" sz="800" b="1" kern="0" dirty="0">
                <a:solidFill>
                  <a:prstClr val="white"/>
                </a:solidFill>
                <a:ea typeface="宋体" panose="02010600030101010101" pitchFamily="2" charset="-122"/>
                <a:sym typeface="Helvetica"/>
              </a:endParaRPr>
            </a:p>
          </p:txBody>
        </p:sp>
        <p:sp>
          <p:nvSpPr>
            <p:cNvPr id="149" name="正方形"/>
            <p:cNvSpPr/>
            <p:nvPr/>
          </p:nvSpPr>
          <p:spPr>
            <a:xfrm>
              <a:off x="3660" y="4723"/>
              <a:ext cx="349" cy="406"/>
            </a:xfrm>
            <a:prstGeom prst="rect">
              <a:avLst/>
            </a:prstGeom>
            <a:solidFill>
              <a:srgbClr val="00B050"/>
            </a:solidFill>
            <a:ln w="25400" cap="flat">
              <a:noFill/>
              <a:prstDash val="solid"/>
              <a:miter lim="400000"/>
            </a:ln>
            <a:effectLst/>
          </p:spPr>
          <p:txBody>
            <a:bodyPr wrap="square" lIns="67703" tIns="67703" rIns="67703" bIns="67703" numCol="1" anchor="ctr">
              <a:noAutofit/>
            </a:bodyPr>
            <a:lstStyle/>
            <a:p>
              <a:pPr algn="ctr" defTabSz="582930" hangingPunct="0">
                <a:defRPr sz="2400"/>
              </a:pPr>
              <a:endParaRPr sz="500" b="1" kern="0">
                <a:solidFill>
                  <a:sysClr val="windowText" lastClr="000000"/>
                </a:solidFill>
                <a:ea typeface="宋体" panose="02010600030101010101" pitchFamily="2" charset="-122"/>
                <a:cs typeface="微软雅黑" panose="020B0503020204020204" charset="-122"/>
                <a:sym typeface="Helvetica"/>
              </a:endParaRPr>
            </a:p>
          </p:txBody>
        </p:sp>
        <p:sp>
          <p:nvSpPr>
            <p:cNvPr id="150" name="正方形"/>
            <p:cNvSpPr/>
            <p:nvPr/>
          </p:nvSpPr>
          <p:spPr>
            <a:xfrm>
              <a:off x="4253" y="4723"/>
              <a:ext cx="349" cy="406"/>
            </a:xfrm>
            <a:prstGeom prst="rect">
              <a:avLst/>
            </a:prstGeom>
            <a:solidFill>
              <a:srgbClr val="00B050"/>
            </a:solidFill>
            <a:ln w="25400" cap="flat">
              <a:noFill/>
              <a:prstDash val="solid"/>
              <a:miter lim="400000"/>
            </a:ln>
            <a:effectLst/>
          </p:spPr>
          <p:txBody>
            <a:bodyPr wrap="square" lIns="67703" tIns="67703" rIns="67703" bIns="67703" numCol="1" anchor="ctr">
              <a:noAutofit/>
            </a:bodyPr>
            <a:lstStyle/>
            <a:p>
              <a:pPr algn="ctr" defTabSz="582930" hangingPunct="0">
                <a:defRPr sz="2400"/>
              </a:pPr>
              <a:endParaRPr sz="500" b="1" kern="0">
                <a:solidFill>
                  <a:sysClr val="windowText" lastClr="000000"/>
                </a:solidFill>
                <a:ea typeface="宋体" panose="02010600030101010101" pitchFamily="2" charset="-122"/>
                <a:cs typeface="微软雅黑" panose="020B0503020204020204" charset="-122"/>
                <a:sym typeface="Helvetica"/>
              </a:endParaRPr>
            </a:p>
          </p:txBody>
        </p:sp>
        <p:sp>
          <p:nvSpPr>
            <p:cNvPr id="151" name="正方形"/>
            <p:cNvSpPr/>
            <p:nvPr/>
          </p:nvSpPr>
          <p:spPr>
            <a:xfrm>
              <a:off x="4853" y="4723"/>
              <a:ext cx="349" cy="406"/>
            </a:xfrm>
            <a:prstGeom prst="rect">
              <a:avLst/>
            </a:prstGeom>
            <a:solidFill>
              <a:srgbClr val="00B050"/>
            </a:solidFill>
            <a:ln w="25400" cap="flat">
              <a:noFill/>
              <a:prstDash val="solid"/>
              <a:miter lim="400000"/>
            </a:ln>
            <a:effectLst/>
          </p:spPr>
          <p:txBody>
            <a:bodyPr wrap="square" lIns="67703" tIns="67703" rIns="67703" bIns="67703" numCol="1" anchor="ctr">
              <a:noAutofit/>
            </a:bodyPr>
            <a:lstStyle/>
            <a:p>
              <a:pPr algn="ctr" defTabSz="582930" hangingPunct="0">
                <a:defRPr sz="2400"/>
              </a:pPr>
              <a:endParaRPr sz="500" b="1" kern="0">
                <a:solidFill>
                  <a:sysClr val="windowText" lastClr="000000"/>
                </a:solidFill>
                <a:ea typeface="宋体" panose="02010600030101010101" pitchFamily="2" charset="-122"/>
                <a:cs typeface="微软雅黑" panose="020B0503020204020204" charset="-122"/>
                <a:sym typeface="Helvetica"/>
              </a:endParaRPr>
            </a:p>
          </p:txBody>
        </p:sp>
        <p:sp>
          <p:nvSpPr>
            <p:cNvPr id="152" name="矩形"/>
            <p:cNvSpPr/>
            <p:nvPr/>
          </p:nvSpPr>
          <p:spPr>
            <a:xfrm>
              <a:off x="6759" y="3718"/>
              <a:ext cx="2791" cy="3010"/>
            </a:xfrm>
            <a:prstGeom prst="rect">
              <a:avLst/>
            </a:prstGeom>
            <a:noFill/>
            <a:ln w="25400" cap="flat">
              <a:noFill/>
              <a:prstDash val="solid"/>
              <a:miter lim="400000"/>
            </a:ln>
            <a:effectLst/>
          </p:spPr>
          <p:txBody>
            <a:bodyPr wrap="square" lIns="67703" tIns="67703" rIns="67703" bIns="67703" numCol="1" anchor="ctr">
              <a:noAutofit/>
            </a:bodyPr>
            <a:lstStyle/>
            <a:p>
              <a:pPr algn="ctr" defTabSz="582930" hangingPunct="0">
                <a:defRPr sz="2400"/>
              </a:pPr>
              <a:endParaRPr sz="500" b="1" kern="0">
                <a:solidFill>
                  <a:sysClr val="windowText" lastClr="000000"/>
                </a:solidFill>
                <a:ea typeface="宋体" panose="02010600030101010101" pitchFamily="2" charset="-122"/>
                <a:cs typeface="微软雅黑" panose="020B0503020204020204" charset="-122"/>
                <a:sym typeface="Helvetica"/>
              </a:endParaRPr>
            </a:p>
          </p:txBody>
        </p:sp>
        <p:sp>
          <p:nvSpPr>
            <p:cNvPr id="153" name="矩形"/>
            <p:cNvSpPr/>
            <p:nvPr/>
          </p:nvSpPr>
          <p:spPr>
            <a:xfrm>
              <a:off x="9995" y="3718"/>
              <a:ext cx="2791" cy="3010"/>
            </a:xfrm>
            <a:prstGeom prst="rect">
              <a:avLst/>
            </a:prstGeom>
            <a:noFill/>
            <a:ln w="25400" cap="flat">
              <a:noFill/>
              <a:prstDash val="solid"/>
              <a:miter lim="400000"/>
            </a:ln>
            <a:effectLst/>
          </p:spPr>
          <p:txBody>
            <a:bodyPr wrap="square" lIns="67703" tIns="67703" rIns="67703" bIns="67703" numCol="1" anchor="ctr">
              <a:noAutofit/>
            </a:bodyPr>
            <a:lstStyle/>
            <a:p>
              <a:pPr algn="ctr" defTabSz="582930" hangingPunct="0">
                <a:defRPr sz="2400"/>
              </a:pPr>
              <a:endParaRPr sz="500" b="1" kern="0" dirty="0">
                <a:solidFill>
                  <a:sysClr val="windowText" lastClr="000000"/>
                </a:solidFill>
                <a:ea typeface="宋体" panose="02010600030101010101" pitchFamily="2" charset="-122"/>
                <a:cs typeface="微软雅黑" panose="020B0503020204020204" charset="-122"/>
                <a:sym typeface="Helvetica"/>
              </a:endParaRPr>
            </a:p>
          </p:txBody>
        </p:sp>
        <p:sp>
          <p:nvSpPr>
            <p:cNvPr id="154" name="矩形 153"/>
            <p:cNvSpPr/>
            <p:nvPr/>
          </p:nvSpPr>
          <p:spPr>
            <a:xfrm>
              <a:off x="3358" y="3763"/>
              <a:ext cx="2198" cy="2517"/>
            </a:xfrm>
            <a:prstGeom prst="rect">
              <a:avLst/>
            </a:prstGeom>
            <a:noFill/>
            <a:ln w="28575" cap="flat" cmpd="sng" algn="ctr">
              <a:solidFill>
                <a:srgbClr val="0070C0"/>
              </a:solidFill>
              <a:prstDash val="dash"/>
              <a:miter lim="800000"/>
            </a:ln>
            <a:effectLst/>
          </p:spPr>
          <p:txBody>
            <a:bodyPr rtlCol="0" anchor="t"/>
            <a:lstStyle/>
            <a:p>
              <a:pPr algn="ctr" defTabSz="914400">
                <a:defRPr/>
              </a:pPr>
              <a:r>
                <a:rPr kumimoji="1" lang="en-US" altLang="zh-CN" sz="700" b="1" kern="0" dirty="0">
                  <a:solidFill>
                    <a:prstClr val="black"/>
                  </a:solidFill>
                  <a:latin typeface="等线" panose="02010600030101010101" charset="-122"/>
                  <a:ea typeface="等线" panose="02010600030101010101" charset="-122"/>
                  <a:cs typeface="微软雅黑" panose="020B0503020204020204" charset="-122"/>
                </a:rPr>
                <a:t>DW</a:t>
              </a:r>
              <a:r>
                <a:rPr kumimoji="1" lang="zh-CN" altLang="en-US" sz="700" b="1" kern="0" dirty="0">
                  <a:solidFill>
                    <a:prstClr val="black"/>
                  </a:solidFill>
                  <a:latin typeface="等线" panose="02010600030101010101" charset="-122"/>
                  <a:ea typeface="等线" panose="02010600030101010101" charset="-122"/>
                  <a:cs typeface="微软雅黑" panose="020B0503020204020204" charset="-122"/>
                </a:rPr>
                <a:t>集群</a:t>
              </a:r>
              <a:r>
                <a:rPr kumimoji="1" lang="en-US" altLang="zh-CN" sz="700" b="1" kern="0" dirty="0">
                  <a:solidFill>
                    <a:prstClr val="black"/>
                  </a:solidFill>
                  <a:latin typeface="等线" panose="02010600030101010101" charset="-122"/>
                  <a:ea typeface="等线" panose="02010600030101010101" charset="-122"/>
                  <a:cs typeface="微软雅黑" panose="020B0503020204020204" charset="-122"/>
                </a:rPr>
                <a:t>A</a:t>
              </a:r>
              <a:endParaRPr kumimoji="1" lang="en-US" altLang="zh-CN" sz="700" b="1" kern="0" dirty="0">
                <a:solidFill>
                  <a:prstClr val="black"/>
                </a:solidFill>
                <a:latin typeface="等线" panose="02010600030101010101" charset="-122"/>
                <a:ea typeface="等线" panose="02010600030101010101" charset="-122"/>
                <a:cs typeface="微软雅黑" panose="020B0503020204020204" charset="-122"/>
              </a:endParaRPr>
            </a:p>
            <a:p>
              <a:pPr algn="ctr" defTabSz="914400">
                <a:defRPr/>
              </a:pPr>
              <a:r>
                <a:rPr kumimoji="1" lang="zh-CN" altLang="en-US" sz="700" b="1" kern="0" dirty="0">
                  <a:solidFill>
                    <a:prstClr val="black"/>
                  </a:solidFill>
                  <a:latin typeface="等线" panose="02010600030101010101" charset="-122"/>
                  <a:ea typeface="等线" panose="02010600030101010101" charset="-122"/>
                  <a:cs typeface="微软雅黑" panose="020B0503020204020204" charset="-122"/>
                </a:rPr>
                <a:t>批处理报表</a:t>
              </a:r>
              <a:endParaRPr kumimoji="1" lang="zh-CN" altLang="en-US" sz="700" b="1" kern="0" dirty="0">
                <a:solidFill>
                  <a:prstClr val="black"/>
                </a:solidFill>
                <a:latin typeface="等线" panose="02010600030101010101" charset="-122"/>
                <a:ea typeface="等线" panose="02010600030101010101" charset="-122"/>
                <a:cs typeface="微软雅黑" panose="020B0503020204020204" charset="-122"/>
              </a:endParaRPr>
            </a:p>
          </p:txBody>
        </p:sp>
        <p:sp>
          <p:nvSpPr>
            <p:cNvPr id="155" name="上下箭头 105"/>
            <p:cNvSpPr/>
            <p:nvPr/>
          </p:nvSpPr>
          <p:spPr>
            <a:xfrm>
              <a:off x="7149" y="6411"/>
              <a:ext cx="347" cy="660"/>
            </a:xfrm>
            <a:prstGeom prst="upDownArrow">
              <a:avLst/>
            </a:prstGeom>
            <a:solidFill>
              <a:srgbClr val="FFC000"/>
            </a:solidFill>
            <a:ln w="12700" cap="flat" cmpd="sng" algn="ctr">
              <a:noFill/>
              <a:prstDash val="solid"/>
              <a:miter lim="800000"/>
            </a:ln>
            <a:effectLst/>
          </p:spPr>
          <p:txBody>
            <a:bodyPr rtlCol="0" anchor="ctr"/>
            <a:lstStyle/>
            <a:p>
              <a:pPr algn="ctr" defTabSz="914400">
                <a:defRPr/>
              </a:pPr>
              <a:endParaRPr kumimoji="1" lang="zh-CN" altLang="en-US" sz="900" kern="0">
                <a:solidFill>
                  <a:prstClr val="white"/>
                </a:solidFill>
                <a:latin typeface="等线" panose="02010600030101010101" charset="-122"/>
                <a:ea typeface="等线" panose="02010600030101010101" charset="-122"/>
              </a:endParaRPr>
            </a:p>
          </p:txBody>
        </p:sp>
        <p:sp>
          <p:nvSpPr>
            <p:cNvPr id="156" name="上下箭头 106"/>
            <p:cNvSpPr/>
            <p:nvPr/>
          </p:nvSpPr>
          <p:spPr>
            <a:xfrm>
              <a:off x="8601" y="6385"/>
              <a:ext cx="347" cy="660"/>
            </a:xfrm>
            <a:prstGeom prst="upDownArrow">
              <a:avLst/>
            </a:prstGeom>
            <a:solidFill>
              <a:srgbClr val="FFC000"/>
            </a:solidFill>
            <a:ln w="12700" cap="flat" cmpd="sng" algn="ctr">
              <a:noFill/>
              <a:prstDash val="solid"/>
              <a:miter lim="800000"/>
            </a:ln>
            <a:effectLst/>
          </p:spPr>
          <p:txBody>
            <a:bodyPr rtlCol="0" anchor="ctr"/>
            <a:lstStyle/>
            <a:p>
              <a:pPr algn="ctr" defTabSz="914400">
                <a:defRPr/>
              </a:pPr>
              <a:endParaRPr kumimoji="1" lang="zh-CN" altLang="en-US" sz="900" kern="0">
                <a:solidFill>
                  <a:prstClr val="white"/>
                </a:solidFill>
                <a:latin typeface="等线" panose="02010600030101010101" charset="-122"/>
                <a:ea typeface="等线" panose="02010600030101010101" charset="-122"/>
              </a:endParaRPr>
            </a:p>
          </p:txBody>
        </p:sp>
        <p:sp>
          <p:nvSpPr>
            <p:cNvPr id="157" name="上下箭头 107"/>
            <p:cNvSpPr/>
            <p:nvPr/>
          </p:nvSpPr>
          <p:spPr>
            <a:xfrm>
              <a:off x="9939" y="6412"/>
              <a:ext cx="347" cy="660"/>
            </a:xfrm>
            <a:prstGeom prst="upDownArrow">
              <a:avLst/>
            </a:prstGeom>
            <a:solidFill>
              <a:srgbClr val="FFC000"/>
            </a:solidFill>
            <a:ln w="12700" cap="flat" cmpd="sng" algn="ctr">
              <a:noFill/>
              <a:prstDash val="solid"/>
              <a:miter lim="800000"/>
            </a:ln>
            <a:effectLst/>
          </p:spPr>
          <p:txBody>
            <a:bodyPr rtlCol="0" anchor="ctr"/>
            <a:lstStyle/>
            <a:p>
              <a:pPr algn="ctr" defTabSz="914400">
                <a:defRPr/>
              </a:pPr>
              <a:endParaRPr kumimoji="1" lang="zh-CN" altLang="en-US" sz="900" kern="0">
                <a:solidFill>
                  <a:prstClr val="white"/>
                </a:solidFill>
                <a:latin typeface="等线" panose="02010600030101010101" charset="-122"/>
                <a:ea typeface="等线" panose="02010600030101010101" charset="-122"/>
              </a:endParaRPr>
            </a:p>
          </p:txBody>
        </p:sp>
        <p:sp>
          <p:nvSpPr>
            <p:cNvPr id="158" name="矩形"/>
            <p:cNvSpPr/>
            <p:nvPr/>
          </p:nvSpPr>
          <p:spPr>
            <a:xfrm>
              <a:off x="5902" y="4560"/>
              <a:ext cx="1803" cy="753"/>
            </a:xfrm>
            <a:prstGeom prst="rect">
              <a:avLst/>
            </a:prstGeom>
            <a:solidFill>
              <a:srgbClr val="005696"/>
            </a:solidFill>
            <a:ln w="25400" cap="flat">
              <a:noFill/>
              <a:prstDash val="solid"/>
              <a:miter lim="400000"/>
            </a:ln>
            <a:effectLst/>
          </p:spPr>
          <p:txBody>
            <a:bodyPr wrap="square" lIns="67703" tIns="67703" rIns="67703" bIns="67703" numCol="1" anchor="ctr">
              <a:noAutofit/>
            </a:bodyPr>
            <a:lstStyle/>
            <a:p>
              <a:pPr defTabSz="582930" hangingPunct="0">
                <a:defRPr/>
              </a:pPr>
              <a:endParaRPr sz="500" b="1" kern="0">
                <a:solidFill>
                  <a:sysClr val="windowText" lastClr="000000"/>
                </a:solidFill>
                <a:ea typeface="宋体" panose="02010600030101010101" pitchFamily="2" charset="-122"/>
                <a:sym typeface="Helvetica"/>
              </a:endParaRPr>
            </a:p>
          </p:txBody>
        </p:sp>
        <p:sp>
          <p:nvSpPr>
            <p:cNvPr id="159" name="矩形"/>
            <p:cNvSpPr/>
            <p:nvPr/>
          </p:nvSpPr>
          <p:spPr>
            <a:xfrm>
              <a:off x="5902" y="5369"/>
              <a:ext cx="1803" cy="649"/>
            </a:xfrm>
            <a:prstGeom prst="rect">
              <a:avLst/>
            </a:prstGeom>
            <a:solidFill>
              <a:srgbClr val="005696"/>
            </a:solidFill>
            <a:ln w="25400" cap="flat">
              <a:noFill/>
              <a:prstDash val="solid"/>
              <a:miter lim="400000"/>
            </a:ln>
            <a:effectLst/>
          </p:spPr>
          <p:txBody>
            <a:bodyPr wrap="square" lIns="67703" tIns="67703" rIns="67703" bIns="67703" numCol="1" anchor="ctr">
              <a:noAutofit/>
            </a:bodyPr>
            <a:lstStyle/>
            <a:p>
              <a:pPr algn="ctr" defTabSz="582930" hangingPunct="0">
                <a:defRPr/>
              </a:pPr>
              <a:r>
                <a:rPr lang="zh-CN" altLang="en-US" sz="800" b="1" kern="0" dirty="0">
                  <a:solidFill>
                    <a:prstClr val="white"/>
                  </a:solidFill>
                  <a:ea typeface="宋体" panose="02010600030101010101" pitchFamily="2" charset="-122"/>
                  <a:sym typeface="Helvetica"/>
                </a:rPr>
                <a:t>缓存</a:t>
              </a:r>
              <a:endParaRPr lang="zh-CN" altLang="en-US" sz="800" b="1" kern="0" dirty="0">
                <a:solidFill>
                  <a:prstClr val="white"/>
                </a:solidFill>
                <a:ea typeface="宋体" panose="02010600030101010101" pitchFamily="2" charset="-122"/>
                <a:sym typeface="Helvetica"/>
              </a:endParaRPr>
            </a:p>
          </p:txBody>
        </p:sp>
        <p:sp>
          <p:nvSpPr>
            <p:cNvPr id="160" name="正方形"/>
            <p:cNvSpPr/>
            <p:nvPr/>
          </p:nvSpPr>
          <p:spPr>
            <a:xfrm>
              <a:off x="6052" y="4731"/>
              <a:ext cx="349" cy="406"/>
            </a:xfrm>
            <a:prstGeom prst="rect">
              <a:avLst/>
            </a:prstGeom>
            <a:solidFill>
              <a:srgbClr val="FFC000"/>
            </a:solidFill>
            <a:ln w="25400" cap="flat">
              <a:noFill/>
              <a:prstDash val="solid"/>
              <a:miter lim="400000"/>
            </a:ln>
            <a:effectLst/>
          </p:spPr>
          <p:txBody>
            <a:bodyPr wrap="square" lIns="67703" tIns="67703" rIns="67703" bIns="67703" numCol="1" anchor="ctr">
              <a:noAutofit/>
            </a:bodyPr>
            <a:lstStyle/>
            <a:p>
              <a:pPr algn="ctr" defTabSz="582930" hangingPunct="0">
                <a:defRPr sz="2400"/>
              </a:pPr>
              <a:endParaRPr sz="500" b="1" kern="0">
                <a:solidFill>
                  <a:sysClr val="windowText" lastClr="000000"/>
                </a:solidFill>
                <a:ea typeface="宋体" panose="02010600030101010101" pitchFamily="2" charset="-122"/>
                <a:cs typeface="微软雅黑" panose="020B0503020204020204" charset="-122"/>
                <a:sym typeface="Helvetica"/>
              </a:endParaRPr>
            </a:p>
          </p:txBody>
        </p:sp>
        <p:sp>
          <p:nvSpPr>
            <p:cNvPr id="161" name="正方形"/>
            <p:cNvSpPr/>
            <p:nvPr/>
          </p:nvSpPr>
          <p:spPr>
            <a:xfrm>
              <a:off x="6645" y="4731"/>
              <a:ext cx="349" cy="406"/>
            </a:xfrm>
            <a:prstGeom prst="rect">
              <a:avLst/>
            </a:prstGeom>
            <a:solidFill>
              <a:srgbClr val="FFC000"/>
            </a:solidFill>
            <a:ln w="25400" cap="flat">
              <a:noFill/>
              <a:prstDash val="solid"/>
              <a:miter lim="400000"/>
            </a:ln>
            <a:effectLst/>
          </p:spPr>
          <p:txBody>
            <a:bodyPr wrap="square" lIns="67703" tIns="67703" rIns="67703" bIns="67703" numCol="1" anchor="ctr">
              <a:noAutofit/>
            </a:bodyPr>
            <a:lstStyle/>
            <a:p>
              <a:pPr algn="ctr" defTabSz="582930" hangingPunct="0">
                <a:defRPr sz="2400"/>
              </a:pPr>
              <a:endParaRPr sz="500" b="1" kern="0">
                <a:solidFill>
                  <a:sysClr val="windowText" lastClr="000000"/>
                </a:solidFill>
                <a:ea typeface="宋体" panose="02010600030101010101" pitchFamily="2" charset="-122"/>
                <a:cs typeface="微软雅黑" panose="020B0503020204020204" charset="-122"/>
                <a:sym typeface="Helvetica"/>
              </a:endParaRPr>
            </a:p>
          </p:txBody>
        </p:sp>
        <p:sp>
          <p:nvSpPr>
            <p:cNvPr id="162" name="正方形"/>
            <p:cNvSpPr/>
            <p:nvPr/>
          </p:nvSpPr>
          <p:spPr>
            <a:xfrm>
              <a:off x="7245" y="4731"/>
              <a:ext cx="349" cy="406"/>
            </a:xfrm>
            <a:prstGeom prst="rect">
              <a:avLst/>
            </a:prstGeom>
            <a:solidFill>
              <a:srgbClr val="FFC000"/>
            </a:solidFill>
            <a:ln w="25400" cap="flat">
              <a:noFill/>
              <a:prstDash val="solid"/>
              <a:miter lim="400000"/>
            </a:ln>
            <a:effectLst/>
          </p:spPr>
          <p:txBody>
            <a:bodyPr wrap="square" lIns="67703" tIns="67703" rIns="67703" bIns="67703" numCol="1" anchor="ctr">
              <a:noAutofit/>
            </a:bodyPr>
            <a:lstStyle/>
            <a:p>
              <a:pPr algn="ctr" defTabSz="582930" hangingPunct="0">
                <a:defRPr sz="2400"/>
              </a:pPr>
              <a:endParaRPr sz="500" b="1" kern="0">
                <a:solidFill>
                  <a:sysClr val="windowText" lastClr="000000"/>
                </a:solidFill>
                <a:ea typeface="宋体" panose="02010600030101010101" pitchFamily="2" charset="-122"/>
                <a:cs typeface="微软雅黑" panose="020B0503020204020204" charset="-122"/>
                <a:sym typeface="Helvetica"/>
              </a:endParaRPr>
            </a:p>
          </p:txBody>
        </p:sp>
        <p:sp>
          <p:nvSpPr>
            <p:cNvPr id="163" name="矩形 162"/>
            <p:cNvSpPr/>
            <p:nvPr/>
          </p:nvSpPr>
          <p:spPr>
            <a:xfrm>
              <a:off x="5750" y="3771"/>
              <a:ext cx="2198" cy="2517"/>
            </a:xfrm>
            <a:prstGeom prst="rect">
              <a:avLst/>
            </a:prstGeom>
            <a:noFill/>
            <a:ln w="28575" cap="flat" cmpd="sng" algn="ctr">
              <a:solidFill>
                <a:srgbClr val="0070C0"/>
              </a:solidFill>
              <a:prstDash val="dash"/>
              <a:miter lim="800000"/>
            </a:ln>
            <a:effectLst/>
          </p:spPr>
          <p:txBody>
            <a:bodyPr rtlCol="0" anchor="t"/>
            <a:lstStyle/>
            <a:p>
              <a:pPr algn="ctr" defTabSz="914400">
                <a:defRPr/>
              </a:pPr>
              <a:r>
                <a:rPr kumimoji="1" lang="en-US" altLang="zh-CN" sz="700" b="1" kern="0" dirty="0">
                  <a:solidFill>
                    <a:prstClr val="black"/>
                  </a:solidFill>
                  <a:latin typeface="等线" panose="02010600030101010101" charset="-122"/>
                  <a:ea typeface="等线" panose="02010600030101010101" charset="-122"/>
                  <a:cs typeface="微软雅黑" panose="020B0503020204020204" charset="-122"/>
                </a:rPr>
                <a:t>DW</a:t>
              </a:r>
              <a:r>
                <a:rPr kumimoji="1" lang="zh-CN" altLang="en-US" sz="700" b="1" kern="0" dirty="0">
                  <a:solidFill>
                    <a:prstClr val="black"/>
                  </a:solidFill>
                  <a:latin typeface="等线" panose="02010600030101010101" charset="-122"/>
                  <a:ea typeface="等线" panose="02010600030101010101" charset="-122"/>
                  <a:cs typeface="微软雅黑" panose="020B0503020204020204" charset="-122"/>
                </a:rPr>
                <a:t>集群</a:t>
              </a:r>
              <a:r>
                <a:rPr kumimoji="1" lang="en-US" altLang="zh-CN" sz="700" b="1" kern="0" dirty="0">
                  <a:solidFill>
                    <a:prstClr val="black"/>
                  </a:solidFill>
                  <a:latin typeface="等线" panose="02010600030101010101" charset="-122"/>
                  <a:ea typeface="等线" panose="02010600030101010101" charset="-122"/>
                  <a:cs typeface="微软雅黑" panose="020B0503020204020204" charset="-122"/>
                </a:rPr>
                <a:t>B</a:t>
              </a:r>
              <a:endParaRPr kumimoji="1" lang="en-US" altLang="zh-CN" sz="700" b="1" kern="0" dirty="0">
                <a:solidFill>
                  <a:prstClr val="black"/>
                </a:solidFill>
                <a:latin typeface="等线" panose="02010600030101010101" charset="-122"/>
                <a:ea typeface="等线" panose="02010600030101010101" charset="-122"/>
                <a:cs typeface="微软雅黑" panose="020B0503020204020204" charset="-122"/>
              </a:endParaRPr>
            </a:p>
            <a:p>
              <a:pPr algn="ctr" defTabSz="914400">
                <a:defRPr/>
              </a:pPr>
              <a:r>
                <a:rPr kumimoji="1" lang="zh-CN" altLang="en-US" sz="700" b="1" kern="0" dirty="0">
                  <a:solidFill>
                    <a:prstClr val="black"/>
                  </a:solidFill>
                  <a:latin typeface="等线" panose="02010600030101010101" charset="-122"/>
                  <a:ea typeface="等线" panose="02010600030101010101" charset="-122"/>
                  <a:cs typeface="微软雅黑" panose="020B0503020204020204" charset="-122"/>
                </a:rPr>
                <a:t>交互探索分析</a:t>
              </a:r>
              <a:endParaRPr kumimoji="1" lang="zh-CN" altLang="en-US" sz="700" b="1" kern="0" dirty="0">
                <a:solidFill>
                  <a:prstClr val="black"/>
                </a:solidFill>
                <a:latin typeface="等线" panose="02010600030101010101" charset="-122"/>
                <a:ea typeface="等线" panose="02010600030101010101" charset="-122"/>
                <a:cs typeface="微软雅黑" panose="020B0503020204020204" charset="-122"/>
              </a:endParaRPr>
            </a:p>
          </p:txBody>
        </p:sp>
        <p:sp>
          <p:nvSpPr>
            <p:cNvPr id="164" name="矩形 163"/>
            <p:cNvSpPr/>
            <p:nvPr/>
          </p:nvSpPr>
          <p:spPr>
            <a:xfrm>
              <a:off x="8642" y="3894"/>
              <a:ext cx="2198" cy="2390"/>
            </a:xfrm>
            <a:prstGeom prst="rect">
              <a:avLst/>
            </a:prstGeom>
            <a:noFill/>
            <a:ln w="28575" cap="flat" cmpd="sng" algn="ctr">
              <a:solidFill>
                <a:srgbClr val="0070C0"/>
              </a:solidFill>
              <a:prstDash val="dash"/>
              <a:miter lim="800000"/>
            </a:ln>
            <a:effectLst/>
          </p:spPr>
          <p:txBody>
            <a:bodyPr rtlCol="0" anchor="t"/>
            <a:lstStyle/>
            <a:p>
              <a:pPr algn="ctr" defTabSz="914400">
                <a:defRPr/>
              </a:pPr>
              <a:r>
                <a:rPr kumimoji="1" lang="zh-CN" altLang="en-US" sz="700" b="1" kern="0" dirty="0">
                  <a:solidFill>
                    <a:prstClr val="black"/>
                  </a:solidFill>
                  <a:latin typeface="等线" panose="02010600030101010101" charset="-122"/>
                  <a:ea typeface="等线" panose="02010600030101010101" charset="-122"/>
                  <a:cs typeface="微软雅黑" panose="020B0503020204020204" charset="-122"/>
                </a:rPr>
                <a:t>数据计算集群</a:t>
              </a:r>
              <a:r>
                <a:rPr kumimoji="1" lang="en-US" altLang="zh-CN" sz="700" b="1" kern="0" dirty="0">
                  <a:solidFill>
                    <a:prstClr val="black"/>
                  </a:solidFill>
                  <a:latin typeface="等线" panose="02010600030101010101" charset="-122"/>
                  <a:ea typeface="等线" panose="02010600030101010101" charset="-122"/>
                  <a:cs typeface="微软雅黑" panose="020B0503020204020204" charset="-122"/>
                </a:rPr>
                <a:t>A</a:t>
              </a:r>
              <a:endParaRPr kumimoji="1" lang="en-US" altLang="zh-CN" sz="700" b="1" kern="0" dirty="0">
                <a:solidFill>
                  <a:prstClr val="black"/>
                </a:solidFill>
                <a:latin typeface="等线" panose="02010600030101010101" charset="-122"/>
                <a:ea typeface="等线" panose="02010600030101010101" charset="-122"/>
                <a:cs typeface="微软雅黑" panose="020B0503020204020204" charset="-122"/>
              </a:endParaRPr>
            </a:p>
            <a:p>
              <a:pPr algn="ctr" defTabSz="914400">
                <a:defRPr/>
              </a:pPr>
              <a:endParaRPr kumimoji="1" lang="en-US" altLang="zh-CN" sz="700" b="1" kern="0" dirty="0">
                <a:solidFill>
                  <a:prstClr val="black"/>
                </a:solidFill>
                <a:latin typeface="等线" panose="02010600030101010101" charset="-122"/>
                <a:ea typeface="等线" panose="02010600030101010101" charset="-122"/>
                <a:cs typeface="微软雅黑" panose="020B0503020204020204" charset="-122"/>
              </a:endParaRPr>
            </a:p>
            <a:p>
              <a:pPr algn="ctr" defTabSz="914400">
                <a:defRPr/>
              </a:pPr>
              <a:r>
                <a:rPr kumimoji="1" lang="zh-CN" altLang="en-US" sz="700" b="1" kern="0" dirty="0">
                  <a:solidFill>
                    <a:prstClr val="black"/>
                  </a:solidFill>
                  <a:latin typeface="等线" panose="02010600030101010101" charset="-122"/>
                  <a:ea typeface="等线" panose="02010600030101010101" charset="-122"/>
                  <a:cs typeface="微软雅黑" panose="020B0503020204020204" charset="-122"/>
                </a:rPr>
                <a:t>实时数据计算</a:t>
              </a:r>
              <a:r>
                <a:rPr kumimoji="1" lang="en-US" altLang="zh-CN" sz="700" b="1" kern="0" dirty="0">
                  <a:solidFill>
                    <a:prstClr val="black"/>
                  </a:solidFill>
                  <a:latin typeface="等线" panose="02010600030101010101" charset="-122"/>
                  <a:ea typeface="等线" panose="02010600030101010101" charset="-122"/>
                  <a:cs typeface="微软雅黑" panose="020B0503020204020204" charset="-122"/>
                </a:rPr>
                <a:t>/</a:t>
              </a:r>
              <a:r>
                <a:rPr kumimoji="1" lang="zh-CN" altLang="en-US" sz="700" b="1" kern="0" dirty="0">
                  <a:solidFill>
                    <a:prstClr val="black"/>
                  </a:solidFill>
                  <a:latin typeface="等线" panose="02010600030101010101" charset="-122"/>
                  <a:ea typeface="等线" panose="02010600030101010101" charset="-122"/>
                  <a:cs typeface="微软雅黑" panose="020B0503020204020204" charset="-122"/>
                </a:rPr>
                <a:t>服务</a:t>
              </a:r>
              <a:endParaRPr kumimoji="1" lang="en-US" altLang="zh-CN" sz="700" b="1" kern="0" dirty="0">
                <a:solidFill>
                  <a:prstClr val="black"/>
                </a:solidFill>
                <a:latin typeface="等线" panose="02010600030101010101" charset="-122"/>
                <a:ea typeface="等线" panose="02010600030101010101" charset="-122"/>
                <a:cs typeface="微软雅黑" panose="020B0503020204020204" charset="-122"/>
              </a:endParaRPr>
            </a:p>
            <a:p>
              <a:pPr algn="ctr" defTabSz="914400">
                <a:defRPr/>
              </a:pPr>
              <a:endParaRPr kumimoji="1" lang="en-US" altLang="zh-CN" sz="700" b="1" kern="0" dirty="0">
                <a:solidFill>
                  <a:prstClr val="black"/>
                </a:solidFill>
                <a:latin typeface="等线" panose="02010600030101010101" charset="-122"/>
                <a:ea typeface="等线" panose="02010600030101010101" charset="-122"/>
                <a:cs typeface="微软雅黑" panose="020B0503020204020204" charset="-122"/>
              </a:endParaRPr>
            </a:p>
            <a:p>
              <a:pPr algn="ctr" defTabSz="914400">
                <a:defRPr/>
              </a:pPr>
              <a:endParaRPr kumimoji="1" lang="en-US" altLang="zh-CN" sz="700" b="1" kern="0" dirty="0">
                <a:solidFill>
                  <a:prstClr val="black"/>
                </a:solidFill>
                <a:latin typeface="等线" panose="02010600030101010101" charset="-122"/>
                <a:ea typeface="等线" panose="02010600030101010101" charset="-122"/>
                <a:cs typeface="微软雅黑" panose="020B0503020204020204" charset="-122"/>
              </a:endParaRPr>
            </a:p>
          </p:txBody>
        </p:sp>
        <p:sp>
          <p:nvSpPr>
            <p:cNvPr id="165" name="文本框 164"/>
            <p:cNvSpPr txBox="1"/>
            <p:nvPr/>
          </p:nvSpPr>
          <p:spPr>
            <a:xfrm>
              <a:off x="7886" y="4808"/>
              <a:ext cx="838" cy="686"/>
            </a:xfrm>
            <a:prstGeom prst="rect">
              <a:avLst/>
            </a:prstGeom>
            <a:noFill/>
          </p:spPr>
          <p:txBody>
            <a:bodyPr wrap="square" rtlCol="0">
              <a:spAutoFit/>
            </a:bodyPr>
            <a:lstStyle/>
            <a:p>
              <a:pPr algn="ctr" defTabSz="914400">
                <a:defRPr/>
              </a:pPr>
              <a:r>
                <a:rPr kumimoji="1" lang="en-US" altLang="zh-CN" sz="700" b="1" kern="0" dirty="0">
                  <a:solidFill>
                    <a:prstClr val="black"/>
                  </a:solidFill>
                  <a:ea typeface="宋体" panose="02010600030101010101" pitchFamily="2" charset="-122"/>
                </a:rPr>
                <a:t>……</a:t>
              </a:r>
              <a:endParaRPr kumimoji="1" lang="en-US" altLang="zh-CN" sz="700" b="1" kern="0" dirty="0">
                <a:solidFill>
                  <a:prstClr val="black"/>
                </a:solidFill>
                <a:ea typeface="宋体" panose="02010600030101010101" pitchFamily="2" charset="-122"/>
              </a:endParaRPr>
            </a:p>
          </p:txBody>
        </p:sp>
        <p:sp>
          <p:nvSpPr>
            <p:cNvPr id="166" name="矩形 165"/>
            <p:cNvSpPr/>
            <p:nvPr/>
          </p:nvSpPr>
          <p:spPr>
            <a:xfrm>
              <a:off x="10970" y="3920"/>
              <a:ext cx="2198" cy="2359"/>
            </a:xfrm>
            <a:prstGeom prst="rect">
              <a:avLst/>
            </a:prstGeom>
            <a:noFill/>
            <a:ln w="28575" cap="flat" cmpd="sng" algn="ctr">
              <a:solidFill>
                <a:srgbClr val="0070C0"/>
              </a:solidFill>
              <a:prstDash val="dash"/>
              <a:miter lim="800000"/>
            </a:ln>
            <a:effectLst/>
          </p:spPr>
          <p:txBody>
            <a:bodyPr rtlCol="0" anchor="t"/>
            <a:lstStyle/>
            <a:p>
              <a:pPr algn="ctr" defTabSz="914400">
                <a:defRPr/>
              </a:pPr>
              <a:r>
                <a:rPr kumimoji="1" lang="zh-CN" altLang="en-US" sz="700" b="1" kern="0" dirty="0">
                  <a:solidFill>
                    <a:prstClr val="black"/>
                  </a:solidFill>
                  <a:latin typeface="等线" panose="02010600030101010101" charset="-122"/>
                  <a:ea typeface="等线" panose="02010600030101010101" charset="-122"/>
                  <a:cs typeface="微软雅黑" panose="020B0503020204020204" charset="-122"/>
                </a:rPr>
                <a:t>数据计算集群</a:t>
              </a:r>
              <a:r>
                <a:rPr kumimoji="1" lang="en-US" altLang="zh-CN" sz="700" b="1" kern="0" dirty="0">
                  <a:solidFill>
                    <a:prstClr val="black"/>
                  </a:solidFill>
                  <a:latin typeface="等线" panose="02010600030101010101" charset="-122"/>
                  <a:ea typeface="等线" panose="02010600030101010101" charset="-122"/>
                  <a:cs typeface="微软雅黑" panose="020B0503020204020204" charset="-122"/>
                </a:rPr>
                <a:t>B</a:t>
              </a:r>
              <a:endParaRPr kumimoji="1" lang="en-US" altLang="zh-CN" sz="700" b="1" kern="0" dirty="0">
                <a:solidFill>
                  <a:prstClr val="black"/>
                </a:solidFill>
                <a:latin typeface="等线" panose="02010600030101010101" charset="-122"/>
                <a:ea typeface="等线" panose="02010600030101010101" charset="-122"/>
                <a:cs typeface="微软雅黑" panose="020B0503020204020204" charset="-122"/>
              </a:endParaRPr>
            </a:p>
            <a:p>
              <a:pPr algn="ctr" defTabSz="914400">
                <a:defRPr/>
              </a:pPr>
              <a:endParaRPr kumimoji="1" lang="en-US" altLang="zh-CN" sz="700" b="1" kern="0" dirty="0">
                <a:solidFill>
                  <a:prstClr val="black"/>
                </a:solidFill>
                <a:latin typeface="等线" panose="02010600030101010101" charset="-122"/>
                <a:ea typeface="等线" panose="02010600030101010101" charset="-122"/>
                <a:cs typeface="微软雅黑" panose="020B0503020204020204" charset="-122"/>
              </a:endParaRPr>
            </a:p>
            <a:p>
              <a:pPr algn="ctr" defTabSz="914400">
                <a:defRPr/>
              </a:pPr>
              <a:r>
                <a:rPr kumimoji="1" lang="zh-CN" altLang="en-US" sz="700" b="1" kern="0" dirty="0">
                  <a:solidFill>
                    <a:prstClr val="black"/>
                  </a:solidFill>
                  <a:latin typeface="等线" panose="02010600030101010101" charset="-122"/>
                  <a:ea typeface="等线" panose="02010600030101010101" charset="-122"/>
                  <a:cs typeface="微软雅黑" panose="020B0503020204020204" charset="-122"/>
                </a:rPr>
                <a:t>离线数据计算</a:t>
              </a:r>
              <a:r>
                <a:rPr kumimoji="1" lang="en-US" altLang="zh-CN" sz="700" b="1" kern="0" dirty="0">
                  <a:solidFill>
                    <a:prstClr val="black"/>
                  </a:solidFill>
                  <a:latin typeface="等线" panose="02010600030101010101" charset="-122"/>
                  <a:ea typeface="等线" panose="02010600030101010101" charset="-122"/>
                  <a:cs typeface="微软雅黑" panose="020B0503020204020204" charset="-122"/>
                </a:rPr>
                <a:t>/</a:t>
              </a:r>
              <a:r>
                <a:rPr kumimoji="1" lang="zh-CN" altLang="en-US" sz="700" b="1" kern="0" dirty="0">
                  <a:solidFill>
                    <a:prstClr val="black"/>
                  </a:solidFill>
                  <a:latin typeface="等线" panose="02010600030101010101" charset="-122"/>
                  <a:ea typeface="等线" panose="02010600030101010101" charset="-122"/>
                  <a:cs typeface="微软雅黑" panose="020B0503020204020204" charset="-122"/>
                </a:rPr>
                <a:t>服务</a:t>
              </a:r>
              <a:endParaRPr kumimoji="1" lang="en-US" altLang="zh-CN" sz="700" b="1" kern="0" dirty="0">
                <a:solidFill>
                  <a:prstClr val="black"/>
                </a:solidFill>
                <a:latin typeface="等线" panose="02010600030101010101" charset="-122"/>
                <a:ea typeface="等线" panose="02010600030101010101" charset="-122"/>
                <a:cs typeface="微软雅黑" panose="020B0503020204020204" charset="-122"/>
              </a:endParaRPr>
            </a:p>
            <a:p>
              <a:pPr algn="ctr" defTabSz="914400">
                <a:defRPr/>
              </a:pPr>
              <a:endParaRPr kumimoji="1" lang="en-US" altLang="zh-CN" sz="700" b="1" kern="0" dirty="0">
                <a:solidFill>
                  <a:prstClr val="black"/>
                </a:solidFill>
                <a:latin typeface="等线" panose="02010600030101010101" charset="-122"/>
                <a:ea typeface="等线" panose="02010600030101010101" charset="-122"/>
                <a:cs typeface="微软雅黑" panose="020B0503020204020204" charset="-122"/>
              </a:endParaRPr>
            </a:p>
            <a:p>
              <a:pPr algn="ctr" defTabSz="914400">
                <a:defRPr/>
              </a:pPr>
              <a:endParaRPr kumimoji="1" lang="en-US" altLang="zh-CN" sz="700" b="1" kern="0" dirty="0">
                <a:solidFill>
                  <a:prstClr val="black"/>
                </a:solidFill>
                <a:latin typeface="等线" panose="02010600030101010101" charset="-122"/>
                <a:ea typeface="等线" panose="02010600030101010101" charset="-122"/>
                <a:cs typeface="微软雅黑" panose="020B0503020204020204" charset="-122"/>
              </a:endParaRPr>
            </a:p>
          </p:txBody>
        </p:sp>
        <p:sp>
          <p:nvSpPr>
            <p:cNvPr id="167" name="矩形"/>
            <p:cNvSpPr/>
            <p:nvPr/>
          </p:nvSpPr>
          <p:spPr>
            <a:xfrm>
              <a:off x="8884" y="5406"/>
              <a:ext cx="1803" cy="753"/>
            </a:xfrm>
            <a:prstGeom prst="rect">
              <a:avLst/>
            </a:prstGeom>
            <a:solidFill>
              <a:srgbClr val="005696"/>
            </a:solidFill>
            <a:ln w="25400" cap="flat">
              <a:noFill/>
              <a:prstDash val="solid"/>
              <a:miter lim="400000"/>
            </a:ln>
            <a:effectLst/>
          </p:spPr>
          <p:txBody>
            <a:bodyPr wrap="square" lIns="67703" tIns="67703" rIns="67703" bIns="67703" numCol="1" anchor="ctr">
              <a:noAutofit/>
            </a:bodyPr>
            <a:lstStyle/>
            <a:p>
              <a:pPr defTabSz="582930" hangingPunct="0">
                <a:defRPr/>
              </a:pPr>
              <a:endParaRPr sz="500" b="1" kern="0">
                <a:solidFill>
                  <a:sysClr val="windowText" lastClr="000000"/>
                </a:solidFill>
                <a:ea typeface="宋体" panose="02010600030101010101" pitchFamily="2" charset="-122"/>
                <a:sym typeface="Helvetica"/>
              </a:endParaRPr>
            </a:p>
          </p:txBody>
        </p:sp>
        <p:sp>
          <p:nvSpPr>
            <p:cNvPr id="168" name="正方形"/>
            <p:cNvSpPr/>
            <p:nvPr/>
          </p:nvSpPr>
          <p:spPr>
            <a:xfrm>
              <a:off x="9034" y="5577"/>
              <a:ext cx="349" cy="406"/>
            </a:xfrm>
            <a:prstGeom prst="rect">
              <a:avLst/>
            </a:prstGeom>
            <a:solidFill>
              <a:srgbClr val="00B0F0"/>
            </a:solidFill>
            <a:ln w="25400" cap="flat">
              <a:noFill/>
              <a:prstDash val="solid"/>
              <a:miter lim="400000"/>
            </a:ln>
            <a:effectLst/>
          </p:spPr>
          <p:txBody>
            <a:bodyPr wrap="square" lIns="67703" tIns="67703" rIns="67703" bIns="67703" numCol="1" anchor="ctr">
              <a:noAutofit/>
            </a:bodyPr>
            <a:lstStyle/>
            <a:p>
              <a:pPr algn="ctr" defTabSz="582930" hangingPunct="0">
                <a:defRPr sz="2400"/>
              </a:pPr>
              <a:endParaRPr sz="500" b="1" kern="0">
                <a:solidFill>
                  <a:sysClr val="windowText" lastClr="000000"/>
                </a:solidFill>
                <a:ea typeface="宋体" panose="02010600030101010101" pitchFamily="2" charset="-122"/>
                <a:cs typeface="微软雅黑" panose="020B0503020204020204" charset="-122"/>
                <a:sym typeface="Helvetica"/>
              </a:endParaRPr>
            </a:p>
          </p:txBody>
        </p:sp>
        <p:sp>
          <p:nvSpPr>
            <p:cNvPr id="169" name="正方形"/>
            <p:cNvSpPr/>
            <p:nvPr/>
          </p:nvSpPr>
          <p:spPr>
            <a:xfrm>
              <a:off x="9628" y="5577"/>
              <a:ext cx="349" cy="406"/>
            </a:xfrm>
            <a:prstGeom prst="rect">
              <a:avLst/>
            </a:prstGeom>
            <a:solidFill>
              <a:srgbClr val="00B0F0"/>
            </a:solidFill>
            <a:ln w="25400" cap="flat">
              <a:noFill/>
              <a:prstDash val="solid"/>
              <a:miter lim="400000"/>
            </a:ln>
            <a:effectLst/>
          </p:spPr>
          <p:txBody>
            <a:bodyPr wrap="square" lIns="67703" tIns="67703" rIns="67703" bIns="67703" numCol="1" anchor="ctr">
              <a:noAutofit/>
            </a:bodyPr>
            <a:lstStyle/>
            <a:p>
              <a:pPr algn="ctr" defTabSz="582930" hangingPunct="0">
                <a:defRPr sz="2400"/>
              </a:pPr>
              <a:endParaRPr sz="500" b="1" kern="0">
                <a:solidFill>
                  <a:sysClr val="windowText" lastClr="000000"/>
                </a:solidFill>
                <a:ea typeface="宋体" panose="02010600030101010101" pitchFamily="2" charset="-122"/>
                <a:cs typeface="微软雅黑" panose="020B0503020204020204" charset="-122"/>
                <a:sym typeface="Helvetica"/>
              </a:endParaRPr>
            </a:p>
          </p:txBody>
        </p:sp>
        <p:sp>
          <p:nvSpPr>
            <p:cNvPr id="170" name="正方形"/>
            <p:cNvSpPr/>
            <p:nvPr/>
          </p:nvSpPr>
          <p:spPr>
            <a:xfrm>
              <a:off x="10228" y="5577"/>
              <a:ext cx="349" cy="406"/>
            </a:xfrm>
            <a:prstGeom prst="rect">
              <a:avLst/>
            </a:prstGeom>
            <a:solidFill>
              <a:srgbClr val="00B0F0"/>
            </a:solidFill>
            <a:ln w="25400" cap="flat">
              <a:noFill/>
              <a:prstDash val="solid"/>
              <a:miter lim="400000"/>
            </a:ln>
            <a:effectLst/>
          </p:spPr>
          <p:txBody>
            <a:bodyPr wrap="square" lIns="67703" tIns="67703" rIns="67703" bIns="67703" numCol="1" anchor="ctr">
              <a:noAutofit/>
            </a:bodyPr>
            <a:lstStyle/>
            <a:p>
              <a:pPr algn="ctr" defTabSz="582930" hangingPunct="0">
                <a:defRPr sz="2400"/>
              </a:pPr>
              <a:endParaRPr sz="500" b="1" kern="0">
                <a:solidFill>
                  <a:sysClr val="windowText" lastClr="000000"/>
                </a:solidFill>
                <a:ea typeface="宋体" panose="02010600030101010101" pitchFamily="2" charset="-122"/>
                <a:cs typeface="微软雅黑" panose="020B0503020204020204" charset="-122"/>
                <a:sym typeface="Helvetica"/>
              </a:endParaRPr>
            </a:p>
          </p:txBody>
        </p:sp>
        <p:sp>
          <p:nvSpPr>
            <p:cNvPr id="171" name="矩形"/>
            <p:cNvSpPr/>
            <p:nvPr/>
          </p:nvSpPr>
          <p:spPr>
            <a:xfrm>
              <a:off x="11184" y="5406"/>
              <a:ext cx="1803" cy="753"/>
            </a:xfrm>
            <a:prstGeom prst="rect">
              <a:avLst/>
            </a:prstGeom>
            <a:solidFill>
              <a:srgbClr val="005696"/>
            </a:solidFill>
            <a:ln w="25400" cap="flat">
              <a:noFill/>
              <a:prstDash val="solid"/>
              <a:miter lim="400000"/>
            </a:ln>
            <a:effectLst/>
          </p:spPr>
          <p:txBody>
            <a:bodyPr wrap="square" lIns="67703" tIns="67703" rIns="67703" bIns="67703" numCol="1" anchor="ctr">
              <a:noAutofit/>
            </a:bodyPr>
            <a:lstStyle/>
            <a:p>
              <a:pPr defTabSz="582930" hangingPunct="0">
                <a:defRPr/>
              </a:pPr>
              <a:endParaRPr sz="500" b="1" kern="0">
                <a:solidFill>
                  <a:sysClr val="windowText" lastClr="000000"/>
                </a:solidFill>
                <a:ea typeface="宋体" panose="02010600030101010101" pitchFamily="2" charset="-122"/>
                <a:sym typeface="Helvetica"/>
              </a:endParaRPr>
            </a:p>
          </p:txBody>
        </p:sp>
        <p:sp>
          <p:nvSpPr>
            <p:cNvPr id="172" name="正方形"/>
            <p:cNvSpPr/>
            <p:nvPr/>
          </p:nvSpPr>
          <p:spPr>
            <a:xfrm>
              <a:off x="11334" y="5577"/>
              <a:ext cx="349" cy="406"/>
            </a:xfrm>
            <a:prstGeom prst="rect">
              <a:avLst/>
            </a:prstGeom>
            <a:solidFill>
              <a:srgbClr val="ED7D31"/>
            </a:solidFill>
            <a:ln w="25400" cap="flat">
              <a:noFill/>
              <a:prstDash val="solid"/>
              <a:miter lim="400000"/>
            </a:ln>
            <a:effectLst/>
          </p:spPr>
          <p:txBody>
            <a:bodyPr wrap="square" lIns="67703" tIns="67703" rIns="67703" bIns="67703" numCol="1" anchor="ctr">
              <a:noAutofit/>
            </a:bodyPr>
            <a:lstStyle/>
            <a:p>
              <a:pPr algn="ctr" defTabSz="582930" hangingPunct="0">
                <a:defRPr sz="2400"/>
              </a:pPr>
              <a:endParaRPr sz="500" b="1" kern="0">
                <a:solidFill>
                  <a:sysClr val="windowText" lastClr="000000"/>
                </a:solidFill>
                <a:ea typeface="宋体" panose="02010600030101010101" pitchFamily="2" charset="-122"/>
                <a:cs typeface="微软雅黑" panose="020B0503020204020204" charset="-122"/>
                <a:sym typeface="Helvetica"/>
              </a:endParaRPr>
            </a:p>
          </p:txBody>
        </p:sp>
        <p:sp>
          <p:nvSpPr>
            <p:cNvPr id="173" name="正方形"/>
            <p:cNvSpPr/>
            <p:nvPr/>
          </p:nvSpPr>
          <p:spPr>
            <a:xfrm>
              <a:off x="11927" y="5577"/>
              <a:ext cx="349" cy="406"/>
            </a:xfrm>
            <a:prstGeom prst="rect">
              <a:avLst/>
            </a:prstGeom>
            <a:solidFill>
              <a:srgbClr val="ED7D31"/>
            </a:solidFill>
            <a:ln w="25400" cap="flat">
              <a:noFill/>
              <a:prstDash val="solid"/>
              <a:miter lim="400000"/>
            </a:ln>
            <a:effectLst/>
          </p:spPr>
          <p:txBody>
            <a:bodyPr wrap="square" lIns="67703" tIns="67703" rIns="67703" bIns="67703" numCol="1" anchor="ctr">
              <a:noAutofit/>
            </a:bodyPr>
            <a:lstStyle/>
            <a:p>
              <a:pPr algn="ctr" defTabSz="582930" hangingPunct="0">
                <a:defRPr sz="2400"/>
              </a:pPr>
              <a:endParaRPr sz="500" b="1" kern="0">
                <a:solidFill>
                  <a:sysClr val="windowText" lastClr="000000"/>
                </a:solidFill>
                <a:ea typeface="宋体" panose="02010600030101010101" pitchFamily="2" charset="-122"/>
                <a:cs typeface="微软雅黑" panose="020B0503020204020204" charset="-122"/>
                <a:sym typeface="Helvetica"/>
              </a:endParaRPr>
            </a:p>
          </p:txBody>
        </p:sp>
        <p:sp>
          <p:nvSpPr>
            <p:cNvPr id="174" name="正方形"/>
            <p:cNvSpPr/>
            <p:nvPr/>
          </p:nvSpPr>
          <p:spPr>
            <a:xfrm>
              <a:off x="12527" y="5577"/>
              <a:ext cx="349" cy="406"/>
            </a:xfrm>
            <a:prstGeom prst="rect">
              <a:avLst/>
            </a:prstGeom>
            <a:solidFill>
              <a:srgbClr val="ED7D31"/>
            </a:solidFill>
            <a:ln w="25400" cap="flat">
              <a:noFill/>
              <a:prstDash val="solid"/>
              <a:miter lim="400000"/>
            </a:ln>
            <a:effectLst/>
          </p:spPr>
          <p:txBody>
            <a:bodyPr wrap="square" lIns="67703" tIns="67703" rIns="67703" bIns="67703" numCol="1" anchor="ctr">
              <a:noAutofit/>
            </a:bodyPr>
            <a:lstStyle/>
            <a:p>
              <a:pPr algn="ctr" defTabSz="582930" hangingPunct="0">
                <a:defRPr sz="2400"/>
              </a:pPr>
              <a:endParaRPr sz="500" b="1" kern="0">
                <a:solidFill>
                  <a:sysClr val="windowText" lastClr="000000"/>
                </a:solidFill>
                <a:ea typeface="宋体" panose="02010600030101010101" pitchFamily="2" charset="-122"/>
                <a:cs typeface="微软雅黑" panose="020B0503020204020204" charset="-122"/>
                <a:sym typeface="Helvetica"/>
              </a:endParaRPr>
            </a:p>
          </p:txBody>
        </p:sp>
        <p:sp>
          <p:nvSpPr>
            <p:cNvPr id="175" name="矩形 174"/>
            <p:cNvSpPr/>
            <p:nvPr/>
          </p:nvSpPr>
          <p:spPr>
            <a:xfrm>
              <a:off x="1643" y="4079"/>
              <a:ext cx="1344" cy="1596"/>
            </a:xfrm>
            <a:prstGeom prst="rect">
              <a:avLst/>
            </a:prstGeom>
            <a:solidFill>
              <a:srgbClr val="7030A0"/>
            </a:solidFill>
            <a:ln w="12700" cap="flat" cmpd="sng" algn="ctr">
              <a:noFill/>
              <a:prstDash val="solid"/>
              <a:miter lim="800000"/>
            </a:ln>
            <a:effectLst/>
          </p:spPr>
          <p:txBody>
            <a:bodyPr rtlCol="0" anchor="ctr"/>
            <a:lstStyle/>
            <a:p>
              <a:pPr algn="ctr" defTabSz="914400">
                <a:defRPr/>
              </a:pPr>
              <a:r>
                <a:rPr kumimoji="1" lang="zh-CN" altLang="en-US" sz="1000" b="1" kern="0" dirty="0">
                  <a:solidFill>
                    <a:prstClr val="white"/>
                  </a:solidFill>
                  <a:latin typeface="等线" panose="02010600030101010101" charset="-122"/>
                  <a:ea typeface="等线" panose="02010600030101010101" charset="-122"/>
                </a:rPr>
                <a:t>计算层</a:t>
              </a:r>
              <a:endParaRPr kumimoji="1" lang="zh-CN" altLang="en-US" sz="1000" b="1" kern="0" dirty="0">
                <a:solidFill>
                  <a:prstClr val="white"/>
                </a:solidFill>
                <a:latin typeface="等线" panose="02010600030101010101" charset="-122"/>
                <a:ea typeface="等线" panose="02010600030101010101" charset="-122"/>
              </a:endParaRPr>
            </a:p>
          </p:txBody>
        </p:sp>
        <p:sp>
          <p:nvSpPr>
            <p:cNvPr id="176" name="矩形 175"/>
            <p:cNvSpPr/>
            <p:nvPr/>
          </p:nvSpPr>
          <p:spPr>
            <a:xfrm>
              <a:off x="1638" y="7604"/>
              <a:ext cx="1344" cy="1596"/>
            </a:xfrm>
            <a:prstGeom prst="rect">
              <a:avLst/>
            </a:prstGeom>
            <a:solidFill>
              <a:srgbClr val="7030A0"/>
            </a:solidFill>
            <a:ln w="12700" cap="flat" cmpd="sng" algn="ctr">
              <a:noFill/>
              <a:prstDash val="solid"/>
              <a:miter lim="800000"/>
            </a:ln>
            <a:effectLst/>
          </p:spPr>
          <p:txBody>
            <a:bodyPr rtlCol="0" anchor="ctr"/>
            <a:lstStyle/>
            <a:p>
              <a:pPr algn="ctr" defTabSz="914400">
                <a:defRPr/>
              </a:pPr>
              <a:r>
                <a:rPr kumimoji="1" lang="zh-CN" altLang="en-US" sz="1000" b="1" kern="0" dirty="0">
                  <a:solidFill>
                    <a:prstClr val="white"/>
                  </a:solidFill>
                  <a:latin typeface="等线" panose="02010600030101010101" charset="-122"/>
                  <a:ea typeface="等线" panose="02010600030101010101" charset="-122"/>
                </a:rPr>
                <a:t>存储层</a:t>
              </a:r>
              <a:endParaRPr kumimoji="1" lang="zh-CN" altLang="en-US" sz="1000" b="1" kern="0" dirty="0">
                <a:solidFill>
                  <a:prstClr val="white"/>
                </a:solidFill>
                <a:latin typeface="等线" panose="02010600030101010101" charset="-122"/>
                <a:ea typeface="等线" panose="02010600030101010101" charset="-122"/>
              </a:endParaRPr>
            </a:p>
          </p:txBody>
        </p:sp>
        <p:sp>
          <p:nvSpPr>
            <p:cNvPr id="177" name="矩形 176"/>
            <p:cNvSpPr/>
            <p:nvPr/>
          </p:nvSpPr>
          <p:spPr>
            <a:xfrm>
              <a:off x="3609" y="2228"/>
              <a:ext cx="1665" cy="654"/>
            </a:xfrm>
            <a:prstGeom prst="rect">
              <a:avLst/>
            </a:prstGeom>
            <a:solidFill>
              <a:srgbClr val="0070C0"/>
            </a:solidFill>
            <a:ln w="12700" cap="flat" cmpd="sng" algn="ctr">
              <a:noFill/>
              <a:prstDash val="solid"/>
              <a:miter lim="800000"/>
            </a:ln>
            <a:effectLst/>
          </p:spPr>
          <p:txBody>
            <a:bodyPr rtlCol="0" anchor="ctr"/>
            <a:lstStyle/>
            <a:p>
              <a:pPr algn="ctr" defTabSz="914400">
                <a:defRPr/>
              </a:pPr>
              <a:r>
                <a:rPr kumimoji="1" lang="zh-CN" altLang="en-US" sz="700" b="1" kern="0" dirty="0">
                  <a:solidFill>
                    <a:prstClr val="white"/>
                  </a:solidFill>
                  <a:latin typeface="等线" panose="02010600030101010101" charset="-122"/>
                  <a:ea typeface="等线" panose="02010600030101010101" charset="-122"/>
                  <a:cs typeface="微软雅黑" panose="020B0503020204020204" charset="-122"/>
                </a:rPr>
                <a:t>数据探索</a:t>
              </a:r>
              <a:endParaRPr kumimoji="1" lang="zh-CN" altLang="en-US" sz="700" b="1" kern="0" dirty="0">
                <a:solidFill>
                  <a:prstClr val="white"/>
                </a:solidFill>
                <a:latin typeface="等线" panose="02010600030101010101" charset="-122"/>
                <a:ea typeface="等线" panose="02010600030101010101" charset="-122"/>
                <a:cs typeface="微软雅黑" panose="020B0503020204020204" charset="-122"/>
              </a:endParaRPr>
            </a:p>
          </p:txBody>
        </p:sp>
        <p:sp>
          <p:nvSpPr>
            <p:cNvPr id="178" name="矩形 177"/>
            <p:cNvSpPr/>
            <p:nvPr/>
          </p:nvSpPr>
          <p:spPr>
            <a:xfrm>
              <a:off x="5498" y="2228"/>
              <a:ext cx="1665" cy="654"/>
            </a:xfrm>
            <a:prstGeom prst="rect">
              <a:avLst/>
            </a:prstGeom>
            <a:solidFill>
              <a:srgbClr val="0070C0"/>
            </a:solidFill>
            <a:ln w="12700" cap="flat" cmpd="sng" algn="ctr">
              <a:noFill/>
              <a:prstDash val="solid"/>
              <a:miter lim="800000"/>
            </a:ln>
            <a:effectLst/>
          </p:spPr>
          <p:txBody>
            <a:bodyPr rtlCol="0" anchor="ctr"/>
            <a:lstStyle/>
            <a:p>
              <a:pPr algn="ctr" defTabSz="914400">
                <a:defRPr/>
              </a:pPr>
              <a:r>
                <a:rPr kumimoji="1" lang="zh-CN" altLang="en-US" sz="700" b="1" kern="0" dirty="0">
                  <a:solidFill>
                    <a:prstClr val="white"/>
                  </a:solidFill>
                  <a:latin typeface="等线" panose="02010600030101010101" charset="-122"/>
                  <a:ea typeface="等线" panose="02010600030101010101" charset="-122"/>
                  <a:cs typeface="微软雅黑" panose="020B0503020204020204" charset="-122"/>
                </a:rPr>
                <a:t>交互分析</a:t>
              </a:r>
              <a:endParaRPr kumimoji="1" lang="zh-CN" altLang="en-US" sz="700" b="1" kern="0" dirty="0">
                <a:solidFill>
                  <a:prstClr val="white"/>
                </a:solidFill>
                <a:latin typeface="等线" panose="02010600030101010101" charset="-122"/>
                <a:ea typeface="等线" panose="02010600030101010101" charset="-122"/>
                <a:cs typeface="微软雅黑" panose="020B0503020204020204" charset="-122"/>
              </a:endParaRPr>
            </a:p>
          </p:txBody>
        </p:sp>
        <p:sp>
          <p:nvSpPr>
            <p:cNvPr id="179" name="矩形 178"/>
            <p:cNvSpPr/>
            <p:nvPr/>
          </p:nvSpPr>
          <p:spPr>
            <a:xfrm>
              <a:off x="7380" y="2235"/>
              <a:ext cx="1706" cy="654"/>
            </a:xfrm>
            <a:prstGeom prst="rect">
              <a:avLst/>
            </a:prstGeom>
            <a:solidFill>
              <a:srgbClr val="0070C0"/>
            </a:solidFill>
            <a:ln w="12700" cap="flat" cmpd="sng" algn="ctr">
              <a:noFill/>
              <a:prstDash val="solid"/>
              <a:miter lim="800000"/>
            </a:ln>
            <a:effectLst/>
          </p:spPr>
          <p:txBody>
            <a:bodyPr rtlCol="0" anchor="ctr"/>
            <a:lstStyle/>
            <a:p>
              <a:pPr algn="ctr" defTabSz="914400">
                <a:defRPr/>
              </a:pPr>
              <a:r>
                <a:rPr kumimoji="1" lang="zh-CN" altLang="en-US" sz="700" b="1" kern="0" dirty="0">
                  <a:solidFill>
                    <a:prstClr val="white"/>
                  </a:solidFill>
                  <a:latin typeface="等线" panose="02010600030101010101" charset="-122"/>
                  <a:ea typeface="等线" panose="02010600030101010101" charset="-122"/>
                  <a:cs typeface="微软雅黑" panose="020B0503020204020204" charset="-122"/>
                </a:rPr>
                <a:t>数据可视化</a:t>
              </a:r>
              <a:endParaRPr kumimoji="1" lang="zh-CN" altLang="en-US" sz="700" b="1" kern="0" dirty="0">
                <a:solidFill>
                  <a:prstClr val="white"/>
                </a:solidFill>
                <a:latin typeface="等线" panose="02010600030101010101" charset="-122"/>
                <a:ea typeface="等线" panose="02010600030101010101" charset="-122"/>
                <a:cs typeface="微软雅黑" panose="020B0503020204020204" charset="-122"/>
              </a:endParaRPr>
            </a:p>
          </p:txBody>
        </p:sp>
        <p:sp>
          <p:nvSpPr>
            <p:cNvPr id="180" name="矩形 179"/>
            <p:cNvSpPr/>
            <p:nvPr/>
          </p:nvSpPr>
          <p:spPr>
            <a:xfrm>
              <a:off x="9302" y="2238"/>
              <a:ext cx="1665" cy="654"/>
            </a:xfrm>
            <a:prstGeom prst="rect">
              <a:avLst/>
            </a:prstGeom>
            <a:solidFill>
              <a:srgbClr val="0070C0"/>
            </a:solidFill>
            <a:ln w="12700" cap="flat" cmpd="sng" algn="ctr">
              <a:noFill/>
              <a:prstDash val="solid"/>
              <a:miter lim="800000"/>
            </a:ln>
            <a:effectLst/>
          </p:spPr>
          <p:txBody>
            <a:bodyPr rtlCol="0" anchor="ctr"/>
            <a:lstStyle/>
            <a:p>
              <a:pPr algn="ctr" defTabSz="914400">
                <a:defRPr/>
              </a:pPr>
              <a:r>
                <a:rPr kumimoji="1" lang="zh-CN" altLang="en-US" sz="700" b="1" kern="0" dirty="0">
                  <a:solidFill>
                    <a:prstClr val="white"/>
                  </a:solidFill>
                  <a:latin typeface="等线" panose="02010600030101010101" charset="-122"/>
                  <a:ea typeface="等线" panose="02010600030101010101" charset="-122"/>
                  <a:cs typeface="微软雅黑" panose="020B0503020204020204" charset="-122"/>
                </a:rPr>
                <a:t>数据服务</a:t>
              </a:r>
              <a:endParaRPr kumimoji="1" lang="zh-CN" altLang="en-US" sz="700" b="1" kern="0" dirty="0">
                <a:solidFill>
                  <a:prstClr val="white"/>
                </a:solidFill>
                <a:latin typeface="等线" panose="02010600030101010101" charset="-122"/>
                <a:ea typeface="等线" panose="02010600030101010101" charset="-122"/>
                <a:cs typeface="微软雅黑" panose="020B0503020204020204" charset="-122"/>
              </a:endParaRPr>
            </a:p>
          </p:txBody>
        </p:sp>
        <p:sp>
          <p:nvSpPr>
            <p:cNvPr id="181" name="矩形 180"/>
            <p:cNvSpPr/>
            <p:nvPr/>
          </p:nvSpPr>
          <p:spPr>
            <a:xfrm>
              <a:off x="11184" y="2228"/>
              <a:ext cx="1665" cy="654"/>
            </a:xfrm>
            <a:prstGeom prst="rect">
              <a:avLst/>
            </a:prstGeom>
            <a:solidFill>
              <a:srgbClr val="0070C0"/>
            </a:solidFill>
            <a:ln w="12700" cap="flat" cmpd="sng" algn="ctr">
              <a:noFill/>
              <a:prstDash val="solid"/>
              <a:miter lim="800000"/>
            </a:ln>
            <a:effectLst/>
          </p:spPr>
          <p:txBody>
            <a:bodyPr rtlCol="0" anchor="ctr"/>
            <a:lstStyle/>
            <a:p>
              <a:pPr algn="ctr" defTabSz="914400">
                <a:defRPr/>
              </a:pPr>
              <a:r>
                <a:rPr kumimoji="1" lang="zh-CN" altLang="en-US" sz="700" b="1" kern="0" dirty="0">
                  <a:solidFill>
                    <a:prstClr val="white"/>
                  </a:solidFill>
                  <a:latin typeface="等线" panose="02010600030101010101" charset="-122"/>
                  <a:ea typeface="等线" panose="02010600030101010101" charset="-122"/>
                  <a:cs typeface="微软雅黑" panose="020B0503020204020204" charset="-122"/>
                </a:rPr>
                <a:t>数据挖掘</a:t>
              </a:r>
              <a:endParaRPr kumimoji="1" lang="zh-CN" altLang="en-US" sz="700" b="1" kern="0" dirty="0">
                <a:solidFill>
                  <a:prstClr val="white"/>
                </a:solidFill>
                <a:latin typeface="等线" panose="02010600030101010101" charset="-122"/>
                <a:ea typeface="等线" panose="02010600030101010101" charset="-122"/>
                <a:cs typeface="微软雅黑" panose="020B0503020204020204" charset="-122"/>
              </a:endParaRPr>
            </a:p>
          </p:txBody>
        </p:sp>
        <p:sp>
          <p:nvSpPr>
            <p:cNvPr id="182" name="数据仓库服务"/>
            <p:cNvSpPr/>
            <p:nvPr/>
          </p:nvSpPr>
          <p:spPr>
            <a:xfrm>
              <a:off x="3269" y="1984"/>
              <a:ext cx="10049" cy="1105"/>
            </a:xfrm>
            <a:prstGeom prst="roundRect">
              <a:avLst>
                <a:gd name="adj" fmla="val 7597"/>
              </a:avLst>
            </a:prstGeom>
            <a:noFill/>
            <a:ln w="19050" cap="flat">
              <a:solidFill>
                <a:srgbClr val="4472C4">
                  <a:lumMod val="60000"/>
                  <a:lumOff val="40000"/>
                </a:srgbClr>
              </a:solidFill>
              <a:prstDash val="solid"/>
              <a:miter lim="400000"/>
            </a:ln>
            <a:effectLst/>
          </p:spPr>
          <p:txBody>
            <a:bodyPr wrap="square" lIns="0" tIns="0" rIns="0" bIns="0" numCol="1" anchor="ctr">
              <a:noAutofit/>
            </a:bodyPr>
            <a:lstStyle>
              <a:lvl1pPr algn="l" defTabSz="825500">
                <a:defRPr sz="1000" b="1">
                  <a:solidFill>
                    <a:srgbClr val="FFFFFF"/>
                  </a:solidFill>
                  <a:effectLst>
                    <a:outerShdw blurRad="25400" dist="23998" dir="2700000" rotWithShape="0">
                      <a:srgbClr val="000000">
                        <a:alpha val="31034"/>
                      </a:srgbClr>
                    </a:outerShdw>
                  </a:effectLst>
                  <a:latin typeface="Helvetica"/>
                  <a:ea typeface="Helvetica"/>
                  <a:cs typeface="Helvetica"/>
                  <a:sym typeface="Helvetica"/>
                </a:defRPr>
              </a:lvl1pPr>
            </a:lstStyle>
            <a:p>
              <a:pPr algn="ctr" defTabSz="824230" hangingPunct="0">
                <a:defRPr/>
              </a:pPr>
              <a:endParaRPr lang="en-US" altLang="zh-CN" sz="700" kern="0" dirty="0">
                <a:solidFill>
                  <a:sysClr val="windowText" lastClr="000000"/>
                </a:solidFill>
                <a:effectLst/>
                <a:latin typeface="微软雅黑" panose="020B0503020204020204" charset="-122"/>
                <a:ea typeface="微软雅黑" panose="020B0503020204020204" charset="-122"/>
                <a:cs typeface="微软雅黑" panose="020B0503020204020204" charset="-122"/>
              </a:endParaRPr>
            </a:p>
            <a:p>
              <a:pPr algn="ctr" defTabSz="824230" hangingPunct="0">
                <a:defRPr/>
              </a:pPr>
              <a:endParaRPr lang="en-US" altLang="zh-CN" sz="700" kern="0" dirty="0">
                <a:solidFill>
                  <a:sysClr val="windowText" lastClr="000000"/>
                </a:solidFill>
                <a:effectLst/>
                <a:latin typeface="微软雅黑" panose="020B0503020204020204" charset="-122"/>
                <a:ea typeface="微软雅黑" panose="020B0503020204020204" charset="-122"/>
                <a:cs typeface="微软雅黑" panose="020B0503020204020204" charset="-122"/>
              </a:endParaRPr>
            </a:p>
          </p:txBody>
        </p:sp>
        <p:sp>
          <p:nvSpPr>
            <p:cNvPr id="183" name="文本框 182"/>
            <p:cNvSpPr txBox="1"/>
            <p:nvPr/>
          </p:nvSpPr>
          <p:spPr>
            <a:xfrm>
              <a:off x="1067" y="2298"/>
              <a:ext cx="2198" cy="1058"/>
            </a:xfrm>
            <a:prstGeom prst="rect">
              <a:avLst/>
            </a:prstGeom>
            <a:noFill/>
          </p:spPr>
          <p:txBody>
            <a:bodyPr wrap="square" rtlCol="0">
              <a:spAutoFit/>
            </a:bodyPr>
            <a:lstStyle/>
            <a:p>
              <a:r>
                <a:rPr lang="zh-CN" altLang="en-US" sz="700" b="1" dirty="0">
                  <a:latin typeface="微软雅黑" panose="020B0503020204020204" charset="-122"/>
                  <a:ea typeface="微软雅黑" panose="020B0503020204020204" charset="-122"/>
                </a:rPr>
                <a:t>湖仓一体化</a:t>
              </a:r>
              <a:endParaRPr lang="zh-CN" altLang="en-US" sz="700" b="1" dirty="0">
                <a:latin typeface="微软雅黑" panose="020B0503020204020204" charset="-122"/>
                <a:ea typeface="微软雅黑" panose="020B0503020204020204" charset="-122"/>
              </a:endParaRPr>
            </a:p>
            <a:p>
              <a:r>
                <a:rPr lang="zh-CN" altLang="en-US" sz="700" b="1" dirty="0">
                  <a:latin typeface="微软雅黑" panose="020B0503020204020204" charset="-122"/>
                  <a:ea typeface="微软雅黑" panose="020B0503020204020204" charset="-122"/>
                </a:rPr>
                <a:t>数据平台</a:t>
              </a:r>
              <a:endParaRPr lang="zh-CN" altLang="en-US" sz="700" b="1" dirty="0">
                <a:latin typeface="微软雅黑" panose="020B0503020204020204" charset="-122"/>
                <a:ea typeface="微软雅黑" panose="020B0503020204020204" charset="-122"/>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1.3 </a:t>
            </a:r>
            <a:r>
              <a:rPr lang="zh-CN" altLang="en-US" dirty="0"/>
              <a:t>项目部分重要阶段概要说明</a:t>
            </a:r>
            <a:endParaRPr lang="zh-CN" altLang="en-US" dirty="0"/>
          </a:p>
        </p:txBody>
      </p:sp>
      <p:grpSp>
        <p:nvGrpSpPr>
          <p:cNvPr id="141" name="组合 140"/>
          <p:cNvGrpSpPr/>
          <p:nvPr/>
        </p:nvGrpSpPr>
        <p:grpSpPr>
          <a:xfrm>
            <a:off x="191344" y="791985"/>
            <a:ext cx="11810157" cy="1027542"/>
            <a:chOff x="191344" y="908367"/>
            <a:chExt cx="11810157" cy="1027542"/>
          </a:xfrm>
        </p:grpSpPr>
        <p:sp>
          <p:nvSpPr>
            <p:cNvPr id="139" name="Text Placeholder 2"/>
            <p:cNvSpPr txBox="1"/>
            <p:nvPr/>
          </p:nvSpPr>
          <p:spPr>
            <a:xfrm>
              <a:off x="293716" y="937758"/>
              <a:ext cx="11528425" cy="955861"/>
            </a:xfrm>
            <a:prstGeom prst="rect">
              <a:avLst/>
            </a:prstGeom>
          </p:spPr>
          <p:txBody>
            <a:bodyPr vert="horz" lIns="0" tIns="0" rIns="0" bIns="0"/>
            <a:lstStyle>
              <a:lvl1pPr marL="0" indent="0" algn="ctr" defTabSz="914400" rtl="0" eaLnBrk="1" latinLnBrk="0" hangingPunct="1">
                <a:lnSpc>
                  <a:spcPct val="150000"/>
                </a:lnSpc>
                <a:spcBef>
                  <a:spcPts val="1000"/>
                </a:spcBef>
                <a:buFont typeface="Arial" panose="020B0604020202020204" pitchFamily="34" charset="0"/>
                <a:buNone/>
                <a:defRPr sz="890" kern="1200">
                  <a:solidFill>
                    <a:schemeClr val="tx1">
                      <a:lumMod val="50000"/>
                      <a:lumOff val="50000"/>
                    </a:schemeClr>
                  </a:solidFill>
                  <a:latin typeface="Lato Regular"/>
                  <a:ea typeface="+mn-ea"/>
                  <a:cs typeface="Lato Regular"/>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l" defTabSz="914400">
                <a:spcBef>
                  <a:spcPct val="0"/>
                </a:spcBef>
                <a:buFont typeface="Wingdings" panose="05000000000000000000" charset="0"/>
                <a:buChar char="p"/>
              </a:pPr>
              <a:r>
                <a:rPr lang="zh-CN" altLang="en-US" sz="1200" b="1" dirty="0">
                  <a:solidFill>
                    <a:srgbClr val="404040"/>
                  </a:solidFill>
                  <a:latin typeface="华文楷体" panose="02010600040101010101" pitchFamily="2" charset="-122"/>
                  <a:ea typeface="华文楷体" panose="02010600040101010101" pitchFamily="2" charset="-122"/>
                  <a:cs typeface="仿宋" panose="02010609060101010101" pitchFamily="49" charset="-122"/>
                  <a:sym typeface="+mn-ea"/>
                </a:rPr>
                <a:t>技术验证阶段（在测试环境）</a:t>
              </a:r>
              <a:endParaRPr lang="en-US" altLang="zh-CN" sz="1200" b="1" dirty="0">
                <a:solidFill>
                  <a:srgbClr val="404040"/>
                </a:solidFill>
                <a:latin typeface="华文楷体" panose="02010600040101010101" pitchFamily="2" charset="-122"/>
                <a:ea typeface="华文楷体" panose="02010600040101010101" pitchFamily="2" charset="-122"/>
                <a:cs typeface="仿宋" panose="02010609060101010101" pitchFamily="49" charset="-122"/>
                <a:sym typeface="+mn-ea"/>
              </a:endParaRPr>
            </a:p>
            <a:p>
              <a:pPr marL="285750" indent="-285750" algn="l" defTabSz="914400">
                <a:spcBef>
                  <a:spcPct val="0"/>
                </a:spcBef>
                <a:buFont typeface="Wingdings" panose="05000000000000000000" pitchFamily="2" charset="2"/>
                <a:buChar char="Ø"/>
              </a:pPr>
              <a:r>
                <a:rPr lang="zh-CN" altLang="en-US" sz="1050" b="1"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rPr>
                <a:t>阶段工作说明：</a:t>
              </a:r>
              <a:r>
                <a:rPr lang="zh-CN" altLang="en-US" sz="1050"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rPr>
                <a:t>在测试环境中，验证数据库、离线开发平台、调度平台、交换平台等技术软件，及各个技术团队拟定在本项目过程中使用的，迁移、测试、适配过程中的技术手段、功能及方案，为生产迁移动作做准备。</a:t>
              </a:r>
              <a:endParaRPr lang="en-US" altLang="zh-CN" sz="1050"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endParaRPr>
            </a:p>
            <a:p>
              <a:pPr marL="285750" indent="-285750" algn="l" defTabSz="914400">
                <a:spcBef>
                  <a:spcPct val="0"/>
                </a:spcBef>
                <a:buFont typeface="Wingdings" panose="05000000000000000000" pitchFamily="2" charset="2"/>
                <a:buChar char="Ø"/>
              </a:pPr>
              <a:r>
                <a:rPr lang="zh-CN" altLang="en-US" sz="1050" b="1"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rPr>
                <a:t>准出要求：</a:t>
              </a:r>
              <a:r>
                <a:rPr lang="zh-CN" altLang="en-US" sz="1050"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rPr>
                <a:t>在生产环境到位前完成所有准备。</a:t>
              </a:r>
              <a:endParaRPr lang="en-US" altLang="zh-CN" sz="1050"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endParaRPr>
            </a:p>
          </p:txBody>
        </p:sp>
        <p:sp>
          <p:nvSpPr>
            <p:cNvPr id="140" name="圆角矩形 139"/>
            <p:cNvSpPr/>
            <p:nvPr/>
          </p:nvSpPr>
          <p:spPr>
            <a:xfrm>
              <a:off x="191344" y="908367"/>
              <a:ext cx="11810157" cy="1027542"/>
            </a:xfrm>
            <a:prstGeom prst="roundRect">
              <a:avLst>
                <a:gd name="adj" fmla="val 1413"/>
              </a:avLst>
            </a:prstGeom>
            <a:noFill/>
            <a:ln>
              <a:solidFill>
                <a:srgbClr val="C00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kumimoji="1" lang="zh-CN" altLang="en-US" sz="800" dirty="0">
                <a:latin typeface="微软雅黑" panose="020B0503020204020204" charset="-122"/>
                <a:ea typeface="微软雅黑" panose="020B0503020204020204" charset="-122"/>
              </a:endParaRPr>
            </a:p>
          </p:txBody>
        </p:sp>
      </p:grpSp>
      <p:grpSp>
        <p:nvGrpSpPr>
          <p:cNvPr id="142" name="组合 141"/>
          <p:cNvGrpSpPr/>
          <p:nvPr/>
        </p:nvGrpSpPr>
        <p:grpSpPr>
          <a:xfrm>
            <a:off x="187765" y="1875412"/>
            <a:ext cx="11810157" cy="1330756"/>
            <a:chOff x="191344" y="908367"/>
            <a:chExt cx="11810157" cy="1330756"/>
          </a:xfrm>
        </p:grpSpPr>
        <p:sp>
          <p:nvSpPr>
            <p:cNvPr id="143" name="Text Placeholder 2"/>
            <p:cNvSpPr txBox="1"/>
            <p:nvPr/>
          </p:nvSpPr>
          <p:spPr>
            <a:xfrm>
              <a:off x="293716" y="937758"/>
              <a:ext cx="11528425" cy="1301365"/>
            </a:xfrm>
            <a:prstGeom prst="rect">
              <a:avLst/>
            </a:prstGeom>
          </p:spPr>
          <p:txBody>
            <a:bodyPr vert="horz" lIns="0" tIns="0" rIns="0" bIns="0"/>
            <a:lstStyle>
              <a:lvl1pPr marL="0" indent="0" algn="ctr" defTabSz="914400" rtl="0" eaLnBrk="1" latinLnBrk="0" hangingPunct="1">
                <a:lnSpc>
                  <a:spcPct val="150000"/>
                </a:lnSpc>
                <a:spcBef>
                  <a:spcPts val="1000"/>
                </a:spcBef>
                <a:buFont typeface="Arial" panose="020B0604020202020204" pitchFamily="34" charset="0"/>
                <a:buNone/>
                <a:defRPr sz="890" kern="1200">
                  <a:solidFill>
                    <a:schemeClr val="tx1">
                      <a:lumMod val="50000"/>
                      <a:lumOff val="50000"/>
                    </a:schemeClr>
                  </a:solidFill>
                  <a:latin typeface="Lato Regular"/>
                  <a:ea typeface="+mn-ea"/>
                  <a:cs typeface="Lato Regular"/>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l" defTabSz="914400">
                <a:spcBef>
                  <a:spcPct val="0"/>
                </a:spcBef>
                <a:buFont typeface="Wingdings" panose="05000000000000000000" charset="0"/>
                <a:buChar char="p"/>
              </a:pPr>
              <a:r>
                <a:rPr lang="zh-CN" altLang="en-US" sz="1200" b="1" dirty="0">
                  <a:solidFill>
                    <a:srgbClr val="404040"/>
                  </a:solidFill>
                  <a:latin typeface="华文楷体" panose="02010600040101010101" pitchFamily="2" charset="-122"/>
                  <a:ea typeface="华文楷体" panose="02010600040101010101" pitchFamily="2" charset="-122"/>
                  <a:cs typeface="仿宋" panose="02010609060101010101" pitchFamily="49" charset="-122"/>
                  <a:sym typeface="+mn-ea"/>
                </a:rPr>
                <a:t>试投产阶段（在生产环境）</a:t>
              </a:r>
              <a:endParaRPr lang="en-US" altLang="zh-CN" sz="1200" b="1" dirty="0">
                <a:solidFill>
                  <a:srgbClr val="404040"/>
                </a:solidFill>
                <a:latin typeface="华文楷体" panose="02010600040101010101" pitchFamily="2" charset="-122"/>
                <a:ea typeface="华文楷体" panose="02010600040101010101" pitchFamily="2" charset="-122"/>
                <a:cs typeface="仿宋" panose="02010609060101010101" pitchFamily="49" charset="-122"/>
                <a:sym typeface="+mn-ea"/>
              </a:endParaRPr>
            </a:p>
            <a:p>
              <a:pPr marL="285750" indent="-285750" algn="l" defTabSz="914400">
                <a:spcBef>
                  <a:spcPct val="0"/>
                </a:spcBef>
                <a:buFont typeface="Wingdings" panose="05000000000000000000" pitchFamily="2" charset="2"/>
                <a:buChar char="Ø"/>
              </a:pPr>
              <a:r>
                <a:rPr lang="zh-CN" altLang="en-US" sz="1100" b="1"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rPr>
                <a:t>阶段工作说明：</a:t>
              </a:r>
              <a:r>
                <a:rPr lang="zh-CN" altLang="en-US" sz="1100"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rPr>
                <a:t>在生产环境中，使用真实生产设备环境、一个或两个完整时点生产数据、生产数据对应的时点生产脚本，验证</a:t>
              </a:r>
              <a:r>
                <a:rPr lang="zh-CN" altLang="en-US" sz="1100" u="sng" dirty="0">
                  <a:solidFill>
                    <a:schemeClr val="tx1"/>
                  </a:solidFill>
                  <a:latin typeface="华文楷体" panose="02010600040101010101" pitchFamily="2" charset="-122"/>
                  <a:ea typeface="华文楷体" panose="02010600040101010101" pitchFamily="2" charset="-122"/>
                  <a:cs typeface="仿宋" panose="02010609060101010101" pitchFamily="49" charset="-122"/>
                  <a:sym typeface="+mn-ea"/>
                </a:rPr>
                <a:t>技术验证阶段</a:t>
              </a:r>
              <a:r>
                <a:rPr lang="zh-CN" altLang="en-US" sz="1100"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rPr>
                <a:t>的成果。本阶段涉及验证的内容包含旧生产环境备份方案、新生产环境数据迁移方案及效率、脚本适配成果、脚本及数据测试方案、交换平台适配效果、调度平台适配效果、离线开发平台适配效果等。</a:t>
              </a:r>
              <a:endParaRPr lang="en-US" altLang="zh-CN" sz="1100"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endParaRPr>
            </a:p>
            <a:p>
              <a:pPr marL="285750" indent="-285750" algn="l" defTabSz="914400">
                <a:spcBef>
                  <a:spcPct val="0"/>
                </a:spcBef>
                <a:buFont typeface="Wingdings" panose="05000000000000000000" pitchFamily="2" charset="2"/>
                <a:buChar char="Ø"/>
              </a:pPr>
              <a:r>
                <a:rPr lang="zh-CN" altLang="en-US" sz="1100" b="1"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rPr>
                <a:t>准出要求：</a:t>
              </a:r>
              <a:r>
                <a:rPr lang="zh-CN" altLang="en-US" sz="1100"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rPr>
                <a:t>所有拟定实现功能可实现，包含不限于软件部署、流程测试和直接迁移的新旧环境数据一致。但，因数据不完备，本环节仅关注迁移脚本在当前条件下无语法及明显错误。</a:t>
              </a:r>
              <a:endParaRPr lang="en-US" altLang="zh-CN" sz="1100"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endParaRPr>
            </a:p>
            <a:p>
              <a:pPr marL="285750" indent="-285750" algn="l" defTabSz="914400">
                <a:spcBef>
                  <a:spcPct val="0"/>
                </a:spcBef>
                <a:buFont typeface="Wingdings" panose="05000000000000000000" pitchFamily="2" charset="2"/>
                <a:buChar char="Ø"/>
              </a:pPr>
              <a:r>
                <a:rPr lang="zh-CN" altLang="en-US" sz="1100"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rPr>
                <a:t>备注：本阶段无基线日概念，本阶段准出后，经过评审评估，可商讨并确认</a:t>
              </a:r>
              <a:r>
                <a:rPr lang="zh-CN" altLang="en-US" sz="1100" u="sng" dirty="0">
                  <a:solidFill>
                    <a:schemeClr val="tx1"/>
                  </a:solidFill>
                  <a:latin typeface="华文楷体" panose="02010600040101010101" pitchFamily="2" charset="-122"/>
                  <a:ea typeface="华文楷体" panose="02010600040101010101" pitchFamily="2" charset="-122"/>
                  <a:cs typeface="仿宋" panose="02010609060101010101" pitchFamily="49" charset="-122"/>
                  <a:sym typeface="+mn-ea"/>
                </a:rPr>
                <a:t>迁移初始化基线日</a:t>
              </a:r>
              <a:r>
                <a:rPr lang="zh-CN" altLang="en-US" sz="1100"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rPr>
                <a:t>。</a:t>
              </a:r>
              <a:endParaRPr lang="en-US" altLang="zh-CN" sz="1100"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endParaRPr>
            </a:p>
          </p:txBody>
        </p:sp>
        <p:sp>
          <p:nvSpPr>
            <p:cNvPr id="144" name="圆角矩形 143"/>
            <p:cNvSpPr/>
            <p:nvPr/>
          </p:nvSpPr>
          <p:spPr>
            <a:xfrm>
              <a:off x="191344" y="908367"/>
              <a:ext cx="11810157" cy="1330756"/>
            </a:xfrm>
            <a:prstGeom prst="roundRect">
              <a:avLst>
                <a:gd name="adj" fmla="val 1413"/>
              </a:avLst>
            </a:prstGeom>
            <a:noFill/>
            <a:ln>
              <a:solidFill>
                <a:srgbClr val="C00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kumimoji="1" lang="zh-CN" altLang="en-US" sz="800" dirty="0">
                <a:latin typeface="微软雅黑" panose="020B0503020204020204" charset="-122"/>
                <a:ea typeface="微软雅黑" panose="020B0503020204020204" charset="-122"/>
              </a:endParaRPr>
            </a:p>
          </p:txBody>
        </p:sp>
      </p:grpSp>
      <p:grpSp>
        <p:nvGrpSpPr>
          <p:cNvPr id="145" name="组合 144"/>
          <p:cNvGrpSpPr/>
          <p:nvPr/>
        </p:nvGrpSpPr>
        <p:grpSpPr>
          <a:xfrm>
            <a:off x="187764" y="3259046"/>
            <a:ext cx="11810157" cy="1379458"/>
            <a:chOff x="191344" y="908367"/>
            <a:chExt cx="11810157" cy="1477386"/>
          </a:xfrm>
        </p:grpSpPr>
        <p:sp>
          <p:nvSpPr>
            <p:cNvPr id="146" name="Text Placeholder 2"/>
            <p:cNvSpPr txBox="1"/>
            <p:nvPr/>
          </p:nvSpPr>
          <p:spPr>
            <a:xfrm>
              <a:off x="293716" y="937758"/>
              <a:ext cx="11528425" cy="1447995"/>
            </a:xfrm>
            <a:prstGeom prst="rect">
              <a:avLst/>
            </a:prstGeom>
          </p:spPr>
          <p:txBody>
            <a:bodyPr vert="horz" lIns="0" tIns="0" rIns="0" bIns="0"/>
            <a:lstStyle>
              <a:lvl1pPr marL="0" indent="0" algn="ctr" defTabSz="914400" rtl="0" eaLnBrk="1" latinLnBrk="0" hangingPunct="1">
                <a:lnSpc>
                  <a:spcPct val="150000"/>
                </a:lnSpc>
                <a:spcBef>
                  <a:spcPts val="1000"/>
                </a:spcBef>
                <a:buFont typeface="Arial" panose="020B0604020202020204" pitchFamily="34" charset="0"/>
                <a:buNone/>
                <a:defRPr sz="890" kern="1200">
                  <a:solidFill>
                    <a:schemeClr val="tx1">
                      <a:lumMod val="50000"/>
                      <a:lumOff val="50000"/>
                    </a:schemeClr>
                  </a:solidFill>
                  <a:latin typeface="Lato Regular"/>
                  <a:ea typeface="+mn-ea"/>
                  <a:cs typeface="Lato Regular"/>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l" defTabSz="914400">
                <a:spcBef>
                  <a:spcPct val="0"/>
                </a:spcBef>
                <a:buFont typeface="Wingdings" panose="05000000000000000000" charset="0"/>
                <a:buChar char="p"/>
              </a:pPr>
              <a:r>
                <a:rPr lang="zh-CN" altLang="en-US" sz="1200" b="1" dirty="0">
                  <a:solidFill>
                    <a:srgbClr val="404040"/>
                  </a:solidFill>
                  <a:latin typeface="华文楷体" panose="02010600040101010101" pitchFamily="2" charset="-122"/>
                  <a:ea typeface="华文楷体" panose="02010600040101010101" pitchFamily="2" charset="-122"/>
                  <a:cs typeface="仿宋" panose="02010609060101010101" pitchFamily="49" charset="-122"/>
                  <a:sym typeface="+mn-ea"/>
                </a:rPr>
                <a:t>初始化阶段（在生产环境）</a:t>
              </a:r>
              <a:endParaRPr lang="en-US" altLang="zh-CN" sz="1200" b="1" dirty="0">
                <a:solidFill>
                  <a:srgbClr val="404040"/>
                </a:solidFill>
                <a:latin typeface="华文楷体" panose="02010600040101010101" pitchFamily="2" charset="-122"/>
                <a:ea typeface="华文楷体" panose="02010600040101010101" pitchFamily="2" charset="-122"/>
                <a:cs typeface="仿宋" panose="02010609060101010101" pitchFamily="49" charset="-122"/>
                <a:sym typeface="+mn-ea"/>
              </a:endParaRPr>
            </a:p>
            <a:p>
              <a:pPr marL="285750" indent="-285750" algn="l" defTabSz="914400">
                <a:spcBef>
                  <a:spcPct val="0"/>
                </a:spcBef>
                <a:buFont typeface="Wingdings" panose="05000000000000000000" pitchFamily="2" charset="2"/>
                <a:buChar char="Ø"/>
              </a:pPr>
              <a:r>
                <a:rPr lang="zh-CN" altLang="en-US" sz="1100" b="1"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rPr>
                <a:t>阶段工作说明：</a:t>
              </a:r>
              <a:r>
                <a:rPr lang="zh-CN" altLang="en-US" sz="1100"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rPr>
                <a:t>在生产环境中，使用真实生产设备环境、完整生产数据、完整生产数据对应的时点生产脚本，初始化</a:t>
              </a:r>
              <a:r>
                <a:rPr lang="zh-CN" altLang="en-US" sz="1100" u="sng" dirty="0">
                  <a:solidFill>
                    <a:schemeClr val="tx1"/>
                  </a:solidFill>
                  <a:latin typeface="华文楷体" panose="02010600040101010101" pitchFamily="2" charset="-122"/>
                  <a:ea typeface="华文楷体" panose="02010600040101010101" pitchFamily="2" charset="-122"/>
                  <a:cs typeface="仿宋" panose="02010609060101010101" pitchFamily="49" charset="-122"/>
                  <a:sym typeface="+mn-ea"/>
                </a:rPr>
                <a:t>试投产阶段</a:t>
              </a:r>
              <a:r>
                <a:rPr lang="zh-CN" altLang="en-US" sz="1100"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rPr>
                <a:t>的成果。本阶段涉及初始化的内容包含旧生产环境基线日备份、新生产环境基线日数据迁移、基线日全量脚本测试、基线日脚本及数据测试、交换平台迭代优化、调度平台迭代优化、离线开发平台迭代优化等。</a:t>
              </a:r>
              <a:endParaRPr lang="en-US" altLang="zh-CN" sz="1100"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endParaRPr>
            </a:p>
            <a:p>
              <a:pPr marL="285750" indent="-285750" algn="l" defTabSz="914400">
                <a:spcBef>
                  <a:spcPct val="0"/>
                </a:spcBef>
                <a:buFont typeface="Wingdings" panose="05000000000000000000" pitchFamily="2" charset="2"/>
                <a:buChar char="Ø"/>
              </a:pPr>
              <a:r>
                <a:rPr lang="zh-CN" altLang="en-US" sz="1100" b="1"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rPr>
                <a:t>准出要求：</a:t>
              </a:r>
              <a:r>
                <a:rPr lang="zh-CN" altLang="en-US" sz="1100"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rPr>
                <a:t>所有拟定实现功能完全实现，包含软件部署、开发调度流程和基于基线日全量迁移的新旧环境所有数据一致。本环节迁移脚本仅关注全量脚本运行无语法及明显逻辑错误。</a:t>
              </a:r>
              <a:endParaRPr lang="en-US" altLang="zh-CN" sz="1100"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endParaRPr>
            </a:p>
            <a:p>
              <a:pPr marL="285750" indent="-285750" algn="l" defTabSz="914400">
                <a:spcBef>
                  <a:spcPct val="0"/>
                </a:spcBef>
                <a:buFont typeface="Wingdings" panose="05000000000000000000" pitchFamily="2" charset="2"/>
                <a:buChar char="Ø"/>
              </a:pPr>
              <a:r>
                <a:rPr lang="zh-CN" altLang="en-US" sz="1100"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rPr>
                <a:t>备注：</a:t>
              </a:r>
              <a:r>
                <a:rPr lang="zh-CN" altLang="en-US" sz="1100" u="sng" dirty="0">
                  <a:solidFill>
                    <a:schemeClr val="tx1"/>
                  </a:solidFill>
                  <a:latin typeface="华文楷体" panose="02010600040101010101" pitchFamily="2" charset="-122"/>
                  <a:ea typeface="华文楷体" panose="02010600040101010101" pitchFamily="2" charset="-122"/>
                  <a:cs typeface="仿宋" panose="02010609060101010101" pitchFamily="49" charset="-122"/>
                  <a:sym typeface="+mn-ea"/>
                </a:rPr>
                <a:t>本阶段基线日为历史数据、脚本迁移初始化基线</a:t>
              </a:r>
              <a:r>
                <a:rPr lang="zh-CN" altLang="en-US" sz="1100"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rPr>
                <a:t>概念，重要任务为基于基线日对齐双向所有数据及脚本。</a:t>
              </a:r>
              <a:endParaRPr lang="en-US" altLang="zh-CN" sz="1100"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endParaRPr>
            </a:p>
          </p:txBody>
        </p:sp>
        <p:sp>
          <p:nvSpPr>
            <p:cNvPr id="147" name="圆角矩形 146"/>
            <p:cNvSpPr/>
            <p:nvPr/>
          </p:nvSpPr>
          <p:spPr>
            <a:xfrm>
              <a:off x="191344" y="908367"/>
              <a:ext cx="11810157" cy="1447994"/>
            </a:xfrm>
            <a:prstGeom prst="roundRect">
              <a:avLst>
                <a:gd name="adj" fmla="val 1413"/>
              </a:avLst>
            </a:prstGeom>
            <a:noFill/>
            <a:ln>
              <a:solidFill>
                <a:srgbClr val="C00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kumimoji="1" lang="zh-CN" altLang="en-US" sz="800" dirty="0">
                <a:latin typeface="微软雅黑" panose="020B0503020204020204" charset="-122"/>
                <a:ea typeface="微软雅黑" panose="020B0503020204020204" charset="-122"/>
              </a:endParaRPr>
            </a:p>
          </p:txBody>
        </p:sp>
      </p:grpSp>
      <p:grpSp>
        <p:nvGrpSpPr>
          <p:cNvPr id="148" name="组合 147"/>
          <p:cNvGrpSpPr/>
          <p:nvPr/>
        </p:nvGrpSpPr>
        <p:grpSpPr>
          <a:xfrm>
            <a:off x="187764" y="4663937"/>
            <a:ext cx="11810157" cy="1570607"/>
            <a:chOff x="191344" y="908366"/>
            <a:chExt cx="11810157" cy="1682105"/>
          </a:xfrm>
        </p:grpSpPr>
        <p:sp>
          <p:nvSpPr>
            <p:cNvPr id="149" name="Text Placeholder 2"/>
            <p:cNvSpPr txBox="1"/>
            <p:nvPr/>
          </p:nvSpPr>
          <p:spPr>
            <a:xfrm>
              <a:off x="293716" y="937758"/>
              <a:ext cx="11528425" cy="1652713"/>
            </a:xfrm>
            <a:prstGeom prst="rect">
              <a:avLst/>
            </a:prstGeom>
          </p:spPr>
          <p:txBody>
            <a:bodyPr vert="horz" lIns="0" tIns="0" rIns="0" bIns="0"/>
            <a:lstStyle>
              <a:lvl1pPr marL="0" indent="0" algn="ctr" defTabSz="914400" rtl="0" eaLnBrk="1" latinLnBrk="0" hangingPunct="1">
                <a:lnSpc>
                  <a:spcPct val="150000"/>
                </a:lnSpc>
                <a:spcBef>
                  <a:spcPts val="1000"/>
                </a:spcBef>
                <a:buFont typeface="Arial" panose="020B0604020202020204" pitchFamily="34" charset="0"/>
                <a:buNone/>
                <a:defRPr sz="890" kern="1200">
                  <a:solidFill>
                    <a:schemeClr val="tx1">
                      <a:lumMod val="50000"/>
                      <a:lumOff val="50000"/>
                    </a:schemeClr>
                  </a:solidFill>
                  <a:latin typeface="Lato Regular"/>
                  <a:ea typeface="+mn-ea"/>
                  <a:cs typeface="Lato Regular"/>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l" defTabSz="914400">
                <a:spcBef>
                  <a:spcPct val="0"/>
                </a:spcBef>
                <a:buFont typeface="Wingdings" panose="05000000000000000000" charset="0"/>
                <a:buChar char="p"/>
              </a:pPr>
              <a:r>
                <a:rPr lang="zh-CN" altLang="en-US" sz="1200" b="1" dirty="0">
                  <a:solidFill>
                    <a:srgbClr val="404040"/>
                  </a:solidFill>
                  <a:latin typeface="华文楷体" panose="02010600040101010101" pitchFamily="2" charset="-122"/>
                  <a:ea typeface="华文楷体" panose="02010600040101010101" pitchFamily="2" charset="-122"/>
                  <a:cs typeface="仿宋" panose="02010609060101010101" pitchFamily="49" charset="-122"/>
                  <a:sym typeface="+mn-ea"/>
                </a:rPr>
                <a:t>变更追平阶段（在生产环境）</a:t>
              </a:r>
              <a:endParaRPr lang="en-US" altLang="zh-CN" sz="1200" b="1" dirty="0">
                <a:solidFill>
                  <a:srgbClr val="404040"/>
                </a:solidFill>
                <a:latin typeface="华文楷体" panose="02010600040101010101" pitchFamily="2" charset="-122"/>
                <a:ea typeface="华文楷体" panose="02010600040101010101" pitchFamily="2" charset="-122"/>
                <a:cs typeface="仿宋" panose="02010609060101010101" pitchFamily="49" charset="-122"/>
                <a:sym typeface="+mn-ea"/>
              </a:endParaRPr>
            </a:p>
            <a:p>
              <a:pPr marL="285750" indent="-285750" algn="l" defTabSz="914400">
                <a:spcBef>
                  <a:spcPct val="0"/>
                </a:spcBef>
                <a:buFont typeface="Wingdings" panose="05000000000000000000" pitchFamily="2" charset="2"/>
                <a:buChar char="Ø"/>
              </a:pPr>
              <a:r>
                <a:rPr lang="zh-CN" altLang="en-US" sz="1100" b="1"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rPr>
                <a:t>阶段工作说明：</a:t>
              </a:r>
              <a:r>
                <a:rPr lang="zh-CN" altLang="en-US" sz="1100"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rPr>
                <a:t>在生产环境中，使用真实生产设备环境、完整生产数据、完整生产数据对应的时点生产脚本，使用</a:t>
              </a:r>
              <a:r>
                <a:rPr lang="zh-CN" altLang="en-US" sz="1100" u="sng" dirty="0">
                  <a:solidFill>
                    <a:schemeClr val="tx1"/>
                  </a:solidFill>
                  <a:latin typeface="华文楷体" panose="02010600040101010101" pitchFamily="2" charset="-122"/>
                  <a:ea typeface="华文楷体" panose="02010600040101010101" pitchFamily="2" charset="-122"/>
                  <a:cs typeface="仿宋" panose="02010609060101010101" pitchFamily="49" charset="-122"/>
                  <a:sym typeface="+mn-ea"/>
                </a:rPr>
                <a:t>初始化阶段</a:t>
              </a:r>
              <a:r>
                <a:rPr lang="zh-CN" altLang="en-US" sz="1100"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rPr>
                <a:t>的成果。基于初始化基线日至当前的历史基础数据、增量基础数据，使用历史脚本、增量脚本完整运行最近且</a:t>
              </a:r>
              <a:r>
                <a:rPr lang="zh-CN" altLang="en-US" sz="1100" u="sng" dirty="0">
                  <a:solidFill>
                    <a:schemeClr val="tx1"/>
                  </a:solidFill>
                  <a:latin typeface="华文楷体" panose="02010600040101010101" pitchFamily="2" charset="-122"/>
                  <a:ea typeface="华文楷体" panose="02010600040101010101" pitchFamily="2" charset="-122"/>
                  <a:cs typeface="仿宋" panose="02010609060101010101" pitchFamily="49" charset="-122"/>
                  <a:sym typeface="+mn-ea"/>
                </a:rPr>
                <a:t>不少于一周</a:t>
              </a:r>
              <a:r>
                <a:rPr lang="zh-CN" altLang="en-US" sz="1100"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rPr>
                <a:t>的交易日批量，进行全流程追平，实现新旧环境所有数据一致、功能达到预期。</a:t>
              </a:r>
              <a:endParaRPr lang="en-US" altLang="zh-CN" sz="1100"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endParaRPr>
            </a:p>
            <a:p>
              <a:pPr marL="285750" indent="-285750" algn="l" defTabSz="914400">
                <a:spcBef>
                  <a:spcPct val="0"/>
                </a:spcBef>
                <a:buFont typeface="Wingdings" panose="05000000000000000000" pitchFamily="2" charset="2"/>
                <a:buChar char="Ø"/>
              </a:pPr>
              <a:r>
                <a:rPr lang="zh-CN" altLang="en-US" sz="1100" b="1"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rPr>
                <a:t>准出要求：</a:t>
              </a:r>
              <a:r>
                <a:rPr lang="zh-CN" altLang="en-US" sz="1100"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rPr>
                <a:t>需保证所有拟定目标完全贯通，包含软件部署、开发调度流程和基于基线日全量、增量迁移的新旧环境所有数据一致。本环节必须比对新旧环境中真实批量结果，必须一致。</a:t>
              </a:r>
              <a:endParaRPr lang="en-US" altLang="zh-CN" sz="1100"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endParaRPr>
            </a:p>
            <a:p>
              <a:pPr marL="285750" indent="-285750" algn="l" defTabSz="914400">
                <a:spcBef>
                  <a:spcPct val="0"/>
                </a:spcBef>
                <a:buFont typeface="Wingdings" panose="05000000000000000000" pitchFamily="2" charset="2"/>
                <a:buChar char="Ø"/>
              </a:pPr>
              <a:r>
                <a:rPr lang="zh-CN" altLang="en-US" sz="1100" b="1"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rPr>
                <a:t>备注：</a:t>
              </a:r>
              <a:r>
                <a:rPr lang="zh-CN" altLang="en-US" sz="1100" u="sng" dirty="0">
                  <a:solidFill>
                    <a:schemeClr val="tx1"/>
                  </a:solidFill>
                  <a:latin typeface="华文楷体" panose="02010600040101010101" pitchFamily="2" charset="-122"/>
                  <a:ea typeface="华文楷体" panose="02010600040101010101" pitchFamily="2" charset="-122"/>
                  <a:cs typeface="仿宋" panose="02010609060101010101" pitchFamily="49" charset="-122"/>
                  <a:sym typeface="+mn-ea"/>
                </a:rPr>
                <a:t>本阶段务必保障旧环境至少一周内无投产动作，该阶段或有计算结果不一致导致进度出现风险，如出现必然会导致追平窗口延长。如出现此问题，可打开旧环境的投产窗口进行常态化投产，待新环境问题解决后直接进行增量变更同步追批或进行第二次小阶段初始化即可（增量同步变更追批？还是再次初始化？视距离上次初始化的时间周期长度而定）</a:t>
              </a:r>
              <a:r>
                <a:rPr lang="zh-CN" altLang="en-US" sz="1100"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rPr>
                <a:t>。</a:t>
              </a:r>
              <a:endParaRPr lang="en-US" altLang="zh-CN" sz="1100" dirty="0">
                <a:solidFill>
                  <a:srgbClr val="C00000"/>
                </a:solidFill>
                <a:latin typeface="华文楷体" panose="02010600040101010101" pitchFamily="2" charset="-122"/>
                <a:ea typeface="华文楷体" panose="02010600040101010101" pitchFamily="2" charset="-122"/>
                <a:cs typeface="仿宋" panose="02010609060101010101" pitchFamily="49" charset="-122"/>
                <a:sym typeface="+mn-ea"/>
              </a:endParaRPr>
            </a:p>
          </p:txBody>
        </p:sp>
        <p:sp>
          <p:nvSpPr>
            <p:cNvPr id="150" name="圆角矩形 149"/>
            <p:cNvSpPr/>
            <p:nvPr/>
          </p:nvSpPr>
          <p:spPr>
            <a:xfrm>
              <a:off x="191344" y="908366"/>
              <a:ext cx="11810157" cy="1682105"/>
            </a:xfrm>
            <a:prstGeom prst="roundRect">
              <a:avLst>
                <a:gd name="adj" fmla="val 1413"/>
              </a:avLst>
            </a:prstGeom>
            <a:noFill/>
            <a:ln>
              <a:solidFill>
                <a:srgbClr val="C00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kumimoji="1" lang="zh-CN" altLang="en-US" sz="800" dirty="0">
                <a:latin typeface="微软雅黑" panose="020B0503020204020204" charset="-122"/>
                <a:ea typeface="微软雅黑" panose="020B0503020204020204" charset="-122"/>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1.4 </a:t>
            </a:r>
            <a:r>
              <a:rPr lang="zh-CN" altLang="en-US" dirty="0"/>
              <a:t>项目实施计划（包含数据仓库、数据湖</a:t>
            </a:r>
            <a:r>
              <a:rPr lang="en-US" altLang="zh-CN" dirty="0"/>
              <a:t>2023</a:t>
            </a:r>
            <a:r>
              <a:rPr lang="zh-CN" altLang="en-US" dirty="0"/>
              <a:t>年度可完成任务总体节奏）</a:t>
            </a:r>
            <a:endParaRPr lang="zh-CN" altLang="en-US" dirty="0"/>
          </a:p>
        </p:txBody>
      </p:sp>
      <p:grpSp>
        <p:nvGrpSpPr>
          <p:cNvPr id="134" name="组合 133"/>
          <p:cNvGrpSpPr/>
          <p:nvPr/>
        </p:nvGrpSpPr>
        <p:grpSpPr>
          <a:xfrm>
            <a:off x="9911263" y="3056573"/>
            <a:ext cx="1500481" cy="971037"/>
            <a:chOff x="8165914" y="753749"/>
            <a:chExt cx="1716279" cy="971037"/>
          </a:xfrm>
        </p:grpSpPr>
        <p:sp>
          <p:nvSpPr>
            <p:cNvPr id="3" name="矩形 2"/>
            <p:cNvSpPr/>
            <p:nvPr/>
          </p:nvSpPr>
          <p:spPr>
            <a:xfrm>
              <a:off x="8165914" y="753749"/>
              <a:ext cx="1700489" cy="971037"/>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p>
            <a:p>
              <a:pPr algn="ctr"/>
              <a:endParaRPr lang="en-US" altLang="zh-CN" dirty="0"/>
            </a:p>
            <a:p>
              <a:pPr algn="ctr"/>
              <a:endParaRPr lang="zh-CN" altLang="en-US" dirty="0"/>
            </a:p>
          </p:txBody>
        </p:sp>
        <p:sp>
          <p:nvSpPr>
            <p:cNvPr id="35" name="文本框 34"/>
            <p:cNvSpPr txBox="1"/>
            <p:nvPr/>
          </p:nvSpPr>
          <p:spPr>
            <a:xfrm>
              <a:off x="8647418" y="1346838"/>
              <a:ext cx="1218984" cy="276999"/>
            </a:xfrm>
            <a:prstGeom prst="rect">
              <a:avLst/>
            </a:prstGeom>
            <a:noFill/>
          </p:spPr>
          <p:txBody>
            <a:bodyPr wrap="square" rtlCol="0">
              <a:spAutoFit/>
            </a:bodyPr>
            <a:lstStyle/>
            <a:p>
              <a:r>
                <a:rPr lang="zh-CN" altLang="en-US" sz="1200" dirty="0">
                  <a:latin typeface="华文楷体" panose="02010600040101010101" pitchFamily="2" charset="-122"/>
                  <a:ea typeface="华文楷体" panose="02010600040101010101" pitchFamily="2" charset="-122"/>
                </a:rPr>
                <a:t>里程碑汇报</a:t>
              </a:r>
              <a:endParaRPr lang="zh-CN" altLang="en-US" sz="1200" dirty="0">
                <a:latin typeface="华文楷体" panose="02010600040101010101" pitchFamily="2" charset="-122"/>
                <a:ea typeface="华文楷体" panose="02010600040101010101" pitchFamily="2" charset="-122"/>
              </a:endParaRPr>
            </a:p>
          </p:txBody>
        </p:sp>
        <p:sp>
          <p:nvSpPr>
            <p:cNvPr id="38" name="等腰三角形 37"/>
            <p:cNvSpPr/>
            <p:nvPr/>
          </p:nvSpPr>
          <p:spPr>
            <a:xfrm>
              <a:off x="8404117" y="838177"/>
              <a:ext cx="243301" cy="191582"/>
            </a:xfrm>
            <a:prstGeom prst="triangl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p:cNvSpPr txBox="1"/>
            <p:nvPr/>
          </p:nvSpPr>
          <p:spPr>
            <a:xfrm>
              <a:off x="8663209" y="803005"/>
              <a:ext cx="1218984" cy="276999"/>
            </a:xfrm>
            <a:prstGeom prst="rect">
              <a:avLst/>
            </a:prstGeom>
            <a:noFill/>
          </p:spPr>
          <p:txBody>
            <a:bodyPr wrap="square" rtlCol="0">
              <a:spAutoFit/>
            </a:bodyPr>
            <a:lstStyle/>
            <a:p>
              <a:r>
                <a:rPr lang="zh-CN" altLang="en-US" sz="1200" dirty="0">
                  <a:latin typeface="华文楷体" panose="02010600040101010101" pitchFamily="2" charset="-122"/>
                  <a:ea typeface="华文楷体" panose="02010600040101010101" pitchFamily="2" charset="-122"/>
                </a:rPr>
                <a:t>验收节点</a:t>
              </a:r>
              <a:endParaRPr lang="zh-CN" altLang="en-US" sz="1200" dirty="0">
                <a:latin typeface="华文楷体" panose="02010600040101010101" pitchFamily="2" charset="-122"/>
                <a:ea typeface="华文楷体" panose="02010600040101010101" pitchFamily="2" charset="-122"/>
              </a:endParaRPr>
            </a:p>
          </p:txBody>
        </p:sp>
        <p:pic>
          <p:nvPicPr>
            <p:cNvPr id="41" name="图片 40"/>
            <p:cNvPicPr>
              <a:picLocks noChangeAspect="1"/>
            </p:cNvPicPr>
            <p:nvPr/>
          </p:nvPicPr>
          <p:blipFill>
            <a:blip r:embed="rId1"/>
            <a:stretch>
              <a:fillRect/>
            </a:stretch>
          </p:blipFill>
          <p:spPr>
            <a:xfrm>
              <a:off x="8438482" y="1346837"/>
              <a:ext cx="201184" cy="276999"/>
            </a:xfrm>
            <a:prstGeom prst="rect">
              <a:avLst/>
            </a:prstGeom>
          </p:spPr>
        </p:pic>
      </p:grpSp>
      <p:pic>
        <p:nvPicPr>
          <p:cNvPr id="139" name="图片 138"/>
          <p:cNvPicPr>
            <a:picLocks noChangeAspect="1"/>
          </p:cNvPicPr>
          <p:nvPr/>
        </p:nvPicPr>
        <p:blipFill>
          <a:blip r:embed="rId2"/>
          <a:stretch>
            <a:fillRect/>
          </a:stretch>
        </p:blipFill>
        <p:spPr>
          <a:xfrm>
            <a:off x="780256" y="859241"/>
            <a:ext cx="8829241" cy="536570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1.5 </a:t>
            </a:r>
            <a:r>
              <a:rPr lang="zh-CN" altLang="en-US" dirty="0"/>
              <a:t>项目实施细项（</a:t>
            </a:r>
            <a:r>
              <a:rPr lang="en-US" altLang="zh-CN" dirty="0"/>
              <a:t>Q1 by week</a:t>
            </a:r>
            <a:r>
              <a:rPr lang="zh-CN" altLang="en-US" dirty="0"/>
              <a:t>）</a:t>
            </a:r>
            <a:endParaRPr lang="zh-CN" altLang="en-US" dirty="0"/>
          </a:p>
        </p:txBody>
      </p:sp>
      <p:pic>
        <p:nvPicPr>
          <p:cNvPr id="6" name="图片 5"/>
          <p:cNvPicPr>
            <a:picLocks noChangeAspect="1"/>
          </p:cNvPicPr>
          <p:nvPr>
            <p:custDataLst>
              <p:tags r:id="rId1"/>
            </p:custDataLst>
          </p:nvPr>
        </p:nvPicPr>
        <p:blipFill>
          <a:blip r:embed="rId2"/>
          <a:stretch>
            <a:fillRect/>
          </a:stretch>
        </p:blipFill>
        <p:spPr>
          <a:xfrm>
            <a:off x="1396711" y="985386"/>
            <a:ext cx="10364586" cy="569410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1.6 </a:t>
            </a:r>
            <a:r>
              <a:rPr lang="zh-CN" altLang="en-US" dirty="0"/>
              <a:t>平台技术架构</a:t>
            </a:r>
            <a:endParaRPr lang="zh-CN" altLang="en-US" dirty="0"/>
          </a:p>
        </p:txBody>
      </p:sp>
      <p:sp>
        <p:nvSpPr>
          <p:cNvPr id="3" name="圆角矩形 2"/>
          <p:cNvSpPr/>
          <p:nvPr/>
        </p:nvSpPr>
        <p:spPr>
          <a:xfrm>
            <a:off x="5923312" y="1138693"/>
            <a:ext cx="827488" cy="5062829"/>
          </a:xfrm>
          <a:prstGeom prst="roundRect">
            <a:avLst>
              <a:gd name="adj" fmla="val 2863"/>
            </a:avLst>
          </a:prstGeom>
          <a:solidFill>
            <a:schemeClr val="bg1"/>
          </a:solidFill>
          <a:ln w="25400">
            <a:solidFill>
              <a:srgbClr val="C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kumimoji="1" lang="zh-CN" altLang="en-US" sz="800" dirty="0">
              <a:latin typeface="华文楷体" panose="02010600040101010101" pitchFamily="2" charset="-122"/>
              <a:ea typeface="华文楷体" panose="02010600040101010101" pitchFamily="2" charset="-122"/>
            </a:endParaRPr>
          </a:p>
        </p:txBody>
      </p:sp>
      <p:sp>
        <p:nvSpPr>
          <p:cNvPr id="6" name="圆角矩形 5"/>
          <p:cNvSpPr/>
          <p:nvPr/>
        </p:nvSpPr>
        <p:spPr>
          <a:xfrm>
            <a:off x="4435757" y="1138693"/>
            <a:ext cx="1307993" cy="2511660"/>
          </a:xfrm>
          <a:prstGeom prst="roundRect">
            <a:avLst>
              <a:gd name="adj" fmla="val 2863"/>
            </a:avLst>
          </a:prstGeom>
          <a:solidFill>
            <a:schemeClr val="bg1"/>
          </a:solidFill>
          <a:ln w="25400">
            <a:solidFill>
              <a:srgbClr val="C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kumimoji="1" lang="zh-CN" altLang="en-US" sz="800" dirty="0">
              <a:latin typeface="华文楷体" panose="02010600040101010101" pitchFamily="2" charset="-122"/>
              <a:ea typeface="华文楷体" panose="02010600040101010101" pitchFamily="2" charset="-122"/>
            </a:endParaRPr>
          </a:p>
        </p:txBody>
      </p:sp>
      <p:sp>
        <p:nvSpPr>
          <p:cNvPr id="8" name="圆角矩形 7"/>
          <p:cNvSpPr/>
          <p:nvPr/>
        </p:nvSpPr>
        <p:spPr>
          <a:xfrm>
            <a:off x="194377" y="814521"/>
            <a:ext cx="821421" cy="253747"/>
          </a:xfrm>
          <a:prstGeom prst="roundRect">
            <a:avLst>
              <a:gd name="adj" fmla="val 2863"/>
            </a:avLst>
          </a:prstGeom>
          <a:solidFill>
            <a:srgbClr val="C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800" dirty="0">
                <a:latin typeface="华文楷体" panose="02010600040101010101" pitchFamily="2" charset="-122"/>
                <a:ea typeface="华文楷体" panose="02010600040101010101" pitchFamily="2" charset="-122"/>
              </a:rPr>
              <a:t>数据交换</a:t>
            </a:r>
            <a:endParaRPr kumimoji="1" lang="zh-CN" altLang="en-US" sz="800" dirty="0">
              <a:latin typeface="华文楷体" panose="02010600040101010101" pitchFamily="2" charset="-122"/>
              <a:ea typeface="华文楷体" panose="02010600040101010101" pitchFamily="2" charset="-122"/>
            </a:endParaRPr>
          </a:p>
        </p:txBody>
      </p:sp>
      <p:sp>
        <p:nvSpPr>
          <p:cNvPr id="9" name="圆角矩形 8"/>
          <p:cNvSpPr/>
          <p:nvPr/>
        </p:nvSpPr>
        <p:spPr>
          <a:xfrm>
            <a:off x="191344" y="1138693"/>
            <a:ext cx="827488" cy="5062829"/>
          </a:xfrm>
          <a:prstGeom prst="roundRect">
            <a:avLst>
              <a:gd name="adj" fmla="val 2863"/>
            </a:avLst>
          </a:prstGeom>
          <a:noFill/>
          <a:ln>
            <a:solidFill>
              <a:srgbClr val="C00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kumimoji="1" lang="zh-CN" altLang="en-US" sz="800" dirty="0">
              <a:latin typeface="华文楷体" panose="02010600040101010101" pitchFamily="2" charset="-122"/>
              <a:ea typeface="华文楷体" panose="02010600040101010101" pitchFamily="2" charset="-122"/>
            </a:endParaRPr>
          </a:p>
        </p:txBody>
      </p:sp>
      <p:sp>
        <p:nvSpPr>
          <p:cNvPr id="10" name="圆角矩形 9"/>
          <p:cNvSpPr/>
          <p:nvPr/>
        </p:nvSpPr>
        <p:spPr>
          <a:xfrm>
            <a:off x="5926345" y="814521"/>
            <a:ext cx="821421" cy="253747"/>
          </a:xfrm>
          <a:prstGeom prst="roundRect">
            <a:avLst>
              <a:gd name="adj" fmla="val 2863"/>
            </a:avLst>
          </a:prstGeom>
          <a:solidFill>
            <a:srgbClr val="C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800" dirty="0">
                <a:latin typeface="华文楷体" panose="02010600040101010101" pitchFamily="2" charset="-122"/>
                <a:ea typeface="华文楷体" panose="02010600040101010101" pitchFamily="2" charset="-122"/>
              </a:rPr>
              <a:t>服务方式</a:t>
            </a:r>
            <a:endParaRPr kumimoji="1" lang="zh-CN" altLang="en-US" sz="800" dirty="0">
              <a:latin typeface="华文楷体" panose="02010600040101010101" pitchFamily="2" charset="-122"/>
              <a:ea typeface="华文楷体" panose="02010600040101010101" pitchFamily="2" charset="-122"/>
            </a:endParaRPr>
          </a:p>
        </p:txBody>
      </p:sp>
      <p:sp>
        <p:nvSpPr>
          <p:cNvPr id="11" name="圆角矩形 10"/>
          <p:cNvSpPr/>
          <p:nvPr/>
        </p:nvSpPr>
        <p:spPr>
          <a:xfrm>
            <a:off x="6059801" y="2188384"/>
            <a:ext cx="554509" cy="253747"/>
          </a:xfrm>
          <a:prstGeom prst="roundRect">
            <a:avLst>
              <a:gd name="adj" fmla="val 2863"/>
            </a:avLst>
          </a:prstGeom>
          <a:solidFill>
            <a:srgbClr val="40404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kumimoji="1" lang="en-US" altLang="zh-CN" sz="700" dirty="0">
                <a:latin typeface="华文楷体" panose="02010600040101010101" pitchFamily="2" charset="-122"/>
                <a:ea typeface="华文楷体" panose="02010600040101010101" pitchFamily="2" charset="-122"/>
              </a:rPr>
              <a:t>Kafka</a:t>
            </a:r>
            <a:endParaRPr kumimoji="1" lang="zh-CN" altLang="en-US" sz="700" dirty="0">
              <a:latin typeface="华文楷体" panose="02010600040101010101" pitchFamily="2" charset="-122"/>
              <a:ea typeface="华文楷体" panose="02010600040101010101" pitchFamily="2" charset="-122"/>
            </a:endParaRPr>
          </a:p>
        </p:txBody>
      </p:sp>
      <p:sp>
        <p:nvSpPr>
          <p:cNvPr id="12" name="圆角矩形 11"/>
          <p:cNvSpPr/>
          <p:nvPr/>
        </p:nvSpPr>
        <p:spPr>
          <a:xfrm>
            <a:off x="6059801" y="2677767"/>
            <a:ext cx="554509" cy="253747"/>
          </a:xfrm>
          <a:prstGeom prst="roundRect">
            <a:avLst>
              <a:gd name="adj" fmla="val 2863"/>
            </a:avLst>
          </a:prstGeom>
          <a:solidFill>
            <a:srgbClr val="40404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kumimoji="1" lang="en-US" altLang="zh-CN" sz="700" dirty="0" err="1">
                <a:latin typeface="华文楷体" panose="02010600040101010101" pitchFamily="2" charset="-122"/>
                <a:ea typeface="华文楷体" panose="02010600040101010101" pitchFamily="2" charset="-122"/>
              </a:rPr>
              <a:t>RestAPI</a:t>
            </a:r>
            <a:endParaRPr kumimoji="1" lang="zh-CN" altLang="en-US" sz="700" dirty="0">
              <a:latin typeface="华文楷体" panose="02010600040101010101" pitchFamily="2" charset="-122"/>
              <a:ea typeface="华文楷体" panose="02010600040101010101" pitchFamily="2" charset="-122"/>
            </a:endParaRPr>
          </a:p>
        </p:txBody>
      </p:sp>
      <p:sp>
        <p:nvSpPr>
          <p:cNvPr id="13" name="圆角矩形 12"/>
          <p:cNvSpPr/>
          <p:nvPr/>
        </p:nvSpPr>
        <p:spPr>
          <a:xfrm>
            <a:off x="6059801" y="3167150"/>
            <a:ext cx="554509" cy="253747"/>
          </a:xfrm>
          <a:prstGeom prst="roundRect">
            <a:avLst>
              <a:gd name="adj" fmla="val 2863"/>
            </a:avLst>
          </a:prstGeom>
          <a:solidFill>
            <a:srgbClr val="40404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kumimoji="1" lang="en-US" altLang="zh-CN" sz="700" dirty="0">
                <a:latin typeface="华文楷体" panose="02010600040101010101" pitchFamily="2" charset="-122"/>
                <a:ea typeface="华文楷体" panose="02010600040101010101" pitchFamily="2" charset="-122"/>
              </a:rPr>
              <a:t>JDBC</a:t>
            </a:r>
            <a:endParaRPr kumimoji="1" lang="zh-CN" altLang="en-US" sz="700" dirty="0">
              <a:latin typeface="华文楷体" panose="02010600040101010101" pitchFamily="2" charset="-122"/>
              <a:ea typeface="华文楷体" panose="02010600040101010101" pitchFamily="2" charset="-122"/>
            </a:endParaRPr>
          </a:p>
        </p:txBody>
      </p:sp>
      <p:sp>
        <p:nvSpPr>
          <p:cNvPr id="14" name="圆角矩形 13"/>
          <p:cNvSpPr/>
          <p:nvPr/>
        </p:nvSpPr>
        <p:spPr>
          <a:xfrm>
            <a:off x="6059801" y="3656533"/>
            <a:ext cx="554509" cy="253747"/>
          </a:xfrm>
          <a:prstGeom prst="roundRect">
            <a:avLst>
              <a:gd name="adj" fmla="val 2863"/>
            </a:avLst>
          </a:prstGeom>
          <a:solidFill>
            <a:srgbClr val="40404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kumimoji="1" lang="en-US" altLang="zh-CN" sz="700" dirty="0">
                <a:latin typeface="华文楷体" panose="02010600040101010101" pitchFamily="2" charset="-122"/>
                <a:ea typeface="华文楷体" panose="02010600040101010101" pitchFamily="2" charset="-122"/>
              </a:rPr>
              <a:t>ODBC</a:t>
            </a:r>
            <a:endParaRPr kumimoji="1" lang="zh-CN" altLang="en-US" sz="700" dirty="0">
              <a:latin typeface="华文楷体" panose="02010600040101010101" pitchFamily="2" charset="-122"/>
              <a:ea typeface="华文楷体" panose="02010600040101010101" pitchFamily="2" charset="-122"/>
            </a:endParaRPr>
          </a:p>
        </p:txBody>
      </p:sp>
      <p:sp>
        <p:nvSpPr>
          <p:cNvPr id="15" name="圆角矩形 14"/>
          <p:cNvSpPr/>
          <p:nvPr/>
        </p:nvSpPr>
        <p:spPr>
          <a:xfrm>
            <a:off x="6059801" y="4145917"/>
            <a:ext cx="554509" cy="253747"/>
          </a:xfrm>
          <a:prstGeom prst="roundRect">
            <a:avLst>
              <a:gd name="adj" fmla="val 2863"/>
            </a:avLst>
          </a:prstGeom>
          <a:solidFill>
            <a:srgbClr val="40404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kumimoji="1" lang="en-US" altLang="zh-CN" sz="700" dirty="0">
                <a:latin typeface="华文楷体" panose="02010600040101010101" pitchFamily="2" charset="-122"/>
                <a:ea typeface="华文楷体" panose="02010600040101010101" pitchFamily="2" charset="-122"/>
              </a:rPr>
              <a:t>NAS</a:t>
            </a:r>
            <a:endParaRPr kumimoji="1" lang="zh-CN" altLang="en-US" sz="700" dirty="0">
              <a:latin typeface="华文楷体" panose="02010600040101010101" pitchFamily="2" charset="-122"/>
              <a:ea typeface="华文楷体" panose="02010600040101010101" pitchFamily="2" charset="-122"/>
            </a:endParaRPr>
          </a:p>
        </p:txBody>
      </p:sp>
      <p:sp>
        <p:nvSpPr>
          <p:cNvPr id="16" name="圆角矩形 15"/>
          <p:cNvSpPr/>
          <p:nvPr/>
        </p:nvSpPr>
        <p:spPr>
          <a:xfrm>
            <a:off x="6059801" y="4635301"/>
            <a:ext cx="554509" cy="253747"/>
          </a:xfrm>
          <a:prstGeom prst="roundRect">
            <a:avLst>
              <a:gd name="adj" fmla="val 2863"/>
            </a:avLst>
          </a:prstGeom>
          <a:solidFill>
            <a:srgbClr val="40404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kumimoji="1" lang="en-US" altLang="zh-CN" sz="700" dirty="0">
                <a:latin typeface="华文楷体" panose="02010600040101010101" pitchFamily="2" charset="-122"/>
                <a:ea typeface="华文楷体" panose="02010600040101010101" pitchFamily="2" charset="-122"/>
              </a:rPr>
              <a:t>FTP</a:t>
            </a:r>
            <a:endParaRPr kumimoji="1" lang="zh-CN" altLang="en-US" sz="700" dirty="0">
              <a:latin typeface="华文楷体" panose="02010600040101010101" pitchFamily="2" charset="-122"/>
              <a:ea typeface="华文楷体" panose="02010600040101010101" pitchFamily="2" charset="-122"/>
            </a:endParaRPr>
          </a:p>
        </p:txBody>
      </p:sp>
      <p:sp>
        <p:nvSpPr>
          <p:cNvPr id="17" name="圆角矩形 16"/>
          <p:cNvSpPr/>
          <p:nvPr/>
        </p:nvSpPr>
        <p:spPr>
          <a:xfrm>
            <a:off x="7125667" y="1575181"/>
            <a:ext cx="554509" cy="253747"/>
          </a:xfrm>
          <a:prstGeom prst="roundRect">
            <a:avLst>
              <a:gd name="adj" fmla="val 2863"/>
            </a:avLst>
          </a:prstGeom>
          <a:solidFill>
            <a:srgbClr val="40404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kumimoji="1" lang="zh-CN" altLang="en-US" sz="700" dirty="0">
                <a:latin typeface="华文楷体" panose="02010600040101010101" pitchFamily="2" charset="-122"/>
                <a:ea typeface="华文楷体" panose="02010600040101010101" pitchFamily="2" charset="-122"/>
              </a:rPr>
              <a:t>经营</a:t>
            </a:r>
            <a:endParaRPr kumimoji="1" lang="zh-CN" altLang="en-US" sz="700" dirty="0">
              <a:latin typeface="华文楷体" panose="02010600040101010101" pitchFamily="2" charset="-122"/>
              <a:ea typeface="华文楷体" panose="02010600040101010101" pitchFamily="2" charset="-122"/>
            </a:endParaRPr>
          </a:p>
        </p:txBody>
      </p:sp>
      <p:sp>
        <p:nvSpPr>
          <p:cNvPr id="18" name="圆角矩形 17"/>
          <p:cNvSpPr/>
          <p:nvPr/>
        </p:nvSpPr>
        <p:spPr>
          <a:xfrm>
            <a:off x="7125667" y="2029133"/>
            <a:ext cx="554509" cy="253747"/>
          </a:xfrm>
          <a:prstGeom prst="roundRect">
            <a:avLst>
              <a:gd name="adj" fmla="val 2863"/>
            </a:avLst>
          </a:prstGeom>
          <a:solidFill>
            <a:srgbClr val="40404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kumimoji="1" lang="zh-CN" altLang="en-US" sz="700" dirty="0">
                <a:latin typeface="华文楷体" panose="02010600040101010101" pitchFamily="2" charset="-122"/>
                <a:ea typeface="华文楷体" panose="02010600040101010101" pitchFamily="2" charset="-122"/>
              </a:rPr>
              <a:t>风控</a:t>
            </a:r>
            <a:endParaRPr kumimoji="1" lang="zh-CN" altLang="en-US" sz="700" dirty="0">
              <a:latin typeface="华文楷体" panose="02010600040101010101" pitchFamily="2" charset="-122"/>
              <a:ea typeface="华文楷体" panose="02010600040101010101" pitchFamily="2" charset="-122"/>
            </a:endParaRPr>
          </a:p>
        </p:txBody>
      </p:sp>
      <p:sp>
        <p:nvSpPr>
          <p:cNvPr id="19" name="圆角矩形 18"/>
          <p:cNvSpPr/>
          <p:nvPr/>
        </p:nvSpPr>
        <p:spPr>
          <a:xfrm>
            <a:off x="7125667" y="2483085"/>
            <a:ext cx="554509" cy="253747"/>
          </a:xfrm>
          <a:prstGeom prst="roundRect">
            <a:avLst>
              <a:gd name="adj" fmla="val 2863"/>
            </a:avLst>
          </a:prstGeom>
          <a:solidFill>
            <a:srgbClr val="40404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kumimoji="1" lang="zh-CN" altLang="en-US" sz="700" dirty="0">
                <a:latin typeface="华文楷体" panose="02010600040101010101" pitchFamily="2" charset="-122"/>
                <a:ea typeface="华文楷体" panose="02010600040101010101" pitchFamily="2" charset="-122"/>
              </a:rPr>
              <a:t>运营</a:t>
            </a:r>
            <a:endParaRPr kumimoji="1" lang="zh-CN" altLang="en-US" sz="700" dirty="0">
              <a:latin typeface="华文楷体" panose="02010600040101010101" pitchFamily="2" charset="-122"/>
              <a:ea typeface="华文楷体" panose="02010600040101010101" pitchFamily="2" charset="-122"/>
            </a:endParaRPr>
          </a:p>
        </p:txBody>
      </p:sp>
      <p:sp>
        <p:nvSpPr>
          <p:cNvPr id="20" name="圆角矩形 19"/>
          <p:cNvSpPr/>
          <p:nvPr/>
        </p:nvSpPr>
        <p:spPr>
          <a:xfrm>
            <a:off x="7125667" y="2937038"/>
            <a:ext cx="554509" cy="253747"/>
          </a:xfrm>
          <a:prstGeom prst="roundRect">
            <a:avLst>
              <a:gd name="adj" fmla="val 2863"/>
            </a:avLst>
          </a:prstGeom>
          <a:solidFill>
            <a:srgbClr val="40404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kumimoji="1" lang="zh-CN" altLang="en-US" sz="700" dirty="0">
                <a:latin typeface="华文楷体" panose="02010600040101010101" pitchFamily="2" charset="-122"/>
                <a:ea typeface="华文楷体" panose="02010600040101010101" pitchFamily="2" charset="-122"/>
              </a:rPr>
              <a:t>监管</a:t>
            </a:r>
            <a:endParaRPr kumimoji="1" lang="zh-CN" altLang="en-US" sz="700" dirty="0">
              <a:latin typeface="华文楷体" panose="02010600040101010101" pitchFamily="2" charset="-122"/>
              <a:ea typeface="华文楷体" panose="02010600040101010101" pitchFamily="2" charset="-122"/>
            </a:endParaRPr>
          </a:p>
        </p:txBody>
      </p:sp>
      <p:sp>
        <p:nvSpPr>
          <p:cNvPr id="21" name="圆角矩形 20"/>
          <p:cNvSpPr/>
          <p:nvPr/>
        </p:nvSpPr>
        <p:spPr>
          <a:xfrm>
            <a:off x="6938664" y="814521"/>
            <a:ext cx="916734" cy="253747"/>
          </a:xfrm>
          <a:prstGeom prst="roundRect">
            <a:avLst>
              <a:gd name="adj" fmla="val 2863"/>
            </a:avLst>
          </a:prstGeom>
          <a:solidFill>
            <a:srgbClr val="C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800" dirty="0">
                <a:latin typeface="华文楷体" panose="02010600040101010101" pitchFamily="2" charset="-122"/>
                <a:ea typeface="华文楷体" panose="02010600040101010101" pitchFamily="2" charset="-122"/>
              </a:rPr>
              <a:t>下游应用</a:t>
            </a:r>
            <a:endParaRPr kumimoji="1" lang="zh-CN" altLang="en-US" sz="800" dirty="0">
              <a:latin typeface="华文楷体" panose="02010600040101010101" pitchFamily="2" charset="-122"/>
              <a:ea typeface="华文楷体" panose="02010600040101010101" pitchFamily="2" charset="-122"/>
            </a:endParaRPr>
          </a:p>
        </p:txBody>
      </p:sp>
      <p:sp>
        <p:nvSpPr>
          <p:cNvPr id="22" name="圆角矩形 21"/>
          <p:cNvSpPr/>
          <p:nvPr/>
        </p:nvSpPr>
        <p:spPr>
          <a:xfrm>
            <a:off x="6935631" y="1144223"/>
            <a:ext cx="919767" cy="5062829"/>
          </a:xfrm>
          <a:prstGeom prst="roundRect">
            <a:avLst>
              <a:gd name="adj" fmla="val 2863"/>
            </a:avLst>
          </a:prstGeom>
          <a:noFill/>
          <a:ln>
            <a:solidFill>
              <a:srgbClr val="C00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kumimoji="1" lang="zh-CN" altLang="en-US" sz="800" dirty="0">
              <a:latin typeface="华文楷体" panose="02010600040101010101" pitchFamily="2" charset="-122"/>
              <a:ea typeface="华文楷体" panose="02010600040101010101" pitchFamily="2" charset="-122"/>
            </a:endParaRPr>
          </a:p>
        </p:txBody>
      </p:sp>
      <p:cxnSp>
        <p:nvCxnSpPr>
          <p:cNvPr id="23" name="直线箭头连接符 22"/>
          <p:cNvCxnSpPr/>
          <p:nvPr/>
        </p:nvCxnSpPr>
        <p:spPr>
          <a:xfrm>
            <a:off x="1010152" y="3457180"/>
            <a:ext cx="197348" cy="0"/>
          </a:xfrm>
          <a:prstGeom prst="straightConnector1">
            <a:avLst/>
          </a:prstGeom>
          <a:ln w="22225">
            <a:solidFill>
              <a:srgbClr val="C00000"/>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24" name="直线箭头连接符 23"/>
          <p:cNvCxnSpPr/>
          <p:nvPr/>
        </p:nvCxnSpPr>
        <p:spPr>
          <a:xfrm>
            <a:off x="5733213" y="2665092"/>
            <a:ext cx="197348" cy="0"/>
          </a:xfrm>
          <a:prstGeom prst="straightConnector1">
            <a:avLst/>
          </a:prstGeom>
          <a:ln w="22225">
            <a:solidFill>
              <a:srgbClr val="C00000"/>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25" name="直线箭头连接符 24"/>
          <p:cNvCxnSpPr/>
          <p:nvPr/>
        </p:nvCxnSpPr>
        <p:spPr>
          <a:xfrm>
            <a:off x="6742818" y="3457180"/>
            <a:ext cx="197348" cy="0"/>
          </a:xfrm>
          <a:prstGeom prst="straightConnector1">
            <a:avLst/>
          </a:prstGeom>
          <a:ln w="22225">
            <a:solidFill>
              <a:srgbClr val="C00000"/>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sp>
        <p:nvSpPr>
          <p:cNvPr id="26" name="圆角矩形 25"/>
          <p:cNvSpPr/>
          <p:nvPr/>
        </p:nvSpPr>
        <p:spPr>
          <a:xfrm>
            <a:off x="1204138" y="814521"/>
            <a:ext cx="4534876" cy="253747"/>
          </a:xfrm>
          <a:prstGeom prst="roundRect">
            <a:avLst>
              <a:gd name="adj" fmla="val 2863"/>
            </a:avLst>
          </a:prstGeom>
          <a:solidFill>
            <a:srgbClr val="C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800" dirty="0">
                <a:latin typeface="华文楷体" panose="02010600040101010101" pitchFamily="2" charset="-122"/>
                <a:ea typeface="华文楷体" panose="02010600040101010101" pitchFamily="2" charset="-122"/>
              </a:rPr>
              <a:t>数据处理</a:t>
            </a:r>
            <a:endParaRPr kumimoji="1" lang="zh-CN" altLang="en-US" sz="800" dirty="0">
              <a:latin typeface="华文楷体" panose="02010600040101010101" pitchFamily="2" charset="-122"/>
              <a:ea typeface="华文楷体" panose="02010600040101010101" pitchFamily="2" charset="-122"/>
            </a:endParaRPr>
          </a:p>
        </p:txBody>
      </p:sp>
      <p:cxnSp>
        <p:nvCxnSpPr>
          <p:cNvPr id="27" name="直线箭头连接符 26"/>
          <p:cNvCxnSpPr/>
          <p:nvPr/>
        </p:nvCxnSpPr>
        <p:spPr>
          <a:xfrm>
            <a:off x="4243145" y="2665092"/>
            <a:ext cx="197348" cy="0"/>
          </a:xfrm>
          <a:prstGeom prst="straightConnector1">
            <a:avLst/>
          </a:prstGeom>
          <a:ln w="22225">
            <a:solidFill>
              <a:srgbClr val="C00000"/>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3180406" y="5568158"/>
            <a:ext cx="543739" cy="200054"/>
          </a:xfrm>
          <a:prstGeom prst="rect">
            <a:avLst/>
          </a:prstGeom>
          <a:noFill/>
        </p:spPr>
        <p:txBody>
          <a:bodyPr wrap="none" rtlCol="0">
            <a:spAutoFit/>
          </a:bodyPr>
          <a:lstStyle/>
          <a:p>
            <a:r>
              <a:rPr kumimoji="1" lang="zh-CN" altLang="en-US" sz="700" b="1" dirty="0">
                <a:solidFill>
                  <a:schemeClr val="tx1">
                    <a:lumMod val="75000"/>
                    <a:lumOff val="25000"/>
                  </a:schemeClr>
                </a:solidFill>
                <a:latin typeface="华文楷体" panose="02010600040101010101" pitchFamily="2" charset="-122"/>
                <a:ea typeface="华文楷体" panose="02010600040101010101" pitchFamily="2" charset="-122"/>
              </a:rPr>
              <a:t>基础设施</a:t>
            </a:r>
            <a:endParaRPr kumimoji="1" lang="zh-CN" altLang="en-US" sz="700" b="1"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29" name="文本框 28"/>
          <p:cNvSpPr txBox="1"/>
          <p:nvPr/>
        </p:nvSpPr>
        <p:spPr>
          <a:xfrm>
            <a:off x="1327047" y="5849414"/>
            <a:ext cx="633507" cy="200054"/>
          </a:xfrm>
          <a:prstGeom prst="rect">
            <a:avLst/>
          </a:prstGeom>
          <a:noFill/>
        </p:spPr>
        <p:txBody>
          <a:bodyPr wrap="none" rtlCol="0">
            <a:spAutoFit/>
          </a:bodyPr>
          <a:lstStyle/>
          <a:p>
            <a:r>
              <a:rPr kumimoji="1" lang="zh-CN" altLang="en-US" sz="700" dirty="0">
                <a:solidFill>
                  <a:schemeClr val="tx1">
                    <a:lumMod val="75000"/>
                    <a:lumOff val="25000"/>
                  </a:schemeClr>
                </a:solidFill>
                <a:latin typeface="华文楷体" panose="02010600040101010101" pitchFamily="2" charset="-122"/>
                <a:ea typeface="华文楷体" panose="02010600040101010101" pitchFamily="2" charset="-122"/>
              </a:rPr>
              <a:t>信创物理机</a:t>
            </a:r>
            <a:endParaRPr kumimoji="1" lang="zh-CN" altLang="en-US" sz="700"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30" name="文本框 29"/>
          <p:cNvSpPr txBox="1"/>
          <p:nvPr/>
        </p:nvSpPr>
        <p:spPr>
          <a:xfrm>
            <a:off x="3054369" y="5849414"/>
            <a:ext cx="638316" cy="200054"/>
          </a:xfrm>
          <a:prstGeom prst="rect">
            <a:avLst/>
          </a:prstGeom>
          <a:noFill/>
        </p:spPr>
        <p:txBody>
          <a:bodyPr wrap="none" rtlCol="0">
            <a:spAutoFit/>
          </a:bodyPr>
          <a:lstStyle/>
          <a:p>
            <a:r>
              <a:rPr kumimoji="1" lang="zh-CN" altLang="en-US" sz="700" dirty="0">
                <a:solidFill>
                  <a:schemeClr val="tx1">
                    <a:lumMod val="75000"/>
                    <a:lumOff val="25000"/>
                  </a:schemeClr>
                </a:solidFill>
                <a:latin typeface="华文楷体" panose="02010600040101010101" pitchFamily="2" charset="-122"/>
                <a:ea typeface="华文楷体" panose="02010600040101010101" pitchFamily="2" charset="-122"/>
              </a:rPr>
              <a:t>信创虚拟机</a:t>
            </a:r>
            <a:endParaRPr kumimoji="1" lang="zh-CN" altLang="en-US" sz="700"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31" name="文本框 30"/>
          <p:cNvSpPr txBox="1"/>
          <p:nvPr/>
        </p:nvSpPr>
        <p:spPr>
          <a:xfrm>
            <a:off x="4805692" y="5849414"/>
            <a:ext cx="633507" cy="200054"/>
          </a:xfrm>
          <a:prstGeom prst="rect">
            <a:avLst/>
          </a:prstGeom>
          <a:noFill/>
        </p:spPr>
        <p:txBody>
          <a:bodyPr wrap="none" rtlCol="0">
            <a:spAutoFit/>
          </a:bodyPr>
          <a:lstStyle/>
          <a:p>
            <a:r>
              <a:rPr kumimoji="1" lang="zh-CN" altLang="en-US" sz="700" dirty="0">
                <a:solidFill>
                  <a:schemeClr val="tx1">
                    <a:lumMod val="75000"/>
                    <a:lumOff val="25000"/>
                  </a:schemeClr>
                </a:solidFill>
                <a:latin typeface="华文楷体" panose="02010600040101010101" pitchFamily="2" charset="-122"/>
                <a:ea typeface="华文楷体" panose="02010600040101010101" pitchFamily="2" charset="-122"/>
              </a:rPr>
              <a:t>信创金融云</a:t>
            </a:r>
            <a:endParaRPr kumimoji="1" lang="zh-CN" altLang="en-US" sz="700"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32" name="圆角矩形 31"/>
          <p:cNvSpPr/>
          <p:nvPr/>
        </p:nvSpPr>
        <p:spPr>
          <a:xfrm>
            <a:off x="1203101" y="5544076"/>
            <a:ext cx="4535186" cy="657445"/>
          </a:xfrm>
          <a:prstGeom prst="roundRect">
            <a:avLst>
              <a:gd name="adj" fmla="val 2863"/>
            </a:avLst>
          </a:prstGeom>
          <a:noFill/>
          <a:ln>
            <a:solidFill>
              <a:srgbClr val="C00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kumimoji="1" lang="zh-CN" altLang="en-US" sz="800" dirty="0">
              <a:latin typeface="华文楷体" panose="02010600040101010101" pitchFamily="2" charset="-122"/>
              <a:ea typeface="华文楷体" panose="02010600040101010101" pitchFamily="2" charset="-122"/>
            </a:endParaRPr>
          </a:p>
        </p:txBody>
      </p:sp>
      <p:pic>
        <p:nvPicPr>
          <p:cNvPr id="33" name="图片 32"/>
          <p:cNvPicPr>
            <a:picLocks noChangeAspect="1"/>
          </p:cNvPicPr>
          <p:nvPr/>
        </p:nvPicPr>
        <p:blipFill>
          <a:blip r:embed="rId1"/>
          <a:stretch>
            <a:fillRect/>
          </a:stretch>
        </p:blipFill>
        <p:spPr>
          <a:xfrm>
            <a:off x="5397915" y="5843520"/>
            <a:ext cx="183570" cy="234883"/>
          </a:xfrm>
          <a:prstGeom prst="rect">
            <a:avLst/>
          </a:prstGeom>
        </p:spPr>
      </p:pic>
      <p:pic>
        <p:nvPicPr>
          <p:cNvPr id="34" name="图片 33"/>
          <p:cNvPicPr>
            <a:picLocks noChangeAspect="1"/>
          </p:cNvPicPr>
          <p:nvPr/>
        </p:nvPicPr>
        <p:blipFill>
          <a:blip r:embed="rId2"/>
          <a:stretch>
            <a:fillRect/>
          </a:stretch>
        </p:blipFill>
        <p:spPr>
          <a:xfrm>
            <a:off x="3648631" y="5843520"/>
            <a:ext cx="199880" cy="255751"/>
          </a:xfrm>
          <a:prstGeom prst="rect">
            <a:avLst/>
          </a:prstGeom>
        </p:spPr>
      </p:pic>
      <p:pic>
        <p:nvPicPr>
          <p:cNvPr id="35" name="图片 34"/>
          <p:cNvPicPr>
            <a:picLocks noChangeAspect="1"/>
          </p:cNvPicPr>
          <p:nvPr/>
        </p:nvPicPr>
        <p:blipFill>
          <a:blip r:embed="rId3"/>
          <a:stretch>
            <a:fillRect/>
          </a:stretch>
        </p:blipFill>
        <p:spPr>
          <a:xfrm>
            <a:off x="1923634" y="5843520"/>
            <a:ext cx="175592" cy="224674"/>
          </a:xfrm>
          <a:prstGeom prst="rect">
            <a:avLst/>
          </a:prstGeom>
        </p:spPr>
      </p:pic>
      <p:sp>
        <p:nvSpPr>
          <p:cNvPr id="36" name="文本框 35"/>
          <p:cNvSpPr txBox="1"/>
          <p:nvPr/>
        </p:nvSpPr>
        <p:spPr>
          <a:xfrm>
            <a:off x="4535639" y="1246569"/>
            <a:ext cx="1074333" cy="276999"/>
          </a:xfrm>
          <a:prstGeom prst="rect">
            <a:avLst/>
          </a:prstGeom>
          <a:noFill/>
        </p:spPr>
        <p:txBody>
          <a:bodyPr wrap="none" rtlCol="0">
            <a:spAutoFit/>
          </a:bodyPr>
          <a:lstStyle/>
          <a:p>
            <a:pPr algn="ctr"/>
            <a:r>
              <a:rPr kumimoji="1" lang="zh-CN" altLang="en-US" sz="700" b="1" dirty="0">
                <a:solidFill>
                  <a:srgbClr val="C00000"/>
                </a:solidFill>
                <a:latin typeface="华文楷体" panose="02010600040101010101" pitchFamily="2" charset="-122"/>
                <a:ea typeface="华文楷体" panose="02010600040101010101" pitchFamily="2" charset="-122"/>
              </a:rPr>
              <a:t>湖仓一体虚拟计算集群</a:t>
            </a:r>
            <a:endParaRPr kumimoji="1" lang="en-US" altLang="zh-CN" sz="700" b="1" dirty="0">
              <a:solidFill>
                <a:srgbClr val="C00000"/>
              </a:solidFill>
              <a:latin typeface="华文楷体" panose="02010600040101010101" pitchFamily="2" charset="-122"/>
              <a:ea typeface="华文楷体" panose="02010600040101010101" pitchFamily="2" charset="-122"/>
            </a:endParaRPr>
          </a:p>
          <a:p>
            <a:pPr algn="ctr"/>
            <a:r>
              <a:rPr kumimoji="1" lang="en-US" altLang="zh-CN" sz="500" dirty="0">
                <a:solidFill>
                  <a:srgbClr val="C00000"/>
                </a:solidFill>
                <a:latin typeface="华文楷体" panose="02010600040101010101" pitchFamily="2" charset="-122"/>
                <a:ea typeface="华文楷体" panose="02010600040101010101" pitchFamily="2" charset="-122"/>
              </a:rPr>
              <a:t>Virtual</a:t>
            </a:r>
            <a:r>
              <a:rPr kumimoji="1" lang="zh-CN" altLang="en-US" sz="500" dirty="0">
                <a:solidFill>
                  <a:srgbClr val="C00000"/>
                </a:solidFill>
                <a:latin typeface="华文楷体" panose="02010600040101010101" pitchFamily="2" charset="-122"/>
                <a:ea typeface="华文楷体" panose="02010600040101010101" pitchFamily="2" charset="-122"/>
              </a:rPr>
              <a:t> </a:t>
            </a:r>
            <a:r>
              <a:rPr kumimoji="1" lang="en-US" altLang="zh-CN" sz="500" dirty="0">
                <a:solidFill>
                  <a:srgbClr val="C00000"/>
                </a:solidFill>
                <a:latin typeface="华文楷体" panose="02010600040101010101" pitchFamily="2" charset="-122"/>
                <a:ea typeface="华文楷体" panose="02010600040101010101" pitchFamily="2" charset="-122"/>
              </a:rPr>
              <a:t>Compute</a:t>
            </a:r>
            <a:r>
              <a:rPr kumimoji="1" lang="zh-CN" altLang="en-US" sz="500" dirty="0">
                <a:solidFill>
                  <a:srgbClr val="C00000"/>
                </a:solidFill>
                <a:latin typeface="华文楷体" panose="02010600040101010101" pitchFamily="2" charset="-122"/>
                <a:ea typeface="华文楷体" panose="02010600040101010101" pitchFamily="2" charset="-122"/>
              </a:rPr>
              <a:t> </a:t>
            </a:r>
            <a:r>
              <a:rPr kumimoji="1" lang="en-US" altLang="zh-CN" sz="500" dirty="0">
                <a:solidFill>
                  <a:srgbClr val="C00000"/>
                </a:solidFill>
                <a:latin typeface="华文楷体" panose="02010600040101010101" pitchFamily="2" charset="-122"/>
                <a:ea typeface="华文楷体" panose="02010600040101010101" pitchFamily="2" charset="-122"/>
              </a:rPr>
              <a:t>Cluster</a:t>
            </a:r>
            <a:r>
              <a:rPr kumimoji="1" lang="zh-CN" altLang="en-US" sz="500" dirty="0">
                <a:solidFill>
                  <a:srgbClr val="C00000"/>
                </a:solidFill>
                <a:latin typeface="华文楷体" panose="02010600040101010101" pitchFamily="2" charset="-122"/>
                <a:ea typeface="华文楷体" panose="02010600040101010101" pitchFamily="2" charset="-122"/>
              </a:rPr>
              <a:t> </a:t>
            </a:r>
            <a:r>
              <a:rPr kumimoji="1" lang="en-US" altLang="zh-CN" sz="500" dirty="0">
                <a:solidFill>
                  <a:srgbClr val="C00000"/>
                </a:solidFill>
                <a:latin typeface="华文楷体" panose="02010600040101010101" pitchFamily="2" charset="-122"/>
                <a:ea typeface="华文楷体" panose="02010600040101010101" pitchFamily="2" charset="-122"/>
              </a:rPr>
              <a:t>(VC</a:t>
            </a:r>
            <a:r>
              <a:rPr kumimoji="1" lang="en-US" altLang="zh-CN" sz="500" dirty="0">
                <a:solidFill>
                  <a:schemeClr val="tx1">
                    <a:lumMod val="75000"/>
                    <a:lumOff val="25000"/>
                  </a:schemeClr>
                </a:solidFill>
                <a:latin typeface="华文楷体" panose="02010600040101010101" pitchFamily="2" charset="-122"/>
                <a:ea typeface="华文楷体" panose="02010600040101010101" pitchFamily="2" charset="-122"/>
              </a:rPr>
              <a:t>)</a:t>
            </a:r>
            <a:endParaRPr kumimoji="1" lang="zh-CN" altLang="en-US" sz="500" dirty="0">
              <a:solidFill>
                <a:schemeClr val="tx1">
                  <a:lumMod val="75000"/>
                  <a:lumOff val="25000"/>
                </a:schemeClr>
              </a:solidFill>
              <a:latin typeface="华文楷体" panose="02010600040101010101" pitchFamily="2" charset="-122"/>
              <a:ea typeface="华文楷体" panose="02010600040101010101" pitchFamily="2" charset="-122"/>
            </a:endParaRPr>
          </a:p>
        </p:txBody>
      </p:sp>
      <p:grpSp>
        <p:nvGrpSpPr>
          <p:cNvPr id="37" name="组合 36"/>
          <p:cNvGrpSpPr/>
          <p:nvPr/>
        </p:nvGrpSpPr>
        <p:grpSpPr>
          <a:xfrm>
            <a:off x="4439098" y="1510172"/>
            <a:ext cx="1311576" cy="828238"/>
            <a:chOff x="6993200" y="3108670"/>
            <a:chExt cx="1223218" cy="603695"/>
          </a:xfrm>
        </p:grpSpPr>
        <p:grpSp>
          <p:nvGrpSpPr>
            <p:cNvPr id="38" name="组合 37"/>
            <p:cNvGrpSpPr/>
            <p:nvPr/>
          </p:nvGrpSpPr>
          <p:grpSpPr>
            <a:xfrm>
              <a:off x="7106803" y="3297438"/>
              <a:ext cx="473644" cy="249583"/>
              <a:chOff x="7106803" y="3297438"/>
              <a:chExt cx="473644" cy="249583"/>
            </a:xfrm>
          </p:grpSpPr>
          <p:sp>
            <p:nvSpPr>
              <p:cNvPr id="49" name="圆角矩形 48"/>
              <p:cNvSpPr/>
              <p:nvPr/>
            </p:nvSpPr>
            <p:spPr>
              <a:xfrm>
                <a:off x="7106803" y="3297438"/>
                <a:ext cx="473644" cy="249583"/>
              </a:xfrm>
              <a:prstGeom prst="roundRect">
                <a:avLst>
                  <a:gd name="adj" fmla="val 2863"/>
                </a:avLst>
              </a:prstGeom>
              <a:gradFill flip="none" rotWithShape="1">
                <a:gsLst>
                  <a:gs pos="0">
                    <a:srgbClr val="BED1F9"/>
                  </a:gs>
                  <a:gs pos="100000">
                    <a:srgbClr val="E8EFFC"/>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tIns="46800" bIns="46800" rtlCol="0" anchor="t" anchorCtr="0"/>
              <a:lstStyle/>
              <a:p>
                <a:pPr algn="ctr"/>
                <a:r>
                  <a:rPr kumimoji="1" lang="zh-CN" altLang="en-US" sz="500" dirty="0">
                    <a:solidFill>
                      <a:schemeClr val="tx1">
                        <a:lumMod val="75000"/>
                        <a:lumOff val="25000"/>
                      </a:schemeClr>
                    </a:solidFill>
                    <a:latin typeface="华文楷体" panose="02010600040101010101" pitchFamily="2" charset="-122"/>
                    <a:ea typeface="华文楷体" panose="02010600040101010101" pitchFamily="2" charset="-122"/>
                  </a:rPr>
                  <a:t>湖仓 实例</a:t>
                </a:r>
                <a:endParaRPr kumimoji="1" lang="zh-CN" altLang="en-US" sz="500"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50" name="圆角矩形 49"/>
              <p:cNvSpPr/>
              <p:nvPr/>
            </p:nvSpPr>
            <p:spPr>
              <a:xfrm>
                <a:off x="7133957" y="3448202"/>
                <a:ext cx="200960" cy="70796"/>
              </a:xfrm>
              <a:prstGeom prst="roundRect">
                <a:avLst>
                  <a:gd name="adj" fmla="val 2863"/>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rPr>
                  <a:t>计算节点</a:t>
                </a:r>
                <a:endPar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51" name="圆角矩形 50"/>
              <p:cNvSpPr/>
              <p:nvPr/>
            </p:nvSpPr>
            <p:spPr>
              <a:xfrm>
                <a:off x="7358058" y="3448202"/>
                <a:ext cx="200960" cy="70796"/>
              </a:xfrm>
              <a:prstGeom prst="roundRect">
                <a:avLst>
                  <a:gd name="adj" fmla="val 2863"/>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rPr>
                  <a:t>计算节点</a:t>
                </a:r>
                <a:endPar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endParaRPr>
              </a:p>
            </p:txBody>
          </p:sp>
        </p:grpSp>
        <p:grpSp>
          <p:nvGrpSpPr>
            <p:cNvPr id="39" name="组合 38"/>
            <p:cNvGrpSpPr/>
            <p:nvPr/>
          </p:nvGrpSpPr>
          <p:grpSpPr>
            <a:xfrm>
              <a:off x="7621421" y="3297437"/>
              <a:ext cx="473644" cy="249583"/>
              <a:chOff x="7106803" y="3297438"/>
              <a:chExt cx="473644" cy="249583"/>
            </a:xfrm>
          </p:grpSpPr>
          <p:sp>
            <p:nvSpPr>
              <p:cNvPr id="46" name="圆角矩形 45"/>
              <p:cNvSpPr/>
              <p:nvPr/>
            </p:nvSpPr>
            <p:spPr>
              <a:xfrm>
                <a:off x="7106803" y="3297438"/>
                <a:ext cx="473644" cy="249583"/>
              </a:xfrm>
              <a:prstGeom prst="roundRect">
                <a:avLst>
                  <a:gd name="adj" fmla="val 2863"/>
                </a:avLst>
              </a:prstGeom>
              <a:gradFill flip="none" rotWithShape="1">
                <a:gsLst>
                  <a:gs pos="0">
                    <a:srgbClr val="BED1F9"/>
                  </a:gs>
                  <a:gs pos="100000">
                    <a:srgbClr val="E8EFFC"/>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tIns="46800" bIns="46800" rtlCol="0" anchor="t" anchorCtr="0"/>
              <a:lstStyle/>
              <a:p>
                <a:pPr algn="ctr"/>
                <a:r>
                  <a:rPr kumimoji="1" lang="en-US" altLang="zh-CN" sz="500" dirty="0">
                    <a:solidFill>
                      <a:schemeClr val="tx1">
                        <a:lumMod val="75000"/>
                        <a:lumOff val="25000"/>
                      </a:schemeClr>
                    </a:solidFill>
                    <a:latin typeface="华文楷体" panose="02010600040101010101" pitchFamily="2" charset="-122"/>
                    <a:ea typeface="华文楷体" panose="02010600040101010101" pitchFamily="2" charset="-122"/>
                  </a:rPr>
                  <a:t>Mot</a:t>
                </a:r>
                <a:r>
                  <a:rPr kumimoji="1" lang="zh-CN" altLang="en-US" sz="500" dirty="0">
                    <a:solidFill>
                      <a:schemeClr val="tx1">
                        <a:lumMod val="75000"/>
                        <a:lumOff val="25000"/>
                      </a:schemeClr>
                    </a:solidFill>
                    <a:latin typeface="华文楷体" panose="02010600040101010101" pitchFamily="2" charset="-122"/>
                    <a:ea typeface="华文楷体" panose="02010600040101010101" pitchFamily="2" charset="-122"/>
                  </a:rPr>
                  <a:t> 实例</a:t>
                </a:r>
                <a:endParaRPr kumimoji="1" lang="zh-CN" altLang="en-US" sz="500"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47" name="圆角矩形 46"/>
              <p:cNvSpPr/>
              <p:nvPr/>
            </p:nvSpPr>
            <p:spPr>
              <a:xfrm>
                <a:off x="7133957" y="3448202"/>
                <a:ext cx="200960" cy="70796"/>
              </a:xfrm>
              <a:prstGeom prst="roundRect">
                <a:avLst>
                  <a:gd name="adj" fmla="val 2863"/>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rPr>
                  <a:t>计算节点</a:t>
                </a:r>
                <a:endPar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48" name="圆角矩形 47"/>
              <p:cNvSpPr/>
              <p:nvPr/>
            </p:nvSpPr>
            <p:spPr>
              <a:xfrm>
                <a:off x="7358058" y="3448202"/>
                <a:ext cx="200960" cy="70796"/>
              </a:xfrm>
              <a:prstGeom prst="roundRect">
                <a:avLst>
                  <a:gd name="adj" fmla="val 2863"/>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rPr>
                  <a:t>计算节点</a:t>
                </a:r>
                <a:endPar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endParaRPr>
              </a:p>
            </p:txBody>
          </p:sp>
        </p:grpSp>
        <p:sp>
          <p:nvSpPr>
            <p:cNvPr id="40" name="文本框 39"/>
            <p:cNvSpPr txBox="1"/>
            <p:nvPr/>
          </p:nvSpPr>
          <p:spPr>
            <a:xfrm>
              <a:off x="6993200" y="3108670"/>
              <a:ext cx="1223218" cy="145818"/>
            </a:xfrm>
            <a:prstGeom prst="rect">
              <a:avLst/>
            </a:prstGeom>
            <a:noFill/>
          </p:spPr>
          <p:txBody>
            <a:bodyPr wrap="none" rtlCol="0">
              <a:spAutoFit/>
            </a:bodyPr>
            <a:lstStyle/>
            <a:p>
              <a:pPr algn="ctr"/>
              <a:r>
                <a:rPr kumimoji="1" lang="en-US" altLang="zh-CN" sz="700" b="1" dirty="0" err="1">
                  <a:solidFill>
                    <a:schemeClr val="tx1">
                      <a:lumMod val="75000"/>
                      <a:lumOff val="25000"/>
                    </a:schemeClr>
                  </a:solidFill>
                  <a:latin typeface="华文楷体" panose="02010600040101010101" pitchFamily="2" charset="-122"/>
                  <a:ea typeface="华文楷体" panose="02010600040101010101" pitchFamily="2" charset="-122"/>
                </a:rPr>
                <a:t>OushuDB</a:t>
              </a:r>
              <a:r>
                <a:rPr kumimoji="1" lang="zh-CN" altLang="en-US" sz="700" dirty="0">
                  <a:solidFill>
                    <a:schemeClr val="tx1">
                      <a:lumMod val="75000"/>
                      <a:lumOff val="25000"/>
                    </a:schemeClr>
                  </a:solidFill>
                  <a:latin typeface="华文楷体" panose="02010600040101010101" pitchFamily="2" charset="-122"/>
                  <a:ea typeface="华文楷体" panose="02010600040101010101" pitchFamily="2" charset="-122"/>
                </a:rPr>
                <a:t>  </a:t>
              </a:r>
              <a:r>
                <a:rPr kumimoji="1" lang="zh-CN" altLang="en-US" sz="500" dirty="0">
                  <a:solidFill>
                    <a:schemeClr val="tx1">
                      <a:lumMod val="75000"/>
                      <a:lumOff val="25000"/>
                    </a:schemeClr>
                  </a:solidFill>
                  <a:latin typeface="华文楷体" panose="02010600040101010101" pitchFamily="2" charset="-122"/>
                  <a:ea typeface="华文楷体" panose="02010600040101010101" pitchFamily="2" charset="-122"/>
                </a:rPr>
                <a:t>（湖仓一体主计算引擎）</a:t>
              </a:r>
              <a:endParaRPr kumimoji="1" lang="zh-CN" altLang="en-US" sz="700" dirty="0">
                <a:solidFill>
                  <a:schemeClr val="tx1">
                    <a:lumMod val="75000"/>
                    <a:lumOff val="25000"/>
                  </a:schemeClr>
                </a:solidFill>
                <a:latin typeface="华文楷体" panose="02010600040101010101" pitchFamily="2" charset="-122"/>
                <a:ea typeface="华文楷体" panose="02010600040101010101" pitchFamily="2" charset="-122"/>
              </a:endParaRPr>
            </a:p>
          </p:txBody>
        </p:sp>
        <p:pic>
          <p:nvPicPr>
            <p:cNvPr id="41" name="图片 40"/>
            <p:cNvPicPr>
              <a:picLocks noChangeAspect="1"/>
            </p:cNvPicPr>
            <p:nvPr/>
          </p:nvPicPr>
          <p:blipFill>
            <a:blip r:embed="rId4"/>
            <a:stretch>
              <a:fillRect/>
            </a:stretch>
          </p:blipFill>
          <p:spPr>
            <a:xfrm>
              <a:off x="7115268" y="3571563"/>
              <a:ext cx="140802" cy="140802"/>
            </a:xfrm>
            <a:prstGeom prst="rect">
              <a:avLst/>
            </a:prstGeom>
          </p:spPr>
        </p:pic>
        <p:pic>
          <p:nvPicPr>
            <p:cNvPr id="42" name="图片 41"/>
            <p:cNvPicPr>
              <a:picLocks noChangeAspect="1"/>
            </p:cNvPicPr>
            <p:nvPr/>
          </p:nvPicPr>
          <p:blipFill>
            <a:blip r:embed="rId4"/>
            <a:stretch>
              <a:fillRect/>
            </a:stretch>
          </p:blipFill>
          <p:spPr>
            <a:xfrm>
              <a:off x="7323154" y="3571563"/>
              <a:ext cx="140802" cy="140802"/>
            </a:xfrm>
            <a:prstGeom prst="rect">
              <a:avLst/>
            </a:prstGeom>
          </p:spPr>
        </p:pic>
        <p:pic>
          <p:nvPicPr>
            <p:cNvPr id="43" name="图片 42"/>
            <p:cNvPicPr>
              <a:picLocks noChangeAspect="1"/>
            </p:cNvPicPr>
            <p:nvPr/>
          </p:nvPicPr>
          <p:blipFill>
            <a:blip r:embed="rId4"/>
            <a:stretch>
              <a:fillRect/>
            </a:stretch>
          </p:blipFill>
          <p:spPr>
            <a:xfrm>
              <a:off x="7531040" y="3571563"/>
              <a:ext cx="140802" cy="140802"/>
            </a:xfrm>
            <a:prstGeom prst="rect">
              <a:avLst/>
            </a:prstGeom>
          </p:spPr>
        </p:pic>
        <p:pic>
          <p:nvPicPr>
            <p:cNvPr id="44" name="图片 43"/>
            <p:cNvPicPr>
              <a:picLocks noChangeAspect="1"/>
            </p:cNvPicPr>
            <p:nvPr/>
          </p:nvPicPr>
          <p:blipFill>
            <a:blip r:embed="rId4"/>
            <a:stretch>
              <a:fillRect/>
            </a:stretch>
          </p:blipFill>
          <p:spPr>
            <a:xfrm>
              <a:off x="7738926" y="3571563"/>
              <a:ext cx="140802" cy="140802"/>
            </a:xfrm>
            <a:prstGeom prst="rect">
              <a:avLst/>
            </a:prstGeom>
          </p:spPr>
        </p:pic>
        <p:pic>
          <p:nvPicPr>
            <p:cNvPr id="45" name="图片 44"/>
            <p:cNvPicPr>
              <a:picLocks noChangeAspect="1"/>
            </p:cNvPicPr>
            <p:nvPr/>
          </p:nvPicPr>
          <p:blipFill>
            <a:blip r:embed="rId4"/>
            <a:stretch>
              <a:fillRect/>
            </a:stretch>
          </p:blipFill>
          <p:spPr>
            <a:xfrm>
              <a:off x="7946813" y="3571563"/>
              <a:ext cx="140802" cy="140802"/>
            </a:xfrm>
            <a:prstGeom prst="rect">
              <a:avLst/>
            </a:prstGeom>
          </p:spPr>
        </p:pic>
      </p:grpSp>
      <p:grpSp>
        <p:nvGrpSpPr>
          <p:cNvPr id="52" name="组合 51"/>
          <p:cNvGrpSpPr/>
          <p:nvPr/>
        </p:nvGrpSpPr>
        <p:grpSpPr>
          <a:xfrm>
            <a:off x="4639245" y="5016236"/>
            <a:ext cx="455765" cy="97128"/>
            <a:chOff x="7133957" y="3448202"/>
            <a:chExt cx="425061" cy="70796"/>
          </a:xfrm>
        </p:grpSpPr>
        <p:sp>
          <p:nvSpPr>
            <p:cNvPr id="53" name="圆角矩形 52"/>
            <p:cNvSpPr/>
            <p:nvPr/>
          </p:nvSpPr>
          <p:spPr>
            <a:xfrm>
              <a:off x="7133957" y="3448202"/>
              <a:ext cx="200960" cy="70796"/>
            </a:xfrm>
            <a:prstGeom prst="roundRect">
              <a:avLst>
                <a:gd name="adj" fmla="val 2863"/>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rPr>
                <a:t>存储节点</a:t>
              </a:r>
              <a:endPar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54" name="圆角矩形 53"/>
            <p:cNvSpPr/>
            <p:nvPr/>
          </p:nvSpPr>
          <p:spPr>
            <a:xfrm>
              <a:off x="7358058" y="3448202"/>
              <a:ext cx="200960" cy="70796"/>
            </a:xfrm>
            <a:prstGeom prst="roundRect">
              <a:avLst>
                <a:gd name="adj" fmla="val 2863"/>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rPr>
                <a:t>存储节点</a:t>
              </a:r>
              <a:endPar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endParaRPr>
            </a:p>
          </p:txBody>
        </p:sp>
      </p:grpSp>
      <p:grpSp>
        <p:nvGrpSpPr>
          <p:cNvPr id="55" name="组合 54"/>
          <p:cNvGrpSpPr/>
          <p:nvPr/>
        </p:nvGrpSpPr>
        <p:grpSpPr>
          <a:xfrm>
            <a:off x="5125720" y="5016234"/>
            <a:ext cx="455765" cy="97128"/>
            <a:chOff x="7133957" y="3448202"/>
            <a:chExt cx="425061" cy="70796"/>
          </a:xfrm>
        </p:grpSpPr>
        <p:sp>
          <p:nvSpPr>
            <p:cNvPr id="56" name="圆角矩形 55"/>
            <p:cNvSpPr/>
            <p:nvPr/>
          </p:nvSpPr>
          <p:spPr>
            <a:xfrm>
              <a:off x="7133957" y="3448202"/>
              <a:ext cx="200960" cy="70796"/>
            </a:xfrm>
            <a:prstGeom prst="roundRect">
              <a:avLst>
                <a:gd name="adj" fmla="val 2863"/>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rPr>
                <a:t>存储节点</a:t>
              </a:r>
              <a:endPar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57" name="圆角矩形 56"/>
            <p:cNvSpPr/>
            <p:nvPr/>
          </p:nvSpPr>
          <p:spPr>
            <a:xfrm>
              <a:off x="7358058" y="3448202"/>
              <a:ext cx="200960" cy="70796"/>
            </a:xfrm>
            <a:prstGeom prst="roundRect">
              <a:avLst>
                <a:gd name="adj" fmla="val 2863"/>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rPr>
                <a:t>存储节点</a:t>
              </a:r>
              <a:endPar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endParaRPr>
            </a:p>
          </p:txBody>
        </p:sp>
      </p:grpSp>
      <p:sp>
        <p:nvSpPr>
          <p:cNvPr id="58" name="文本框 57"/>
          <p:cNvSpPr txBox="1"/>
          <p:nvPr/>
        </p:nvSpPr>
        <p:spPr>
          <a:xfrm>
            <a:off x="4672753" y="4753324"/>
            <a:ext cx="843501" cy="200055"/>
          </a:xfrm>
          <a:prstGeom prst="rect">
            <a:avLst/>
          </a:prstGeom>
          <a:noFill/>
        </p:spPr>
        <p:txBody>
          <a:bodyPr wrap="none" rtlCol="0">
            <a:spAutoFit/>
          </a:bodyPr>
          <a:lstStyle/>
          <a:p>
            <a:pPr algn="ctr"/>
            <a:r>
              <a:rPr kumimoji="1" lang="en-US" altLang="zh-CN" sz="700" b="1" dirty="0">
                <a:solidFill>
                  <a:schemeClr val="tx1">
                    <a:lumMod val="75000"/>
                    <a:lumOff val="25000"/>
                  </a:schemeClr>
                </a:solidFill>
                <a:latin typeface="华文楷体" panose="02010600040101010101" pitchFamily="2" charset="-122"/>
                <a:ea typeface="华文楷体" panose="02010600040101010101" pitchFamily="2" charset="-122"/>
              </a:rPr>
              <a:t>TBDS</a:t>
            </a:r>
            <a:r>
              <a:rPr kumimoji="1" lang="zh-CN" altLang="en-US" sz="700" b="1" dirty="0">
                <a:solidFill>
                  <a:schemeClr val="tx1">
                    <a:lumMod val="75000"/>
                    <a:lumOff val="25000"/>
                  </a:schemeClr>
                </a:solidFill>
                <a:latin typeface="华文楷体" panose="02010600040101010101" pitchFamily="2" charset="-122"/>
                <a:ea typeface="华文楷体" panose="02010600040101010101" pitchFamily="2" charset="-122"/>
              </a:rPr>
              <a:t> </a:t>
            </a:r>
            <a:r>
              <a:rPr kumimoji="1" lang="en-US" altLang="zh-CN" sz="700" b="1" dirty="0">
                <a:solidFill>
                  <a:schemeClr val="tx1">
                    <a:lumMod val="75000"/>
                    <a:lumOff val="25000"/>
                  </a:schemeClr>
                </a:solidFill>
                <a:latin typeface="华文楷体" panose="02010600040101010101" pitchFamily="2" charset="-122"/>
                <a:ea typeface="华文楷体" panose="02010600040101010101" pitchFamily="2" charset="-122"/>
              </a:rPr>
              <a:t>HDFS</a:t>
            </a:r>
            <a:r>
              <a:rPr kumimoji="1" lang="zh-CN" altLang="en-US" sz="700" b="1" dirty="0">
                <a:solidFill>
                  <a:schemeClr val="tx1">
                    <a:lumMod val="75000"/>
                    <a:lumOff val="25000"/>
                  </a:schemeClr>
                </a:solidFill>
                <a:latin typeface="华文楷体" panose="02010600040101010101" pitchFamily="2" charset="-122"/>
                <a:ea typeface="华文楷体" panose="02010600040101010101" pitchFamily="2" charset="-122"/>
              </a:rPr>
              <a:t> </a:t>
            </a:r>
            <a:r>
              <a:rPr kumimoji="1" lang="zh-CN" altLang="en-US" sz="600" dirty="0">
                <a:solidFill>
                  <a:schemeClr val="tx1">
                    <a:lumMod val="75000"/>
                    <a:lumOff val="25000"/>
                  </a:schemeClr>
                </a:solidFill>
                <a:latin typeface="华文楷体" panose="02010600040101010101" pitchFamily="2" charset="-122"/>
                <a:ea typeface="华文楷体" panose="02010600040101010101" pitchFamily="2" charset="-122"/>
              </a:rPr>
              <a:t>集群</a:t>
            </a:r>
            <a:endParaRPr kumimoji="1" lang="zh-CN" altLang="en-US" sz="600" dirty="0">
              <a:solidFill>
                <a:schemeClr val="tx1">
                  <a:lumMod val="75000"/>
                  <a:lumOff val="25000"/>
                </a:schemeClr>
              </a:solidFill>
              <a:latin typeface="华文楷体" panose="02010600040101010101" pitchFamily="2" charset="-122"/>
              <a:ea typeface="华文楷体" panose="02010600040101010101" pitchFamily="2" charset="-122"/>
            </a:endParaRPr>
          </a:p>
        </p:txBody>
      </p:sp>
      <p:grpSp>
        <p:nvGrpSpPr>
          <p:cNvPr id="59" name="组合 58"/>
          <p:cNvGrpSpPr/>
          <p:nvPr/>
        </p:nvGrpSpPr>
        <p:grpSpPr>
          <a:xfrm>
            <a:off x="4560906" y="3053573"/>
            <a:ext cx="1059648" cy="569260"/>
            <a:chOff x="7106803" y="3297437"/>
            <a:chExt cx="988262" cy="414928"/>
          </a:xfrm>
        </p:grpSpPr>
        <p:grpSp>
          <p:nvGrpSpPr>
            <p:cNvPr id="60" name="组合 59"/>
            <p:cNvGrpSpPr/>
            <p:nvPr/>
          </p:nvGrpSpPr>
          <p:grpSpPr>
            <a:xfrm>
              <a:off x="7106803" y="3297438"/>
              <a:ext cx="473644" cy="249583"/>
              <a:chOff x="7106803" y="3297438"/>
              <a:chExt cx="473644" cy="249583"/>
            </a:xfrm>
          </p:grpSpPr>
          <p:sp>
            <p:nvSpPr>
              <p:cNvPr id="70" name="圆角矩形 69"/>
              <p:cNvSpPr/>
              <p:nvPr/>
            </p:nvSpPr>
            <p:spPr>
              <a:xfrm>
                <a:off x="7106803" y="3297438"/>
                <a:ext cx="473644" cy="249583"/>
              </a:xfrm>
              <a:prstGeom prst="roundRect">
                <a:avLst>
                  <a:gd name="adj" fmla="val 2863"/>
                </a:avLst>
              </a:prstGeom>
              <a:gradFill flip="none" rotWithShape="1">
                <a:gsLst>
                  <a:gs pos="0">
                    <a:srgbClr val="BED1F9"/>
                  </a:gs>
                  <a:gs pos="100000">
                    <a:srgbClr val="E8EFFC"/>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tIns="46800" bIns="46800" rtlCol="0" anchor="t" anchorCtr="0"/>
              <a:lstStyle/>
              <a:p>
                <a:pPr algn="ctr"/>
                <a:r>
                  <a:rPr kumimoji="1" lang="en-US" altLang="zh-CN" sz="400" dirty="0">
                    <a:solidFill>
                      <a:schemeClr val="tx1">
                        <a:lumMod val="75000"/>
                        <a:lumOff val="25000"/>
                      </a:schemeClr>
                    </a:solidFill>
                    <a:latin typeface="华文楷体" panose="02010600040101010101" pitchFamily="2" charset="-122"/>
                    <a:ea typeface="华文楷体" panose="02010600040101010101" pitchFamily="2" charset="-122"/>
                  </a:rPr>
                  <a:t>Other</a:t>
                </a:r>
                <a:r>
                  <a:rPr kumimoji="1" lang="zh-CN" altLang="en-US" sz="400" dirty="0">
                    <a:solidFill>
                      <a:schemeClr val="tx1">
                        <a:lumMod val="75000"/>
                        <a:lumOff val="25000"/>
                      </a:schemeClr>
                    </a:solidFill>
                    <a:latin typeface="华文楷体" panose="02010600040101010101" pitchFamily="2" charset="-122"/>
                    <a:ea typeface="华文楷体" panose="02010600040101010101" pitchFamily="2" charset="-122"/>
                  </a:rPr>
                  <a:t> </a:t>
                </a:r>
                <a:r>
                  <a:rPr kumimoji="1" lang="zh-CN" altLang="en-US" sz="500" dirty="0">
                    <a:solidFill>
                      <a:schemeClr val="tx1">
                        <a:lumMod val="75000"/>
                        <a:lumOff val="25000"/>
                      </a:schemeClr>
                    </a:solidFill>
                    <a:latin typeface="华文楷体" panose="02010600040101010101" pitchFamily="2" charset="-122"/>
                    <a:ea typeface="华文楷体" panose="02010600040101010101" pitchFamily="2" charset="-122"/>
                  </a:rPr>
                  <a:t> 实例</a:t>
                </a:r>
                <a:endParaRPr kumimoji="1" lang="zh-CN" altLang="en-US" sz="500"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71" name="圆角矩形 70"/>
              <p:cNvSpPr/>
              <p:nvPr/>
            </p:nvSpPr>
            <p:spPr>
              <a:xfrm>
                <a:off x="7133957" y="3448202"/>
                <a:ext cx="200960" cy="70796"/>
              </a:xfrm>
              <a:prstGeom prst="roundRect">
                <a:avLst>
                  <a:gd name="adj" fmla="val 2863"/>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rPr>
                  <a:t>计算节点</a:t>
                </a:r>
                <a:endPar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72" name="圆角矩形 71"/>
              <p:cNvSpPr/>
              <p:nvPr/>
            </p:nvSpPr>
            <p:spPr>
              <a:xfrm>
                <a:off x="7358058" y="3448202"/>
                <a:ext cx="200960" cy="70796"/>
              </a:xfrm>
              <a:prstGeom prst="roundRect">
                <a:avLst>
                  <a:gd name="adj" fmla="val 2863"/>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rPr>
                  <a:t>计算节点</a:t>
                </a:r>
                <a:endPar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endParaRPr>
              </a:p>
            </p:txBody>
          </p:sp>
        </p:grpSp>
        <p:grpSp>
          <p:nvGrpSpPr>
            <p:cNvPr id="61" name="组合 60"/>
            <p:cNvGrpSpPr/>
            <p:nvPr/>
          </p:nvGrpSpPr>
          <p:grpSpPr>
            <a:xfrm>
              <a:off x="7621421" y="3297437"/>
              <a:ext cx="473644" cy="249583"/>
              <a:chOff x="7106803" y="3297438"/>
              <a:chExt cx="473644" cy="249583"/>
            </a:xfrm>
          </p:grpSpPr>
          <p:sp>
            <p:nvSpPr>
              <p:cNvPr id="67" name="圆角矩形 66"/>
              <p:cNvSpPr/>
              <p:nvPr/>
            </p:nvSpPr>
            <p:spPr>
              <a:xfrm>
                <a:off x="7106803" y="3297438"/>
                <a:ext cx="473644" cy="249583"/>
              </a:xfrm>
              <a:prstGeom prst="roundRect">
                <a:avLst>
                  <a:gd name="adj" fmla="val 2863"/>
                </a:avLst>
              </a:prstGeom>
              <a:gradFill flip="none" rotWithShape="1">
                <a:gsLst>
                  <a:gs pos="0">
                    <a:srgbClr val="BED1F9"/>
                  </a:gs>
                  <a:gs pos="100000">
                    <a:srgbClr val="E8EFFC"/>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tIns="46800" bIns="46800" rtlCol="0" anchor="t" anchorCtr="0"/>
              <a:lstStyle/>
              <a:p>
                <a:pPr algn="ctr"/>
                <a:r>
                  <a:rPr kumimoji="1" lang="en-US" altLang="zh-CN" sz="400" dirty="0">
                    <a:solidFill>
                      <a:schemeClr val="tx1">
                        <a:lumMod val="75000"/>
                        <a:lumOff val="25000"/>
                      </a:schemeClr>
                    </a:solidFill>
                    <a:latin typeface="华文楷体" panose="02010600040101010101" pitchFamily="2" charset="-122"/>
                    <a:ea typeface="华文楷体" panose="02010600040101010101" pitchFamily="2" charset="-122"/>
                  </a:rPr>
                  <a:t>Other</a:t>
                </a:r>
                <a:r>
                  <a:rPr kumimoji="1" lang="zh-CN" altLang="en-US" sz="500" dirty="0">
                    <a:solidFill>
                      <a:schemeClr val="tx1">
                        <a:lumMod val="75000"/>
                        <a:lumOff val="25000"/>
                      </a:schemeClr>
                    </a:solidFill>
                    <a:latin typeface="华文楷体" panose="02010600040101010101" pitchFamily="2" charset="-122"/>
                    <a:ea typeface="华文楷体" panose="02010600040101010101" pitchFamily="2" charset="-122"/>
                  </a:rPr>
                  <a:t>  实例</a:t>
                </a:r>
                <a:endParaRPr kumimoji="1" lang="zh-CN" altLang="en-US" sz="500"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68" name="圆角矩形 67"/>
              <p:cNvSpPr/>
              <p:nvPr/>
            </p:nvSpPr>
            <p:spPr>
              <a:xfrm>
                <a:off x="7133957" y="3448202"/>
                <a:ext cx="200960" cy="70796"/>
              </a:xfrm>
              <a:prstGeom prst="roundRect">
                <a:avLst>
                  <a:gd name="adj" fmla="val 2863"/>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rPr>
                  <a:t>计算节点</a:t>
                </a:r>
                <a:endPar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69" name="圆角矩形 68"/>
              <p:cNvSpPr/>
              <p:nvPr/>
            </p:nvSpPr>
            <p:spPr>
              <a:xfrm>
                <a:off x="7358058" y="3448202"/>
                <a:ext cx="200960" cy="70796"/>
              </a:xfrm>
              <a:prstGeom prst="roundRect">
                <a:avLst>
                  <a:gd name="adj" fmla="val 2863"/>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rPr>
                  <a:t>计算节点</a:t>
                </a:r>
                <a:endPar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endParaRPr>
              </a:p>
            </p:txBody>
          </p:sp>
        </p:grpSp>
        <p:pic>
          <p:nvPicPr>
            <p:cNvPr id="62" name="图片 61"/>
            <p:cNvPicPr>
              <a:picLocks noChangeAspect="1"/>
            </p:cNvPicPr>
            <p:nvPr/>
          </p:nvPicPr>
          <p:blipFill>
            <a:blip r:embed="rId4"/>
            <a:stretch>
              <a:fillRect/>
            </a:stretch>
          </p:blipFill>
          <p:spPr>
            <a:xfrm>
              <a:off x="7115268" y="3571563"/>
              <a:ext cx="140802" cy="140802"/>
            </a:xfrm>
            <a:prstGeom prst="rect">
              <a:avLst/>
            </a:prstGeom>
          </p:spPr>
        </p:pic>
        <p:pic>
          <p:nvPicPr>
            <p:cNvPr id="63" name="图片 62"/>
            <p:cNvPicPr>
              <a:picLocks noChangeAspect="1"/>
            </p:cNvPicPr>
            <p:nvPr/>
          </p:nvPicPr>
          <p:blipFill>
            <a:blip r:embed="rId4"/>
            <a:stretch>
              <a:fillRect/>
            </a:stretch>
          </p:blipFill>
          <p:spPr>
            <a:xfrm>
              <a:off x="7323154" y="3571563"/>
              <a:ext cx="140802" cy="140802"/>
            </a:xfrm>
            <a:prstGeom prst="rect">
              <a:avLst/>
            </a:prstGeom>
          </p:spPr>
        </p:pic>
        <p:pic>
          <p:nvPicPr>
            <p:cNvPr id="64" name="图片 63"/>
            <p:cNvPicPr>
              <a:picLocks noChangeAspect="1"/>
            </p:cNvPicPr>
            <p:nvPr/>
          </p:nvPicPr>
          <p:blipFill>
            <a:blip r:embed="rId4"/>
            <a:stretch>
              <a:fillRect/>
            </a:stretch>
          </p:blipFill>
          <p:spPr>
            <a:xfrm>
              <a:off x="7531040" y="3571563"/>
              <a:ext cx="140802" cy="140802"/>
            </a:xfrm>
            <a:prstGeom prst="rect">
              <a:avLst/>
            </a:prstGeom>
          </p:spPr>
        </p:pic>
        <p:pic>
          <p:nvPicPr>
            <p:cNvPr id="65" name="图片 64"/>
            <p:cNvPicPr>
              <a:picLocks noChangeAspect="1"/>
            </p:cNvPicPr>
            <p:nvPr/>
          </p:nvPicPr>
          <p:blipFill>
            <a:blip r:embed="rId4"/>
            <a:stretch>
              <a:fillRect/>
            </a:stretch>
          </p:blipFill>
          <p:spPr>
            <a:xfrm>
              <a:off x="7738926" y="3571563"/>
              <a:ext cx="140802" cy="140802"/>
            </a:xfrm>
            <a:prstGeom prst="rect">
              <a:avLst/>
            </a:prstGeom>
          </p:spPr>
        </p:pic>
        <p:pic>
          <p:nvPicPr>
            <p:cNvPr id="66" name="图片 65"/>
            <p:cNvPicPr>
              <a:picLocks noChangeAspect="1"/>
            </p:cNvPicPr>
            <p:nvPr/>
          </p:nvPicPr>
          <p:blipFill>
            <a:blip r:embed="rId4"/>
            <a:stretch>
              <a:fillRect/>
            </a:stretch>
          </p:blipFill>
          <p:spPr>
            <a:xfrm>
              <a:off x="7946813" y="3571563"/>
              <a:ext cx="140802" cy="140802"/>
            </a:xfrm>
            <a:prstGeom prst="rect">
              <a:avLst/>
            </a:prstGeom>
          </p:spPr>
        </p:pic>
      </p:grpSp>
      <p:grpSp>
        <p:nvGrpSpPr>
          <p:cNvPr id="73" name="组合 72"/>
          <p:cNvGrpSpPr/>
          <p:nvPr/>
        </p:nvGrpSpPr>
        <p:grpSpPr>
          <a:xfrm>
            <a:off x="4590020" y="4372183"/>
            <a:ext cx="455765" cy="97128"/>
            <a:chOff x="7133957" y="3448202"/>
            <a:chExt cx="425061" cy="70796"/>
          </a:xfrm>
        </p:grpSpPr>
        <p:sp>
          <p:nvSpPr>
            <p:cNvPr id="74" name="圆角矩形 73"/>
            <p:cNvSpPr/>
            <p:nvPr/>
          </p:nvSpPr>
          <p:spPr>
            <a:xfrm>
              <a:off x="7133957" y="3448202"/>
              <a:ext cx="200960" cy="70796"/>
            </a:xfrm>
            <a:prstGeom prst="roundRect">
              <a:avLst>
                <a:gd name="adj" fmla="val 2863"/>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rPr>
                <a:t>计算节点</a:t>
              </a:r>
              <a:endPar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75" name="圆角矩形 74"/>
            <p:cNvSpPr/>
            <p:nvPr/>
          </p:nvSpPr>
          <p:spPr>
            <a:xfrm>
              <a:off x="7358058" y="3448202"/>
              <a:ext cx="200960" cy="70796"/>
            </a:xfrm>
            <a:prstGeom prst="roundRect">
              <a:avLst>
                <a:gd name="adj" fmla="val 2863"/>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rPr>
                <a:t>计算节点</a:t>
              </a:r>
              <a:endPar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endParaRPr>
            </a:p>
          </p:txBody>
        </p:sp>
      </p:grpSp>
      <p:grpSp>
        <p:nvGrpSpPr>
          <p:cNvPr id="76" name="组合 75"/>
          <p:cNvGrpSpPr/>
          <p:nvPr/>
        </p:nvGrpSpPr>
        <p:grpSpPr>
          <a:xfrm>
            <a:off x="5141810" y="4372181"/>
            <a:ext cx="455765" cy="97128"/>
            <a:chOff x="7133957" y="3448202"/>
            <a:chExt cx="425061" cy="70796"/>
          </a:xfrm>
        </p:grpSpPr>
        <p:sp>
          <p:nvSpPr>
            <p:cNvPr id="77" name="圆角矩形 76"/>
            <p:cNvSpPr/>
            <p:nvPr/>
          </p:nvSpPr>
          <p:spPr>
            <a:xfrm>
              <a:off x="7133957" y="3448202"/>
              <a:ext cx="200960" cy="70796"/>
            </a:xfrm>
            <a:prstGeom prst="roundRect">
              <a:avLst>
                <a:gd name="adj" fmla="val 2863"/>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rPr>
                <a:t>计算节点</a:t>
              </a:r>
              <a:endPar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78" name="圆角矩形 77"/>
            <p:cNvSpPr/>
            <p:nvPr/>
          </p:nvSpPr>
          <p:spPr>
            <a:xfrm>
              <a:off x="7358058" y="3448202"/>
              <a:ext cx="200960" cy="70796"/>
            </a:xfrm>
            <a:prstGeom prst="roundRect">
              <a:avLst>
                <a:gd name="adj" fmla="val 2863"/>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rPr>
                <a:t>计算节点</a:t>
              </a:r>
              <a:endPar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endParaRPr>
            </a:p>
          </p:txBody>
        </p:sp>
      </p:grpSp>
      <p:sp>
        <p:nvSpPr>
          <p:cNvPr id="79" name="文本框 78"/>
          <p:cNvSpPr txBox="1"/>
          <p:nvPr/>
        </p:nvSpPr>
        <p:spPr>
          <a:xfrm>
            <a:off x="4649798" y="4105252"/>
            <a:ext cx="881973" cy="200055"/>
          </a:xfrm>
          <a:prstGeom prst="rect">
            <a:avLst/>
          </a:prstGeom>
          <a:noFill/>
        </p:spPr>
        <p:txBody>
          <a:bodyPr wrap="none" rtlCol="0">
            <a:spAutoFit/>
          </a:bodyPr>
          <a:lstStyle/>
          <a:p>
            <a:pPr algn="ctr"/>
            <a:r>
              <a:rPr kumimoji="1" lang="en-US" altLang="zh-CN" sz="700" b="1" dirty="0">
                <a:solidFill>
                  <a:schemeClr val="tx1">
                    <a:lumMod val="75000"/>
                    <a:lumOff val="25000"/>
                  </a:schemeClr>
                </a:solidFill>
                <a:latin typeface="华文楷体" panose="02010600040101010101" pitchFamily="2" charset="-122"/>
                <a:ea typeface="华文楷体" panose="02010600040101010101" pitchFamily="2" charset="-122"/>
              </a:rPr>
              <a:t>TBDS</a:t>
            </a:r>
            <a:r>
              <a:rPr kumimoji="1" lang="zh-CN" altLang="en-US" sz="700" b="1" dirty="0">
                <a:solidFill>
                  <a:schemeClr val="tx1">
                    <a:lumMod val="75000"/>
                    <a:lumOff val="25000"/>
                  </a:schemeClr>
                </a:solidFill>
                <a:latin typeface="华文楷体" panose="02010600040101010101" pitchFamily="2" charset="-122"/>
                <a:ea typeface="华文楷体" panose="02010600040101010101" pitchFamily="2" charset="-122"/>
              </a:rPr>
              <a:t> </a:t>
            </a:r>
            <a:r>
              <a:rPr kumimoji="1" lang="en-US" altLang="zh-CN" sz="700" b="1" dirty="0">
                <a:solidFill>
                  <a:schemeClr val="tx1">
                    <a:lumMod val="75000"/>
                    <a:lumOff val="25000"/>
                  </a:schemeClr>
                </a:solidFill>
                <a:latin typeface="华文楷体" panose="02010600040101010101" pitchFamily="2" charset="-122"/>
                <a:ea typeface="华文楷体" panose="02010600040101010101" pitchFamily="2" charset="-122"/>
              </a:rPr>
              <a:t>HIVE</a:t>
            </a:r>
            <a:r>
              <a:rPr kumimoji="1" lang="zh-CN" altLang="en-US" sz="700" dirty="0">
                <a:solidFill>
                  <a:schemeClr val="tx1">
                    <a:lumMod val="75000"/>
                    <a:lumOff val="25000"/>
                  </a:schemeClr>
                </a:solidFill>
                <a:latin typeface="华文楷体" panose="02010600040101010101" pitchFamily="2" charset="-122"/>
                <a:ea typeface="华文楷体" panose="02010600040101010101" pitchFamily="2" charset="-122"/>
              </a:rPr>
              <a:t>  </a:t>
            </a:r>
            <a:r>
              <a:rPr kumimoji="1" lang="zh-CN" altLang="en-US" sz="600" dirty="0">
                <a:solidFill>
                  <a:schemeClr val="tx1">
                    <a:lumMod val="75000"/>
                    <a:lumOff val="25000"/>
                  </a:schemeClr>
                </a:solidFill>
                <a:latin typeface="华文楷体" panose="02010600040101010101" pitchFamily="2" charset="-122"/>
                <a:ea typeface="华文楷体" panose="02010600040101010101" pitchFamily="2" charset="-122"/>
              </a:rPr>
              <a:t>集群</a:t>
            </a:r>
            <a:endParaRPr kumimoji="1" lang="zh-CN" altLang="en-US" sz="600" dirty="0">
              <a:solidFill>
                <a:schemeClr val="tx1">
                  <a:lumMod val="75000"/>
                  <a:lumOff val="25000"/>
                </a:schemeClr>
              </a:solidFill>
              <a:latin typeface="华文楷体" panose="02010600040101010101" pitchFamily="2" charset="-122"/>
              <a:ea typeface="华文楷体" panose="02010600040101010101" pitchFamily="2" charset="-122"/>
            </a:endParaRPr>
          </a:p>
        </p:txBody>
      </p:sp>
      <p:pic>
        <p:nvPicPr>
          <p:cNvPr id="80" name="图片 79"/>
          <p:cNvPicPr>
            <a:picLocks noChangeAspect="1"/>
          </p:cNvPicPr>
          <p:nvPr/>
        </p:nvPicPr>
        <p:blipFill>
          <a:blip r:embed="rId4"/>
          <a:stretch>
            <a:fillRect/>
          </a:stretch>
        </p:blipFill>
        <p:spPr>
          <a:xfrm>
            <a:off x="4569975" y="4488143"/>
            <a:ext cx="150973" cy="193173"/>
          </a:xfrm>
          <a:prstGeom prst="rect">
            <a:avLst/>
          </a:prstGeom>
          <a:solidFill>
            <a:schemeClr val="bg1"/>
          </a:solidFill>
          <a:ln w="25400">
            <a:noFill/>
          </a:ln>
        </p:spPr>
      </p:pic>
      <p:pic>
        <p:nvPicPr>
          <p:cNvPr id="81" name="图片 80"/>
          <p:cNvPicPr>
            <a:picLocks noChangeAspect="1"/>
          </p:cNvPicPr>
          <p:nvPr/>
        </p:nvPicPr>
        <p:blipFill>
          <a:blip r:embed="rId4"/>
          <a:stretch>
            <a:fillRect/>
          </a:stretch>
        </p:blipFill>
        <p:spPr>
          <a:xfrm>
            <a:off x="4792878" y="4488143"/>
            <a:ext cx="150973" cy="193173"/>
          </a:xfrm>
          <a:prstGeom prst="rect">
            <a:avLst/>
          </a:prstGeom>
          <a:solidFill>
            <a:schemeClr val="bg1"/>
          </a:solidFill>
          <a:ln w="25400">
            <a:noFill/>
          </a:ln>
        </p:spPr>
      </p:pic>
      <p:pic>
        <p:nvPicPr>
          <p:cNvPr id="82" name="图片 81"/>
          <p:cNvPicPr>
            <a:picLocks noChangeAspect="1"/>
          </p:cNvPicPr>
          <p:nvPr/>
        </p:nvPicPr>
        <p:blipFill>
          <a:blip r:embed="rId4"/>
          <a:stretch>
            <a:fillRect/>
          </a:stretch>
        </p:blipFill>
        <p:spPr>
          <a:xfrm>
            <a:off x="5015780" y="4488143"/>
            <a:ext cx="150973" cy="193173"/>
          </a:xfrm>
          <a:prstGeom prst="rect">
            <a:avLst/>
          </a:prstGeom>
          <a:solidFill>
            <a:schemeClr val="bg1"/>
          </a:solidFill>
          <a:ln w="25400">
            <a:noFill/>
          </a:ln>
        </p:spPr>
      </p:pic>
      <p:pic>
        <p:nvPicPr>
          <p:cNvPr id="83" name="图片 82"/>
          <p:cNvPicPr>
            <a:picLocks noChangeAspect="1"/>
          </p:cNvPicPr>
          <p:nvPr/>
        </p:nvPicPr>
        <p:blipFill>
          <a:blip r:embed="rId4"/>
          <a:stretch>
            <a:fillRect/>
          </a:stretch>
        </p:blipFill>
        <p:spPr>
          <a:xfrm>
            <a:off x="5238682" y="4488143"/>
            <a:ext cx="150973" cy="193173"/>
          </a:xfrm>
          <a:prstGeom prst="rect">
            <a:avLst/>
          </a:prstGeom>
          <a:solidFill>
            <a:schemeClr val="bg1"/>
          </a:solidFill>
          <a:ln w="25400">
            <a:noFill/>
          </a:ln>
        </p:spPr>
      </p:pic>
      <p:pic>
        <p:nvPicPr>
          <p:cNvPr id="84" name="图片 83"/>
          <p:cNvPicPr>
            <a:picLocks noChangeAspect="1"/>
          </p:cNvPicPr>
          <p:nvPr/>
        </p:nvPicPr>
        <p:blipFill>
          <a:blip r:embed="rId4"/>
          <a:stretch>
            <a:fillRect/>
          </a:stretch>
        </p:blipFill>
        <p:spPr>
          <a:xfrm>
            <a:off x="5461585" y="4488143"/>
            <a:ext cx="150973" cy="193173"/>
          </a:xfrm>
          <a:prstGeom prst="rect">
            <a:avLst/>
          </a:prstGeom>
          <a:solidFill>
            <a:schemeClr val="bg1"/>
          </a:solidFill>
          <a:ln w="25400">
            <a:noFill/>
          </a:ln>
        </p:spPr>
      </p:pic>
      <p:sp>
        <p:nvSpPr>
          <p:cNvPr id="85" name="圆角矩形 84"/>
          <p:cNvSpPr/>
          <p:nvPr/>
        </p:nvSpPr>
        <p:spPr>
          <a:xfrm>
            <a:off x="1216880" y="1149239"/>
            <a:ext cx="3028127" cy="4302268"/>
          </a:xfrm>
          <a:prstGeom prst="roundRect">
            <a:avLst>
              <a:gd name="adj" fmla="val 1413"/>
            </a:avLst>
          </a:prstGeom>
          <a:solidFill>
            <a:schemeClr val="bg1"/>
          </a:solidFill>
          <a:ln w="25400">
            <a:solidFill>
              <a:srgbClr val="C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kumimoji="1" lang="zh-CN" altLang="en-US" sz="800" dirty="0">
              <a:latin typeface="华文楷体" panose="02010600040101010101" pitchFamily="2" charset="-122"/>
              <a:ea typeface="华文楷体" panose="02010600040101010101" pitchFamily="2" charset="-122"/>
            </a:endParaRPr>
          </a:p>
        </p:txBody>
      </p:sp>
      <p:sp>
        <p:nvSpPr>
          <p:cNvPr id="86" name="圆角矩形 85"/>
          <p:cNvSpPr/>
          <p:nvPr/>
        </p:nvSpPr>
        <p:spPr>
          <a:xfrm>
            <a:off x="1506698" y="1587744"/>
            <a:ext cx="732125" cy="172645"/>
          </a:xfrm>
          <a:prstGeom prst="roundRect">
            <a:avLst>
              <a:gd name="adj" fmla="val 2863"/>
            </a:avLst>
          </a:prstGeom>
          <a:noFill/>
          <a:ln w="3175">
            <a:solidFill>
              <a:srgbClr val="C00000"/>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kumimoji="1" lang="zh-CN" altLang="en-US" sz="700" dirty="0">
                <a:solidFill>
                  <a:schemeClr val="tx1">
                    <a:lumMod val="50000"/>
                    <a:lumOff val="50000"/>
                  </a:schemeClr>
                </a:solidFill>
                <a:latin typeface="华文楷体" panose="02010600040101010101" pitchFamily="2" charset="-122"/>
                <a:ea typeface="华文楷体" panose="02010600040101010101" pitchFamily="2" charset="-122"/>
              </a:rPr>
              <a:t>固定报表</a:t>
            </a:r>
            <a:endParaRPr kumimoji="1" lang="zh-CN" altLang="en-US" sz="700" dirty="0">
              <a:solidFill>
                <a:schemeClr val="tx1">
                  <a:lumMod val="50000"/>
                  <a:lumOff val="50000"/>
                </a:schemeClr>
              </a:solidFill>
              <a:latin typeface="华文楷体" panose="02010600040101010101" pitchFamily="2" charset="-122"/>
              <a:ea typeface="华文楷体" panose="02010600040101010101" pitchFamily="2" charset="-122"/>
            </a:endParaRPr>
          </a:p>
        </p:txBody>
      </p:sp>
      <p:sp>
        <p:nvSpPr>
          <p:cNvPr id="87" name="圆角矩形 86"/>
          <p:cNvSpPr/>
          <p:nvPr/>
        </p:nvSpPr>
        <p:spPr>
          <a:xfrm>
            <a:off x="2376031" y="1587744"/>
            <a:ext cx="732125" cy="172645"/>
          </a:xfrm>
          <a:prstGeom prst="roundRect">
            <a:avLst>
              <a:gd name="adj" fmla="val 2863"/>
            </a:avLst>
          </a:prstGeom>
          <a:noFill/>
          <a:ln w="3175">
            <a:solidFill>
              <a:srgbClr val="C00000"/>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kumimoji="1" lang="zh-CN" altLang="en-US" sz="700" dirty="0">
                <a:solidFill>
                  <a:schemeClr val="tx1">
                    <a:lumMod val="50000"/>
                    <a:lumOff val="50000"/>
                  </a:schemeClr>
                </a:solidFill>
                <a:latin typeface="华文楷体" panose="02010600040101010101" pitchFamily="2" charset="-122"/>
                <a:ea typeface="华文楷体" panose="02010600040101010101" pitchFamily="2" charset="-122"/>
              </a:rPr>
              <a:t>应用挖掘</a:t>
            </a:r>
            <a:endParaRPr kumimoji="1" lang="zh-CN" altLang="en-US" sz="700" dirty="0">
              <a:solidFill>
                <a:schemeClr val="tx1">
                  <a:lumMod val="50000"/>
                  <a:lumOff val="50000"/>
                </a:schemeClr>
              </a:solidFill>
              <a:latin typeface="华文楷体" panose="02010600040101010101" pitchFamily="2" charset="-122"/>
              <a:ea typeface="华文楷体" panose="02010600040101010101" pitchFamily="2" charset="-122"/>
            </a:endParaRPr>
          </a:p>
        </p:txBody>
      </p:sp>
      <p:sp>
        <p:nvSpPr>
          <p:cNvPr id="88" name="圆角矩形 87"/>
          <p:cNvSpPr/>
          <p:nvPr/>
        </p:nvSpPr>
        <p:spPr>
          <a:xfrm>
            <a:off x="3195249" y="1587744"/>
            <a:ext cx="732125" cy="172645"/>
          </a:xfrm>
          <a:prstGeom prst="roundRect">
            <a:avLst>
              <a:gd name="adj" fmla="val 2863"/>
            </a:avLst>
          </a:prstGeom>
          <a:noFill/>
          <a:ln w="3175">
            <a:solidFill>
              <a:srgbClr val="C00000"/>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kumimoji="1" lang="zh-CN" altLang="en-US" sz="700" dirty="0">
                <a:solidFill>
                  <a:schemeClr val="tx1">
                    <a:lumMod val="50000"/>
                    <a:lumOff val="50000"/>
                  </a:schemeClr>
                </a:solidFill>
                <a:latin typeface="华文楷体" panose="02010600040101010101" pitchFamily="2" charset="-122"/>
                <a:ea typeface="华文楷体" panose="02010600040101010101" pitchFamily="2" charset="-122"/>
              </a:rPr>
              <a:t>随机查询</a:t>
            </a:r>
            <a:endParaRPr kumimoji="1" lang="zh-CN" altLang="en-US" sz="700" dirty="0">
              <a:solidFill>
                <a:schemeClr val="tx1">
                  <a:lumMod val="50000"/>
                  <a:lumOff val="50000"/>
                </a:schemeClr>
              </a:solidFill>
              <a:latin typeface="华文楷体" panose="02010600040101010101" pitchFamily="2" charset="-122"/>
              <a:ea typeface="华文楷体" panose="02010600040101010101" pitchFamily="2" charset="-122"/>
            </a:endParaRPr>
          </a:p>
        </p:txBody>
      </p:sp>
      <p:sp>
        <p:nvSpPr>
          <p:cNvPr id="89" name="文本框 88"/>
          <p:cNvSpPr txBox="1"/>
          <p:nvPr/>
        </p:nvSpPr>
        <p:spPr>
          <a:xfrm>
            <a:off x="2407153" y="1318577"/>
            <a:ext cx="660758" cy="292388"/>
          </a:xfrm>
          <a:prstGeom prst="rect">
            <a:avLst/>
          </a:prstGeom>
          <a:noFill/>
        </p:spPr>
        <p:txBody>
          <a:bodyPr wrap="none" rtlCol="0">
            <a:spAutoFit/>
          </a:bodyPr>
          <a:lstStyle/>
          <a:p>
            <a:pPr algn="ctr"/>
            <a:r>
              <a:rPr kumimoji="1" lang="zh-CN" altLang="en-US" sz="700" b="1" dirty="0">
                <a:solidFill>
                  <a:schemeClr val="tx1">
                    <a:lumMod val="75000"/>
                    <a:lumOff val="25000"/>
                  </a:schemeClr>
                </a:solidFill>
                <a:latin typeface="华文楷体" panose="02010600040101010101" pitchFamily="2" charset="-122"/>
                <a:ea typeface="华文楷体" panose="02010600040101010101" pitchFamily="2" charset="-122"/>
              </a:rPr>
              <a:t>集市应用层 </a:t>
            </a:r>
            <a:endParaRPr kumimoji="1" lang="en-US" altLang="zh-CN" sz="700" b="1" dirty="0">
              <a:solidFill>
                <a:schemeClr val="tx1">
                  <a:lumMod val="75000"/>
                  <a:lumOff val="25000"/>
                </a:schemeClr>
              </a:solidFill>
              <a:latin typeface="华文楷体" panose="02010600040101010101" pitchFamily="2" charset="-122"/>
              <a:ea typeface="华文楷体" panose="02010600040101010101" pitchFamily="2" charset="-122"/>
            </a:endParaRPr>
          </a:p>
          <a:p>
            <a:pPr algn="ctr"/>
            <a:r>
              <a:rPr kumimoji="1" lang="en-US" altLang="zh-CN" sz="600" dirty="0">
                <a:solidFill>
                  <a:schemeClr val="tx1">
                    <a:lumMod val="75000"/>
                    <a:lumOff val="25000"/>
                  </a:schemeClr>
                </a:solidFill>
                <a:latin typeface="华文楷体" panose="02010600040101010101" pitchFamily="2" charset="-122"/>
                <a:ea typeface="华文楷体" panose="02010600040101010101" pitchFamily="2" charset="-122"/>
              </a:rPr>
              <a:t>Orc-</a:t>
            </a:r>
            <a:r>
              <a:rPr kumimoji="1" lang="en-US" altLang="zh-CN" sz="600" dirty="0" err="1">
                <a:solidFill>
                  <a:schemeClr val="tx1">
                    <a:lumMod val="75000"/>
                    <a:lumOff val="25000"/>
                  </a:schemeClr>
                </a:solidFill>
                <a:latin typeface="华文楷体" panose="02010600040101010101" pitchFamily="2" charset="-122"/>
                <a:ea typeface="华文楷体" panose="02010600040101010101" pitchFamily="2" charset="-122"/>
              </a:rPr>
              <a:t>HudiOrc</a:t>
            </a:r>
            <a:endParaRPr kumimoji="1" lang="zh-CN" altLang="en-US" sz="600"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90" name="圆角矩形 89"/>
          <p:cNvSpPr/>
          <p:nvPr/>
        </p:nvSpPr>
        <p:spPr>
          <a:xfrm>
            <a:off x="1322564" y="1279983"/>
            <a:ext cx="2819717" cy="609581"/>
          </a:xfrm>
          <a:prstGeom prst="roundRect">
            <a:avLst>
              <a:gd name="adj" fmla="val 2863"/>
            </a:avLst>
          </a:prstGeom>
          <a:noFill/>
          <a:ln w="3175">
            <a:solidFill>
              <a:srgbClr val="C00000"/>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kumimoji="1" lang="zh-CN" altLang="en-US" sz="800" dirty="0">
              <a:latin typeface="华文楷体" panose="02010600040101010101" pitchFamily="2" charset="-122"/>
              <a:ea typeface="华文楷体" panose="02010600040101010101" pitchFamily="2" charset="-122"/>
            </a:endParaRPr>
          </a:p>
        </p:txBody>
      </p:sp>
      <p:sp>
        <p:nvSpPr>
          <p:cNvPr id="91" name="圆角矩形 90"/>
          <p:cNvSpPr/>
          <p:nvPr/>
        </p:nvSpPr>
        <p:spPr>
          <a:xfrm>
            <a:off x="1506698" y="2379730"/>
            <a:ext cx="732125" cy="172644"/>
          </a:xfrm>
          <a:prstGeom prst="roundRect">
            <a:avLst>
              <a:gd name="adj" fmla="val 2863"/>
            </a:avLst>
          </a:prstGeom>
          <a:noFill/>
          <a:ln w="3175">
            <a:solidFill>
              <a:srgbClr val="C00000"/>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kumimoji="1" lang="en-US" altLang="zh-CN" sz="700" dirty="0">
                <a:solidFill>
                  <a:schemeClr val="tx1">
                    <a:lumMod val="50000"/>
                    <a:lumOff val="50000"/>
                  </a:schemeClr>
                </a:solidFill>
                <a:latin typeface="华文楷体" panose="02010600040101010101" pitchFamily="2" charset="-122"/>
                <a:ea typeface="华文楷体" panose="02010600040101010101" pitchFamily="2" charset="-122"/>
              </a:rPr>
              <a:t>T+0</a:t>
            </a:r>
            <a:r>
              <a:rPr kumimoji="1" lang="zh-CN" altLang="en-US" sz="700" dirty="0">
                <a:solidFill>
                  <a:schemeClr val="tx1">
                    <a:lumMod val="50000"/>
                    <a:lumOff val="50000"/>
                  </a:schemeClr>
                </a:solidFill>
                <a:latin typeface="华文楷体" panose="02010600040101010101" pitchFamily="2" charset="-122"/>
                <a:ea typeface="华文楷体" panose="02010600040101010101" pitchFamily="2" charset="-122"/>
              </a:rPr>
              <a:t> 数据</a:t>
            </a:r>
            <a:endParaRPr kumimoji="1" lang="zh-CN" altLang="en-US" sz="700" dirty="0">
              <a:solidFill>
                <a:schemeClr val="tx1">
                  <a:lumMod val="50000"/>
                  <a:lumOff val="50000"/>
                </a:schemeClr>
              </a:solidFill>
              <a:latin typeface="华文楷体" panose="02010600040101010101" pitchFamily="2" charset="-122"/>
              <a:ea typeface="华文楷体" panose="02010600040101010101" pitchFamily="2" charset="-122"/>
            </a:endParaRPr>
          </a:p>
        </p:txBody>
      </p:sp>
      <p:sp>
        <p:nvSpPr>
          <p:cNvPr id="92" name="圆角矩形 91"/>
          <p:cNvSpPr/>
          <p:nvPr/>
        </p:nvSpPr>
        <p:spPr>
          <a:xfrm>
            <a:off x="2376031" y="2379730"/>
            <a:ext cx="732125" cy="172644"/>
          </a:xfrm>
          <a:prstGeom prst="roundRect">
            <a:avLst>
              <a:gd name="adj" fmla="val 2863"/>
            </a:avLst>
          </a:prstGeom>
          <a:noFill/>
          <a:ln w="3175">
            <a:solidFill>
              <a:srgbClr val="C00000"/>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kumimoji="1" lang="en-US" altLang="zh-CN" sz="700" b="1" dirty="0">
                <a:solidFill>
                  <a:schemeClr val="tx1">
                    <a:lumMod val="50000"/>
                    <a:lumOff val="50000"/>
                  </a:schemeClr>
                </a:solidFill>
                <a:latin typeface="华文楷体" panose="02010600040101010101" pitchFamily="2" charset="-122"/>
                <a:ea typeface="华文楷体" panose="02010600040101010101" pitchFamily="2" charset="-122"/>
              </a:rPr>
              <a:t>T+1</a:t>
            </a:r>
            <a:r>
              <a:rPr kumimoji="1" lang="zh-CN" altLang="en-US" sz="700" b="1" dirty="0">
                <a:solidFill>
                  <a:schemeClr val="tx1">
                    <a:lumMod val="50000"/>
                    <a:lumOff val="50000"/>
                  </a:schemeClr>
                </a:solidFill>
                <a:latin typeface="华文楷体" panose="02010600040101010101" pitchFamily="2" charset="-122"/>
                <a:ea typeface="华文楷体" panose="02010600040101010101" pitchFamily="2" charset="-122"/>
              </a:rPr>
              <a:t> 数据</a:t>
            </a:r>
            <a:endParaRPr kumimoji="1" lang="zh-CN" altLang="en-US" sz="700" b="1" dirty="0">
              <a:solidFill>
                <a:schemeClr val="tx1">
                  <a:lumMod val="50000"/>
                  <a:lumOff val="50000"/>
                </a:schemeClr>
              </a:solidFill>
              <a:latin typeface="华文楷体" panose="02010600040101010101" pitchFamily="2" charset="-122"/>
              <a:ea typeface="华文楷体" panose="02010600040101010101" pitchFamily="2" charset="-122"/>
            </a:endParaRPr>
          </a:p>
        </p:txBody>
      </p:sp>
      <p:sp>
        <p:nvSpPr>
          <p:cNvPr id="93" name="圆角矩形 92"/>
          <p:cNvSpPr/>
          <p:nvPr/>
        </p:nvSpPr>
        <p:spPr>
          <a:xfrm>
            <a:off x="3195249" y="2379730"/>
            <a:ext cx="732125" cy="172644"/>
          </a:xfrm>
          <a:prstGeom prst="roundRect">
            <a:avLst>
              <a:gd name="adj" fmla="val 2863"/>
            </a:avLst>
          </a:prstGeom>
          <a:noFill/>
          <a:ln w="3175">
            <a:solidFill>
              <a:srgbClr val="C00000"/>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kumimoji="1" lang="en-US" altLang="zh-CN" sz="700" dirty="0" err="1">
                <a:solidFill>
                  <a:schemeClr val="tx1">
                    <a:lumMod val="50000"/>
                    <a:lumOff val="50000"/>
                  </a:schemeClr>
                </a:solidFill>
                <a:latin typeface="华文楷体" panose="02010600040101010101" pitchFamily="2" charset="-122"/>
                <a:ea typeface="华文楷体" panose="02010600040101010101" pitchFamily="2" charset="-122"/>
              </a:rPr>
              <a:t>T+n</a:t>
            </a:r>
            <a:r>
              <a:rPr kumimoji="1" lang="zh-CN" altLang="en-US" sz="700" dirty="0">
                <a:solidFill>
                  <a:schemeClr val="tx1">
                    <a:lumMod val="50000"/>
                    <a:lumOff val="50000"/>
                  </a:schemeClr>
                </a:solidFill>
                <a:latin typeface="华文楷体" panose="02010600040101010101" pitchFamily="2" charset="-122"/>
                <a:ea typeface="华文楷体" panose="02010600040101010101" pitchFamily="2" charset="-122"/>
              </a:rPr>
              <a:t> 数据</a:t>
            </a:r>
            <a:endParaRPr kumimoji="1" lang="zh-CN" altLang="en-US" sz="700" dirty="0">
              <a:solidFill>
                <a:schemeClr val="tx1">
                  <a:lumMod val="50000"/>
                  <a:lumOff val="50000"/>
                </a:schemeClr>
              </a:solidFill>
              <a:latin typeface="华文楷体" panose="02010600040101010101" pitchFamily="2" charset="-122"/>
              <a:ea typeface="华文楷体" panose="02010600040101010101" pitchFamily="2" charset="-122"/>
            </a:endParaRPr>
          </a:p>
        </p:txBody>
      </p:sp>
      <p:sp>
        <p:nvSpPr>
          <p:cNvPr id="94" name="圆角矩形 93"/>
          <p:cNvSpPr/>
          <p:nvPr/>
        </p:nvSpPr>
        <p:spPr>
          <a:xfrm>
            <a:off x="1506698" y="2880267"/>
            <a:ext cx="732125" cy="172644"/>
          </a:xfrm>
          <a:prstGeom prst="roundRect">
            <a:avLst>
              <a:gd name="adj" fmla="val 2863"/>
            </a:avLst>
          </a:prstGeom>
          <a:noFill/>
          <a:ln w="3175">
            <a:solidFill>
              <a:srgbClr val="C00000"/>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kumimoji="1" lang="en-US" altLang="zh-CN" sz="700" dirty="0">
                <a:solidFill>
                  <a:schemeClr val="tx1">
                    <a:lumMod val="50000"/>
                    <a:lumOff val="50000"/>
                  </a:schemeClr>
                </a:solidFill>
                <a:latin typeface="华文楷体" panose="02010600040101010101" pitchFamily="2" charset="-122"/>
                <a:ea typeface="华文楷体" panose="02010600040101010101" pitchFamily="2" charset="-122"/>
              </a:rPr>
              <a:t>T+0</a:t>
            </a:r>
            <a:r>
              <a:rPr kumimoji="1" lang="zh-CN" altLang="en-US" sz="700" dirty="0">
                <a:solidFill>
                  <a:schemeClr val="tx1">
                    <a:lumMod val="50000"/>
                    <a:lumOff val="50000"/>
                  </a:schemeClr>
                </a:solidFill>
                <a:latin typeface="华文楷体" panose="02010600040101010101" pitchFamily="2" charset="-122"/>
                <a:ea typeface="华文楷体" panose="02010600040101010101" pitchFamily="2" charset="-122"/>
              </a:rPr>
              <a:t> 数据</a:t>
            </a:r>
            <a:endParaRPr kumimoji="1" lang="zh-CN" altLang="en-US" sz="700" dirty="0">
              <a:solidFill>
                <a:schemeClr val="tx1">
                  <a:lumMod val="50000"/>
                  <a:lumOff val="50000"/>
                </a:schemeClr>
              </a:solidFill>
              <a:latin typeface="华文楷体" panose="02010600040101010101" pitchFamily="2" charset="-122"/>
              <a:ea typeface="华文楷体" panose="02010600040101010101" pitchFamily="2" charset="-122"/>
            </a:endParaRPr>
          </a:p>
        </p:txBody>
      </p:sp>
      <p:sp>
        <p:nvSpPr>
          <p:cNvPr id="95" name="圆角矩形 94"/>
          <p:cNvSpPr/>
          <p:nvPr/>
        </p:nvSpPr>
        <p:spPr>
          <a:xfrm>
            <a:off x="2376031" y="2880267"/>
            <a:ext cx="732125" cy="172644"/>
          </a:xfrm>
          <a:prstGeom prst="roundRect">
            <a:avLst>
              <a:gd name="adj" fmla="val 2863"/>
            </a:avLst>
          </a:prstGeom>
          <a:noFill/>
          <a:ln w="3175">
            <a:solidFill>
              <a:srgbClr val="C00000"/>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kumimoji="1" lang="en-US" altLang="zh-CN" sz="700" b="1" dirty="0">
                <a:solidFill>
                  <a:schemeClr val="tx1">
                    <a:lumMod val="50000"/>
                    <a:lumOff val="50000"/>
                  </a:schemeClr>
                </a:solidFill>
                <a:latin typeface="华文楷体" panose="02010600040101010101" pitchFamily="2" charset="-122"/>
                <a:ea typeface="华文楷体" panose="02010600040101010101" pitchFamily="2" charset="-122"/>
              </a:rPr>
              <a:t>T+1</a:t>
            </a:r>
            <a:r>
              <a:rPr kumimoji="1" lang="zh-CN" altLang="en-US" sz="700" b="1" dirty="0">
                <a:solidFill>
                  <a:schemeClr val="tx1">
                    <a:lumMod val="50000"/>
                    <a:lumOff val="50000"/>
                  </a:schemeClr>
                </a:solidFill>
                <a:latin typeface="华文楷体" panose="02010600040101010101" pitchFamily="2" charset="-122"/>
                <a:ea typeface="华文楷体" panose="02010600040101010101" pitchFamily="2" charset="-122"/>
              </a:rPr>
              <a:t> 数据</a:t>
            </a:r>
            <a:endParaRPr kumimoji="1" lang="zh-CN" altLang="en-US" sz="700" b="1" dirty="0">
              <a:solidFill>
                <a:schemeClr val="tx1">
                  <a:lumMod val="50000"/>
                  <a:lumOff val="50000"/>
                </a:schemeClr>
              </a:solidFill>
              <a:latin typeface="华文楷体" panose="02010600040101010101" pitchFamily="2" charset="-122"/>
              <a:ea typeface="华文楷体" panose="02010600040101010101" pitchFamily="2" charset="-122"/>
            </a:endParaRPr>
          </a:p>
        </p:txBody>
      </p:sp>
      <p:sp>
        <p:nvSpPr>
          <p:cNvPr id="96" name="圆角矩形 95"/>
          <p:cNvSpPr/>
          <p:nvPr/>
        </p:nvSpPr>
        <p:spPr>
          <a:xfrm>
            <a:off x="3195249" y="2880267"/>
            <a:ext cx="732125" cy="172644"/>
          </a:xfrm>
          <a:prstGeom prst="roundRect">
            <a:avLst>
              <a:gd name="adj" fmla="val 2863"/>
            </a:avLst>
          </a:prstGeom>
          <a:noFill/>
          <a:ln w="3175">
            <a:solidFill>
              <a:srgbClr val="C00000"/>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kumimoji="1" lang="en-US" altLang="zh-CN" sz="700" dirty="0" err="1">
                <a:solidFill>
                  <a:schemeClr val="tx1">
                    <a:lumMod val="50000"/>
                    <a:lumOff val="50000"/>
                  </a:schemeClr>
                </a:solidFill>
                <a:latin typeface="华文楷体" panose="02010600040101010101" pitchFamily="2" charset="-122"/>
                <a:ea typeface="华文楷体" panose="02010600040101010101" pitchFamily="2" charset="-122"/>
              </a:rPr>
              <a:t>T+n</a:t>
            </a:r>
            <a:r>
              <a:rPr kumimoji="1" lang="zh-CN" altLang="en-US" sz="700" dirty="0">
                <a:solidFill>
                  <a:schemeClr val="tx1">
                    <a:lumMod val="50000"/>
                    <a:lumOff val="50000"/>
                  </a:schemeClr>
                </a:solidFill>
                <a:latin typeface="华文楷体" panose="02010600040101010101" pitchFamily="2" charset="-122"/>
                <a:ea typeface="华文楷体" panose="02010600040101010101" pitchFamily="2" charset="-122"/>
              </a:rPr>
              <a:t> 数据</a:t>
            </a:r>
            <a:endParaRPr kumimoji="1" lang="zh-CN" altLang="en-US" sz="700" dirty="0">
              <a:solidFill>
                <a:schemeClr val="tx1">
                  <a:lumMod val="50000"/>
                  <a:lumOff val="50000"/>
                </a:schemeClr>
              </a:solidFill>
              <a:latin typeface="华文楷体" panose="02010600040101010101" pitchFamily="2" charset="-122"/>
              <a:ea typeface="华文楷体" panose="02010600040101010101" pitchFamily="2" charset="-122"/>
            </a:endParaRPr>
          </a:p>
        </p:txBody>
      </p:sp>
      <p:sp>
        <p:nvSpPr>
          <p:cNvPr id="97" name="圆角矩形 96"/>
          <p:cNvSpPr/>
          <p:nvPr/>
        </p:nvSpPr>
        <p:spPr>
          <a:xfrm>
            <a:off x="1506698" y="3380803"/>
            <a:ext cx="732125" cy="172644"/>
          </a:xfrm>
          <a:prstGeom prst="roundRect">
            <a:avLst>
              <a:gd name="adj" fmla="val 2863"/>
            </a:avLst>
          </a:prstGeom>
          <a:noFill/>
          <a:ln w="3175">
            <a:solidFill>
              <a:srgbClr val="C00000"/>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kumimoji="1" lang="en-US" altLang="zh-CN" sz="700" dirty="0">
                <a:solidFill>
                  <a:schemeClr val="tx1">
                    <a:lumMod val="50000"/>
                    <a:lumOff val="50000"/>
                  </a:schemeClr>
                </a:solidFill>
                <a:latin typeface="华文楷体" panose="02010600040101010101" pitchFamily="2" charset="-122"/>
                <a:ea typeface="华文楷体" panose="02010600040101010101" pitchFamily="2" charset="-122"/>
              </a:rPr>
              <a:t>T+0</a:t>
            </a:r>
            <a:r>
              <a:rPr kumimoji="1" lang="zh-CN" altLang="en-US" sz="700" dirty="0">
                <a:solidFill>
                  <a:schemeClr val="tx1">
                    <a:lumMod val="50000"/>
                    <a:lumOff val="50000"/>
                  </a:schemeClr>
                </a:solidFill>
                <a:latin typeface="华文楷体" panose="02010600040101010101" pitchFamily="2" charset="-122"/>
                <a:ea typeface="华文楷体" panose="02010600040101010101" pitchFamily="2" charset="-122"/>
              </a:rPr>
              <a:t> 数据</a:t>
            </a:r>
            <a:endParaRPr kumimoji="1" lang="zh-CN" altLang="en-US" sz="700" dirty="0">
              <a:solidFill>
                <a:schemeClr val="tx1">
                  <a:lumMod val="50000"/>
                  <a:lumOff val="50000"/>
                </a:schemeClr>
              </a:solidFill>
              <a:latin typeface="华文楷体" panose="02010600040101010101" pitchFamily="2" charset="-122"/>
              <a:ea typeface="华文楷体" panose="02010600040101010101" pitchFamily="2" charset="-122"/>
            </a:endParaRPr>
          </a:p>
        </p:txBody>
      </p:sp>
      <p:sp>
        <p:nvSpPr>
          <p:cNvPr id="98" name="圆角矩形 97"/>
          <p:cNvSpPr/>
          <p:nvPr/>
        </p:nvSpPr>
        <p:spPr>
          <a:xfrm>
            <a:off x="2376031" y="3380803"/>
            <a:ext cx="732125" cy="172644"/>
          </a:xfrm>
          <a:prstGeom prst="roundRect">
            <a:avLst>
              <a:gd name="adj" fmla="val 2863"/>
            </a:avLst>
          </a:prstGeom>
          <a:noFill/>
          <a:ln w="3175">
            <a:solidFill>
              <a:srgbClr val="C00000"/>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kumimoji="1" lang="en-US" altLang="zh-CN" sz="700" b="1" dirty="0">
                <a:solidFill>
                  <a:schemeClr val="tx1">
                    <a:lumMod val="50000"/>
                    <a:lumOff val="50000"/>
                  </a:schemeClr>
                </a:solidFill>
                <a:latin typeface="华文楷体" panose="02010600040101010101" pitchFamily="2" charset="-122"/>
                <a:ea typeface="华文楷体" panose="02010600040101010101" pitchFamily="2" charset="-122"/>
              </a:rPr>
              <a:t>T+1</a:t>
            </a:r>
            <a:r>
              <a:rPr kumimoji="1" lang="zh-CN" altLang="en-US" sz="700" b="1" dirty="0">
                <a:solidFill>
                  <a:schemeClr val="tx1">
                    <a:lumMod val="50000"/>
                    <a:lumOff val="50000"/>
                  </a:schemeClr>
                </a:solidFill>
                <a:latin typeface="华文楷体" panose="02010600040101010101" pitchFamily="2" charset="-122"/>
                <a:ea typeface="华文楷体" panose="02010600040101010101" pitchFamily="2" charset="-122"/>
              </a:rPr>
              <a:t> 数据</a:t>
            </a:r>
            <a:endParaRPr kumimoji="1" lang="zh-CN" altLang="en-US" sz="700" b="1" dirty="0">
              <a:solidFill>
                <a:schemeClr val="tx1">
                  <a:lumMod val="50000"/>
                  <a:lumOff val="50000"/>
                </a:schemeClr>
              </a:solidFill>
              <a:latin typeface="华文楷体" panose="02010600040101010101" pitchFamily="2" charset="-122"/>
              <a:ea typeface="华文楷体" panose="02010600040101010101" pitchFamily="2" charset="-122"/>
            </a:endParaRPr>
          </a:p>
        </p:txBody>
      </p:sp>
      <p:sp>
        <p:nvSpPr>
          <p:cNvPr id="99" name="圆角矩形 98"/>
          <p:cNvSpPr/>
          <p:nvPr/>
        </p:nvSpPr>
        <p:spPr>
          <a:xfrm>
            <a:off x="3195249" y="3380803"/>
            <a:ext cx="732125" cy="172644"/>
          </a:xfrm>
          <a:prstGeom prst="roundRect">
            <a:avLst>
              <a:gd name="adj" fmla="val 2863"/>
            </a:avLst>
          </a:prstGeom>
          <a:noFill/>
          <a:ln w="3175">
            <a:solidFill>
              <a:srgbClr val="C00000"/>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kumimoji="1" lang="en-US" altLang="zh-CN" sz="700" dirty="0" err="1">
                <a:solidFill>
                  <a:schemeClr val="tx1">
                    <a:lumMod val="50000"/>
                    <a:lumOff val="50000"/>
                  </a:schemeClr>
                </a:solidFill>
                <a:latin typeface="华文楷体" panose="02010600040101010101" pitchFamily="2" charset="-122"/>
                <a:ea typeface="华文楷体" panose="02010600040101010101" pitchFamily="2" charset="-122"/>
              </a:rPr>
              <a:t>T+n</a:t>
            </a:r>
            <a:r>
              <a:rPr kumimoji="1" lang="zh-CN" altLang="en-US" sz="700" dirty="0">
                <a:solidFill>
                  <a:schemeClr val="tx1">
                    <a:lumMod val="50000"/>
                    <a:lumOff val="50000"/>
                  </a:schemeClr>
                </a:solidFill>
                <a:latin typeface="华文楷体" panose="02010600040101010101" pitchFamily="2" charset="-122"/>
                <a:ea typeface="华文楷体" panose="02010600040101010101" pitchFamily="2" charset="-122"/>
              </a:rPr>
              <a:t> 数据</a:t>
            </a:r>
            <a:endParaRPr kumimoji="1" lang="zh-CN" altLang="en-US" sz="700" dirty="0">
              <a:solidFill>
                <a:schemeClr val="tx1">
                  <a:lumMod val="50000"/>
                  <a:lumOff val="50000"/>
                </a:schemeClr>
              </a:solidFill>
              <a:latin typeface="华文楷体" panose="02010600040101010101" pitchFamily="2" charset="-122"/>
              <a:ea typeface="华文楷体" panose="02010600040101010101" pitchFamily="2" charset="-122"/>
            </a:endParaRPr>
          </a:p>
        </p:txBody>
      </p:sp>
      <p:sp>
        <p:nvSpPr>
          <p:cNvPr id="100" name="文本框 99"/>
          <p:cNvSpPr txBox="1"/>
          <p:nvPr/>
        </p:nvSpPr>
        <p:spPr>
          <a:xfrm>
            <a:off x="2386314" y="2113199"/>
            <a:ext cx="702436" cy="307777"/>
          </a:xfrm>
          <a:prstGeom prst="rect">
            <a:avLst/>
          </a:prstGeom>
          <a:noFill/>
        </p:spPr>
        <p:txBody>
          <a:bodyPr wrap="none" rtlCol="0">
            <a:spAutoFit/>
          </a:bodyPr>
          <a:lstStyle/>
          <a:p>
            <a:pPr algn="ctr"/>
            <a:r>
              <a:rPr kumimoji="1" lang="zh-CN" altLang="en-US" sz="700" b="1" dirty="0">
                <a:solidFill>
                  <a:schemeClr val="tx1">
                    <a:lumMod val="75000"/>
                    <a:lumOff val="25000"/>
                  </a:schemeClr>
                </a:solidFill>
                <a:latin typeface="华文楷体" panose="02010600040101010101" pitchFamily="2" charset="-122"/>
                <a:ea typeface="华文楷体" panose="02010600040101010101" pitchFamily="2" charset="-122"/>
              </a:rPr>
              <a:t>中间</a:t>
            </a:r>
            <a:r>
              <a:rPr kumimoji="1" lang="en-US" altLang="zh-CN" sz="700" b="1" dirty="0">
                <a:solidFill>
                  <a:schemeClr val="tx1">
                    <a:lumMod val="75000"/>
                    <a:lumOff val="25000"/>
                  </a:schemeClr>
                </a:solidFill>
                <a:latin typeface="华文楷体" panose="02010600040101010101" pitchFamily="2" charset="-122"/>
                <a:ea typeface="华文楷体" panose="02010600040101010101" pitchFamily="2" charset="-122"/>
              </a:rPr>
              <a:t>/</a:t>
            </a:r>
            <a:r>
              <a:rPr kumimoji="1" lang="zh-CN" altLang="en-US" sz="700" b="1" dirty="0">
                <a:solidFill>
                  <a:schemeClr val="tx1">
                    <a:lumMod val="75000"/>
                    <a:lumOff val="25000"/>
                  </a:schemeClr>
                </a:solidFill>
                <a:latin typeface="华文楷体" panose="02010600040101010101" pitchFamily="2" charset="-122"/>
                <a:ea typeface="华文楷体" panose="02010600040101010101" pitchFamily="2" charset="-122"/>
              </a:rPr>
              <a:t>汇总层 </a:t>
            </a:r>
            <a:endParaRPr kumimoji="1" lang="en-US" altLang="zh-CN" sz="700" b="1" dirty="0">
              <a:solidFill>
                <a:schemeClr val="tx1">
                  <a:lumMod val="75000"/>
                  <a:lumOff val="25000"/>
                </a:schemeClr>
              </a:solidFill>
              <a:latin typeface="华文楷体" panose="02010600040101010101" pitchFamily="2" charset="-122"/>
              <a:ea typeface="华文楷体" panose="02010600040101010101" pitchFamily="2" charset="-122"/>
            </a:endParaRPr>
          </a:p>
          <a:p>
            <a:pPr algn="ctr"/>
            <a:r>
              <a:rPr kumimoji="1" lang="en-US" altLang="zh-CN" sz="600" dirty="0">
                <a:solidFill>
                  <a:schemeClr val="tx1">
                    <a:lumMod val="75000"/>
                    <a:lumOff val="25000"/>
                  </a:schemeClr>
                </a:solidFill>
                <a:latin typeface="华文楷体" panose="02010600040101010101" pitchFamily="2" charset="-122"/>
                <a:ea typeface="华文楷体" panose="02010600040101010101" pitchFamily="2" charset="-122"/>
              </a:rPr>
              <a:t>Orc-</a:t>
            </a:r>
            <a:r>
              <a:rPr kumimoji="1" lang="en-US" altLang="zh-CN" sz="600" dirty="0" err="1">
                <a:solidFill>
                  <a:schemeClr val="tx1">
                    <a:lumMod val="75000"/>
                    <a:lumOff val="25000"/>
                  </a:schemeClr>
                </a:solidFill>
                <a:latin typeface="华文楷体" panose="02010600040101010101" pitchFamily="2" charset="-122"/>
                <a:ea typeface="华文楷体" panose="02010600040101010101" pitchFamily="2" charset="-122"/>
              </a:rPr>
              <a:t>HudiOrc</a:t>
            </a:r>
            <a:r>
              <a:rPr kumimoji="1" lang="zh-CN" altLang="en-US" sz="700" b="1" dirty="0">
                <a:solidFill>
                  <a:schemeClr val="tx1">
                    <a:lumMod val="75000"/>
                    <a:lumOff val="25000"/>
                  </a:schemeClr>
                </a:solidFill>
                <a:latin typeface="华文楷体" panose="02010600040101010101" pitchFamily="2" charset="-122"/>
                <a:ea typeface="华文楷体" panose="02010600040101010101" pitchFamily="2" charset="-122"/>
              </a:rPr>
              <a:t> </a:t>
            </a:r>
            <a:endParaRPr kumimoji="1" lang="zh-CN" altLang="en-US" sz="700" b="1"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101" name="文本框 100"/>
          <p:cNvSpPr txBox="1"/>
          <p:nvPr/>
        </p:nvSpPr>
        <p:spPr>
          <a:xfrm>
            <a:off x="2496921" y="2617745"/>
            <a:ext cx="481221" cy="292388"/>
          </a:xfrm>
          <a:prstGeom prst="rect">
            <a:avLst/>
          </a:prstGeom>
          <a:noFill/>
        </p:spPr>
        <p:txBody>
          <a:bodyPr wrap="none" rtlCol="0">
            <a:spAutoFit/>
          </a:bodyPr>
          <a:lstStyle/>
          <a:p>
            <a:pPr algn="ctr"/>
            <a:r>
              <a:rPr kumimoji="1" lang="zh-CN" altLang="en-US" sz="700" b="1" dirty="0">
                <a:solidFill>
                  <a:schemeClr val="tx1">
                    <a:lumMod val="75000"/>
                    <a:lumOff val="25000"/>
                  </a:schemeClr>
                </a:solidFill>
                <a:latin typeface="华文楷体" panose="02010600040101010101" pitchFamily="2" charset="-122"/>
                <a:ea typeface="华文楷体" panose="02010600040101010101" pitchFamily="2" charset="-122"/>
              </a:rPr>
              <a:t>基础层 </a:t>
            </a:r>
            <a:endParaRPr kumimoji="1" lang="en-US" altLang="zh-CN" sz="700" b="1" dirty="0">
              <a:solidFill>
                <a:schemeClr val="tx1">
                  <a:lumMod val="75000"/>
                  <a:lumOff val="25000"/>
                </a:schemeClr>
              </a:solidFill>
              <a:latin typeface="华文楷体" panose="02010600040101010101" pitchFamily="2" charset="-122"/>
              <a:ea typeface="华文楷体" panose="02010600040101010101" pitchFamily="2" charset="-122"/>
            </a:endParaRPr>
          </a:p>
          <a:p>
            <a:pPr algn="ctr"/>
            <a:r>
              <a:rPr kumimoji="1" lang="en-US" altLang="zh-CN" sz="600" dirty="0">
                <a:solidFill>
                  <a:schemeClr val="tx1">
                    <a:lumMod val="75000"/>
                    <a:lumOff val="25000"/>
                  </a:schemeClr>
                </a:solidFill>
                <a:latin typeface="华文楷体" panose="02010600040101010101" pitchFamily="2" charset="-122"/>
                <a:ea typeface="华文楷体" panose="02010600040101010101" pitchFamily="2" charset="-122"/>
              </a:rPr>
              <a:t>Orc</a:t>
            </a:r>
            <a:endParaRPr kumimoji="1" lang="zh-CN" altLang="en-US" sz="600"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102" name="文本框 101"/>
          <p:cNvSpPr txBox="1"/>
          <p:nvPr/>
        </p:nvSpPr>
        <p:spPr>
          <a:xfrm>
            <a:off x="2496921" y="3139823"/>
            <a:ext cx="481221" cy="292388"/>
          </a:xfrm>
          <a:prstGeom prst="rect">
            <a:avLst/>
          </a:prstGeom>
          <a:noFill/>
        </p:spPr>
        <p:txBody>
          <a:bodyPr wrap="none" rtlCol="0">
            <a:spAutoFit/>
          </a:bodyPr>
          <a:lstStyle/>
          <a:p>
            <a:pPr algn="ctr"/>
            <a:r>
              <a:rPr kumimoji="1" lang="zh-CN" altLang="en-US" sz="700" b="1" dirty="0">
                <a:solidFill>
                  <a:schemeClr val="tx1">
                    <a:lumMod val="75000"/>
                    <a:lumOff val="25000"/>
                  </a:schemeClr>
                </a:solidFill>
                <a:latin typeface="华文楷体" panose="02010600040101010101" pitchFamily="2" charset="-122"/>
                <a:ea typeface="华文楷体" panose="02010600040101010101" pitchFamily="2" charset="-122"/>
              </a:rPr>
              <a:t>贴源层 </a:t>
            </a:r>
            <a:endParaRPr kumimoji="1" lang="en-US" altLang="zh-CN" sz="700" b="1" dirty="0">
              <a:solidFill>
                <a:schemeClr val="tx1">
                  <a:lumMod val="75000"/>
                  <a:lumOff val="25000"/>
                </a:schemeClr>
              </a:solidFill>
              <a:latin typeface="华文楷体" panose="02010600040101010101" pitchFamily="2" charset="-122"/>
              <a:ea typeface="华文楷体" panose="02010600040101010101" pitchFamily="2" charset="-122"/>
            </a:endParaRPr>
          </a:p>
          <a:p>
            <a:pPr algn="ctr"/>
            <a:r>
              <a:rPr kumimoji="1" lang="en-US" altLang="zh-CN" sz="600" dirty="0">
                <a:solidFill>
                  <a:schemeClr val="tx1">
                    <a:lumMod val="75000"/>
                    <a:lumOff val="25000"/>
                  </a:schemeClr>
                </a:solidFill>
                <a:latin typeface="华文楷体" panose="02010600040101010101" pitchFamily="2" charset="-122"/>
                <a:ea typeface="华文楷体" panose="02010600040101010101" pitchFamily="2" charset="-122"/>
              </a:rPr>
              <a:t>Orc</a:t>
            </a:r>
            <a:endParaRPr kumimoji="1" lang="zh-CN" altLang="en-US" sz="600"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103" name="圆角矩形 102"/>
          <p:cNvSpPr/>
          <p:nvPr/>
        </p:nvSpPr>
        <p:spPr>
          <a:xfrm>
            <a:off x="1326140" y="2070820"/>
            <a:ext cx="2816141" cy="2034430"/>
          </a:xfrm>
          <a:prstGeom prst="roundRect">
            <a:avLst>
              <a:gd name="adj" fmla="val 2863"/>
            </a:avLst>
          </a:prstGeom>
          <a:noFill/>
          <a:ln w="3175">
            <a:solidFill>
              <a:srgbClr val="C00000"/>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kumimoji="1" lang="zh-CN" altLang="en-US" sz="800" dirty="0">
              <a:latin typeface="华文楷体" panose="02010600040101010101" pitchFamily="2" charset="-122"/>
              <a:ea typeface="华文楷体" panose="02010600040101010101" pitchFamily="2" charset="-122"/>
            </a:endParaRPr>
          </a:p>
        </p:txBody>
      </p:sp>
      <p:cxnSp>
        <p:nvCxnSpPr>
          <p:cNvPr id="104" name="直线箭头连接符 103"/>
          <p:cNvCxnSpPr/>
          <p:nvPr/>
        </p:nvCxnSpPr>
        <p:spPr>
          <a:xfrm flipV="1">
            <a:off x="2736000" y="4105252"/>
            <a:ext cx="0" cy="181258"/>
          </a:xfrm>
          <a:prstGeom prst="straightConnector1">
            <a:avLst/>
          </a:prstGeom>
          <a:ln w="22225">
            <a:solidFill>
              <a:srgbClr val="C00000"/>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05" name="直线箭头连接符 104"/>
          <p:cNvCxnSpPr/>
          <p:nvPr/>
        </p:nvCxnSpPr>
        <p:spPr>
          <a:xfrm flipV="1">
            <a:off x="2744814" y="1886262"/>
            <a:ext cx="0" cy="181258"/>
          </a:xfrm>
          <a:prstGeom prst="straightConnector1">
            <a:avLst/>
          </a:prstGeom>
          <a:ln w="22225">
            <a:solidFill>
              <a:srgbClr val="C00000"/>
            </a:solidFill>
            <a:tailEnd type="triangle" w="sm" len="med"/>
          </a:ln>
        </p:spPr>
        <p:style>
          <a:lnRef idx="1">
            <a:schemeClr val="accent1"/>
          </a:lnRef>
          <a:fillRef idx="0">
            <a:schemeClr val="accent1"/>
          </a:fillRef>
          <a:effectRef idx="0">
            <a:schemeClr val="accent1"/>
          </a:effectRef>
          <a:fontRef idx="minor">
            <a:schemeClr val="tx1"/>
          </a:fontRef>
        </p:style>
      </p:cxnSp>
      <p:sp>
        <p:nvSpPr>
          <p:cNvPr id="106" name="圆角矩形 105"/>
          <p:cNvSpPr/>
          <p:nvPr/>
        </p:nvSpPr>
        <p:spPr>
          <a:xfrm>
            <a:off x="1315164" y="4302713"/>
            <a:ext cx="2816141" cy="1056077"/>
          </a:xfrm>
          <a:prstGeom prst="roundRect">
            <a:avLst>
              <a:gd name="adj" fmla="val 2863"/>
            </a:avLst>
          </a:prstGeom>
          <a:solidFill>
            <a:schemeClr val="bg1"/>
          </a:solidFill>
          <a:ln w="12700">
            <a:solidFill>
              <a:srgbClr val="C00000"/>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kumimoji="1" lang="zh-CN" altLang="en-US" sz="800" dirty="0">
              <a:latin typeface="华文楷体" panose="02010600040101010101" pitchFamily="2" charset="-122"/>
              <a:ea typeface="华文楷体" panose="02010600040101010101" pitchFamily="2" charset="-122"/>
            </a:endParaRPr>
          </a:p>
        </p:txBody>
      </p:sp>
      <p:grpSp>
        <p:nvGrpSpPr>
          <p:cNvPr id="107" name="组合 106"/>
          <p:cNvGrpSpPr/>
          <p:nvPr/>
        </p:nvGrpSpPr>
        <p:grpSpPr>
          <a:xfrm>
            <a:off x="1502983" y="4818014"/>
            <a:ext cx="2477533" cy="449875"/>
            <a:chOff x="4260025" y="5369040"/>
            <a:chExt cx="2310631" cy="327910"/>
          </a:xfrm>
        </p:grpSpPr>
        <p:sp>
          <p:nvSpPr>
            <p:cNvPr id="108" name="圆角矩形 107"/>
            <p:cNvSpPr/>
            <p:nvPr/>
          </p:nvSpPr>
          <p:spPr>
            <a:xfrm>
              <a:off x="4281742" y="5369040"/>
              <a:ext cx="460538" cy="144766"/>
            </a:xfrm>
            <a:prstGeom prst="roundRect">
              <a:avLst>
                <a:gd name="adj" fmla="val 2863"/>
              </a:avLst>
            </a:prstGeom>
            <a:gradFill flip="none" rotWithShape="1">
              <a:gsLst>
                <a:gs pos="0">
                  <a:srgbClr val="BED1F9"/>
                </a:gs>
                <a:gs pos="100000">
                  <a:srgbClr val="E8EFFC"/>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kumimoji="1" lang="en-US" altLang="zh-CN" sz="500" b="1" dirty="0">
                  <a:solidFill>
                    <a:schemeClr val="tx1">
                      <a:lumMod val="75000"/>
                      <a:lumOff val="25000"/>
                    </a:schemeClr>
                  </a:solidFill>
                  <a:latin typeface="华文楷体" panose="02010600040101010101" pitchFamily="2" charset="-122"/>
                  <a:ea typeface="华文楷体" panose="02010600040101010101" pitchFamily="2" charset="-122"/>
                </a:rPr>
                <a:t>Magma</a:t>
              </a:r>
              <a:r>
                <a:rPr kumimoji="1" lang="zh-CN" altLang="en-US" sz="500" dirty="0">
                  <a:solidFill>
                    <a:schemeClr val="tx1">
                      <a:lumMod val="75000"/>
                      <a:lumOff val="25000"/>
                    </a:schemeClr>
                  </a:solidFill>
                  <a:latin typeface="华文楷体" panose="02010600040101010101" pitchFamily="2" charset="-122"/>
                  <a:ea typeface="华文楷体" panose="02010600040101010101" pitchFamily="2" charset="-122"/>
                </a:rPr>
                <a:t>  </a:t>
              </a:r>
              <a:r>
                <a:rPr kumimoji="1" lang="en-US" altLang="zh-CN" sz="500" dirty="0">
                  <a:solidFill>
                    <a:schemeClr val="tx1">
                      <a:lumMod val="75000"/>
                      <a:lumOff val="25000"/>
                    </a:schemeClr>
                  </a:solidFill>
                  <a:latin typeface="华文楷体" panose="02010600040101010101" pitchFamily="2" charset="-122"/>
                  <a:ea typeface="华文楷体" panose="02010600040101010101" pitchFamily="2" charset="-122"/>
                </a:rPr>
                <a:t>VSC</a:t>
              </a:r>
              <a:endParaRPr kumimoji="1" lang="zh-CN" altLang="en-US" sz="500"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109" name="圆角矩形 108"/>
            <p:cNvSpPr/>
            <p:nvPr/>
          </p:nvSpPr>
          <p:spPr>
            <a:xfrm>
              <a:off x="4773649" y="5369040"/>
              <a:ext cx="382650" cy="144766"/>
            </a:xfrm>
            <a:prstGeom prst="roundRect">
              <a:avLst>
                <a:gd name="adj" fmla="val 2863"/>
              </a:avLst>
            </a:prstGeom>
            <a:gradFill flip="none" rotWithShape="1">
              <a:gsLst>
                <a:gs pos="0">
                  <a:srgbClr val="BED1F9"/>
                </a:gs>
                <a:gs pos="100000">
                  <a:srgbClr val="E8EFFC"/>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kumimoji="1" lang="en-US" altLang="zh-CN" sz="500" b="1" dirty="0">
                  <a:solidFill>
                    <a:schemeClr val="tx1">
                      <a:lumMod val="75000"/>
                      <a:lumOff val="25000"/>
                    </a:schemeClr>
                  </a:solidFill>
                  <a:latin typeface="华文楷体" panose="02010600040101010101" pitchFamily="2" charset="-122"/>
                  <a:ea typeface="华文楷体" panose="02010600040101010101" pitchFamily="2" charset="-122"/>
                </a:rPr>
                <a:t>HDFS</a:t>
              </a:r>
              <a:r>
                <a:rPr kumimoji="1" lang="zh-CN" altLang="en-US" sz="500" dirty="0">
                  <a:solidFill>
                    <a:schemeClr val="tx1">
                      <a:lumMod val="75000"/>
                      <a:lumOff val="25000"/>
                    </a:schemeClr>
                  </a:solidFill>
                  <a:latin typeface="华文楷体" panose="02010600040101010101" pitchFamily="2" charset="-122"/>
                  <a:ea typeface="华文楷体" panose="02010600040101010101" pitchFamily="2" charset="-122"/>
                </a:rPr>
                <a:t>  </a:t>
              </a:r>
              <a:r>
                <a:rPr kumimoji="1" lang="en-US" altLang="zh-CN" sz="500" dirty="0">
                  <a:solidFill>
                    <a:schemeClr val="tx1">
                      <a:lumMod val="75000"/>
                      <a:lumOff val="25000"/>
                    </a:schemeClr>
                  </a:solidFill>
                  <a:latin typeface="华文楷体" panose="02010600040101010101" pitchFamily="2" charset="-122"/>
                  <a:ea typeface="华文楷体" panose="02010600040101010101" pitchFamily="2" charset="-122"/>
                </a:rPr>
                <a:t>VSC</a:t>
              </a:r>
              <a:endParaRPr kumimoji="1" lang="zh-CN" altLang="en-US" sz="500"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110" name="圆角矩形 109"/>
            <p:cNvSpPr/>
            <p:nvPr/>
          </p:nvSpPr>
          <p:spPr>
            <a:xfrm>
              <a:off x="5187668" y="5369040"/>
              <a:ext cx="297562" cy="144766"/>
            </a:xfrm>
            <a:prstGeom prst="roundRect">
              <a:avLst>
                <a:gd name="adj" fmla="val 2863"/>
              </a:avLst>
            </a:prstGeom>
            <a:gradFill flip="none" rotWithShape="1">
              <a:gsLst>
                <a:gs pos="0">
                  <a:srgbClr val="BED1F9"/>
                </a:gs>
                <a:gs pos="100000">
                  <a:srgbClr val="E8EFFC"/>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kumimoji="1" lang="en-US" altLang="zh-CN" sz="500" b="1" dirty="0">
                  <a:solidFill>
                    <a:schemeClr val="tx1">
                      <a:lumMod val="75000"/>
                      <a:lumOff val="25000"/>
                    </a:schemeClr>
                  </a:solidFill>
                  <a:latin typeface="华文楷体" panose="02010600040101010101" pitchFamily="2" charset="-122"/>
                  <a:ea typeface="华文楷体" panose="02010600040101010101" pitchFamily="2" charset="-122"/>
                </a:rPr>
                <a:t>S3</a:t>
              </a:r>
              <a:r>
                <a:rPr kumimoji="1" lang="zh-CN" altLang="en-US" sz="500" dirty="0">
                  <a:solidFill>
                    <a:schemeClr val="tx1">
                      <a:lumMod val="75000"/>
                      <a:lumOff val="25000"/>
                    </a:schemeClr>
                  </a:solidFill>
                  <a:latin typeface="华文楷体" panose="02010600040101010101" pitchFamily="2" charset="-122"/>
                  <a:ea typeface="华文楷体" panose="02010600040101010101" pitchFamily="2" charset="-122"/>
                </a:rPr>
                <a:t>  </a:t>
              </a:r>
              <a:r>
                <a:rPr kumimoji="1" lang="en-US" altLang="zh-CN" sz="500" dirty="0">
                  <a:solidFill>
                    <a:schemeClr val="tx1">
                      <a:lumMod val="75000"/>
                      <a:lumOff val="25000"/>
                    </a:schemeClr>
                  </a:solidFill>
                  <a:latin typeface="华文楷体" panose="02010600040101010101" pitchFamily="2" charset="-122"/>
                  <a:ea typeface="华文楷体" panose="02010600040101010101" pitchFamily="2" charset="-122"/>
                </a:rPr>
                <a:t>VSC</a:t>
              </a:r>
              <a:endParaRPr kumimoji="1" lang="zh-CN" altLang="en-US" sz="500"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111" name="圆角矩形 110"/>
            <p:cNvSpPr/>
            <p:nvPr/>
          </p:nvSpPr>
          <p:spPr>
            <a:xfrm>
              <a:off x="5516599" y="5369040"/>
              <a:ext cx="589003" cy="144766"/>
            </a:xfrm>
            <a:prstGeom prst="roundRect">
              <a:avLst>
                <a:gd name="adj" fmla="val 2863"/>
              </a:avLst>
            </a:prstGeom>
            <a:gradFill flip="none" rotWithShape="1">
              <a:gsLst>
                <a:gs pos="0">
                  <a:srgbClr val="BED1F9"/>
                </a:gs>
                <a:gs pos="100000">
                  <a:srgbClr val="E8EFFC"/>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kumimoji="1" lang="en-US" altLang="zh-CN" sz="500" b="1" dirty="0">
                  <a:solidFill>
                    <a:schemeClr val="tx1">
                      <a:lumMod val="75000"/>
                      <a:lumOff val="25000"/>
                    </a:schemeClr>
                  </a:solidFill>
                  <a:latin typeface="华文楷体" panose="02010600040101010101" pitchFamily="2" charset="-122"/>
                  <a:ea typeface="华文楷体" panose="02010600040101010101" pitchFamily="2" charset="-122"/>
                </a:rPr>
                <a:t>Elasticsearch</a:t>
              </a:r>
              <a:r>
                <a:rPr kumimoji="1" lang="zh-CN" altLang="en-US" sz="500" dirty="0">
                  <a:solidFill>
                    <a:schemeClr val="tx1">
                      <a:lumMod val="75000"/>
                      <a:lumOff val="25000"/>
                    </a:schemeClr>
                  </a:solidFill>
                  <a:latin typeface="华文楷体" panose="02010600040101010101" pitchFamily="2" charset="-122"/>
                  <a:ea typeface="华文楷体" panose="02010600040101010101" pitchFamily="2" charset="-122"/>
                </a:rPr>
                <a:t>  </a:t>
              </a:r>
              <a:r>
                <a:rPr kumimoji="1" lang="en-US" altLang="zh-CN" sz="500" dirty="0">
                  <a:solidFill>
                    <a:schemeClr val="tx1">
                      <a:lumMod val="75000"/>
                      <a:lumOff val="25000"/>
                    </a:schemeClr>
                  </a:solidFill>
                  <a:latin typeface="华文楷体" panose="02010600040101010101" pitchFamily="2" charset="-122"/>
                  <a:ea typeface="华文楷体" panose="02010600040101010101" pitchFamily="2" charset="-122"/>
                </a:rPr>
                <a:t>VSC</a:t>
              </a:r>
              <a:endParaRPr kumimoji="1" lang="zh-CN" altLang="en-US" sz="500"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112" name="圆角矩形 111"/>
            <p:cNvSpPr/>
            <p:nvPr/>
          </p:nvSpPr>
          <p:spPr>
            <a:xfrm>
              <a:off x="6136972" y="5369040"/>
              <a:ext cx="404645" cy="144766"/>
            </a:xfrm>
            <a:prstGeom prst="roundRect">
              <a:avLst>
                <a:gd name="adj" fmla="val 2863"/>
              </a:avLst>
            </a:prstGeom>
            <a:gradFill flip="none" rotWithShape="1">
              <a:gsLst>
                <a:gs pos="0">
                  <a:srgbClr val="BED1F9"/>
                </a:gs>
                <a:gs pos="100000">
                  <a:srgbClr val="E8EFFC"/>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kumimoji="1" lang="en-US" altLang="zh-CN" sz="500" b="1" dirty="0">
                  <a:solidFill>
                    <a:schemeClr val="tx1">
                      <a:lumMod val="75000"/>
                      <a:lumOff val="25000"/>
                    </a:schemeClr>
                  </a:solidFill>
                  <a:latin typeface="华文楷体" panose="02010600040101010101" pitchFamily="2" charset="-122"/>
                  <a:ea typeface="华文楷体" panose="02010600040101010101" pitchFamily="2" charset="-122"/>
                </a:rPr>
                <a:t>HBase</a:t>
              </a:r>
              <a:r>
                <a:rPr kumimoji="1" lang="zh-CN" altLang="en-US" sz="500" dirty="0">
                  <a:solidFill>
                    <a:schemeClr val="tx1">
                      <a:lumMod val="75000"/>
                      <a:lumOff val="25000"/>
                    </a:schemeClr>
                  </a:solidFill>
                  <a:latin typeface="华文楷体" panose="02010600040101010101" pitchFamily="2" charset="-122"/>
                  <a:ea typeface="华文楷体" panose="02010600040101010101" pitchFamily="2" charset="-122"/>
                </a:rPr>
                <a:t>  </a:t>
              </a:r>
              <a:r>
                <a:rPr kumimoji="1" lang="en-US" altLang="zh-CN" sz="500" dirty="0">
                  <a:solidFill>
                    <a:schemeClr val="tx1">
                      <a:lumMod val="75000"/>
                      <a:lumOff val="25000"/>
                    </a:schemeClr>
                  </a:solidFill>
                  <a:latin typeface="华文楷体" panose="02010600040101010101" pitchFamily="2" charset="-122"/>
                  <a:ea typeface="华文楷体" panose="02010600040101010101" pitchFamily="2" charset="-122"/>
                </a:rPr>
                <a:t>VSC</a:t>
              </a:r>
              <a:endParaRPr kumimoji="1" lang="zh-CN" altLang="en-US" sz="500" dirty="0">
                <a:solidFill>
                  <a:schemeClr val="tx1">
                    <a:lumMod val="75000"/>
                    <a:lumOff val="25000"/>
                  </a:schemeClr>
                </a:solidFill>
                <a:latin typeface="华文楷体" panose="02010600040101010101" pitchFamily="2" charset="-122"/>
                <a:ea typeface="华文楷体" panose="02010600040101010101" pitchFamily="2" charset="-122"/>
              </a:endParaRPr>
            </a:p>
          </p:txBody>
        </p:sp>
        <p:pic>
          <p:nvPicPr>
            <p:cNvPr id="113" name="图片 112"/>
            <p:cNvPicPr>
              <a:picLocks noChangeAspect="1"/>
            </p:cNvPicPr>
            <p:nvPr/>
          </p:nvPicPr>
          <p:blipFill>
            <a:blip r:embed="rId5"/>
            <a:stretch>
              <a:fillRect/>
            </a:stretch>
          </p:blipFill>
          <p:spPr>
            <a:xfrm>
              <a:off x="4260025" y="5529890"/>
              <a:ext cx="167060" cy="167060"/>
            </a:xfrm>
            <a:prstGeom prst="rect">
              <a:avLst/>
            </a:prstGeom>
          </p:spPr>
        </p:pic>
        <p:pic>
          <p:nvPicPr>
            <p:cNvPr id="114" name="图片 113"/>
            <p:cNvPicPr>
              <a:picLocks noChangeAspect="1"/>
            </p:cNvPicPr>
            <p:nvPr/>
          </p:nvPicPr>
          <p:blipFill>
            <a:blip r:embed="rId5"/>
            <a:stretch>
              <a:fillRect/>
            </a:stretch>
          </p:blipFill>
          <p:spPr>
            <a:xfrm>
              <a:off x="4424915" y="5529890"/>
              <a:ext cx="167060" cy="167060"/>
            </a:xfrm>
            <a:prstGeom prst="rect">
              <a:avLst/>
            </a:prstGeom>
          </p:spPr>
        </p:pic>
        <p:pic>
          <p:nvPicPr>
            <p:cNvPr id="115" name="图片 114"/>
            <p:cNvPicPr>
              <a:picLocks noChangeAspect="1"/>
            </p:cNvPicPr>
            <p:nvPr/>
          </p:nvPicPr>
          <p:blipFill>
            <a:blip r:embed="rId5"/>
            <a:stretch>
              <a:fillRect/>
            </a:stretch>
          </p:blipFill>
          <p:spPr>
            <a:xfrm>
              <a:off x="4589805" y="5529890"/>
              <a:ext cx="167060" cy="167060"/>
            </a:xfrm>
            <a:prstGeom prst="rect">
              <a:avLst/>
            </a:prstGeom>
          </p:spPr>
        </p:pic>
        <p:pic>
          <p:nvPicPr>
            <p:cNvPr id="116" name="图片 115"/>
            <p:cNvPicPr>
              <a:picLocks noChangeAspect="1"/>
            </p:cNvPicPr>
            <p:nvPr/>
          </p:nvPicPr>
          <p:blipFill>
            <a:blip r:embed="rId5"/>
            <a:stretch>
              <a:fillRect/>
            </a:stretch>
          </p:blipFill>
          <p:spPr>
            <a:xfrm>
              <a:off x="4754695" y="5529890"/>
              <a:ext cx="167060" cy="167060"/>
            </a:xfrm>
            <a:prstGeom prst="rect">
              <a:avLst/>
            </a:prstGeom>
          </p:spPr>
        </p:pic>
        <p:pic>
          <p:nvPicPr>
            <p:cNvPr id="117" name="图片 116"/>
            <p:cNvPicPr>
              <a:picLocks noChangeAspect="1"/>
            </p:cNvPicPr>
            <p:nvPr/>
          </p:nvPicPr>
          <p:blipFill>
            <a:blip r:embed="rId5"/>
            <a:stretch>
              <a:fillRect/>
            </a:stretch>
          </p:blipFill>
          <p:spPr>
            <a:xfrm>
              <a:off x="4919585" y="5529890"/>
              <a:ext cx="167060" cy="167060"/>
            </a:xfrm>
            <a:prstGeom prst="rect">
              <a:avLst/>
            </a:prstGeom>
          </p:spPr>
        </p:pic>
        <p:pic>
          <p:nvPicPr>
            <p:cNvPr id="118" name="图片 117"/>
            <p:cNvPicPr>
              <a:picLocks noChangeAspect="1"/>
            </p:cNvPicPr>
            <p:nvPr/>
          </p:nvPicPr>
          <p:blipFill>
            <a:blip r:embed="rId5"/>
            <a:stretch>
              <a:fillRect/>
            </a:stretch>
          </p:blipFill>
          <p:spPr>
            <a:xfrm>
              <a:off x="5084475" y="5529890"/>
              <a:ext cx="167060" cy="167060"/>
            </a:xfrm>
            <a:prstGeom prst="rect">
              <a:avLst/>
            </a:prstGeom>
          </p:spPr>
        </p:pic>
        <p:pic>
          <p:nvPicPr>
            <p:cNvPr id="119" name="图片 118"/>
            <p:cNvPicPr>
              <a:picLocks noChangeAspect="1"/>
            </p:cNvPicPr>
            <p:nvPr/>
          </p:nvPicPr>
          <p:blipFill>
            <a:blip r:embed="rId5"/>
            <a:stretch>
              <a:fillRect/>
            </a:stretch>
          </p:blipFill>
          <p:spPr>
            <a:xfrm>
              <a:off x="5249365" y="5529890"/>
              <a:ext cx="167060" cy="167060"/>
            </a:xfrm>
            <a:prstGeom prst="rect">
              <a:avLst/>
            </a:prstGeom>
          </p:spPr>
        </p:pic>
        <p:pic>
          <p:nvPicPr>
            <p:cNvPr id="120" name="图片 119"/>
            <p:cNvPicPr>
              <a:picLocks noChangeAspect="1"/>
            </p:cNvPicPr>
            <p:nvPr/>
          </p:nvPicPr>
          <p:blipFill>
            <a:blip r:embed="rId5"/>
            <a:stretch>
              <a:fillRect/>
            </a:stretch>
          </p:blipFill>
          <p:spPr>
            <a:xfrm>
              <a:off x="5414255" y="5529890"/>
              <a:ext cx="167060" cy="167060"/>
            </a:xfrm>
            <a:prstGeom prst="rect">
              <a:avLst/>
            </a:prstGeom>
          </p:spPr>
        </p:pic>
        <p:pic>
          <p:nvPicPr>
            <p:cNvPr id="121" name="图片 120"/>
            <p:cNvPicPr>
              <a:picLocks noChangeAspect="1"/>
            </p:cNvPicPr>
            <p:nvPr/>
          </p:nvPicPr>
          <p:blipFill>
            <a:blip r:embed="rId5"/>
            <a:stretch>
              <a:fillRect/>
            </a:stretch>
          </p:blipFill>
          <p:spPr>
            <a:xfrm>
              <a:off x="5579145" y="5529890"/>
              <a:ext cx="167060" cy="167060"/>
            </a:xfrm>
            <a:prstGeom prst="rect">
              <a:avLst/>
            </a:prstGeom>
          </p:spPr>
        </p:pic>
        <p:pic>
          <p:nvPicPr>
            <p:cNvPr id="122" name="图片 121"/>
            <p:cNvPicPr>
              <a:picLocks noChangeAspect="1"/>
            </p:cNvPicPr>
            <p:nvPr/>
          </p:nvPicPr>
          <p:blipFill>
            <a:blip r:embed="rId5"/>
            <a:stretch>
              <a:fillRect/>
            </a:stretch>
          </p:blipFill>
          <p:spPr>
            <a:xfrm>
              <a:off x="5744035" y="5529890"/>
              <a:ext cx="167060" cy="167060"/>
            </a:xfrm>
            <a:prstGeom prst="rect">
              <a:avLst/>
            </a:prstGeom>
          </p:spPr>
        </p:pic>
        <p:pic>
          <p:nvPicPr>
            <p:cNvPr id="123" name="图片 122"/>
            <p:cNvPicPr>
              <a:picLocks noChangeAspect="1"/>
            </p:cNvPicPr>
            <p:nvPr/>
          </p:nvPicPr>
          <p:blipFill>
            <a:blip r:embed="rId5"/>
            <a:stretch>
              <a:fillRect/>
            </a:stretch>
          </p:blipFill>
          <p:spPr>
            <a:xfrm>
              <a:off x="5908925" y="5529890"/>
              <a:ext cx="167060" cy="167060"/>
            </a:xfrm>
            <a:prstGeom prst="rect">
              <a:avLst/>
            </a:prstGeom>
          </p:spPr>
        </p:pic>
        <p:pic>
          <p:nvPicPr>
            <p:cNvPr id="124" name="图片 123"/>
            <p:cNvPicPr>
              <a:picLocks noChangeAspect="1"/>
            </p:cNvPicPr>
            <p:nvPr/>
          </p:nvPicPr>
          <p:blipFill>
            <a:blip r:embed="rId5"/>
            <a:stretch>
              <a:fillRect/>
            </a:stretch>
          </p:blipFill>
          <p:spPr>
            <a:xfrm>
              <a:off x="6073815" y="5529890"/>
              <a:ext cx="167060" cy="167060"/>
            </a:xfrm>
            <a:prstGeom prst="rect">
              <a:avLst/>
            </a:prstGeom>
          </p:spPr>
        </p:pic>
        <p:pic>
          <p:nvPicPr>
            <p:cNvPr id="125" name="图片 124"/>
            <p:cNvPicPr>
              <a:picLocks noChangeAspect="1"/>
            </p:cNvPicPr>
            <p:nvPr/>
          </p:nvPicPr>
          <p:blipFill>
            <a:blip r:embed="rId5"/>
            <a:stretch>
              <a:fillRect/>
            </a:stretch>
          </p:blipFill>
          <p:spPr>
            <a:xfrm>
              <a:off x="6403596" y="5529890"/>
              <a:ext cx="167060" cy="167060"/>
            </a:xfrm>
            <a:prstGeom prst="rect">
              <a:avLst/>
            </a:prstGeom>
          </p:spPr>
        </p:pic>
        <p:pic>
          <p:nvPicPr>
            <p:cNvPr id="126" name="图片 125"/>
            <p:cNvPicPr>
              <a:picLocks noChangeAspect="1"/>
            </p:cNvPicPr>
            <p:nvPr/>
          </p:nvPicPr>
          <p:blipFill>
            <a:blip r:embed="rId5"/>
            <a:stretch>
              <a:fillRect/>
            </a:stretch>
          </p:blipFill>
          <p:spPr>
            <a:xfrm>
              <a:off x="6238705" y="5529890"/>
              <a:ext cx="167060" cy="167060"/>
            </a:xfrm>
            <a:prstGeom prst="rect">
              <a:avLst/>
            </a:prstGeom>
          </p:spPr>
        </p:pic>
      </p:grpSp>
      <p:sp>
        <p:nvSpPr>
          <p:cNvPr id="127" name="文本框 126"/>
          <p:cNvSpPr txBox="1"/>
          <p:nvPr/>
        </p:nvSpPr>
        <p:spPr>
          <a:xfrm>
            <a:off x="2209434" y="4285368"/>
            <a:ext cx="1082348" cy="276999"/>
          </a:xfrm>
          <a:prstGeom prst="rect">
            <a:avLst/>
          </a:prstGeom>
          <a:noFill/>
        </p:spPr>
        <p:txBody>
          <a:bodyPr wrap="none" rtlCol="0">
            <a:spAutoFit/>
          </a:bodyPr>
          <a:lstStyle/>
          <a:p>
            <a:pPr algn="ctr"/>
            <a:r>
              <a:rPr kumimoji="1" lang="zh-CN" altLang="en-US" sz="700" b="1" dirty="0">
                <a:solidFill>
                  <a:srgbClr val="C00000"/>
                </a:solidFill>
                <a:latin typeface="华文楷体" panose="02010600040101010101" pitchFamily="2" charset="-122"/>
                <a:ea typeface="华文楷体" panose="02010600040101010101" pitchFamily="2" charset="-122"/>
              </a:rPr>
              <a:t>湖仓一体虚拟存储集群</a:t>
            </a:r>
            <a:endParaRPr kumimoji="1" lang="en-US" altLang="zh-CN" sz="700" b="1" dirty="0">
              <a:solidFill>
                <a:srgbClr val="C00000"/>
              </a:solidFill>
              <a:latin typeface="华文楷体" panose="02010600040101010101" pitchFamily="2" charset="-122"/>
              <a:ea typeface="华文楷体" panose="02010600040101010101" pitchFamily="2" charset="-122"/>
            </a:endParaRPr>
          </a:p>
          <a:p>
            <a:pPr algn="ctr"/>
            <a:r>
              <a:rPr kumimoji="1" lang="en-US" altLang="zh-CN" sz="500" dirty="0">
                <a:solidFill>
                  <a:srgbClr val="C00000"/>
                </a:solidFill>
                <a:latin typeface="华文楷体" panose="02010600040101010101" pitchFamily="2" charset="-122"/>
                <a:ea typeface="华文楷体" panose="02010600040101010101" pitchFamily="2" charset="-122"/>
              </a:rPr>
              <a:t>Virtual</a:t>
            </a:r>
            <a:r>
              <a:rPr kumimoji="1" lang="zh-CN" altLang="en-US" sz="500" dirty="0">
                <a:solidFill>
                  <a:srgbClr val="C00000"/>
                </a:solidFill>
                <a:latin typeface="华文楷体" panose="02010600040101010101" pitchFamily="2" charset="-122"/>
                <a:ea typeface="华文楷体" panose="02010600040101010101" pitchFamily="2" charset="-122"/>
              </a:rPr>
              <a:t> </a:t>
            </a:r>
            <a:r>
              <a:rPr kumimoji="1" lang="en-US" altLang="zh-CN" sz="500" dirty="0">
                <a:solidFill>
                  <a:srgbClr val="C00000"/>
                </a:solidFill>
                <a:latin typeface="华文楷体" panose="02010600040101010101" pitchFamily="2" charset="-122"/>
                <a:ea typeface="华文楷体" panose="02010600040101010101" pitchFamily="2" charset="-122"/>
              </a:rPr>
              <a:t>Storage</a:t>
            </a:r>
            <a:r>
              <a:rPr kumimoji="1" lang="zh-CN" altLang="en-US" sz="500" dirty="0">
                <a:solidFill>
                  <a:srgbClr val="C00000"/>
                </a:solidFill>
                <a:latin typeface="华文楷体" panose="02010600040101010101" pitchFamily="2" charset="-122"/>
                <a:ea typeface="华文楷体" panose="02010600040101010101" pitchFamily="2" charset="-122"/>
              </a:rPr>
              <a:t> </a:t>
            </a:r>
            <a:r>
              <a:rPr kumimoji="1" lang="en-US" altLang="zh-CN" sz="500" dirty="0">
                <a:solidFill>
                  <a:srgbClr val="C00000"/>
                </a:solidFill>
                <a:latin typeface="华文楷体" panose="02010600040101010101" pitchFamily="2" charset="-122"/>
                <a:ea typeface="华文楷体" panose="02010600040101010101" pitchFamily="2" charset="-122"/>
              </a:rPr>
              <a:t>Cluster</a:t>
            </a:r>
            <a:r>
              <a:rPr kumimoji="1" lang="zh-CN" altLang="en-US" sz="500" dirty="0">
                <a:solidFill>
                  <a:srgbClr val="C00000"/>
                </a:solidFill>
                <a:latin typeface="华文楷体" panose="02010600040101010101" pitchFamily="2" charset="-122"/>
                <a:ea typeface="华文楷体" panose="02010600040101010101" pitchFamily="2" charset="-122"/>
              </a:rPr>
              <a:t> </a:t>
            </a:r>
            <a:r>
              <a:rPr kumimoji="1" lang="en-US" altLang="zh-CN" sz="500" dirty="0">
                <a:solidFill>
                  <a:srgbClr val="C00000"/>
                </a:solidFill>
                <a:latin typeface="华文楷体" panose="02010600040101010101" pitchFamily="2" charset="-122"/>
                <a:ea typeface="华文楷体" panose="02010600040101010101" pitchFamily="2" charset="-122"/>
              </a:rPr>
              <a:t>(VSC)</a:t>
            </a:r>
            <a:endParaRPr kumimoji="1" lang="zh-CN" altLang="en-US" sz="500" dirty="0">
              <a:solidFill>
                <a:srgbClr val="C00000"/>
              </a:solidFill>
              <a:latin typeface="华文楷体" panose="02010600040101010101" pitchFamily="2" charset="-122"/>
              <a:ea typeface="华文楷体" panose="02010600040101010101" pitchFamily="2" charset="-122"/>
            </a:endParaRPr>
          </a:p>
        </p:txBody>
      </p:sp>
      <p:sp>
        <p:nvSpPr>
          <p:cNvPr id="128" name="圆角矩形 127"/>
          <p:cNvSpPr/>
          <p:nvPr/>
        </p:nvSpPr>
        <p:spPr>
          <a:xfrm>
            <a:off x="1506698" y="3860600"/>
            <a:ext cx="732125" cy="172644"/>
          </a:xfrm>
          <a:prstGeom prst="roundRect">
            <a:avLst>
              <a:gd name="adj" fmla="val 2863"/>
            </a:avLst>
          </a:prstGeom>
          <a:noFill/>
          <a:ln w="3175">
            <a:solidFill>
              <a:srgbClr val="C00000"/>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kumimoji="1" lang="en-US" altLang="zh-CN" sz="700" dirty="0">
                <a:solidFill>
                  <a:schemeClr val="tx1">
                    <a:lumMod val="50000"/>
                    <a:lumOff val="50000"/>
                  </a:schemeClr>
                </a:solidFill>
                <a:latin typeface="华文楷体" panose="02010600040101010101" pitchFamily="2" charset="-122"/>
                <a:ea typeface="华文楷体" panose="02010600040101010101" pitchFamily="2" charset="-122"/>
              </a:rPr>
              <a:t>T+0</a:t>
            </a:r>
            <a:r>
              <a:rPr kumimoji="1" lang="zh-CN" altLang="en-US" sz="700" dirty="0">
                <a:solidFill>
                  <a:schemeClr val="tx1">
                    <a:lumMod val="50000"/>
                    <a:lumOff val="50000"/>
                  </a:schemeClr>
                </a:solidFill>
                <a:latin typeface="华文楷体" panose="02010600040101010101" pitchFamily="2" charset="-122"/>
                <a:ea typeface="华文楷体" panose="02010600040101010101" pitchFamily="2" charset="-122"/>
              </a:rPr>
              <a:t> 数据</a:t>
            </a:r>
            <a:endParaRPr kumimoji="1" lang="zh-CN" altLang="en-US" sz="700" dirty="0">
              <a:solidFill>
                <a:schemeClr val="tx1">
                  <a:lumMod val="50000"/>
                  <a:lumOff val="50000"/>
                </a:schemeClr>
              </a:solidFill>
              <a:latin typeface="华文楷体" panose="02010600040101010101" pitchFamily="2" charset="-122"/>
              <a:ea typeface="华文楷体" panose="02010600040101010101" pitchFamily="2" charset="-122"/>
            </a:endParaRPr>
          </a:p>
        </p:txBody>
      </p:sp>
      <p:sp>
        <p:nvSpPr>
          <p:cNvPr id="129" name="圆角矩形 128"/>
          <p:cNvSpPr/>
          <p:nvPr/>
        </p:nvSpPr>
        <p:spPr>
          <a:xfrm>
            <a:off x="2376031" y="3860600"/>
            <a:ext cx="732125" cy="172644"/>
          </a:xfrm>
          <a:prstGeom prst="roundRect">
            <a:avLst>
              <a:gd name="adj" fmla="val 2863"/>
            </a:avLst>
          </a:prstGeom>
          <a:noFill/>
          <a:ln w="3175">
            <a:solidFill>
              <a:srgbClr val="C00000"/>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kumimoji="1" lang="en-US" altLang="zh-CN" sz="700" b="1" dirty="0">
                <a:solidFill>
                  <a:schemeClr val="tx1">
                    <a:lumMod val="50000"/>
                    <a:lumOff val="50000"/>
                  </a:schemeClr>
                </a:solidFill>
                <a:latin typeface="华文楷体" panose="02010600040101010101" pitchFamily="2" charset="-122"/>
                <a:ea typeface="华文楷体" panose="02010600040101010101" pitchFamily="2" charset="-122"/>
              </a:rPr>
              <a:t>T+1</a:t>
            </a:r>
            <a:r>
              <a:rPr kumimoji="1" lang="zh-CN" altLang="en-US" sz="700" b="1" dirty="0">
                <a:solidFill>
                  <a:schemeClr val="tx1">
                    <a:lumMod val="50000"/>
                    <a:lumOff val="50000"/>
                  </a:schemeClr>
                </a:solidFill>
                <a:latin typeface="华文楷体" panose="02010600040101010101" pitchFamily="2" charset="-122"/>
                <a:ea typeface="华文楷体" panose="02010600040101010101" pitchFamily="2" charset="-122"/>
              </a:rPr>
              <a:t> 数据</a:t>
            </a:r>
            <a:endParaRPr kumimoji="1" lang="zh-CN" altLang="en-US" sz="700" b="1" dirty="0">
              <a:solidFill>
                <a:schemeClr val="tx1">
                  <a:lumMod val="50000"/>
                  <a:lumOff val="50000"/>
                </a:schemeClr>
              </a:solidFill>
              <a:latin typeface="华文楷体" panose="02010600040101010101" pitchFamily="2" charset="-122"/>
              <a:ea typeface="华文楷体" panose="02010600040101010101" pitchFamily="2" charset="-122"/>
            </a:endParaRPr>
          </a:p>
        </p:txBody>
      </p:sp>
      <p:sp>
        <p:nvSpPr>
          <p:cNvPr id="130" name="圆角矩形 129"/>
          <p:cNvSpPr/>
          <p:nvPr/>
        </p:nvSpPr>
        <p:spPr>
          <a:xfrm>
            <a:off x="3195249" y="3860600"/>
            <a:ext cx="732125" cy="172644"/>
          </a:xfrm>
          <a:prstGeom prst="roundRect">
            <a:avLst>
              <a:gd name="adj" fmla="val 2863"/>
            </a:avLst>
          </a:prstGeom>
          <a:noFill/>
          <a:ln w="3175">
            <a:solidFill>
              <a:srgbClr val="C00000"/>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kumimoji="1" lang="en-US" altLang="zh-CN" sz="700" dirty="0" err="1">
                <a:solidFill>
                  <a:schemeClr val="tx1">
                    <a:lumMod val="50000"/>
                    <a:lumOff val="50000"/>
                  </a:schemeClr>
                </a:solidFill>
                <a:latin typeface="华文楷体" panose="02010600040101010101" pitchFamily="2" charset="-122"/>
                <a:ea typeface="华文楷体" panose="02010600040101010101" pitchFamily="2" charset="-122"/>
              </a:rPr>
              <a:t>T+n</a:t>
            </a:r>
            <a:r>
              <a:rPr kumimoji="1" lang="zh-CN" altLang="en-US" sz="700" dirty="0">
                <a:solidFill>
                  <a:schemeClr val="tx1">
                    <a:lumMod val="50000"/>
                    <a:lumOff val="50000"/>
                  </a:schemeClr>
                </a:solidFill>
                <a:latin typeface="华文楷体" panose="02010600040101010101" pitchFamily="2" charset="-122"/>
                <a:ea typeface="华文楷体" panose="02010600040101010101" pitchFamily="2" charset="-122"/>
              </a:rPr>
              <a:t> 数据</a:t>
            </a:r>
            <a:endParaRPr kumimoji="1" lang="zh-CN" altLang="en-US" sz="700" dirty="0">
              <a:solidFill>
                <a:schemeClr val="tx1">
                  <a:lumMod val="50000"/>
                  <a:lumOff val="50000"/>
                </a:schemeClr>
              </a:solidFill>
              <a:latin typeface="华文楷体" panose="02010600040101010101" pitchFamily="2" charset="-122"/>
              <a:ea typeface="华文楷体" panose="02010600040101010101" pitchFamily="2" charset="-122"/>
            </a:endParaRPr>
          </a:p>
        </p:txBody>
      </p:sp>
      <p:sp>
        <p:nvSpPr>
          <p:cNvPr id="131" name="文本框 130"/>
          <p:cNvSpPr txBox="1"/>
          <p:nvPr/>
        </p:nvSpPr>
        <p:spPr>
          <a:xfrm>
            <a:off x="2496921" y="3603280"/>
            <a:ext cx="481221" cy="292388"/>
          </a:xfrm>
          <a:prstGeom prst="rect">
            <a:avLst/>
          </a:prstGeom>
          <a:noFill/>
        </p:spPr>
        <p:txBody>
          <a:bodyPr wrap="none" rtlCol="0">
            <a:spAutoFit/>
          </a:bodyPr>
          <a:lstStyle/>
          <a:p>
            <a:pPr algn="ctr"/>
            <a:r>
              <a:rPr kumimoji="1" lang="zh-CN" altLang="en-US" sz="700" b="1" dirty="0">
                <a:solidFill>
                  <a:schemeClr val="tx1">
                    <a:lumMod val="75000"/>
                    <a:lumOff val="25000"/>
                  </a:schemeClr>
                </a:solidFill>
                <a:latin typeface="华文楷体" panose="02010600040101010101" pitchFamily="2" charset="-122"/>
                <a:ea typeface="华文楷体" panose="02010600040101010101" pitchFamily="2" charset="-122"/>
              </a:rPr>
              <a:t>缓冲层 </a:t>
            </a:r>
            <a:endParaRPr kumimoji="1" lang="en-US" altLang="zh-CN" sz="700" b="1" dirty="0">
              <a:solidFill>
                <a:schemeClr val="tx1">
                  <a:lumMod val="75000"/>
                  <a:lumOff val="25000"/>
                </a:schemeClr>
              </a:solidFill>
              <a:latin typeface="华文楷体" panose="02010600040101010101" pitchFamily="2" charset="-122"/>
              <a:ea typeface="华文楷体" panose="02010600040101010101" pitchFamily="2" charset="-122"/>
            </a:endParaRPr>
          </a:p>
          <a:p>
            <a:pPr algn="ctr"/>
            <a:r>
              <a:rPr kumimoji="1" lang="en-US" altLang="zh-CN" sz="600" dirty="0">
                <a:solidFill>
                  <a:schemeClr val="tx1">
                    <a:lumMod val="75000"/>
                    <a:lumOff val="25000"/>
                  </a:schemeClr>
                </a:solidFill>
                <a:latin typeface="华文楷体" panose="02010600040101010101" pitchFamily="2" charset="-122"/>
                <a:ea typeface="华文楷体" panose="02010600040101010101" pitchFamily="2" charset="-122"/>
              </a:rPr>
              <a:t>Text</a:t>
            </a:r>
            <a:endParaRPr kumimoji="1" lang="zh-CN" altLang="en-US" sz="600" dirty="0">
              <a:solidFill>
                <a:schemeClr val="tx1">
                  <a:lumMod val="75000"/>
                  <a:lumOff val="25000"/>
                </a:schemeClr>
              </a:solidFill>
              <a:latin typeface="华文楷体" panose="02010600040101010101" pitchFamily="2" charset="-122"/>
              <a:ea typeface="华文楷体" panose="02010600040101010101" pitchFamily="2" charset="-122"/>
            </a:endParaRPr>
          </a:p>
        </p:txBody>
      </p:sp>
      <p:pic>
        <p:nvPicPr>
          <p:cNvPr id="132" name="图片 131"/>
          <p:cNvPicPr>
            <a:picLocks noChangeAspect="1"/>
          </p:cNvPicPr>
          <p:nvPr/>
        </p:nvPicPr>
        <p:blipFill>
          <a:blip r:embed="rId5"/>
          <a:stretch>
            <a:fillRect/>
          </a:stretch>
        </p:blipFill>
        <p:spPr>
          <a:xfrm>
            <a:off x="4561921" y="5113170"/>
            <a:ext cx="179127" cy="229197"/>
          </a:xfrm>
          <a:prstGeom prst="rect">
            <a:avLst/>
          </a:prstGeom>
          <a:solidFill>
            <a:schemeClr val="bg1"/>
          </a:solidFill>
          <a:ln w="25400">
            <a:noFill/>
          </a:ln>
        </p:spPr>
      </p:pic>
      <p:pic>
        <p:nvPicPr>
          <p:cNvPr id="133" name="图片 132"/>
          <p:cNvPicPr>
            <a:picLocks noChangeAspect="1"/>
          </p:cNvPicPr>
          <p:nvPr/>
        </p:nvPicPr>
        <p:blipFill>
          <a:blip r:embed="rId5"/>
          <a:stretch>
            <a:fillRect/>
          </a:stretch>
        </p:blipFill>
        <p:spPr>
          <a:xfrm>
            <a:off x="4738721" y="5113170"/>
            <a:ext cx="179127" cy="229197"/>
          </a:xfrm>
          <a:prstGeom prst="rect">
            <a:avLst/>
          </a:prstGeom>
          <a:solidFill>
            <a:schemeClr val="bg1"/>
          </a:solidFill>
          <a:ln w="25400">
            <a:noFill/>
          </a:ln>
        </p:spPr>
      </p:pic>
      <p:pic>
        <p:nvPicPr>
          <p:cNvPr id="134" name="图片 133"/>
          <p:cNvPicPr>
            <a:picLocks noChangeAspect="1"/>
          </p:cNvPicPr>
          <p:nvPr/>
        </p:nvPicPr>
        <p:blipFill>
          <a:blip r:embed="rId5"/>
          <a:stretch>
            <a:fillRect/>
          </a:stretch>
        </p:blipFill>
        <p:spPr>
          <a:xfrm>
            <a:off x="4915522" y="5113170"/>
            <a:ext cx="179127" cy="229197"/>
          </a:xfrm>
          <a:prstGeom prst="rect">
            <a:avLst/>
          </a:prstGeom>
          <a:solidFill>
            <a:schemeClr val="bg1"/>
          </a:solidFill>
          <a:ln w="25400">
            <a:noFill/>
          </a:ln>
        </p:spPr>
      </p:pic>
      <p:pic>
        <p:nvPicPr>
          <p:cNvPr id="135" name="图片 134"/>
          <p:cNvPicPr>
            <a:picLocks noChangeAspect="1"/>
          </p:cNvPicPr>
          <p:nvPr/>
        </p:nvPicPr>
        <p:blipFill>
          <a:blip r:embed="rId5"/>
          <a:stretch>
            <a:fillRect/>
          </a:stretch>
        </p:blipFill>
        <p:spPr>
          <a:xfrm>
            <a:off x="5092322" y="5113170"/>
            <a:ext cx="179127" cy="229197"/>
          </a:xfrm>
          <a:prstGeom prst="rect">
            <a:avLst/>
          </a:prstGeom>
          <a:solidFill>
            <a:schemeClr val="bg1"/>
          </a:solidFill>
          <a:ln w="25400">
            <a:noFill/>
          </a:ln>
        </p:spPr>
      </p:pic>
      <p:pic>
        <p:nvPicPr>
          <p:cNvPr id="136" name="图片 135"/>
          <p:cNvPicPr>
            <a:picLocks noChangeAspect="1"/>
          </p:cNvPicPr>
          <p:nvPr/>
        </p:nvPicPr>
        <p:blipFill>
          <a:blip r:embed="rId5"/>
          <a:stretch>
            <a:fillRect/>
          </a:stretch>
        </p:blipFill>
        <p:spPr>
          <a:xfrm>
            <a:off x="5445924" y="5113170"/>
            <a:ext cx="179127" cy="229197"/>
          </a:xfrm>
          <a:prstGeom prst="rect">
            <a:avLst/>
          </a:prstGeom>
          <a:solidFill>
            <a:schemeClr val="bg1"/>
          </a:solidFill>
          <a:ln w="25400">
            <a:noFill/>
          </a:ln>
        </p:spPr>
      </p:pic>
      <p:pic>
        <p:nvPicPr>
          <p:cNvPr id="137" name="图片 136"/>
          <p:cNvPicPr>
            <a:picLocks noChangeAspect="1"/>
          </p:cNvPicPr>
          <p:nvPr/>
        </p:nvPicPr>
        <p:blipFill>
          <a:blip r:embed="rId5"/>
          <a:stretch>
            <a:fillRect/>
          </a:stretch>
        </p:blipFill>
        <p:spPr>
          <a:xfrm>
            <a:off x="5269122" y="5113170"/>
            <a:ext cx="179127" cy="229197"/>
          </a:xfrm>
          <a:prstGeom prst="rect">
            <a:avLst/>
          </a:prstGeom>
          <a:solidFill>
            <a:schemeClr val="bg1"/>
          </a:solidFill>
          <a:ln w="25400">
            <a:noFill/>
          </a:ln>
        </p:spPr>
      </p:pic>
      <p:sp>
        <p:nvSpPr>
          <p:cNvPr id="138" name="圆角矩形 137"/>
          <p:cNvSpPr/>
          <p:nvPr/>
        </p:nvSpPr>
        <p:spPr>
          <a:xfrm>
            <a:off x="4435757" y="3776372"/>
            <a:ext cx="1307993" cy="1677582"/>
          </a:xfrm>
          <a:prstGeom prst="roundRect">
            <a:avLst>
              <a:gd name="adj" fmla="val 2863"/>
            </a:avLst>
          </a:prstGeom>
          <a:noFill/>
          <a:ln>
            <a:solidFill>
              <a:srgbClr val="404040"/>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kumimoji="1" lang="zh-CN" altLang="en-US" sz="800" dirty="0">
              <a:latin typeface="华文楷体" panose="02010600040101010101" pitchFamily="2" charset="-122"/>
              <a:ea typeface="华文楷体" panose="02010600040101010101" pitchFamily="2" charset="-122"/>
            </a:endParaRPr>
          </a:p>
        </p:txBody>
      </p:sp>
      <p:sp>
        <p:nvSpPr>
          <p:cNvPr id="139" name="文本框 138"/>
          <p:cNvSpPr txBox="1"/>
          <p:nvPr/>
        </p:nvSpPr>
        <p:spPr>
          <a:xfrm>
            <a:off x="4707118" y="3833189"/>
            <a:ext cx="723275" cy="200055"/>
          </a:xfrm>
          <a:prstGeom prst="rect">
            <a:avLst/>
          </a:prstGeom>
          <a:noFill/>
        </p:spPr>
        <p:txBody>
          <a:bodyPr wrap="none" rtlCol="0">
            <a:spAutoFit/>
          </a:bodyPr>
          <a:lstStyle/>
          <a:p>
            <a:pPr algn="ctr"/>
            <a:r>
              <a:rPr kumimoji="1" lang="zh-CN" altLang="en-US" sz="700" b="1" dirty="0">
                <a:solidFill>
                  <a:schemeClr val="tx1">
                    <a:lumMod val="75000"/>
                    <a:lumOff val="25000"/>
                  </a:schemeClr>
                </a:solidFill>
                <a:latin typeface="华文楷体" panose="02010600040101010101" pitchFamily="2" charset="-122"/>
                <a:ea typeface="华文楷体" panose="02010600040101010101" pitchFamily="2" charset="-122"/>
              </a:rPr>
              <a:t>数据湖 </a:t>
            </a:r>
            <a:r>
              <a:rPr kumimoji="1" lang="en-US" altLang="zh-CN" sz="700" b="1" dirty="0">
                <a:solidFill>
                  <a:schemeClr val="tx1">
                    <a:lumMod val="75000"/>
                    <a:lumOff val="25000"/>
                  </a:schemeClr>
                </a:solidFill>
                <a:latin typeface="华文楷体" panose="02010600040101010101" pitchFamily="2" charset="-122"/>
                <a:ea typeface="华文楷体" panose="02010600040101010101" pitchFamily="2" charset="-122"/>
              </a:rPr>
              <a:t>TBDS</a:t>
            </a:r>
            <a:endParaRPr kumimoji="1" lang="zh-CN" altLang="en-US" sz="500" dirty="0">
              <a:solidFill>
                <a:schemeClr val="tx1">
                  <a:lumMod val="75000"/>
                  <a:lumOff val="25000"/>
                </a:schemeClr>
              </a:solidFill>
              <a:latin typeface="华文楷体" panose="02010600040101010101" pitchFamily="2" charset="-122"/>
              <a:ea typeface="华文楷体" panose="02010600040101010101" pitchFamily="2" charset="-122"/>
            </a:endParaRPr>
          </a:p>
        </p:txBody>
      </p:sp>
      <p:cxnSp>
        <p:nvCxnSpPr>
          <p:cNvPr id="140" name="直线箭头连接符 139"/>
          <p:cNvCxnSpPr/>
          <p:nvPr/>
        </p:nvCxnSpPr>
        <p:spPr>
          <a:xfrm>
            <a:off x="5728477" y="3961236"/>
            <a:ext cx="197348" cy="0"/>
          </a:xfrm>
          <a:prstGeom prst="straightConnector1">
            <a:avLst/>
          </a:prstGeom>
          <a:ln w="22225">
            <a:solidFill>
              <a:srgbClr val="404040"/>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141" name="直线箭头连接符 140"/>
          <p:cNvCxnSpPr>
            <a:stCxn id="130" idx="3"/>
          </p:cNvCxnSpPr>
          <p:nvPr/>
        </p:nvCxnSpPr>
        <p:spPr>
          <a:xfrm>
            <a:off x="3927374" y="3946922"/>
            <a:ext cx="508383" cy="0"/>
          </a:xfrm>
          <a:prstGeom prst="straightConnector1">
            <a:avLst/>
          </a:prstGeom>
          <a:ln w="22225">
            <a:solidFill>
              <a:srgbClr val="404040"/>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sp>
        <p:nvSpPr>
          <p:cNvPr id="142" name="圆角矩形 141"/>
          <p:cNvSpPr/>
          <p:nvPr/>
        </p:nvSpPr>
        <p:spPr>
          <a:xfrm>
            <a:off x="375132" y="2017020"/>
            <a:ext cx="490508" cy="1208395"/>
          </a:xfrm>
          <a:prstGeom prst="roundRect">
            <a:avLst>
              <a:gd name="adj" fmla="val 2863"/>
            </a:avLst>
          </a:prstGeom>
          <a:solidFill>
            <a:srgbClr val="40404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kumimoji="1" lang="zh-CN" altLang="en-US" sz="800" dirty="0">
                <a:latin typeface="华文楷体" panose="02010600040101010101" pitchFamily="2" charset="-122"/>
                <a:ea typeface="华文楷体" panose="02010600040101010101" pitchFamily="2" charset="-122"/>
              </a:rPr>
              <a:t>实时数据交换</a:t>
            </a:r>
            <a:endParaRPr kumimoji="1" lang="zh-CN" altLang="en-US" sz="800" dirty="0">
              <a:latin typeface="华文楷体" panose="02010600040101010101" pitchFamily="2" charset="-122"/>
              <a:ea typeface="华文楷体" panose="02010600040101010101" pitchFamily="2" charset="-122"/>
            </a:endParaRPr>
          </a:p>
        </p:txBody>
      </p:sp>
      <p:sp>
        <p:nvSpPr>
          <p:cNvPr id="143" name="圆角矩形 142"/>
          <p:cNvSpPr/>
          <p:nvPr/>
        </p:nvSpPr>
        <p:spPr>
          <a:xfrm>
            <a:off x="375132" y="3685503"/>
            <a:ext cx="490508" cy="1208395"/>
          </a:xfrm>
          <a:prstGeom prst="roundRect">
            <a:avLst>
              <a:gd name="adj" fmla="val 2863"/>
            </a:avLst>
          </a:prstGeom>
          <a:solidFill>
            <a:srgbClr val="40404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kumimoji="1" lang="zh-CN" altLang="en-US" sz="800" dirty="0">
                <a:latin typeface="华文楷体" panose="02010600040101010101" pitchFamily="2" charset="-122"/>
                <a:ea typeface="华文楷体" panose="02010600040101010101" pitchFamily="2" charset="-122"/>
              </a:rPr>
              <a:t>批量数据交换</a:t>
            </a:r>
            <a:endParaRPr kumimoji="1" lang="zh-CN" altLang="en-US" sz="800" dirty="0">
              <a:latin typeface="华文楷体" panose="02010600040101010101" pitchFamily="2" charset="-122"/>
              <a:ea typeface="华文楷体" panose="02010600040101010101" pitchFamily="2" charset="-122"/>
            </a:endParaRPr>
          </a:p>
        </p:txBody>
      </p:sp>
      <p:sp>
        <p:nvSpPr>
          <p:cNvPr id="144" name="圆角矩形 143"/>
          <p:cNvSpPr/>
          <p:nvPr/>
        </p:nvSpPr>
        <p:spPr>
          <a:xfrm>
            <a:off x="6993244" y="1272283"/>
            <a:ext cx="787359" cy="2034430"/>
          </a:xfrm>
          <a:prstGeom prst="roundRect">
            <a:avLst>
              <a:gd name="adj" fmla="val 2863"/>
            </a:avLst>
          </a:prstGeom>
          <a:noFill/>
          <a:ln w="3175">
            <a:solidFill>
              <a:srgbClr val="C00000"/>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kumimoji="1" lang="zh-CN" altLang="en-US" sz="800" dirty="0">
              <a:latin typeface="华文楷体" panose="02010600040101010101" pitchFamily="2" charset="-122"/>
              <a:ea typeface="华文楷体" panose="02010600040101010101" pitchFamily="2" charset="-122"/>
            </a:endParaRPr>
          </a:p>
        </p:txBody>
      </p:sp>
      <p:sp>
        <p:nvSpPr>
          <p:cNvPr id="145" name="圆角矩形 144"/>
          <p:cNvSpPr/>
          <p:nvPr/>
        </p:nvSpPr>
        <p:spPr>
          <a:xfrm>
            <a:off x="6994637" y="3516111"/>
            <a:ext cx="787359" cy="2598077"/>
          </a:xfrm>
          <a:prstGeom prst="roundRect">
            <a:avLst>
              <a:gd name="adj" fmla="val 2863"/>
            </a:avLst>
          </a:prstGeom>
          <a:noFill/>
          <a:ln w="3175">
            <a:solidFill>
              <a:srgbClr val="C00000"/>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kumimoji="1" lang="zh-CN" altLang="en-US" sz="800" dirty="0">
              <a:latin typeface="华文楷体" panose="02010600040101010101" pitchFamily="2" charset="-122"/>
              <a:ea typeface="华文楷体" panose="02010600040101010101" pitchFamily="2" charset="-122"/>
            </a:endParaRPr>
          </a:p>
        </p:txBody>
      </p:sp>
      <p:sp>
        <p:nvSpPr>
          <p:cNvPr id="146" name="圆角矩形 145"/>
          <p:cNvSpPr/>
          <p:nvPr/>
        </p:nvSpPr>
        <p:spPr>
          <a:xfrm>
            <a:off x="7125667" y="3910865"/>
            <a:ext cx="554509" cy="253747"/>
          </a:xfrm>
          <a:prstGeom prst="roundRect">
            <a:avLst>
              <a:gd name="adj" fmla="val 2863"/>
            </a:avLst>
          </a:prstGeom>
          <a:noFill/>
          <a:ln>
            <a:solidFill>
              <a:srgbClr val="404040"/>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kumimoji="1" lang="en-US" altLang="zh-CN" sz="700" dirty="0" err="1">
                <a:solidFill>
                  <a:schemeClr val="tx1">
                    <a:lumMod val="50000"/>
                    <a:lumOff val="50000"/>
                  </a:schemeClr>
                </a:solidFill>
                <a:latin typeface="华文楷体" panose="02010600040101010101" pitchFamily="2" charset="-122"/>
                <a:ea typeface="华文楷体" panose="02010600040101010101" pitchFamily="2" charset="-122"/>
              </a:rPr>
              <a:t>DataAPI</a:t>
            </a:r>
            <a:endParaRPr kumimoji="1" lang="zh-CN" altLang="en-US" sz="700" dirty="0">
              <a:solidFill>
                <a:schemeClr val="tx1">
                  <a:lumMod val="50000"/>
                  <a:lumOff val="50000"/>
                </a:schemeClr>
              </a:solidFill>
              <a:latin typeface="华文楷体" panose="02010600040101010101" pitchFamily="2" charset="-122"/>
              <a:ea typeface="华文楷体" panose="02010600040101010101" pitchFamily="2" charset="-122"/>
            </a:endParaRPr>
          </a:p>
        </p:txBody>
      </p:sp>
      <p:sp>
        <p:nvSpPr>
          <p:cNvPr id="147" name="圆角矩形 146"/>
          <p:cNvSpPr/>
          <p:nvPr/>
        </p:nvSpPr>
        <p:spPr>
          <a:xfrm>
            <a:off x="7125667" y="4354279"/>
            <a:ext cx="554509" cy="253747"/>
          </a:xfrm>
          <a:prstGeom prst="roundRect">
            <a:avLst>
              <a:gd name="adj" fmla="val 2863"/>
            </a:avLst>
          </a:prstGeom>
          <a:noFill/>
          <a:ln>
            <a:solidFill>
              <a:srgbClr val="404040"/>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kumimoji="1" lang="en-US" altLang="zh-CN" sz="700" dirty="0">
                <a:solidFill>
                  <a:schemeClr val="tx1">
                    <a:lumMod val="50000"/>
                    <a:lumOff val="50000"/>
                  </a:schemeClr>
                </a:solidFill>
                <a:latin typeface="华文楷体" panose="02010600040101010101" pitchFamily="2" charset="-122"/>
                <a:ea typeface="华文楷体" panose="02010600040101010101" pitchFamily="2" charset="-122"/>
              </a:rPr>
              <a:t>Presto</a:t>
            </a:r>
            <a:endParaRPr kumimoji="1" lang="zh-CN" altLang="en-US" sz="700" dirty="0">
              <a:solidFill>
                <a:schemeClr val="tx1">
                  <a:lumMod val="50000"/>
                  <a:lumOff val="50000"/>
                </a:schemeClr>
              </a:solidFill>
              <a:latin typeface="华文楷体" panose="02010600040101010101" pitchFamily="2" charset="-122"/>
              <a:ea typeface="华文楷体" panose="02010600040101010101" pitchFamily="2" charset="-122"/>
            </a:endParaRPr>
          </a:p>
        </p:txBody>
      </p:sp>
      <p:sp>
        <p:nvSpPr>
          <p:cNvPr id="148" name="圆角矩形 147"/>
          <p:cNvSpPr/>
          <p:nvPr/>
        </p:nvSpPr>
        <p:spPr>
          <a:xfrm>
            <a:off x="7125667" y="4797693"/>
            <a:ext cx="554509" cy="253747"/>
          </a:xfrm>
          <a:prstGeom prst="roundRect">
            <a:avLst>
              <a:gd name="adj" fmla="val 2863"/>
            </a:avLst>
          </a:prstGeom>
          <a:noFill/>
          <a:ln>
            <a:solidFill>
              <a:srgbClr val="404040"/>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kumimoji="1" lang="en-US" altLang="zh-CN" sz="700" dirty="0">
                <a:solidFill>
                  <a:schemeClr val="tx1">
                    <a:lumMod val="50000"/>
                    <a:lumOff val="50000"/>
                  </a:schemeClr>
                </a:solidFill>
                <a:latin typeface="华文楷体" panose="02010600040101010101" pitchFamily="2" charset="-122"/>
                <a:ea typeface="华文楷体" panose="02010600040101010101" pitchFamily="2" charset="-122"/>
              </a:rPr>
              <a:t>Doris</a:t>
            </a:r>
            <a:endParaRPr kumimoji="1" lang="zh-CN" altLang="en-US" sz="700" dirty="0">
              <a:solidFill>
                <a:schemeClr val="tx1">
                  <a:lumMod val="50000"/>
                  <a:lumOff val="50000"/>
                </a:schemeClr>
              </a:solidFill>
              <a:latin typeface="华文楷体" panose="02010600040101010101" pitchFamily="2" charset="-122"/>
              <a:ea typeface="华文楷体" panose="02010600040101010101" pitchFamily="2" charset="-122"/>
            </a:endParaRPr>
          </a:p>
        </p:txBody>
      </p:sp>
      <p:sp>
        <p:nvSpPr>
          <p:cNvPr id="149" name="圆角矩形 148"/>
          <p:cNvSpPr/>
          <p:nvPr/>
        </p:nvSpPr>
        <p:spPr>
          <a:xfrm>
            <a:off x="7125667" y="5241107"/>
            <a:ext cx="554509" cy="253747"/>
          </a:xfrm>
          <a:prstGeom prst="roundRect">
            <a:avLst>
              <a:gd name="adj" fmla="val 2863"/>
            </a:avLst>
          </a:prstGeom>
          <a:noFill/>
          <a:ln>
            <a:solidFill>
              <a:srgbClr val="404040"/>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kumimoji="1" lang="en-US" altLang="zh-CN" sz="700" dirty="0" err="1">
                <a:solidFill>
                  <a:schemeClr val="tx1">
                    <a:lumMod val="50000"/>
                    <a:lumOff val="50000"/>
                  </a:schemeClr>
                </a:solidFill>
                <a:latin typeface="华文楷体" panose="02010600040101010101" pitchFamily="2" charset="-122"/>
                <a:ea typeface="华文楷体" panose="02010600040101010101" pitchFamily="2" charset="-122"/>
              </a:rPr>
              <a:t>SmartBI</a:t>
            </a:r>
            <a:endParaRPr kumimoji="1" lang="zh-CN" altLang="en-US" sz="700" dirty="0">
              <a:solidFill>
                <a:schemeClr val="tx1">
                  <a:lumMod val="50000"/>
                  <a:lumOff val="50000"/>
                </a:schemeClr>
              </a:solidFill>
              <a:latin typeface="华文楷体" panose="02010600040101010101" pitchFamily="2" charset="-122"/>
              <a:ea typeface="华文楷体" panose="02010600040101010101" pitchFamily="2" charset="-122"/>
            </a:endParaRPr>
          </a:p>
        </p:txBody>
      </p:sp>
      <p:sp>
        <p:nvSpPr>
          <p:cNvPr id="150" name="圆角矩形 149"/>
          <p:cNvSpPr/>
          <p:nvPr/>
        </p:nvSpPr>
        <p:spPr>
          <a:xfrm>
            <a:off x="7125667" y="5684520"/>
            <a:ext cx="554509" cy="253747"/>
          </a:xfrm>
          <a:prstGeom prst="roundRect">
            <a:avLst>
              <a:gd name="adj" fmla="val 2863"/>
            </a:avLst>
          </a:prstGeom>
          <a:noFill/>
          <a:ln>
            <a:solidFill>
              <a:srgbClr val="404040"/>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kumimoji="1" lang="zh-CN" altLang="en-US" sz="700" dirty="0">
                <a:solidFill>
                  <a:schemeClr val="tx1">
                    <a:lumMod val="50000"/>
                    <a:lumOff val="50000"/>
                  </a:schemeClr>
                </a:solidFill>
                <a:latin typeface="华文楷体" panose="02010600040101010101" pitchFamily="2" charset="-122"/>
                <a:ea typeface="华文楷体" panose="02010600040101010101" pitchFamily="2" charset="-122"/>
              </a:rPr>
              <a:t>自建应用</a:t>
            </a:r>
            <a:endParaRPr kumimoji="1" lang="zh-CN" altLang="en-US" sz="700" dirty="0">
              <a:solidFill>
                <a:schemeClr val="tx1">
                  <a:lumMod val="50000"/>
                  <a:lumOff val="50000"/>
                </a:schemeClr>
              </a:solidFill>
              <a:latin typeface="华文楷体" panose="02010600040101010101" pitchFamily="2" charset="-122"/>
              <a:ea typeface="华文楷体" panose="02010600040101010101" pitchFamily="2" charset="-122"/>
            </a:endParaRPr>
          </a:p>
        </p:txBody>
      </p:sp>
      <p:sp>
        <p:nvSpPr>
          <p:cNvPr id="151" name="文本框 150"/>
          <p:cNvSpPr txBox="1"/>
          <p:nvPr/>
        </p:nvSpPr>
        <p:spPr>
          <a:xfrm>
            <a:off x="7125978" y="1302863"/>
            <a:ext cx="543739" cy="200055"/>
          </a:xfrm>
          <a:prstGeom prst="rect">
            <a:avLst/>
          </a:prstGeom>
          <a:noFill/>
        </p:spPr>
        <p:txBody>
          <a:bodyPr wrap="none" rtlCol="0">
            <a:spAutoFit/>
          </a:bodyPr>
          <a:lstStyle/>
          <a:p>
            <a:pPr algn="ctr"/>
            <a:r>
              <a:rPr kumimoji="1" lang="zh-CN" altLang="en-US" sz="700" b="1" dirty="0">
                <a:solidFill>
                  <a:schemeClr val="tx1">
                    <a:lumMod val="75000"/>
                    <a:lumOff val="25000"/>
                  </a:schemeClr>
                </a:solidFill>
                <a:latin typeface="华文楷体" panose="02010600040101010101" pitchFamily="2" charset="-122"/>
                <a:ea typeface="华文楷体" panose="02010600040101010101" pitchFamily="2" charset="-122"/>
              </a:rPr>
              <a:t>业务领域</a:t>
            </a:r>
            <a:endParaRPr kumimoji="1" lang="zh-CN" altLang="en-US" sz="700" b="1"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152" name="文本框 151"/>
          <p:cNvSpPr txBox="1"/>
          <p:nvPr/>
        </p:nvSpPr>
        <p:spPr>
          <a:xfrm>
            <a:off x="7131052" y="3606111"/>
            <a:ext cx="543739" cy="200055"/>
          </a:xfrm>
          <a:prstGeom prst="rect">
            <a:avLst/>
          </a:prstGeom>
          <a:noFill/>
        </p:spPr>
        <p:txBody>
          <a:bodyPr wrap="none" rtlCol="0">
            <a:spAutoFit/>
          </a:bodyPr>
          <a:lstStyle/>
          <a:p>
            <a:pPr algn="ctr"/>
            <a:r>
              <a:rPr kumimoji="1" lang="zh-CN" altLang="en-US" sz="700" b="1" dirty="0">
                <a:solidFill>
                  <a:schemeClr val="tx1">
                    <a:lumMod val="75000"/>
                    <a:lumOff val="25000"/>
                  </a:schemeClr>
                </a:solidFill>
                <a:latin typeface="华文楷体" panose="02010600040101010101" pitchFamily="2" charset="-122"/>
                <a:ea typeface="华文楷体" panose="02010600040101010101" pitchFamily="2" charset="-122"/>
              </a:rPr>
              <a:t>技术工具</a:t>
            </a:r>
            <a:endParaRPr kumimoji="1" lang="zh-CN" altLang="en-US" sz="700" b="1" dirty="0">
              <a:solidFill>
                <a:schemeClr val="tx1">
                  <a:lumMod val="75000"/>
                  <a:lumOff val="25000"/>
                </a:schemeClr>
              </a:solidFill>
              <a:latin typeface="华文楷体" panose="02010600040101010101" pitchFamily="2" charset="-122"/>
              <a:ea typeface="华文楷体" panose="02010600040101010101" pitchFamily="2" charset="-122"/>
            </a:endParaRPr>
          </a:p>
        </p:txBody>
      </p:sp>
      <p:grpSp>
        <p:nvGrpSpPr>
          <p:cNvPr id="153" name="组合 152"/>
          <p:cNvGrpSpPr/>
          <p:nvPr/>
        </p:nvGrpSpPr>
        <p:grpSpPr>
          <a:xfrm>
            <a:off x="4560913" y="2405501"/>
            <a:ext cx="1059649" cy="569260"/>
            <a:chOff x="7106803" y="3297437"/>
            <a:chExt cx="988262" cy="414928"/>
          </a:xfrm>
        </p:grpSpPr>
        <p:grpSp>
          <p:nvGrpSpPr>
            <p:cNvPr id="154" name="组合 153"/>
            <p:cNvGrpSpPr/>
            <p:nvPr/>
          </p:nvGrpSpPr>
          <p:grpSpPr>
            <a:xfrm>
              <a:off x="7106803" y="3297438"/>
              <a:ext cx="473644" cy="249583"/>
              <a:chOff x="7106803" y="3297438"/>
              <a:chExt cx="473644" cy="249583"/>
            </a:xfrm>
          </p:grpSpPr>
          <p:sp>
            <p:nvSpPr>
              <p:cNvPr id="164" name="圆角矩形 163"/>
              <p:cNvSpPr/>
              <p:nvPr/>
            </p:nvSpPr>
            <p:spPr>
              <a:xfrm>
                <a:off x="7106803" y="3297438"/>
                <a:ext cx="473644" cy="249583"/>
              </a:xfrm>
              <a:prstGeom prst="roundRect">
                <a:avLst>
                  <a:gd name="adj" fmla="val 2863"/>
                </a:avLst>
              </a:prstGeom>
              <a:gradFill flip="none" rotWithShape="1">
                <a:gsLst>
                  <a:gs pos="0">
                    <a:srgbClr val="BED1F9"/>
                  </a:gs>
                  <a:gs pos="100000">
                    <a:srgbClr val="E8EFFC"/>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tIns="46800" bIns="46800" rtlCol="0" anchor="t" anchorCtr="0"/>
              <a:lstStyle/>
              <a:p>
                <a:pPr algn="ctr"/>
                <a:r>
                  <a:rPr kumimoji="1" lang="en-US" altLang="zh-CN" sz="500" dirty="0">
                    <a:solidFill>
                      <a:schemeClr val="tx1">
                        <a:lumMod val="75000"/>
                        <a:lumOff val="25000"/>
                      </a:schemeClr>
                    </a:solidFill>
                    <a:latin typeface="华文楷体" panose="02010600040101010101" pitchFamily="2" charset="-122"/>
                    <a:ea typeface="华文楷体" panose="02010600040101010101" pitchFamily="2" charset="-122"/>
                  </a:rPr>
                  <a:t>CRM</a:t>
                </a:r>
                <a:r>
                  <a:rPr kumimoji="1" lang="zh-CN" altLang="en-US" sz="500" dirty="0">
                    <a:solidFill>
                      <a:schemeClr val="tx1">
                        <a:lumMod val="75000"/>
                        <a:lumOff val="25000"/>
                      </a:schemeClr>
                    </a:solidFill>
                    <a:latin typeface="华文楷体" panose="02010600040101010101" pitchFamily="2" charset="-122"/>
                    <a:ea typeface="华文楷体" panose="02010600040101010101" pitchFamily="2" charset="-122"/>
                  </a:rPr>
                  <a:t> 实例</a:t>
                </a:r>
                <a:endParaRPr kumimoji="1" lang="zh-CN" altLang="en-US" sz="500"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165" name="圆角矩形 164"/>
              <p:cNvSpPr/>
              <p:nvPr/>
            </p:nvSpPr>
            <p:spPr>
              <a:xfrm>
                <a:off x="7133957" y="3448202"/>
                <a:ext cx="200960" cy="70796"/>
              </a:xfrm>
              <a:prstGeom prst="roundRect">
                <a:avLst>
                  <a:gd name="adj" fmla="val 2863"/>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rPr>
                  <a:t>计算节点</a:t>
                </a:r>
                <a:endPar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166" name="圆角矩形 165"/>
              <p:cNvSpPr/>
              <p:nvPr/>
            </p:nvSpPr>
            <p:spPr>
              <a:xfrm>
                <a:off x="7358058" y="3448202"/>
                <a:ext cx="200960" cy="70796"/>
              </a:xfrm>
              <a:prstGeom prst="roundRect">
                <a:avLst>
                  <a:gd name="adj" fmla="val 2863"/>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rPr>
                  <a:t>计算节点</a:t>
                </a:r>
                <a:endPar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endParaRPr>
              </a:p>
            </p:txBody>
          </p:sp>
        </p:grpSp>
        <p:grpSp>
          <p:nvGrpSpPr>
            <p:cNvPr id="155" name="组合 154"/>
            <p:cNvGrpSpPr/>
            <p:nvPr/>
          </p:nvGrpSpPr>
          <p:grpSpPr>
            <a:xfrm>
              <a:off x="7621421" y="3297437"/>
              <a:ext cx="473644" cy="249583"/>
              <a:chOff x="7106803" y="3297438"/>
              <a:chExt cx="473644" cy="249583"/>
            </a:xfrm>
          </p:grpSpPr>
          <p:sp>
            <p:nvSpPr>
              <p:cNvPr id="161" name="圆角矩形 160"/>
              <p:cNvSpPr/>
              <p:nvPr/>
            </p:nvSpPr>
            <p:spPr>
              <a:xfrm>
                <a:off x="7106803" y="3297438"/>
                <a:ext cx="473644" cy="249583"/>
              </a:xfrm>
              <a:prstGeom prst="roundRect">
                <a:avLst>
                  <a:gd name="adj" fmla="val 2863"/>
                </a:avLst>
              </a:prstGeom>
              <a:gradFill flip="none" rotWithShape="1">
                <a:gsLst>
                  <a:gs pos="0">
                    <a:srgbClr val="BED1F9"/>
                  </a:gs>
                  <a:gs pos="100000">
                    <a:srgbClr val="E8EFFC"/>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tIns="46800" bIns="46800" rtlCol="0" anchor="t" anchorCtr="0"/>
              <a:lstStyle/>
              <a:p>
                <a:pPr algn="ctr"/>
                <a:r>
                  <a:rPr kumimoji="1" lang="en-US" altLang="zh-CN" sz="400" dirty="0" err="1">
                    <a:solidFill>
                      <a:schemeClr val="tx1">
                        <a:lumMod val="75000"/>
                        <a:lumOff val="25000"/>
                      </a:schemeClr>
                    </a:solidFill>
                    <a:latin typeface="华文楷体" panose="02010600040101010101" pitchFamily="2" charset="-122"/>
                    <a:ea typeface="华文楷体" panose="02010600040101010101" pitchFamily="2" charset="-122"/>
                  </a:rPr>
                  <a:t>Gdrp</a:t>
                </a:r>
                <a:r>
                  <a:rPr kumimoji="1" lang="zh-CN" altLang="en-US" sz="500" dirty="0">
                    <a:solidFill>
                      <a:schemeClr val="tx1">
                        <a:lumMod val="75000"/>
                        <a:lumOff val="25000"/>
                      </a:schemeClr>
                    </a:solidFill>
                    <a:latin typeface="华文楷体" panose="02010600040101010101" pitchFamily="2" charset="-122"/>
                    <a:ea typeface="华文楷体" panose="02010600040101010101" pitchFamily="2" charset="-122"/>
                  </a:rPr>
                  <a:t>  实例</a:t>
                </a:r>
                <a:endParaRPr kumimoji="1" lang="zh-CN" altLang="en-US" sz="500"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162" name="圆角矩形 161"/>
              <p:cNvSpPr/>
              <p:nvPr/>
            </p:nvSpPr>
            <p:spPr>
              <a:xfrm>
                <a:off x="7133957" y="3448202"/>
                <a:ext cx="200960" cy="70796"/>
              </a:xfrm>
              <a:prstGeom prst="roundRect">
                <a:avLst>
                  <a:gd name="adj" fmla="val 2863"/>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rPr>
                  <a:t>计算节点</a:t>
                </a:r>
                <a:endPar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163" name="圆角矩形 162"/>
              <p:cNvSpPr/>
              <p:nvPr/>
            </p:nvSpPr>
            <p:spPr>
              <a:xfrm>
                <a:off x="7358058" y="3448202"/>
                <a:ext cx="200960" cy="70796"/>
              </a:xfrm>
              <a:prstGeom prst="roundRect">
                <a:avLst>
                  <a:gd name="adj" fmla="val 2863"/>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rPr>
                  <a:t>计算节点</a:t>
                </a:r>
                <a:endParaRPr kumimoji="1" lang="zh-CN" altLang="en-US" sz="300" dirty="0">
                  <a:solidFill>
                    <a:schemeClr val="tx1">
                      <a:lumMod val="75000"/>
                      <a:lumOff val="25000"/>
                    </a:schemeClr>
                  </a:solidFill>
                  <a:latin typeface="华文楷体" panose="02010600040101010101" pitchFamily="2" charset="-122"/>
                  <a:ea typeface="华文楷体" panose="02010600040101010101" pitchFamily="2" charset="-122"/>
                </a:endParaRPr>
              </a:p>
            </p:txBody>
          </p:sp>
        </p:grpSp>
        <p:pic>
          <p:nvPicPr>
            <p:cNvPr id="156" name="图片 155"/>
            <p:cNvPicPr>
              <a:picLocks noChangeAspect="1"/>
            </p:cNvPicPr>
            <p:nvPr/>
          </p:nvPicPr>
          <p:blipFill>
            <a:blip r:embed="rId4"/>
            <a:stretch>
              <a:fillRect/>
            </a:stretch>
          </p:blipFill>
          <p:spPr>
            <a:xfrm>
              <a:off x="7115268" y="3571563"/>
              <a:ext cx="140802" cy="140802"/>
            </a:xfrm>
            <a:prstGeom prst="rect">
              <a:avLst/>
            </a:prstGeom>
          </p:spPr>
        </p:pic>
        <p:pic>
          <p:nvPicPr>
            <p:cNvPr id="157" name="图片 156"/>
            <p:cNvPicPr>
              <a:picLocks noChangeAspect="1"/>
            </p:cNvPicPr>
            <p:nvPr/>
          </p:nvPicPr>
          <p:blipFill>
            <a:blip r:embed="rId4"/>
            <a:stretch>
              <a:fillRect/>
            </a:stretch>
          </p:blipFill>
          <p:spPr>
            <a:xfrm>
              <a:off x="7323154" y="3571563"/>
              <a:ext cx="140802" cy="140802"/>
            </a:xfrm>
            <a:prstGeom prst="rect">
              <a:avLst/>
            </a:prstGeom>
          </p:spPr>
        </p:pic>
        <p:pic>
          <p:nvPicPr>
            <p:cNvPr id="158" name="图片 157"/>
            <p:cNvPicPr>
              <a:picLocks noChangeAspect="1"/>
            </p:cNvPicPr>
            <p:nvPr/>
          </p:nvPicPr>
          <p:blipFill>
            <a:blip r:embed="rId4"/>
            <a:stretch>
              <a:fillRect/>
            </a:stretch>
          </p:blipFill>
          <p:spPr>
            <a:xfrm>
              <a:off x="7531040" y="3571563"/>
              <a:ext cx="140802" cy="140802"/>
            </a:xfrm>
            <a:prstGeom prst="rect">
              <a:avLst/>
            </a:prstGeom>
          </p:spPr>
        </p:pic>
        <p:pic>
          <p:nvPicPr>
            <p:cNvPr id="159" name="图片 158"/>
            <p:cNvPicPr>
              <a:picLocks noChangeAspect="1"/>
            </p:cNvPicPr>
            <p:nvPr/>
          </p:nvPicPr>
          <p:blipFill>
            <a:blip r:embed="rId4"/>
            <a:stretch>
              <a:fillRect/>
            </a:stretch>
          </p:blipFill>
          <p:spPr>
            <a:xfrm>
              <a:off x="7738926" y="3571563"/>
              <a:ext cx="140802" cy="140802"/>
            </a:xfrm>
            <a:prstGeom prst="rect">
              <a:avLst/>
            </a:prstGeom>
          </p:spPr>
        </p:pic>
        <p:pic>
          <p:nvPicPr>
            <p:cNvPr id="160" name="图片 159"/>
            <p:cNvPicPr>
              <a:picLocks noChangeAspect="1"/>
            </p:cNvPicPr>
            <p:nvPr/>
          </p:nvPicPr>
          <p:blipFill>
            <a:blip r:embed="rId4"/>
            <a:stretch>
              <a:fillRect/>
            </a:stretch>
          </p:blipFill>
          <p:spPr>
            <a:xfrm>
              <a:off x="7946813" y="3571563"/>
              <a:ext cx="140802" cy="140802"/>
            </a:xfrm>
            <a:prstGeom prst="rect">
              <a:avLst/>
            </a:prstGeom>
          </p:spPr>
        </p:pic>
      </p:grpSp>
      <p:sp>
        <p:nvSpPr>
          <p:cNvPr id="167" name="内容占位符 2"/>
          <p:cNvSpPr txBox="1"/>
          <p:nvPr/>
        </p:nvSpPr>
        <p:spPr>
          <a:xfrm>
            <a:off x="7895852" y="757695"/>
            <a:ext cx="4176811" cy="595181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Helvetica"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ü"/>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Ø"/>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Helvetica"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Ø"/>
            </a:pPr>
            <a:r>
              <a:rPr kumimoji="1" lang="zh-CN" altLang="en-US" sz="900" b="1" dirty="0">
                <a:solidFill>
                  <a:srgbClr val="C00000"/>
                </a:solidFill>
                <a:latin typeface="华文楷体" panose="02010600040101010101" pitchFamily="2" charset="-122"/>
                <a:ea typeface="华文楷体" panose="02010600040101010101" pitchFamily="2" charset="-122"/>
              </a:rPr>
              <a:t>资源复用说明</a:t>
            </a:r>
            <a:endParaRPr kumimoji="1" lang="en-US" altLang="zh-CN" sz="900" b="1" dirty="0">
              <a:solidFill>
                <a:srgbClr val="C00000"/>
              </a:solidFill>
              <a:latin typeface="华文楷体" panose="02010600040101010101" pitchFamily="2" charset="-122"/>
              <a:ea typeface="华文楷体" panose="02010600040101010101" pitchFamily="2" charset="-122"/>
            </a:endParaRPr>
          </a:p>
          <a:p>
            <a:pPr>
              <a:lnSpc>
                <a:spcPct val="100000"/>
              </a:lnSpc>
              <a:spcBef>
                <a:spcPts val="400"/>
              </a:spcBef>
              <a:buFont typeface="+mj-ea"/>
              <a:buAutoNum type="circleNumDbPlain"/>
            </a:pPr>
            <a:r>
              <a:rPr kumimoji="1" lang="zh-CN" altLang="en-US" sz="800" dirty="0">
                <a:solidFill>
                  <a:schemeClr val="tx1">
                    <a:lumMod val="50000"/>
                    <a:lumOff val="50000"/>
                  </a:schemeClr>
                </a:solidFill>
                <a:latin typeface="华文楷体" panose="02010600040101010101" pitchFamily="2" charset="-122"/>
                <a:ea typeface="华文楷体" panose="02010600040101010101" pitchFamily="2" charset="-122"/>
                <a:sym typeface="Arial" panose="020B0604020202020204" pitchFamily="34" charset="0"/>
              </a:rPr>
              <a:t>湖仓一体平台复用数据交换系统，并改造流程。</a:t>
            </a:r>
            <a:endParaRPr kumimoji="1" lang="en-US" altLang="zh-CN" sz="800" dirty="0">
              <a:solidFill>
                <a:schemeClr val="tx1">
                  <a:lumMod val="50000"/>
                  <a:lumOff val="50000"/>
                </a:schemeClr>
              </a:solidFill>
              <a:latin typeface="华文楷体" panose="02010600040101010101" pitchFamily="2" charset="-122"/>
              <a:ea typeface="华文楷体" panose="02010600040101010101" pitchFamily="2" charset="-122"/>
              <a:sym typeface="Arial" panose="020B0604020202020204" pitchFamily="34" charset="0"/>
            </a:endParaRPr>
          </a:p>
          <a:p>
            <a:pPr>
              <a:lnSpc>
                <a:spcPct val="100000"/>
              </a:lnSpc>
              <a:spcBef>
                <a:spcPts val="400"/>
              </a:spcBef>
              <a:buFont typeface="+mj-ea"/>
              <a:buAutoNum type="circleNumDbPlain"/>
            </a:pPr>
            <a:r>
              <a:rPr kumimoji="1" lang="zh-CN" altLang="en-US" sz="800" dirty="0">
                <a:solidFill>
                  <a:schemeClr val="tx1">
                    <a:lumMod val="50000"/>
                    <a:lumOff val="50000"/>
                  </a:schemeClr>
                </a:solidFill>
                <a:latin typeface="华文楷体" panose="02010600040101010101" pitchFamily="2" charset="-122"/>
                <a:ea typeface="华文楷体" panose="02010600040101010101" pitchFamily="2" charset="-122"/>
                <a:sym typeface="Arial" panose="020B0604020202020204" pitchFamily="34" charset="0"/>
              </a:rPr>
              <a:t>湖仓一体平台复用调度管理平台，并改造流程。</a:t>
            </a:r>
            <a:endParaRPr kumimoji="1" lang="en-US" altLang="zh-CN" sz="800" dirty="0">
              <a:solidFill>
                <a:schemeClr val="tx1">
                  <a:lumMod val="50000"/>
                  <a:lumOff val="50000"/>
                </a:schemeClr>
              </a:solidFill>
              <a:latin typeface="华文楷体" panose="02010600040101010101" pitchFamily="2" charset="-122"/>
              <a:ea typeface="华文楷体" panose="02010600040101010101" pitchFamily="2" charset="-122"/>
              <a:sym typeface="Arial" panose="020B0604020202020204" pitchFamily="34" charset="0"/>
            </a:endParaRPr>
          </a:p>
          <a:p>
            <a:pPr>
              <a:lnSpc>
                <a:spcPct val="100000"/>
              </a:lnSpc>
              <a:spcBef>
                <a:spcPts val="400"/>
              </a:spcBef>
              <a:buFont typeface="+mj-ea"/>
              <a:buAutoNum type="circleNumDbPlain"/>
            </a:pPr>
            <a:r>
              <a:rPr kumimoji="1" lang="zh-CN" altLang="en-US" sz="800" dirty="0">
                <a:solidFill>
                  <a:schemeClr val="tx1">
                    <a:lumMod val="50000"/>
                    <a:lumOff val="50000"/>
                  </a:schemeClr>
                </a:solidFill>
                <a:latin typeface="华文楷体" panose="02010600040101010101" pitchFamily="2" charset="-122"/>
                <a:ea typeface="华文楷体" panose="02010600040101010101" pitchFamily="2" charset="-122"/>
                <a:sym typeface="Arial" panose="020B0604020202020204" pitchFamily="34" charset="0"/>
              </a:rPr>
              <a:t>湖仓一体平台复用原文件服务器及文件服务器备机。</a:t>
            </a:r>
            <a:endParaRPr kumimoji="1" lang="en-US" altLang="zh-CN" sz="800" dirty="0">
              <a:solidFill>
                <a:schemeClr val="tx1">
                  <a:lumMod val="50000"/>
                  <a:lumOff val="50000"/>
                </a:schemeClr>
              </a:solidFill>
              <a:latin typeface="华文楷体" panose="02010600040101010101" pitchFamily="2" charset="-122"/>
              <a:ea typeface="华文楷体" panose="02010600040101010101" pitchFamily="2" charset="-122"/>
            </a:endParaRPr>
          </a:p>
          <a:p>
            <a:pPr>
              <a:lnSpc>
                <a:spcPct val="100000"/>
              </a:lnSpc>
              <a:buFont typeface="Wingdings" panose="05000000000000000000" pitchFamily="2" charset="2"/>
              <a:buChar char="Ø"/>
            </a:pPr>
            <a:r>
              <a:rPr kumimoji="1" lang="zh-CN" altLang="en-US" sz="900" b="1" dirty="0">
                <a:solidFill>
                  <a:srgbClr val="C00000"/>
                </a:solidFill>
                <a:latin typeface="华文楷体" panose="02010600040101010101" pitchFamily="2" charset="-122"/>
                <a:ea typeface="华文楷体" panose="02010600040101010101" pitchFamily="2" charset="-122"/>
              </a:rPr>
              <a:t>迁移范围概要说明</a:t>
            </a:r>
            <a:endParaRPr kumimoji="1" lang="en-US" altLang="zh-CN" sz="900" b="1" dirty="0">
              <a:solidFill>
                <a:srgbClr val="C00000"/>
              </a:solidFill>
              <a:latin typeface="华文楷体" panose="02010600040101010101" pitchFamily="2" charset="-122"/>
              <a:ea typeface="华文楷体" panose="02010600040101010101" pitchFamily="2" charset="-122"/>
            </a:endParaRPr>
          </a:p>
          <a:p>
            <a:pPr>
              <a:lnSpc>
                <a:spcPct val="100000"/>
              </a:lnSpc>
              <a:spcBef>
                <a:spcPts val="400"/>
              </a:spcBef>
              <a:buFont typeface="+mj-ea"/>
              <a:buAutoNum type="circleNumDbPlain"/>
            </a:pPr>
            <a:r>
              <a:rPr kumimoji="1" lang="zh-CN" altLang="en-US" sz="800" dirty="0">
                <a:solidFill>
                  <a:schemeClr val="tx1">
                    <a:lumMod val="50000"/>
                    <a:lumOff val="50000"/>
                  </a:schemeClr>
                </a:solidFill>
                <a:latin typeface="华文楷体" panose="02010600040101010101" pitchFamily="2" charset="-122"/>
                <a:ea typeface="华文楷体" panose="02010600040101010101" pitchFamily="2" charset="-122"/>
              </a:rPr>
              <a:t>湖仓一体平台同构迁移，数据仓库</a:t>
            </a:r>
            <a:r>
              <a:rPr kumimoji="1" lang="en-US" altLang="zh-CN" sz="800" dirty="0">
                <a:solidFill>
                  <a:schemeClr val="tx1">
                    <a:lumMod val="50000"/>
                    <a:lumOff val="50000"/>
                  </a:schemeClr>
                </a:solidFill>
                <a:latin typeface="华文楷体" panose="02010600040101010101" pitchFamily="2" charset="-122"/>
                <a:ea typeface="华文楷体" panose="02010600040101010101" pitchFamily="2" charset="-122"/>
              </a:rPr>
              <a:t>80+</a:t>
            </a:r>
            <a:r>
              <a:rPr kumimoji="1" lang="zh-CN" altLang="en-US" sz="800" dirty="0">
                <a:solidFill>
                  <a:schemeClr val="tx1">
                    <a:lumMod val="50000"/>
                    <a:lumOff val="50000"/>
                  </a:schemeClr>
                </a:solidFill>
                <a:latin typeface="华文楷体" panose="02010600040101010101" pitchFamily="2" charset="-122"/>
                <a:ea typeface="华文楷体" panose="02010600040101010101" pitchFamily="2" charset="-122"/>
              </a:rPr>
              <a:t>信息系统历史数据、脚本及相关计算结果。</a:t>
            </a:r>
            <a:endParaRPr kumimoji="1" lang="en-US" altLang="zh-CN" sz="800" dirty="0">
              <a:solidFill>
                <a:schemeClr val="tx1">
                  <a:lumMod val="50000"/>
                  <a:lumOff val="50000"/>
                </a:schemeClr>
              </a:solidFill>
              <a:latin typeface="华文楷体" panose="02010600040101010101" pitchFamily="2" charset="-122"/>
              <a:ea typeface="华文楷体" panose="02010600040101010101" pitchFamily="2" charset="-122"/>
            </a:endParaRPr>
          </a:p>
          <a:p>
            <a:pPr>
              <a:lnSpc>
                <a:spcPct val="100000"/>
              </a:lnSpc>
              <a:spcBef>
                <a:spcPts val="400"/>
              </a:spcBef>
              <a:buFont typeface="+mj-ea"/>
              <a:buAutoNum type="circleNumDbPlain"/>
            </a:pPr>
            <a:r>
              <a:rPr kumimoji="1" lang="zh-CN" altLang="en-US" sz="800" dirty="0">
                <a:solidFill>
                  <a:schemeClr val="tx1">
                    <a:lumMod val="50000"/>
                    <a:lumOff val="50000"/>
                  </a:schemeClr>
                </a:solidFill>
                <a:latin typeface="华文楷体" panose="02010600040101010101" pitchFamily="2" charset="-122"/>
                <a:ea typeface="华文楷体" panose="02010600040101010101" pitchFamily="2" charset="-122"/>
              </a:rPr>
              <a:t>湖仓一体平台同构迁移，数据湖多于数据仓库</a:t>
            </a:r>
            <a:r>
              <a:rPr kumimoji="1" lang="en-US" altLang="zh-CN" sz="800" dirty="0">
                <a:solidFill>
                  <a:schemeClr val="tx1">
                    <a:lumMod val="50000"/>
                    <a:lumOff val="50000"/>
                  </a:schemeClr>
                </a:solidFill>
                <a:latin typeface="华文楷体" panose="02010600040101010101" pitchFamily="2" charset="-122"/>
                <a:ea typeface="华文楷体" panose="02010600040101010101" pitchFamily="2" charset="-122"/>
              </a:rPr>
              <a:t>30+</a:t>
            </a:r>
            <a:r>
              <a:rPr kumimoji="1" lang="zh-CN" altLang="en-US" sz="800" dirty="0">
                <a:solidFill>
                  <a:schemeClr val="tx1">
                    <a:lumMod val="50000"/>
                    <a:lumOff val="50000"/>
                  </a:schemeClr>
                </a:solidFill>
                <a:latin typeface="华文楷体" panose="02010600040101010101" pitchFamily="2" charset="-122"/>
                <a:ea typeface="华文楷体" panose="02010600040101010101" pitchFamily="2" charset="-122"/>
              </a:rPr>
              <a:t>信息系统历史数据、脚本及相关计算结果（表名、存储、频次或涉及改造，数据湖需新增并行回流湖仓流程）。</a:t>
            </a:r>
            <a:endParaRPr kumimoji="1" lang="en-US" altLang="zh-CN" sz="800" dirty="0">
              <a:solidFill>
                <a:schemeClr val="tx1">
                  <a:lumMod val="50000"/>
                  <a:lumOff val="50000"/>
                </a:schemeClr>
              </a:solidFill>
              <a:latin typeface="华文楷体" panose="02010600040101010101" pitchFamily="2" charset="-122"/>
              <a:ea typeface="华文楷体" panose="02010600040101010101" pitchFamily="2" charset="-122"/>
            </a:endParaRPr>
          </a:p>
          <a:p>
            <a:pPr>
              <a:lnSpc>
                <a:spcPct val="100000"/>
              </a:lnSpc>
              <a:spcBef>
                <a:spcPts val="400"/>
              </a:spcBef>
              <a:buFont typeface="+mj-ea"/>
              <a:buAutoNum type="circleNumDbPlain"/>
            </a:pPr>
            <a:r>
              <a:rPr kumimoji="1" lang="zh-CN" altLang="en-US" sz="800" dirty="0">
                <a:solidFill>
                  <a:schemeClr val="tx1">
                    <a:lumMod val="50000"/>
                    <a:lumOff val="50000"/>
                  </a:schemeClr>
                </a:solidFill>
                <a:latin typeface="华文楷体" panose="02010600040101010101" pitchFamily="2" charset="-122"/>
                <a:ea typeface="华文楷体" panose="02010600040101010101" pitchFamily="2" charset="-122"/>
              </a:rPr>
              <a:t>湖仓一体平台同构迁移，集市自主加工数据历史数据</a:t>
            </a:r>
            <a:endParaRPr kumimoji="1" lang="en-US" altLang="zh-CN" sz="800" dirty="0">
              <a:solidFill>
                <a:schemeClr val="tx1">
                  <a:lumMod val="50000"/>
                  <a:lumOff val="50000"/>
                </a:schemeClr>
              </a:solidFill>
              <a:latin typeface="华文楷体" panose="02010600040101010101" pitchFamily="2" charset="-122"/>
              <a:ea typeface="华文楷体" panose="02010600040101010101" pitchFamily="2" charset="-122"/>
            </a:endParaRPr>
          </a:p>
          <a:p>
            <a:pPr>
              <a:lnSpc>
                <a:spcPct val="100000"/>
              </a:lnSpc>
              <a:spcBef>
                <a:spcPts val="400"/>
              </a:spcBef>
              <a:buFont typeface="+mj-ea"/>
              <a:buAutoNum type="circleNumDbPlain"/>
            </a:pPr>
            <a:r>
              <a:rPr kumimoji="1" lang="zh-CN" altLang="en-US" sz="800" dirty="0">
                <a:solidFill>
                  <a:schemeClr val="tx1">
                    <a:lumMod val="50000"/>
                    <a:lumOff val="50000"/>
                  </a:schemeClr>
                </a:solidFill>
                <a:latin typeface="华文楷体" panose="02010600040101010101" pitchFamily="2" charset="-122"/>
                <a:ea typeface="华文楷体" panose="02010600040101010101" pitchFamily="2" charset="-122"/>
              </a:rPr>
              <a:t>数据湖历史数据迁移结束后，按照先迁移</a:t>
            </a:r>
            <a:r>
              <a:rPr kumimoji="1" lang="en-US" altLang="zh-CN" sz="800" dirty="0">
                <a:solidFill>
                  <a:schemeClr val="tx1">
                    <a:lumMod val="50000"/>
                    <a:lumOff val="50000"/>
                  </a:schemeClr>
                </a:solidFill>
                <a:latin typeface="华文楷体" panose="02010600040101010101" pitchFamily="2" charset="-122"/>
                <a:ea typeface="华文楷体" panose="02010600040101010101" pitchFamily="2" charset="-122"/>
              </a:rPr>
              <a:t>Hive</a:t>
            </a:r>
            <a:r>
              <a:rPr kumimoji="1" lang="zh-CN" altLang="en-US" sz="800" dirty="0">
                <a:solidFill>
                  <a:schemeClr val="tx1">
                    <a:lumMod val="50000"/>
                    <a:lumOff val="50000"/>
                  </a:schemeClr>
                </a:solidFill>
                <a:latin typeface="华文楷体" panose="02010600040101010101" pitchFamily="2" charset="-122"/>
                <a:ea typeface="华文楷体" panose="02010600040101010101" pitchFamily="2" charset="-122"/>
              </a:rPr>
              <a:t>脚本，后迁数据湖业务应用到湖仓一体的次序持续迁移（表名、存储、频次或涉及改造，数据湖需新增并行回流湖仓流程）。</a:t>
            </a:r>
            <a:endParaRPr kumimoji="1" lang="en-US" altLang="zh-CN" sz="800" dirty="0">
              <a:solidFill>
                <a:schemeClr val="tx1">
                  <a:lumMod val="50000"/>
                  <a:lumOff val="50000"/>
                </a:schemeClr>
              </a:solidFill>
              <a:latin typeface="华文楷体" panose="02010600040101010101" pitchFamily="2" charset="-122"/>
              <a:ea typeface="华文楷体" panose="02010600040101010101" pitchFamily="2" charset="-122"/>
            </a:endParaRPr>
          </a:p>
          <a:p>
            <a:pPr marL="228600" lvl="1">
              <a:lnSpc>
                <a:spcPct val="100000"/>
              </a:lnSpc>
              <a:spcBef>
                <a:spcPts val="1000"/>
              </a:spcBef>
              <a:buFont typeface="Wingdings" panose="05000000000000000000" pitchFamily="2" charset="2"/>
              <a:buChar char="Ø"/>
            </a:pPr>
            <a:r>
              <a:rPr kumimoji="1" lang="zh-CN" altLang="en-US" sz="900" b="1" dirty="0">
                <a:solidFill>
                  <a:srgbClr val="C00000"/>
                </a:solidFill>
                <a:latin typeface="华文楷体" panose="02010600040101010101" pitchFamily="2" charset="-122"/>
                <a:ea typeface="华文楷体" panose="02010600040101010101" pitchFamily="2" charset="-122"/>
              </a:rPr>
              <a:t>数据流向说明</a:t>
            </a:r>
            <a:endParaRPr kumimoji="1" lang="en-US" altLang="zh-CN" sz="900" b="1" dirty="0">
              <a:solidFill>
                <a:srgbClr val="C00000"/>
              </a:solidFill>
              <a:latin typeface="华文楷体" panose="02010600040101010101" pitchFamily="2" charset="-122"/>
              <a:ea typeface="华文楷体" panose="02010600040101010101" pitchFamily="2" charset="-122"/>
            </a:endParaRPr>
          </a:p>
          <a:p>
            <a:pPr marL="228600" lvl="1">
              <a:lnSpc>
                <a:spcPct val="100000"/>
              </a:lnSpc>
              <a:spcBef>
                <a:spcPts val="400"/>
              </a:spcBef>
              <a:buFont typeface="+mj-ea"/>
              <a:buAutoNum type="circleNumDbPlain"/>
            </a:pPr>
            <a:r>
              <a:rPr kumimoji="1" lang="zh-CN" altLang="en-US" sz="800" dirty="0">
                <a:solidFill>
                  <a:schemeClr val="tx1">
                    <a:lumMod val="50000"/>
                    <a:lumOff val="50000"/>
                  </a:schemeClr>
                </a:solidFill>
                <a:latin typeface="华文楷体" panose="02010600040101010101" pitchFamily="2" charset="-122"/>
                <a:ea typeface="华文楷体" panose="02010600040101010101" pitchFamily="2" charset="-122"/>
              </a:rPr>
              <a:t>迁移初始化完成，进入并行阶段后，湖仓一体平台、数据仓库将作为数据交换源数据的唯二交换目标（数据湖源数据交换配置、流程停用但不下线）。</a:t>
            </a:r>
            <a:endParaRPr kumimoji="1" lang="en-US" altLang="zh-CN" sz="800" dirty="0">
              <a:solidFill>
                <a:schemeClr val="tx1">
                  <a:lumMod val="50000"/>
                  <a:lumOff val="50000"/>
                </a:schemeClr>
              </a:solidFill>
              <a:latin typeface="华文楷体" panose="02010600040101010101" pitchFamily="2" charset="-122"/>
              <a:ea typeface="华文楷体" panose="02010600040101010101" pitchFamily="2" charset="-122"/>
            </a:endParaRPr>
          </a:p>
          <a:p>
            <a:pPr marL="228600" lvl="1">
              <a:lnSpc>
                <a:spcPct val="100000"/>
              </a:lnSpc>
              <a:spcBef>
                <a:spcPts val="400"/>
              </a:spcBef>
              <a:buFont typeface="+mj-ea"/>
              <a:buAutoNum type="circleNumDbPlain"/>
            </a:pPr>
            <a:r>
              <a:rPr kumimoji="1" lang="zh-CN" altLang="en-US" sz="800" dirty="0">
                <a:solidFill>
                  <a:schemeClr val="tx1">
                    <a:lumMod val="50000"/>
                    <a:lumOff val="50000"/>
                  </a:schemeClr>
                </a:solidFill>
                <a:latin typeface="华文楷体" panose="02010600040101010101" pitchFamily="2" charset="-122"/>
                <a:ea typeface="华文楷体" panose="02010600040101010101" pitchFamily="2" charset="-122"/>
              </a:rPr>
              <a:t>湖仓一体平台的缓冲层，在数据湖持续对外提供服务阶段，为数据湖接入层的唯一数据源；在数据湖持续对外提供服务阶段，数据湖新增投产内容需回流湖仓。</a:t>
            </a:r>
            <a:endParaRPr kumimoji="1" lang="en-US" altLang="zh-CN" sz="800" dirty="0">
              <a:solidFill>
                <a:schemeClr val="tx1">
                  <a:lumMod val="50000"/>
                  <a:lumOff val="50000"/>
                </a:schemeClr>
              </a:solidFill>
              <a:latin typeface="华文楷体" panose="02010600040101010101" pitchFamily="2" charset="-122"/>
              <a:ea typeface="华文楷体" panose="02010600040101010101" pitchFamily="2" charset="-122"/>
            </a:endParaRPr>
          </a:p>
          <a:p>
            <a:pPr marL="228600" lvl="1">
              <a:lnSpc>
                <a:spcPct val="100000"/>
              </a:lnSpc>
              <a:spcBef>
                <a:spcPts val="400"/>
              </a:spcBef>
              <a:buFont typeface="+mj-ea"/>
              <a:buAutoNum type="circleNumDbPlain"/>
            </a:pPr>
            <a:r>
              <a:rPr kumimoji="1" lang="zh-CN" altLang="en-US" sz="800" dirty="0">
                <a:solidFill>
                  <a:schemeClr val="tx1">
                    <a:lumMod val="50000"/>
                    <a:lumOff val="50000"/>
                  </a:schemeClr>
                </a:solidFill>
                <a:latin typeface="华文楷体" panose="02010600040101010101" pitchFamily="2" charset="-122"/>
                <a:ea typeface="华文楷体" panose="02010600040101010101" pitchFamily="2" charset="-122"/>
              </a:rPr>
              <a:t>后续迁移进入湖仓一体平台的集市、数据湖业务应用，不分库，以</a:t>
            </a:r>
            <a:r>
              <a:rPr kumimoji="1" lang="en-US" altLang="zh-CN" sz="800" dirty="0">
                <a:solidFill>
                  <a:schemeClr val="tx1">
                    <a:lumMod val="50000"/>
                    <a:lumOff val="50000"/>
                  </a:schemeClr>
                </a:solidFill>
                <a:latin typeface="华文楷体" panose="02010600040101010101" pitchFamily="2" charset="-122"/>
                <a:ea typeface="华文楷体" panose="02010600040101010101" pitchFamily="2" charset="-122"/>
              </a:rPr>
              <a:t>schema</a:t>
            </a:r>
            <a:r>
              <a:rPr kumimoji="1" lang="zh-CN" altLang="en-US" sz="800" dirty="0">
                <a:solidFill>
                  <a:schemeClr val="tx1">
                    <a:lumMod val="50000"/>
                    <a:lumOff val="50000"/>
                  </a:schemeClr>
                </a:solidFill>
                <a:latin typeface="华文楷体" panose="02010600040101010101" pitchFamily="2" charset="-122"/>
                <a:ea typeface="华文楷体" panose="02010600040101010101" pitchFamily="2" charset="-122"/>
              </a:rPr>
              <a:t>区分，数据统一从平台获取，计算统一在平台进行。如计算结果实际需回流到信息系统数据库供查询使用，需复用数据交换工具，新增湖仓下发信息系统数据库任务。</a:t>
            </a:r>
            <a:endParaRPr kumimoji="1" lang="en-US" altLang="zh-CN" sz="800" dirty="0">
              <a:solidFill>
                <a:schemeClr val="tx1">
                  <a:lumMod val="50000"/>
                  <a:lumOff val="50000"/>
                </a:schemeClr>
              </a:solidFill>
              <a:latin typeface="华文楷体" panose="02010600040101010101" pitchFamily="2" charset="-122"/>
              <a:ea typeface="华文楷体" panose="02010600040101010101" pitchFamily="2" charset="-122"/>
            </a:endParaRPr>
          </a:p>
          <a:p>
            <a:pPr>
              <a:lnSpc>
                <a:spcPct val="100000"/>
              </a:lnSpc>
              <a:buFont typeface="Wingdings" panose="05000000000000000000" pitchFamily="2" charset="2"/>
              <a:buChar char="Ø"/>
            </a:pPr>
            <a:r>
              <a:rPr kumimoji="1" lang="zh-CN" altLang="en-US" sz="900" b="1" dirty="0">
                <a:solidFill>
                  <a:srgbClr val="C00000"/>
                </a:solidFill>
                <a:latin typeface="华文楷体" panose="02010600040101010101" pitchFamily="2" charset="-122"/>
                <a:ea typeface="华文楷体" panose="02010600040101010101" pitchFamily="2" charset="-122"/>
              </a:rPr>
              <a:t>存储格式建议说明</a:t>
            </a:r>
            <a:endParaRPr kumimoji="1" lang="en-US" altLang="zh-CN" sz="900" b="1" dirty="0">
              <a:solidFill>
                <a:srgbClr val="C00000"/>
              </a:solidFill>
              <a:latin typeface="华文楷体" panose="02010600040101010101" pitchFamily="2" charset="-122"/>
              <a:ea typeface="华文楷体" panose="02010600040101010101" pitchFamily="2" charset="-122"/>
            </a:endParaRPr>
          </a:p>
          <a:p>
            <a:pPr marL="228600" lvl="1">
              <a:lnSpc>
                <a:spcPct val="100000"/>
              </a:lnSpc>
              <a:spcBef>
                <a:spcPts val="400"/>
              </a:spcBef>
              <a:buFont typeface="+mj-ea"/>
              <a:buAutoNum type="circleNumDbPlain"/>
            </a:pPr>
            <a:r>
              <a:rPr kumimoji="1" lang="zh-CN" altLang="en-US" sz="800" dirty="0">
                <a:solidFill>
                  <a:schemeClr val="tx1">
                    <a:lumMod val="50000"/>
                    <a:lumOff val="50000"/>
                  </a:schemeClr>
                </a:solidFill>
                <a:latin typeface="华文楷体" panose="02010600040101010101" pitchFamily="2" charset="-122"/>
                <a:ea typeface="华文楷体" panose="02010600040101010101" pitchFamily="2" charset="-122"/>
              </a:rPr>
              <a:t>湖仓一体平台缓冲层</a:t>
            </a:r>
            <a:r>
              <a:rPr kumimoji="1" lang="en-US" altLang="zh-CN" sz="800" dirty="0">
                <a:solidFill>
                  <a:schemeClr val="tx1">
                    <a:lumMod val="50000"/>
                    <a:lumOff val="50000"/>
                  </a:schemeClr>
                </a:solidFill>
                <a:latin typeface="华文楷体" panose="02010600040101010101" pitchFamily="2" charset="-122"/>
                <a:ea typeface="华文楷体" panose="02010600040101010101" pitchFamily="2" charset="-122"/>
              </a:rPr>
              <a:t>Text</a:t>
            </a:r>
            <a:r>
              <a:rPr kumimoji="1" lang="zh-CN" altLang="en-US" sz="800" dirty="0">
                <a:solidFill>
                  <a:schemeClr val="tx1">
                    <a:lumMod val="50000"/>
                    <a:lumOff val="50000"/>
                  </a:schemeClr>
                </a:solidFill>
                <a:latin typeface="华文楷体" panose="02010600040101010101" pitchFamily="2" charset="-122"/>
                <a:ea typeface="华文楷体" panose="02010600040101010101" pitchFamily="2" charset="-122"/>
              </a:rPr>
              <a:t>格式，保证缓冲层与原始数据一致，无歧异、可溯源。</a:t>
            </a:r>
            <a:endParaRPr kumimoji="1" lang="en-US" altLang="zh-CN" sz="800" dirty="0">
              <a:solidFill>
                <a:schemeClr val="tx1">
                  <a:lumMod val="50000"/>
                  <a:lumOff val="50000"/>
                </a:schemeClr>
              </a:solidFill>
              <a:latin typeface="华文楷体" panose="02010600040101010101" pitchFamily="2" charset="-122"/>
              <a:ea typeface="华文楷体" panose="02010600040101010101" pitchFamily="2" charset="-122"/>
            </a:endParaRPr>
          </a:p>
          <a:p>
            <a:pPr marL="228600" lvl="1">
              <a:lnSpc>
                <a:spcPct val="100000"/>
              </a:lnSpc>
              <a:spcBef>
                <a:spcPts val="400"/>
              </a:spcBef>
              <a:buFont typeface="+mj-ea"/>
              <a:buAutoNum type="circleNumDbPlain"/>
            </a:pPr>
            <a:r>
              <a:rPr kumimoji="1" lang="zh-CN" altLang="en-US" sz="800" dirty="0">
                <a:solidFill>
                  <a:schemeClr val="tx1">
                    <a:lumMod val="50000"/>
                    <a:lumOff val="50000"/>
                  </a:schemeClr>
                </a:solidFill>
                <a:latin typeface="华文楷体" panose="02010600040101010101" pitchFamily="2" charset="-122"/>
                <a:ea typeface="华文楷体" panose="02010600040101010101" pitchFamily="2" charset="-122"/>
              </a:rPr>
              <a:t>湖仓一体平台贴源层、基础层出于稳定和安全考虑，后续将有限或不直接对集市、应用开放，使用</a:t>
            </a:r>
            <a:r>
              <a:rPr kumimoji="1" lang="en-US" altLang="zh-CN" sz="800" dirty="0">
                <a:solidFill>
                  <a:schemeClr val="tx1">
                    <a:lumMod val="50000"/>
                    <a:lumOff val="50000"/>
                  </a:schemeClr>
                </a:solidFill>
                <a:latin typeface="华文楷体" panose="02010600040101010101" pitchFamily="2" charset="-122"/>
                <a:ea typeface="华文楷体" panose="02010600040101010101" pitchFamily="2" charset="-122"/>
              </a:rPr>
              <a:t>Orc</a:t>
            </a:r>
            <a:r>
              <a:rPr kumimoji="1" lang="zh-CN" altLang="en-US" sz="800" dirty="0">
                <a:solidFill>
                  <a:schemeClr val="tx1">
                    <a:lumMod val="50000"/>
                    <a:lumOff val="50000"/>
                  </a:schemeClr>
                </a:solidFill>
                <a:latin typeface="华文楷体" panose="02010600040101010101" pitchFamily="2" charset="-122"/>
                <a:ea typeface="华文楷体" panose="02010600040101010101" pitchFamily="2" charset="-122"/>
              </a:rPr>
              <a:t>格式。</a:t>
            </a:r>
            <a:endParaRPr kumimoji="1" lang="en-US" altLang="zh-CN" sz="800" dirty="0">
              <a:solidFill>
                <a:schemeClr val="tx1">
                  <a:lumMod val="50000"/>
                  <a:lumOff val="50000"/>
                </a:schemeClr>
              </a:solidFill>
              <a:latin typeface="华文楷体" panose="02010600040101010101" pitchFamily="2" charset="-122"/>
              <a:ea typeface="华文楷体" panose="02010600040101010101" pitchFamily="2" charset="-122"/>
            </a:endParaRPr>
          </a:p>
          <a:p>
            <a:pPr marL="228600" lvl="1">
              <a:lnSpc>
                <a:spcPct val="100000"/>
              </a:lnSpc>
              <a:spcBef>
                <a:spcPts val="400"/>
              </a:spcBef>
              <a:buFont typeface="+mj-ea"/>
              <a:buAutoNum type="circleNumDbPlain"/>
            </a:pPr>
            <a:r>
              <a:rPr kumimoji="1" lang="zh-CN" altLang="en-US" sz="800" dirty="0">
                <a:solidFill>
                  <a:schemeClr val="tx1">
                    <a:lumMod val="50000"/>
                    <a:lumOff val="50000"/>
                  </a:schemeClr>
                </a:solidFill>
                <a:latin typeface="华文楷体" panose="02010600040101010101" pitchFamily="2" charset="-122"/>
                <a:ea typeface="华文楷体" panose="02010600040101010101" pitchFamily="2" charset="-122"/>
              </a:rPr>
              <a:t>中间</a:t>
            </a:r>
            <a:r>
              <a:rPr kumimoji="1" lang="en-US" altLang="zh-CN" sz="800" dirty="0">
                <a:solidFill>
                  <a:schemeClr val="tx1">
                    <a:lumMod val="50000"/>
                    <a:lumOff val="50000"/>
                  </a:schemeClr>
                </a:solidFill>
                <a:latin typeface="华文楷体" panose="02010600040101010101" pitchFamily="2" charset="-122"/>
                <a:ea typeface="华文楷体" panose="02010600040101010101" pitchFamily="2" charset="-122"/>
              </a:rPr>
              <a:t>/</a:t>
            </a:r>
            <a:r>
              <a:rPr kumimoji="1" lang="zh-CN" altLang="en-US" sz="800" dirty="0">
                <a:solidFill>
                  <a:schemeClr val="tx1">
                    <a:lumMod val="50000"/>
                    <a:lumOff val="50000"/>
                  </a:schemeClr>
                </a:solidFill>
                <a:latin typeface="华文楷体" panose="02010600040101010101" pitchFamily="2" charset="-122"/>
                <a:ea typeface="华文楷体" panose="02010600040101010101" pitchFamily="2" charset="-122"/>
              </a:rPr>
              <a:t>汇总层，此类模型和轻度加工层级，如后续定位仅对湖仓共性数据加工使用，</a:t>
            </a:r>
            <a:r>
              <a:rPr kumimoji="1" lang="en-US" altLang="zh-CN" sz="800" dirty="0">
                <a:solidFill>
                  <a:schemeClr val="tx1">
                    <a:lumMod val="50000"/>
                    <a:lumOff val="50000"/>
                  </a:schemeClr>
                </a:solidFill>
                <a:latin typeface="华文楷体" panose="02010600040101010101" pitchFamily="2" charset="-122"/>
                <a:ea typeface="华文楷体" panose="02010600040101010101" pitchFamily="2" charset="-122"/>
              </a:rPr>
              <a:t>Orc</a:t>
            </a:r>
            <a:r>
              <a:rPr kumimoji="1" lang="zh-CN" altLang="en-US" sz="800" dirty="0">
                <a:solidFill>
                  <a:schemeClr val="tx1">
                    <a:lumMod val="50000"/>
                    <a:lumOff val="50000"/>
                  </a:schemeClr>
                </a:solidFill>
                <a:latin typeface="华文楷体" panose="02010600040101010101" pitchFamily="2" charset="-122"/>
                <a:ea typeface="华文楷体" panose="02010600040101010101" pitchFamily="2" charset="-122"/>
              </a:rPr>
              <a:t>格式；如同步开放给众多集市、应用系统，建议存量以及传统的应用系统、集市使用</a:t>
            </a:r>
            <a:r>
              <a:rPr kumimoji="1" lang="en-US" altLang="zh-CN" sz="800" dirty="0">
                <a:solidFill>
                  <a:schemeClr val="tx1">
                    <a:lumMod val="50000"/>
                    <a:lumOff val="50000"/>
                  </a:schemeClr>
                </a:solidFill>
                <a:latin typeface="华文楷体" panose="02010600040101010101" pitchFamily="2" charset="-122"/>
                <a:ea typeface="华文楷体" panose="02010600040101010101" pitchFamily="2" charset="-122"/>
              </a:rPr>
              <a:t>orc</a:t>
            </a:r>
            <a:r>
              <a:rPr kumimoji="1" lang="zh-CN" altLang="en-US" sz="800" dirty="0">
                <a:solidFill>
                  <a:schemeClr val="tx1">
                    <a:lumMod val="50000"/>
                    <a:lumOff val="50000"/>
                  </a:schemeClr>
                </a:solidFill>
                <a:latin typeface="华文楷体" panose="02010600040101010101" pitchFamily="2" charset="-122"/>
                <a:ea typeface="华文楷体" panose="02010600040101010101" pitchFamily="2" charset="-122"/>
              </a:rPr>
              <a:t>格式，新增以及</a:t>
            </a:r>
            <a:r>
              <a:rPr kumimoji="1" lang="en-US" altLang="zh-CN" sz="800" dirty="0">
                <a:solidFill>
                  <a:schemeClr val="tx1">
                    <a:lumMod val="50000"/>
                    <a:lumOff val="50000"/>
                  </a:schemeClr>
                </a:solidFill>
                <a:latin typeface="华文楷体" panose="02010600040101010101" pitchFamily="2" charset="-122"/>
                <a:ea typeface="华文楷体" panose="02010600040101010101" pitchFamily="2" charset="-122"/>
              </a:rPr>
              <a:t>Hadoop</a:t>
            </a:r>
            <a:r>
              <a:rPr kumimoji="1" lang="zh-CN" altLang="en-US" sz="800" dirty="0">
                <a:solidFill>
                  <a:schemeClr val="tx1">
                    <a:lumMod val="50000"/>
                    <a:lumOff val="50000"/>
                  </a:schemeClr>
                </a:solidFill>
                <a:latin typeface="华文楷体" panose="02010600040101010101" pitchFamily="2" charset="-122"/>
                <a:ea typeface="华文楷体" panose="02010600040101010101" pitchFamily="2" charset="-122"/>
              </a:rPr>
              <a:t>生态应用使用</a:t>
            </a:r>
            <a:r>
              <a:rPr kumimoji="1" lang="en-US" altLang="zh-CN" sz="800" dirty="0" err="1">
                <a:solidFill>
                  <a:schemeClr val="tx1">
                    <a:lumMod val="50000"/>
                    <a:lumOff val="50000"/>
                  </a:schemeClr>
                </a:solidFill>
                <a:latin typeface="华文楷体" panose="02010600040101010101" pitchFamily="2" charset="-122"/>
                <a:ea typeface="华文楷体" panose="02010600040101010101" pitchFamily="2" charset="-122"/>
              </a:rPr>
              <a:t>hudi</a:t>
            </a:r>
            <a:r>
              <a:rPr kumimoji="1" lang="zh-CN" altLang="en-US" sz="800" dirty="0">
                <a:solidFill>
                  <a:schemeClr val="tx1">
                    <a:lumMod val="50000"/>
                    <a:lumOff val="50000"/>
                  </a:schemeClr>
                </a:solidFill>
                <a:latin typeface="华文楷体" panose="02010600040101010101" pitchFamily="2" charset="-122"/>
                <a:ea typeface="华文楷体" panose="02010600040101010101" pitchFamily="2" charset="-122"/>
              </a:rPr>
              <a:t> </a:t>
            </a:r>
            <a:r>
              <a:rPr kumimoji="1" lang="en-US" altLang="zh-CN" sz="800" dirty="0">
                <a:solidFill>
                  <a:schemeClr val="tx1">
                    <a:lumMod val="50000"/>
                    <a:lumOff val="50000"/>
                  </a:schemeClr>
                </a:solidFill>
                <a:latin typeface="华文楷体" panose="02010600040101010101" pitchFamily="2" charset="-122"/>
                <a:ea typeface="华文楷体" panose="02010600040101010101" pitchFamily="2" charset="-122"/>
              </a:rPr>
              <a:t>orc</a:t>
            </a:r>
            <a:r>
              <a:rPr kumimoji="1" lang="zh-CN" altLang="en-US" sz="800" dirty="0">
                <a:solidFill>
                  <a:schemeClr val="tx1">
                    <a:lumMod val="50000"/>
                    <a:lumOff val="50000"/>
                  </a:schemeClr>
                </a:solidFill>
                <a:latin typeface="华文楷体" panose="02010600040101010101" pitchFamily="2" charset="-122"/>
                <a:ea typeface="华文楷体" panose="02010600040101010101" pitchFamily="2" charset="-122"/>
              </a:rPr>
              <a:t>格式。</a:t>
            </a:r>
            <a:endParaRPr kumimoji="1" lang="en-US" altLang="zh-CN" sz="800" dirty="0">
              <a:solidFill>
                <a:schemeClr val="tx1">
                  <a:lumMod val="50000"/>
                  <a:lumOff val="50000"/>
                </a:schemeClr>
              </a:solidFill>
              <a:latin typeface="华文楷体" panose="02010600040101010101" pitchFamily="2" charset="-122"/>
              <a:ea typeface="华文楷体" panose="02010600040101010101" pitchFamily="2" charset="-122"/>
            </a:endParaRPr>
          </a:p>
          <a:p>
            <a:pPr marL="228600" lvl="1">
              <a:lnSpc>
                <a:spcPct val="100000"/>
              </a:lnSpc>
              <a:spcBef>
                <a:spcPts val="400"/>
              </a:spcBef>
              <a:buFont typeface="+mj-ea"/>
              <a:buAutoNum type="circleNumDbPlain"/>
            </a:pPr>
            <a:r>
              <a:rPr kumimoji="1" lang="en-US" altLang="zh-CN" sz="800" dirty="0">
                <a:solidFill>
                  <a:schemeClr val="tx1">
                    <a:lumMod val="50000"/>
                    <a:lumOff val="50000"/>
                  </a:schemeClr>
                </a:solidFill>
                <a:latin typeface="华文楷体" panose="02010600040101010101" pitchFamily="2" charset="-122"/>
                <a:ea typeface="华文楷体" panose="02010600040101010101" pitchFamily="2" charset="-122"/>
              </a:rPr>
              <a:t>orc</a:t>
            </a:r>
            <a:r>
              <a:rPr kumimoji="1" lang="zh-CN" altLang="en-US" sz="800" dirty="0">
                <a:solidFill>
                  <a:schemeClr val="tx1">
                    <a:lumMod val="50000"/>
                    <a:lumOff val="50000"/>
                  </a:schemeClr>
                </a:solidFill>
                <a:latin typeface="华文楷体" panose="02010600040101010101" pitchFamily="2" charset="-122"/>
                <a:ea typeface="华文楷体" panose="02010600040101010101" pitchFamily="2" charset="-122"/>
              </a:rPr>
              <a:t>和</a:t>
            </a:r>
            <a:r>
              <a:rPr kumimoji="1" lang="en-US" altLang="zh-CN" sz="800" dirty="0" err="1">
                <a:solidFill>
                  <a:schemeClr val="tx1">
                    <a:lumMod val="50000"/>
                    <a:lumOff val="50000"/>
                  </a:schemeClr>
                </a:solidFill>
                <a:latin typeface="华文楷体" panose="02010600040101010101" pitchFamily="2" charset="-122"/>
                <a:ea typeface="华文楷体" panose="02010600040101010101" pitchFamily="2" charset="-122"/>
              </a:rPr>
              <a:t>hudi</a:t>
            </a:r>
            <a:r>
              <a:rPr kumimoji="1" lang="zh-CN" altLang="en-US" sz="800" dirty="0">
                <a:solidFill>
                  <a:schemeClr val="tx1">
                    <a:lumMod val="50000"/>
                    <a:lumOff val="50000"/>
                  </a:schemeClr>
                </a:solidFill>
                <a:latin typeface="华文楷体" panose="02010600040101010101" pitchFamily="2" charset="-122"/>
                <a:ea typeface="华文楷体" panose="02010600040101010101" pitchFamily="2" charset="-122"/>
              </a:rPr>
              <a:t> </a:t>
            </a:r>
            <a:r>
              <a:rPr kumimoji="1" lang="en-US" altLang="zh-CN" sz="800" dirty="0">
                <a:solidFill>
                  <a:schemeClr val="tx1">
                    <a:lumMod val="50000"/>
                    <a:lumOff val="50000"/>
                  </a:schemeClr>
                </a:solidFill>
                <a:latin typeface="华文楷体" panose="02010600040101010101" pitchFamily="2" charset="-122"/>
                <a:ea typeface="华文楷体" panose="02010600040101010101" pitchFamily="2" charset="-122"/>
              </a:rPr>
              <a:t>orc</a:t>
            </a:r>
            <a:r>
              <a:rPr kumimoji="1" lang="zh-CN" altLang="en-US" sz="800" dirty="0">
                <a:solidFill>
                  <a:schemeClr val="tx1">
                    <a:lumMod val="50000"/>
                    <a:lumOff val="50000"/>
                  </a:schemeClr>
                </a:solidFill>
                <a:latin typeface="华文楷体" panose="02010600040101010101" pitchFamily="2" charset="-122"/>
                <a:ea typeface="华文楷体" panose="02010600040101010101" pitchFamily="2" charset="-122"/>
              </a:rPr>
              <a:t>是为了对不同的应用提供更好的应用支持，不影响跨格式计算。</a:t>
            </a:r>
            <a:endParaRPr kumimoji="1" lang="en-US" altLang="zh-CN" sz="800" dirty="0">
              <a:solidFill>
                <a:schemeClr val="tx1">
                  <a:lumMod val="50000"/>
                  <a:lumOff val="50000"/>
                </a:schemeClr>
              </a:solidFill>
              <a:latin typeface="华文楷体" panose="02010600040101010101" pitchFamily="2" charset="-122"/>
              <a:ea typeface="华文楷体" panose="02010600040101010101" pitchFamily="2" charset="-122"/>
            </a:endParaRPr>
          </a:p>
          <a:p>
            <a:pPr>
              <a:lnSpc>
                <a:spcPct val="100000"/>
              </a:lnSpc>
              <a:buFont typeface="Wingdings" panose="05000000000000000000" pitchFamily="2" charset="2"/>
              <a:buChar char="Ø"/>
            </a:pPr>
            <a:r>
              <a:rPr kumimoji="1" lang="zh-CN" altLang="en-US" sz="900" b="1" dirty="0">
                <a:solidFill>
                  <a:srgbClr val="C00000"/>
                </a:solidFill>
                <a:latin typeface="华文楷体" panose="02010600040101010101" pitchFamily="2" charset="-122"/>
                <a:ea typeface="华文楷体" panose="02010600040101010101" pitchFamily="2" charset="-122"/>
              </a:rPr>
              <a:t>湖仓一体命名规范说明</a:t>
            </a:r>
            <a:endParaRPr kumimoji="1" lang="en-US" altLang="zh-CN" sz="900" b="1" dirty="0">
              <a:solidFill>
                <a:srgbClr val="C00000"/>
              </a:solidFill>
              <a:latin typeface="华文楷体" panose="02010600040101010101" pitchFamily="2" charset="-122"/>
              <a:ea typeface="华文楷体" panose="02010600040101010101" pitchFamily="2" charset="-122"/>
            </a:endParaRPr>
          </a:p>
          <a:p>
            <a:pPr marL="228600" lvl="1">
              <a:lnSpc>
                <a:spcPct val="100000"/>
              </a:lnSpc>
              <a:spcBef>
                <a:spcPts val="400"/>
              </a:spcBef>
              <a:buFont typeface="+mj-ea"/>
              <a:buAutoNum type="circleNumDbPlain"/>
            </a:pPr>
            <a:r>
              <a:rPr kumimoji="1" lang="zh-CN" altLang="en-US" sz="800" dirty="0">
                <a:solidFill>
                  <a:schemeClr val="tx1">
                    <a:lumMod val="50000"/>
                    <a:lumOff val="50000"/>
                  </a:schemeClr>
                </a:solidFill>
                <a:latin typeface="华文楷体" panose="02010600040101010101" pitchFamily="2" charset="-122"/>
                <a:ea typeface="华文楷体" panose="02010600040101010101" pitchFamily="2" charset="-122"/>
              </a:rPr>
              <a:t>湖仓一体平台表名、列名等，命名规范遵循原数据仓库命名规范，表名</a:t>
            </a:r>
            <a:r>
              <a:rPr kumimoji="1" lang="en-US" altLang="zh-CN" sz="800" dirty="0">
                <a:solidFill>
                  <a:schemeClr val="tx1">
                    <a:lumMod val="50000"/>
                    <a:lumOff val="50000"/>
                  </a:schemeClr>
                </a:solidFill>
                <a:latin typeface="华文楷体" panose="02010600040101010101" pitchFamily="2" charset="-122"/>
                <a:ea typeface="华文楷体" panose="02010600040101010101" pitchFamily="2" charset="-122"/>
              </a:rPr>
              <a:t>64</a:t>
            </a:r>
            <a:r>
              <a:rPr kumimoji="1" lang="zh-CN" altLang="en-US" sz="800" dirty="0">
                <a:solidFill>
                  <a:schemeClr val="tx1">
                    <a:lumMod val="50000"/>
                    <a:lumOff val="50000"/>
                  </a:schemeClr>
                </a:solidFill>
                <a:latin typeface="华文楷体" panose="02010600040101010101" pitchFamily="2" charset="-122"/>
                <a:ea typeface="华文楷体" panose="02010600040101010101" pitchFamily="2" charset="-122"/>
              </a:rPr>
              <a:t>长度限定。</a:t>
            </a:r>
            <a:endParaRPr kumimoji="1" lang="en-US" altLang="zh-CN" sz="800" dirty="0">
              <a:solidFill>
                <a:schemeClr val="tx1">
                  <a:lumMod val="50000"/>
                  <a:lumOff val="50000"/>
                </a:schemeClr>
              </a:solidFill>
              <a:latin typeface="华文楷体" panose="02010600040101010101" pitchFamily="2" charset="-122"/>
              <a:ea typeface="华文楷体" panose="02010600040101010101" pitchFamily="2" charset="-122"/>
            </a:endParaRPr>
          </a:p>
          <a:p>
            <a:pPr marL="228600" lvl="1">
              <a:lnSpc>
                <a:spcPct val="100000"/>
              </a:lnSpc>
              <a:spcBef>
                <a:spcPts val="400"/>
              </a:spcBef>
              <a:buFont typeface="+mj-ea"/>
              <a:buAutoNum type="circleNumDbPlain"/>
            </a:pPr>
            <a:r>
              <a:rPr kumimoji="1" lang="zh-CN" altLang="en-US" sz="800" dirty="0">
                <a:solidFill>
                  <a:schemeClr val="tx1">
                    <a:lumMod val="50000"/>
                    <a:lumOff val="50000"/>
                  </a:schemeClr>
                </a:solidFill>
                <a:latin typeface="华文楷体" panose="02010600040101010101" pitchFamily="2" charset="-122"/>
                <a:ea typeface="华文楷体" panose="02010600040101010101" pitchFamily="2" charset="-122"/>
              </a:rPr>
              <a:t>湖仓一体平台内不同信息系统的</a:t>
            </a:r>
            <a:r>
              <a:rPr kumimoji="1" lang="en-US" altLang="zh-CN" sz="800" dirty="0">
                <a:solidFill>
                  <a:schemeClr val="tx1">
                    <a:lumMod val="50000"/>
                    <a:lumOff val="50000"/>
                  </a:schemeClr>
                </a:solidFill>
                <a:latin typeface="华文楷体" panose="02010600040101010101" pitchFamily="2" charset="-122"/>
                <a:ea typeface="华文楷体" panose="02010600040101010101" pitchFamily="2" charset="-122"/>
              </a:rPr>
              <a:t>Schema</a:t>
            </a:r>
            <a:r>
              <a:rPr kumimoji="1" lang="zh-CN" altLang="en-US" sz="800" dirty="0">
                <a:solidFill>
                  <a:schemeClr val="tx1">
                    <a:lumMod val="50000"/>
                    <a:lumOff val="50000"/>
                  </a:schemeClr>
                </a:solidFill>
                <a:latin typeface="华文楷体" panose="02010600040101010101" pitchFamily="2" charset="-122"/>
                <a:ea typeface="华文楷体" panose="02010600040101010101" pitchFamily="2" charset="-122"/>
              </a:rPr>
              <a:t>，出于应用便捷性考虑，应在遵循数据仓库命名规范的同时，保证缩写可读，不宜过长。</a:t>
            </a:r>
            <a:endParaRPr kumimoji="1" lang="en-US" altLang="zh-CN" sz="900" b="1" dirty="0">
              <a:solidFill>
                <a:schemeClr val="tx1">
                  <a:lumMod val="50000"/>
                  <a:lumOff val="50000"/>
                </a:schemeClr>
              </a:solidFill>
              <a:latin typeface="华文楷体" panose="02010600040101010101" pitchFamily="2" charset="-122"/>
              <a:ea typeface="华文楷体" panose="02010600040101010101" pitchFamily="2" charset="-122"/>
            </a:endParaRPr>
          </a:p>
          <a:p>
            <a:pPr marL="228600" lvl="1">
              <a:lnSpc>
                <a:spcPct val="100000"/>
              </a:lnSpc>
              <a:spcBef>
                <a:spcPts val="400"/>
              </a:spcBef>
              <a:buFont typeface="+mj-ea"/>
              <a:buAutoNum type="circleNumDbPlain"/>
            </a:pPr>
            <a:r>
              <a:rPr kumimoji="1" lang="zh-CN" altLang="en-US" sz="800" dirty="0">
                <a:solidFill>
                  <a:schemeClr val="tx1">
                    <a:lumMod val="50000"/>
                    <a:lumOff val="50000"/>
                  </a:schemeClr>
                </a:solidFill>
                <a:latin typeface="华文楷体" panose="02010600040101010101" pitchFamily="2" charset="-122"/>
                <a:ea typeface="华文楷体" panose="02010600040101010101" pitchFamily="2" charset="-122"/>
              </a:rPr>
              <a:t>数据湖在命名规范层面涉及的改造工作量可能较多，需警惕改造衍生工作。</a:t>
            </a:r>
            <a:endParaRPr kumimoji="1" lang="en-US" altLang="zh-CN" sz="800" dirty="0">
              <a:solidFill>
                <a:schemeClr val="tx1">
                  <a:lumMod val="50000"/>
                  <a:lumOff val="50000"/>
                </a:schemeClr>
              </a:solidFill>
              <a:latin typeface="华文楷体" panose="02010600040101010101" pitchFamily="2" charset="-122"/>
              <a:ea typeface="华文楷体" panose="02010600040101010101" pitchFamily="2" charset="-122"/>
            </a:endParaRPr>
          </a:p>
          <a:p>
            <a:pPr marL="228600" lvl="1">
              <a:lnSpc>
                <a:spcPct val="100000"/>
              </a:lnSpc>
              <a:spcBef>
                <a:spcPts val="400"/>
              </a:spcBef>
              <a:buFont typeface="+mj-ea"/>
              <a:buAutoNum type="circleNumDbPlain"/>
            </a:pPr>
            <a:r>
              <a:rPr kumimoji="1" lang="zh-CN" altLang="en-US" sz="800" dirty="0">
                <a:solidFill>
                  <a:schemeClr val="tx1">
                    <a:lumMod val="50000"/>
                    <a:lumOff val="50000"/>
                  </a:schemeClr>
                </a:solidFill>
                <a:latin typeface="华文楷体" panose="02010600040101010101" pitchFamily="2" charset="-122"/>
                <a:ea typeface="华文楷体" panose="02010600040101010101" pitchFamily="2" charset="-122"/>
              </a:rPr>
              <a:t>涉及到表名、系统名改造的情况，建议设立专用文档记录变更映射。</a:t>
            </a:r>
            <a:endParaRPr kumimoji="1" lang="en-US" altLang="zh-CN" sz="800" dirty="0">
              <a:solidFill>
                <a:schemeClr val="tx1">
                  <a:lumMod val="50000"/>
                  <a:lumOff val="50000"/>
                </a:schemeClr>
              </a:solidFill>
              <a:latin typeface="华文楷体" panose="02010600040101010101" pitchFamily="2" charset="-122"/>
              <a:ea typeface="华文楷体" panose="02010600040101010101" pitchFamily="2" charset="-122"/>
            </a:endParaRPr>
          </a:p>
        </p:txBody>
      </p:sp>
      <p:grpSp>
        <p:nvGrpSpPr>
          <p:cNvPr id="168" name="组合 167"/>
          <p:cNvGrpSpPr/>
          <p:nvPr/>
        </p:nvGrpSpPr>
        <p:grpSpPr>
          <a:xfrm>
            <a:off x="1526268" y="4554713"/>
            <a:ext cx="2420676" cy="198611"/>
            <a:chOff x="4281741" y="4898240"/>
            <a:chExt cx="2257604" cy="144766"/>
          </a:xfrm>
        </p:grpSpPr>
        <p:sp>
          <p:nvSpPr>
            <p:cNvPr id="169" name="圆角矩形 168"/>
            <p:cNvSpPr/>
            <p:nvPr/>
          </p:nvSpPr>
          <p:spPr>
            <a:xfrm>
              <a:off x="4281741" y="4898240"/>
              <a:ext cx="682804" cy="144766"/>
            </a:xfrm>
            <a:prstGeom prst="roundRect">
              <a:avLst>
                <a:gd name="adj" fmla="val 2863"/>
              </a:avLst>
            </a:prstGeom>
            <a:gradFill flip="none" rotWithShape="1">
              <a:gsLst>
                <a:gs pos="0">
                  <a:srgbClr val="BED1F9"/>
                </a:gs>
                <a:gs pos="100000">
                  <a:srgbClr val="E8EFFC"/>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500" dirty="0">
                  <a:solidFill>
                    <a:schemeClr val="tx1">
                      <a:lumMod val="75000"/>
                      <a:lumOff val="25000"/>
                    </a:schemeClr>
                  </a:solidFill>
                  <a:latin typeface="华文楷体" panose="02010600040101010101" pitchFamily="2" charset="-122"/>
                  <a:ea typeface="华文楷体" panose="02010600040101010101" pitchFamily="2" charset="-122"/>
                </a:rPr>
                <a:t>结构化数据区</a:t>
              </a:r>
              <a:endParaRPr kumimoji="1" lang="zh-CN" altLang="en-US" sz="500"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170" name="圆角矩形 169"/>
            <p:cNvSpPr/>
            <p:nvPr/>
          </p:nvSpPr>
          <p:spPr>
            <a:xfrm>
              <a:off x="5069141" y="4898240"/>
              <a:ext cx="682804" cy="144766"/>
            </a:xfrm>
            <a:prstGeom prst="roundRect">
              <a:avLst>
                <a:gd name="adj" fmla="val 2863"/>
              </a:avLst>
            </a:prstGeom>
            <a:gradFill flip="none" rotWithShape="1">
              <a:gsLst>
                <a:gs pos="0">
                  <a:srgbClr val="BED1F9"/>
                </a:gs>
                <a:gs pos="100000">
                  <a:srgbClr val="E8EFFC"/>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500" dirty="0">
                  <a:solidFill>
                    <a:schemeClr val="tx1">
                      <a:lumMod val="75000"/>
                      <a:lumOff val="25000"/>
                    </a:schemeClr>
                  </a:solidFill>
                  <a:latin typeface="华文楷体" panose="02010600040101010101" pitchFamily="2" charset="-122"/>
                  <a:ea typeface="华文楷体" panose="02010600040101010101" pitchFamily="2" charset="-122"/>
                </a:rPr>
                <a:t>半结构化数据区</a:t>
              </a:r>
              <a:endParaRPr kumimoji="1" lang="zh-CN" altLang="en-US" sz="500" dirty="0">
                <a:solidFill>
                  <a:schemeClr val="tx1">
                    <a:lumMod val="75000"/>
                    <a:lumOff val="25000"/>
                  </a:schemeClr>
                </a:solidFill>
                <a:latin typeface="华文楷体" panose="02010600040101010101" pitchFamily="2" charset="-122"/>
                <a:ea typeface="华文楷体" panose="02010600040101010101" pitchFamily="2" charset="-122"/>
              </a:endParaRPr>
            </a:p>
          </p:txBody>
        </p:sp>
        <p:sp>
          <p:nvSpPr>
            <p:cNvPr id="171" name="圆角矩形 170"/>
            <p:cNvSpPr/>
            <p:nvPr/>
          </p:nvSpPr>
          <p:spPr>
            <a:xfrm>
              <a:off x="5856541" y="4898240"/>
              <a:ext cx="682804" cy="144766"/>
            </a:xfrm>
            <a:prstGeom prst="roundRect">
              <a:avLst>
                <a:gd name="adj" fmla="val 2863"/>
              </a:avLst>
            </a:prstGeom>
            <a:gradFill flip="none" rotWithShape="1">
              <a:gsLst>
                <a:gs pos="0">
                  <a:srgbClr val="BED1F9"/>
                </a:gs>
                <a:gs pos="100000">
                  <a:srgbClr val="E8EFFC"/>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500" dirty="0">
                  <a:solidFill>
                    <a:schemeClr val="tx1">
                      <a:lumMod val="75000"/>
                      <a:lumOff val="25000"/>
                    </a:schemeClr>
                  </a:solidFill>
                  <a:latin typeface="华文楷体" panose="02010600040101010101" pitchFamily="2" charset="-122"/>
                  <a:ea typeface="华文楷体" panose="02010600040101010101" pitchFamily="2" charset="-122"/>
                </a:rPr>
                <a:t>非结构化数据区</a:t>
              </a:r>
              <a:endParaRPr kumimoji="1" lang="zh-CN" altLang="en-US" sz="500" dirty="0">
                <a:solidFill>
                  <a:schemeClr val="tx1">
                    <a:lumMod val="75000"/>
                    <a:lumOff val="25000"/>
                  </a:schemeClr>
                </a:solidFill>
                <a:latin typeface="华文楷体" panose="02010600040101010101" pitchFamily="2" charset="-122"/>
                <a:ea typeface="华文楷体" panose="02010600040101010101" pitchFamily="2" charset="-122"/>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1.7 </a:t>
            </a:r>
            <a:r>
              <a:rPr lang="zh-CN" altLang="en-US" dirty="0"/>
              <a:t>平台逻辑架构</a:t>
            </a:r>
            <a:endParaRPr lang="zh-CN" altLang="en-US" dirty="0"/>
          </a:p>
        </p:txBody>
      </p:sp>
      <p:sp>
        <p:nvSpPr>
          <p:cNvPr id="4" name="矩形 3"/>
          <p:cNvSpPr/>
          <p:nvPr/>
        </p:nvSpPr>
        <p:spPr>
          <a:xfrm>
            <a:off x="4183577" y="931724"/>
            <a:ext cx="6017661" cy="5571334"/>
          </a:xfrm>
          <a:prstGeom prst="rect">
            <a:avLst/>
          </a:prstGeom>
          <a:solidFill>
            <a:srgbClr val="F2F2F2"/>
          </a:solidFill>
          <a:ln>
            <a:solidFill>
              <a:srgbClr val="40404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华文楷体" panose="02010600040101010101" pitchFamily="2" charset="-122"/>
              <a:ea typeface="华文楷体" panose="02010600040101010101" pitchFamily="2" charset="-122"/>
            </a:endParaRPr>
          </a:p>
        </p:txBody>
      </p:sp>
      <p:grpSp>
        <p:nvGrpSpPr>
          <p:cNvPr id="5" name="组合 4"/>
          <p:cNvGrpSpPr/>
          <p:nvPr/>
        </p:nvGrpSpPr>
        <p:grpSpPr>
          <a:xfrm>
            <a:off x="7835720" y="3480201"/>
            <a:ext cx="2153896" cy="1447736"/>
            <a:chOff x="1873111" y="3513564"/>
            <a:chExt cx="2250503" cy="1512670"/>
          </a:xfrm>
        </p:grpSpPr>
        <p:grpSp>
          <p:nvGrpSpPr>
            <p:cNvPr id="7" name="组合 6"/>
            <p:cNvGrpSpPr/>
            <p:nvPr/>
          </p:nvGrpSpPr>
          <p:grpSpPr>
            <a:xfrm>
              <a:off x="1873111" y="3513564"/>
              <a:ext cx="2250503" cy="1512670"/>
              <a:chOff x="3722034" y="1596754"/>
              <a:chExt cx="2250503" cy="1512670"/>
            </a:xfrm>
          </p:grpSpPr>
          <p:sp>
            <p:nvSpPr>
              <p:cNvPr id="173" name="矩形 172"/>
              <p:cNvSpPr/>
              <p:nvPr/>
            </p:nvSpPr>
            <p:spPr>
              <a:xfrm>
                <a:off x="3722034" y="1596754"/>
                <a:ext cx="2250503" cy="1512670"/>
              </a:xfrm>
              <a:prstGeom prst="rect">
                <a:avLst/>
              </a:prstGeom>
              <a:noFill/>
              <a:ln w="28575">
                <a:solidFill>
                  <a:srgbClr val="40404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华文楷体" panose="02010600040101010101" pitchFamily="2" charset="-122"/>
                  <a:ea typeface="华文楷体" panose="02010600040101010101" pitchFamily="2" charset="-122"/>
                </a:endParaRPr>
              </a:p>
            </p:txBody>
          </p:sp>
          <p:grpSp>
            <p:nvGrpSpPr>
              <p:cNvPr id="174" name="组合 173"/>
              <p:cNvGrpSpPr/>
              <p:nvPr/>
            </p:nvGrpSpPr>
            <p:grpSpPr>
              <a:xfrm>
                <a:off x="3831993" y="1689354"/>
                <a:ext cx="2036371" cy="1030695"/>
                <a:chOff x="3831993" y="1654629"/>
                <a:chExt cx="2036371" cy="1030695"/>
              </a:xfrm>
            </p:grpSpPr>
            <p:sp>
              <p:nvSpPr>
                <p:cNvPr id="175" name="矩形 174"/>
                <p:cNvSpPr/>
                <p:nvPr/>
              </p:nvSpPr>
              <p:spPr>
                <a:xfrm>
                  <a:off x="3831993" y="1654629"/>
                  <a:ext cx="2036371" cy="432028"/>
                </a:xfrm>
                <a:prstGeom prst="rect">
                  <a:avLst/>
                </a:prstGeom>
                <a:solidFill>
                  <a:schemeClr val="bg1"/>
                </a:solidFill>
                <a:ln w="1270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rgbClr val="404040"/>
                      </a:solidFill>
                      <a:latin typeface="华文楷体" panose="02010600040101010101" pitchFamily="2" charset="-122"/>
                      <a:ea typeface="华文楷体" panose="02010600040101010101" pitchFamily="2" charset="-122"/>
                    </a:rPr>
                    <a:t>数据交换主控</a:t>
                  </a:r>
                  <a:endParaRPr kumimoji="1" lang="en-US" altLang="zh-CN" sz="1200" dirty="0">
                    <a:solidFill>
                      <a:srgbClr val="404040"/>
                    </a:solidFill>
                    <a:latin typeface="华文楷体" panose="02010600040101010101" pitchFamily="2" charset="-122"/>
                    <a:ea typeface="华文楷体" panose="02010600040101010101" pitchFamily="2" charset="-122"/>
                  </a:endParaRPr>
                </a:p>
                <a:p>
                  <a:pPr algn="ctr"/>
                  <a:r>
                    <a:rPr kumimoji="1" lang="en-US" altLang="zh-CN" sz="1200" dirty="0">
                      <a:solidFill>
                        <a:srgbClr val="404040"/>
                      </a:solidFill>
                      <a:latin typeface="华文楷体" panose="02010600040101010101" pitchFamily="2" charset="-122"/>
                      <a:ea typeface="华文楷体" panose="02010600040101010101" pitchFamily="2" charset="-122"/>
                    </a:rPr>
                    <a:t>API-</a:t>
                  </a:r>
                  <a:r>
                    <a:rPr kumimoji="1" lang="en-US" altLang="zh-CN" sz="1200" dirty="0" err="1">
                      <a:solidFill>
                        <a:srgbClr val="404040"/>
                      </a:solidFill>
                      <a:latin typeface="华文楷体" panose="02010600040101010101" pitchFamily="2" charset="-122"/>
                      <a:ea typeface="华文楷体" panose="02010600040101010101" pitchFamily="2" charset="-122"/>
                    </a:rPr>
                    <a:t>dataX</a:t>
                  </a:r>
                  <a:r>
                    <a:rPr kumimoji="1" lang="en-US" altLang="zh-CN" sz="1200" dirty="0">
                      <a:solidFill>
                        <a:srgbClr val="404040"/>
                      </a:solidFill>
                      <a:latin typeface="华文楷体" panose="02010600040101010101" pitchFamily="2" charset="-122"/>
                      <a:ea typeface="华文楷体" panose="02010600040101010101" pitchFamily="2" charset="-122"/>
                    </a:rPr>
                    <a:t>-informatic</a:t>
                  </a:r>
                  <a:endParaRPr kumimoji="1" lang="zh-CN" altLang="en-US" sz="1200" dirty="0">
                    <a:solidFill>
                      <a:srgbClr val="404040"/>
                    </a:solidFill>
                    <a:latin typeface="华文楷体" panose="02010600040101010101" pitchFamily="2" charset="-122"/>
                    <a:ea typeface="华文楷体" panose="02010600040101010101" pitchFamily="2" charset="-122"/>
                  </a:endParaRPr>
                </a:p>
              </p:txBody>
            </p:sp>
            <p:sp>
              <p:nvSpPr>
                <p:cNvPr id="176" name="矩形 175"/>
                <p:cNvSpPr/>
                <p:nvPr/>
              </p:nvSpPr>
              <p:spPr>
                <a:xfrm>
                  <a:off x="3831993" y="2253296"/>
                  <a:ext cx="2036371" cy="432028"/>
                </a:xfrm>
                <a:prstGeom prst="rect">
                  <a:avLst/>
                </a:prstGeom>
                <a:solidFill>
                  <a:schemeClr val="bg1"/>
                </a:solidFill>
                <a:ln w="1270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rgbClr val="404040"/>
                      </a:solidFill>
                      <a:latin typeface="华文楷体" panose="02010600040101010101" pitchFamily="2" charset="-122"/>
                      <a:ea typeface="华文楷体" panose="02010600040101010101" pitchFamily="2" charset="-122"/>
                    </a:rPr>
                    <a:t>数据交换配置台</a:t>
                  </a:r>
                  <a:endParaRPr kumimoji="1" lang="en-US" altLang="zh-CN" sz="1200" dirty="0">
                    <a:solidFill>
                      <a:srgbClr val="404040"/>
                    </a:solidFill>
                    <a:latin typeface="华文楷体" panose="02010600040101010101" pitchFamily="2" charset="-122"/>
                    <a:ea typeface="华文楷体" panose="02010600040101010101" pitchFamily="2" charset="-122"/>
                  </a:endParaRPr>
                </a:p>
                <a:p>
                  <a:pPr algn="ctr"/>
                  <a:r>
                    <a:rPr kumimoji="1" lang="en-US" altLang="zh-CN" sz="1100" dirty="0">
                      <a:solidFill>
                        <a:srgbClr val="404040"/>
                      </a:solidFill>
                      <a:latin typeface="华文楷体" panose="02010600040101010101" pitchFamily="2" charset="-122"/>
                      <a:ea typeface="华文楷体" panose="02010600040101010101" pitchFamily="2" charset="-122"/>
                    </a:rPr>
                    <a:t>web-Shell-</a:t>
                  </a:r>
                  <a:r>
                    <a:rPr kumimoji="1" lang="en-US" altLang="zh-CN" sz="1100" dirty="0" err="1">
                      <a:solidFill>
                        <a:srgbClr val="404040"/>
                      </a:solidFill>
                      <a:latin typeface="华文楷体" panose="02010600040101010101" pitchFamily="2" charset="-122"/>
                      <a:ea typeface="华文楷体" panose="02010600040101010101" pitchFamily="2" charset="-122"/>
                    </a:rPr>
                    <a:t>dataX</a:t>
                  </a:r>
                  <a:r>
                    <a:rPr kumimoji="1" lang="en-US" altLang="zh-CN" sz="1100" dirty="0">
                      <a:solidFill>
                        <a:srgbClr val="404040"/>
                      </a:solidFill>
                      <a:latin typeface="华文楷体" panose="02010600040101010101" pitchFamily="2" charset="-122"/>
                      <a:ea typeface="华文楷体" panose="02010600040101010101" pitchFamily="2" charset="-122"/>
                    </a:rPr>
                    <a:t>-</a:t>
                  </a:r>
                  <a:r>
                    <a:rPr kumimoji="1" lang="en-US" altLang="zh-CN" sz="1100" dirty="0" err="1">
                      <a:solidFill>
                        <a:srgbClr val="404040"/>
                      </a:solidFill>
                      <a:latin typeface="华文楷体" panose="02010600040101010101" pitchFamily="2" charset="-122"/>
                      <a:ea typeface="华文楷体" panose="02010600040101010101" pitchFamily="2" charset="-122"/>
                    </a:rPr>
                    <a:t>informtaic</a:t>
                  </a:r>
                  <a:endParaRPr kumimoji="1" lang="zh-CN" altLang="en-US" sz="1100" dirty="0">
                    <a:solidFill>
                      <a:srgbClr val="404040"/>
                    </a:solidFill>
                    <a:latin typeface="华文楷体" panose="02010600040101010101" pitchFamily="2" charset="-122"/>
                    <a:ea typeface="华文楷体" panose="02010600040101010101" pitchFamily="2" charset="-122"/>
                  </a:endParaRPr>
                </a:p>
              </p:txBody>
            </p:sp>
          </p:grpSp>
        </p:grpSp>
        <p:sp>
          <p:nvSpPr>
            <p:cNvPr id="172" name="文本框 171"/>
            <p:cNvSpPr txBox="1"/>
            <p:nvPr/>
          </p:nvSpPr>
          <p:spPr>
            <a:xfrm>
              <a:off x="2474022" y="4732006"/>
              <a:ext cx="1077296" cy="273344"/>
            </a:xfrm>
            <a:prstGeom prst="rect">
              <a:avLst/>
            </a:prstGeom>
            <a:noFill/>
          </p:spPr>
          <p:txBody>
            <a:bodyPr wrap="none" rtlCol="0">
              <a:spAutoFit/>
            </a:bodyPr>
            <a:lstStyle/>
            <a:p>
              <a:r>
                <a:rPr kumimoji="1" lang="zh-CN" altLang="en-US" sz="1100" dirty="0">
                  <a:solidFill>
                    <a:srgbClr val="404040"/>
                  </a:solidFill>
                  <a:latin typeface="华文楷体" panose="02010600040101010101" pitchFamily="2" charset="-122"/>
                  <a:ea typeface="华文楷体" panose="02010600040101010101" pitchFamily="2" charset="-122"/>
                </a:rPr>
                <a:t>交换主控服务</a:t>
              </a:r>
              <a:endParaRPr kumimoji="1" lang="zh-CN" altLang="en-US" sz="1100" dirty="0">
                <a:solidFill>
                  <a:srgbClr val="404040"/>
                </a:solidFill>
                <a:latin typeface="华文楷体" panose="02010600040101010101" pitchFamily="2" charset="-122"/>
                <a:ea typeface="华文楷体" panose="02010600040101010101" pitchFamily="2" charset="-122"/>
              </a:endParaRPr>
            </a:p>
          </p:txBody>
        </p:sp>
      </p:grpSp>
      <p:grpSp>
        <p:nvGrpSpPr>
          <p:cNvPr id="177" name="组合 176"/>
          <p:cNvGrpSpPr/>
          <p:nvPr/>
        </p:nvGrpSpPr>
        <p:grpSpPr>
          <a:xfrm>
            <a:off x="4267476" y="5073396"/>
            <a:ext cx="2095187" cy="1319977"/>
            <a:chOff x="1873111" y="3513564"/>
            <a:chExt cx="1869386" cy="1512670"/>
          </a:xfrm>
        </p:grpSpPr>
        <p:grpSp>
          <p:nvGrpSpPr>
            <p:cNvPr id="178" name="组合 177"/>
            <p:cNvGrpSpPr/>
            <p:nvPr/>
          </p:nvGrpSpPr>
          <p:grpSpPr>
            <a:xfrm>
              <a:off x="1873111" y="3513564"/>
              <a:ext cx="1869386" cy="1512670"/>
              <a:chOff x="3722034" y="1596754"/>
              <a:chExt cx="1869386" cy="1512670"/>
            </a:xfrm>
          </p:grpSpPr>
          <p:sp>
            <p:nvSpPr>
              <p:cNvPr id="180" name="矩形 179"/>
              <p:cNvSpPr/>
              <p:nvPr/>
            </p:nvSpPr>
            <p:spPr>
              <a:xfrm>
                <a:off x="3722034" y="1596754"/>
                <a:ext cx="1869386" cy="1512670"/>
              </a:xfrm>
              <a:prstGeom prst="rect">
                <a:avLst/>
              </a:prstGeom>
              <a:noFill/>
              <a:ln w="28575">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华文楷体" panose="02010600040101010101" pitchFamily="2" charset="-122"/>
                  <a:ea typeface="华文楷体" panose="02010600040101010101" pitchFamily="2" charset="-122"/>
                </a:endParaRPr>
              </a:p>
            </p:txBody>
          </p:sp>
          <p:grpSp>
            <p:nvGrpSpPr>
              <p:cNvPr id="181" name="组合 180"/>
              <p:cNvGrpSpPr/>
              <p:nvPr/>
            </p:nvGrpSpPr>
            <p:grpSpPr>
              <a:xfrm>
                <a:off x="3830990" y="1689354"/>
                <a:ext cx="1595571" cy="944444"/>
                <a:chOff x="3830990" y="1654629"/>
                <a:chExt cx="1595571" cy="944444"/>
              </a:xfrm>
            </p:grpSpPr>
            <p:sp>
              <p:nvSpPr>
                <p:cNvPr id="182" name="矩形 181"/>
                <p:cNvSpPr/>
                <p:nvPr/>
              </p:nvSpPr>
              <p:spPr>
                <a:xfrm>
                  <a:off x="3830990" y="1654629"/>
                  <a:ext cx="1595570" cy="432028"/>
                </a:xfrm>
                <a:prstGeom prst="rect">
                  <a:avLst/>
                </a:prstGeom>
                <a:solidFill>
                  <a:schemeClr val="bg1"/>
                </a:solid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rgbClr val="C00000"/>
                      </a:solidFill>
                      <a:latin typeface="华文楷体" panose="02010600040101010101" pitchFamily="2" charset="-122"/>
                      <a:ea typeface="华文楷体" panose="02010600040101010101" pitchFamily="2" charset="-122"/>
                    </a:rPr>
                    <a:t>元数据管理模块</a:t>
                  </a:r>
                  <a:endParaRPr kumimoji="1" lang="en-US" altLang="zh-CN" sz="1200" dirty="0">
                    <a:solidFill>
                      <a:srgbClr val="C00000"/>
                    </a:solidFill>
                    <a:latin typeface="华文楷体" panose="02010600040101010101" pitchFamily="2" charset="-122"/>
                    <a:ea typeface="华文楷体" panose="02010600040101010101" pitchFamily="2" charset="-122"/>
                  </a:endParaRPr>
                </a:p>
                <a:p>
                  <a:pPr algn="ctr"/>
                  <a:r>
                    <a:rPr kumimoji="1" lang="en-US" altLang="zh-CN" sz="900" dirty="0">
                      <a:solidFill>
                        <a:srgbClr val="C00000"/>
                      </a:solidFill>
                      <a:latin typeface="华文楷体" panose="02010600040101010101" pitchFamily="2" charset="-122"/>
                      <a:ea typeface="华文楷体" panose="02010600040101010101" pitchFamily="2" charset="-122"/>
                    </a:rPr>
                    <a:t>data-</a:t>
                  </a:r>
                  <a:r>
                    <a:rPr kumimoji="1" lang="en-US" altLang="zh-CN" sz="900" dirty="0" err="1">
                      <a:solidFill>
                        <a:srgbClr val="C00000"/>
                      </a:solidFill>
                      <a:latin typeface="华文楷体" panose="02010600040101010101" pitchFamily="2" charset="-122"/>
                      <a:ea typeface="华文楷体" panose="02010600040101010101" pitchFamily="2" charset="-122"/>
                    </a:rPr>
                    <a:t>Oushu</a:t>
                  </a:r>
                  <a:r>
                    <a:rPr kumimoji="1" lang="zh-CN" altLang="en-US" sz="900" dirty="0">
                      <a:solidFill>
                        <a:srgbClr val="C00000"/>
                      </a:solidFill>
                      <a:latin typeface="华文楷体" panose="02010600040101010101" pitchFamily="2" charset="-122"/>
                      <a:ea typeface="华文楷体" panose="02010600040101010101" pitchFamily="2" charset="-122"/>
                    </a:rPr>
                    <a:t> </a:t>
                  </a:r>
                  <a:r>
                    <a:rPr kumimoji="1" lang="en-US" altLang="zh-CN" sz="900" dirty="0" err="1">
                      <a:solidFill>
                        <a:srgbClr val="C00000"/>
                      </a:solidFill>
                      <a:latin typeface="华文楷体" panose="02010600040101010101" pitchFamily="2" charset="-122"/>
                      <a:ea typeface="华文楷体" panose="02010600040101010101" pitchFamily="2" charset="-122"/>
                    </a:rPr>
                    <a:t>mgm</a:t>
                  </a:r>
                  <a:endParaRPr kumimoji="1" lang="zh-CN" altLang="en-US" sz="900" dirty="0">
                    <a:solidFill>
                      <a:srgbClr val="C00000"/>
                    </a:solidFill>
                    <a:latin typeface="华文楷体" panose="02010600040101010101" pitchFamily="2" charset="-122"/>
                    <a:ea typeface="华文楷体" panose="02010600040101010101" pitchFamily="2" charset="-122"/>
                  </a:endParaRPr>
                </a:p>
              </p:txBody>
            </p:sp>
            <p:sp>
              <p:nvSpPr>
                <p:cNvPr id="183" name="矩形 182"/>
                <p:cNvSpPr/>
                <p:nvPr/>
              </p:nvSpPr>
              <p:spPr>
                <a:xfrm>
                  <a:off x="3830991" y="2167045"/>
                  <a:ext cx="1595570" cy="432028"/>
                </a:xfrm>
                <a:prstGeom prst="rect">
                  <a:avLst/>
                </a:prstGeom>
                <a:solidFill>
                  <a:schemeClr val="bg1"/>
                </a:solid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err="1">
                      <a:solidFill>
                        <a:srgbClr val="C00000"/>
                      </a:solidFill>
                      <a:latin typeface="华文楷体" panose="02010600040101010101" pitchFamily="2" charset="-122"/>
                      <a:ea typeface="华文楷体" panose="02010600040101010101" pitchFamily="2" charset="-122"/>
                    </a:rPr>
                    <a:t>OushuDB</a:t>
                  </a:r>
                  <a:r>
                    <a:rPr kumimoji="1" lang="zh-CN" altLang="en-US" sz="1200" dirty="0">
                      <a:solidFill>
                        <a:srgbClr val="C00000"/>
                      </a:solidFill>
                      <a:latin typeface="华文楷体" panose="02010600040101010101" pitchFamily="2" charset="-122"/>
                      <a:ea typeface="华文楷体" panose="02010600040101010101" pitchFamily="2" charset="-122"/>
                    </a:rPr>
                    <a:t>集群管理</a:t>
                  </a:r>
                  <a:r>
                    <a:rPr kumimoji="1" lang="en-US" altLang="zh-CN" sz="900" dirty="0" err="1">
                      <a:solidFill>
                        <a:srgbClr val="C00000"/>
                      </a:solidFill>
                      <a:latin typeface="华文楷体" panose="02010600040101010101" pitchFamily="2" charset="-122"/>
                      <a:ea typeface="华文楷体" panose="02010600040101010101" pitchFamily="2" charset="-122"/>
                    </a:rPr>
                    <a:t>Oushu</a:t>
                  </a:r>
                  <a:r>
                    <a:rPr kumimoji="1" lang="zh-CN" altLang="en-US" sz="900" dirty="0">
                      <a:solidFill>
                        <a:srgbClr val="C00000"/>
                      </a:solidFill>
                      <a:latin typeface="华文楷体" panose="02010600040101010101" pitchFamily="2" charset="-122"/>
                      <a:ea typeface="华文楷体" panose="02010600040101010101" pitchFamily="2" charset="-122"/>
                    </a:rPr>
                    <a:t> </a:t>
                  </a:r>
                  <a:r>
                    <a:rPr kumimoji="1" lang="en-US" altLang="zh-CN" sz="900" dirty="0">
                      <a:solidFill>
                        <a:srgbClr val="C00000"/>
                      </a:solidFill>
                      <a:latin typeface="华文楷体" panose="02010600040101010101" pitchFamily="2" charset="-122"/>
                      <a:ea typeface="华文楷体" panose="02010600040101010101" pitchFamily="2" charset="-122"/>
                    </a:rPr>
                    <a:t>lava-web-data</a:t>
                  </a:r>
                  <a:endParaRPr kumimoji="1" lang="zh-CN" altLang="en-US" sz="900" dirty="0">
                    <a:solidFill>
                      <a:srgbClr val="C00000"/>
                    </a:solidFill>
                    <a:latin typeface="华文楷体" panose="02010600040101010101" pitchFamily="2" charset="-122"/>
                    <a:ea typeface="华文楷体" panose="02010600040101010101" pitchFamily="2" charset="-122"/>
                  </a:endParaRPr>
                </a:p>
              </p:txBody>
            </p:sp>
          </p:grpSp>
        </p:grpSp>
        <p:sp>
          <p:nvSpPr>
            <p:cNvPr id="179" name="文本框 178"/>
            <p:cNvSpPr txBox="1"/>
            <p:nvPr/>
          </p:nvSpPr>
          <p:spPr>
            <a:xfrm>
              <a:off x="2092672" y="4616728"/>
              <a:ext cx="1474119" cy="299800"/>
            </a:xfrm>
            <a:prstGeom prst="rect">
              <a:avLst/>
            </a:prstGeom>
            <a:noFill/>
          </p:spPr>
          <p:txBody>
            <a:bodyPr wrap="square" rtlCol="0">
              <a:spAutoFit/>
            </a:bodyPr>
            <a:lstStyle/>
            <a:p>
              <a:r>
                <a:rPr kumimoji="1" lang="zh-CN" altLang="en-US" sz="1100" dirty="0">
                  <a:solidFill>
                    <a:srgbClr val="C00000"/>
                  </a:solidFill>
                  <a:latin typeface="华文楷体" panose="02010600040101010101" pitchFamily="2" charset="-122"/>
                  <a:ea typeface="华文楷体" panose="02010600040101010101" pitchFamily="2" charset="-122"/>
                </a:rPr>
                <a:t>元数据与集群状态服务</a:t>
              </a:r>
              <a:endParaRPr kumimoji="1" lang="zh-CN" altLang="en-US" sz="1100" dirty="0">
                <a:solidFill>
                  <a:srgbClr val="C00000"/>
                </a:solidFill>
                <a:latin typeface="华文楷体" panose="02010600040101010101" pitchFamily="2" charset="-122"/>
                <a:ea typeface="华文楷体" panose="02010600040101010101" pitchFamily="2" charset="-122"/>
              </a:endParaRPr>
            </a:p>
          </p:txBody>
        </p:sp>
      </p:grpSp>
      <p:sp>
        <p:nvSpPr>
          <p:cNvPr id="184" name="矩形 183"/>
          <p:cNvSpPr/>
          <p:nvPr/>
        </p:nvSpPr>
        <p:spPr>
          <a:xfrm>
            <a:off x="400724" y="1353713"/>
            <a:ext cx="2226032" cy="5149343"/>
          </a:xfrm>
          <a:prstGeom prst="rect">
            <a:avLst/>
          </a:prstGeom>
          <a:noFill/>
          <a:ln>
            <a:solidFill>
              <a:srgbClr val="40404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华文楷体" panose="02010600040101010101" pitchFamily="2" charset="-122"/>
              <a:ea typeface="华文楷体" panose="02010600040101010101" pitchFamily="2" charset="-122"/>
            </a:endParaRPr>
          </a:p>
        </p:txBody>
      </p:sp>
      <p:grpSp>
        <p:nvGrpSpPr>
          <p:cNvPr id="185" name="组合 184"/>
          <p:cNvGrpSpPr/>
          <p:nvPr/>
        </p:nvGrpSpPr>
        <p:grpSpPr>
          <a:xfrm>
            <a:off x="723662" y="1474539"/>
            <a:ext cx="1760181" cy="2809143"/>
            <a:chOff x="1873111" y="3579672"/>
            <a:chExt cx="1839129" cy="2935139"/>
          </a:xfrm>
        </p:grpSpPr>
        <p:grpSp>
          <p:nvGrpSpPr>
            <p:cNvPr id="186" name="组合 185"/>
            <p:cNvGrpSpPr/>
            <p:nvPr/>
          </p:nvGrpSpPr>
          <p:grpSpPr>
            <a:xfrm>
              <a:off x="1873111" y="3579672"/>
              <a:ext cx="1839129" cy="2935139"/>
              <a:chOff x="3722034" y="1662862"/>
              <a:chExt cx="1839129" cy="2935139"/>
            </a:xfrm>
          </p:grpSpPr>
          <p:sp>
            <p:nvSpPr>
              <p:cNvPr id="188" name="矩形 187"/>
              <p:cNvSpPr/>
              <p:nvPr/>
            </p:nvSpPr>
            <p:spPr>
              <a:xfrm>
                <a:off x="3722034" y="1662862"/>
                <a:ext cx="1839129" cy="2935139"/>
              </a:xfrm>
              <a:prstGeom prst="rect">
                <a:avLst/>
              </a:prstGeom>
              <a:noFill/>
              <a:ln w="28575">
                <a:solidFill>
                  <a:srgbClr val="40404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华文楷体" panose="02010600040101010101" pitchFamily="2" charset="-122"/>
                  <a:ea typeface="华文楷体" panose="02010600040101010101" pitchFamily="2" charset="-122"/>
                </a:endParaRPr>
              </a:p>
            </p:txBody>
          </p:sp>
          <p:grpSp>
            <p:nvGrpSpPr>
              <p:cNvPr id="189" name="组合 188"/>
              <p:cNvGrpSpPr/>
              <p:nvPr/>
            </p:nvGrpSpPr>
            <p:grpSpPr>
              <a:xfrm>
                <a:off x="3814063" y="1934995"/>
                <a:ext cx="1664139" cy="2538702"/>
                <a:chOff x="3814063" y="1900270"/>
                <a:chExt cx="1664139" cy="2538702"/>
              </a:xfrm>
            </p:grpSpPr>
            <p:sp>
              <p:nvSpPr>
                <p:cNvPr id="190" name="矩形 189"/>
                <p:cNvSpPr/>
                <p:nvPr/>
              </p:nvSpPr>
              <p:spPr>
                <a:xfrm>
                  <a:off x="3814063" y="1900270"/>
                  <a:ext cx="1664139" cy="360000"/>
                </a:xfrm>
                <a:prstGeom prst="rect">
                  <a:avLst/>
                </a:prstGeom>
                <a:solidFill>
                  <a:schemeClr val="bg1">
                    <a:lumMod val="95000"/>
                  </a:schemeClr>
                </a:solidFill>
                <a:ln w="1270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solidFill>
                        <a:srgbClr val="404040"/>
                      </a:solidFill>
                      <a:latin typeface="华文楷体" panose="02010600040101010101" pitchFamily="2" charset="-122"/>
                      <a:ea typeface="华文楷体" panose="02010600040101010101" pitchFamily="2" charset="-122"/>
                    </a:rPr>
                    <a:t>XXXX</a:t>
                  </a:r>
                  <a:r>
                    <a:rPr kumimoji="1" lang="zh-CN" altLang="en-US" sz="1200" dirty="0">
                      <a:solidFill>
                        <a:srgbClr val="404040"/>
                      </a:solidFill>
                      <a:latin typeface="华文楷体" panose="02010600040101010101" pitchFamily="2" charset="-122"/>
                      <a:ea typeface="华文楷体" panose="02010600040101010101" pitchFamily="2" charset="-122"/>
                    </a:rPr>
                    <a:t>（批量）</a:t>
                  </a:r>
                  <a:endParaRPr kumimoji="1" lang="en-US" altLang="zh-CN" sz="1200" dirty="0">
                    <a:solidFill>
                      <a:srgbClr val="404040"/>
                    </a:solidFill>
                    <a:latin typeface="华文楷体" panose="02010600040101010101" pitchFamily="2" charset="-122"/>
                    <a:ea typeface="华文楷体" panose="02010600040101010101" pitchFamily="2" charset="-122"/>
                  </a:endParaRPr>
                </a:p>
              </p:txBody>
            </p:sp>
            <p:sp>
              <p:nvSpPr>
                <p:cNvPr id="191" name="矩形 190"/>
                <p:cNvSpPr/>
                <p:nvPr/>
              </p:nvSpPr>
              <p:spPr>
                <a:xfrm>
                  <a:off x="3814063" y="2336010"/>
                  <a:ext cx="1664139" cy="360000"/>
                </a:xfrm>
                <a:prstGeom prst="rect">
                  <a:avLst/>
                </a:prstGeom>
                <a:solidFill>
                  <a:schemeClr val="bg1">
                    <a:lumMod val="95000"/>
                  </a:schemeClr>
                </a:solidFill>
                <a:ln w="1270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solidFill>
                        <a:srgbClr val="404040"/>
                      </a:solidFill>
                      <a:latin typeface="华文楷体" panose="02010600040101010101" pitchFamily="2" charset="-122"/>
                      <a:ea typeface="华文楷体" panose="02010600040101010101" pitchFamily="2" charset="-122"/>
                    </a:rPr>
                    <a:t>XXXX</a:t>
                  </a:r>
                  <a:r>
                    <a:rPr kumimoji="1" lang="zh-CN" altLang="en-US" sz="1200" dirty="0">
                      <a:solidFill>
                        <a:srgbClr val="404040"/>
                      </a:solidFill>
                      <a:latin typeface="华文楷体" panose="02010600040101010101" pitchFamily="2" charset="-122"/>
                      <a:ea typeface="华文楷体" panose="02010600040101010101" pitchFamily="2" charset="-122"/>
                    </a:rPr>
                    <a:t>（批量）</a:t>
                  </a:r>
                  <a:endParaRPr kumimoji="1" lang="en-US" altLang="zh-CN" sz="1200" dirty="0">
                    <a:solidFill>
                      <a:srgbClr val="404040"/>
                    </a:solidFill>
                    <a:latin typeface="华文楷体" panose="02010600040101010101" pitchFamily="2" charset="-122"/>
                    <a:ea typeface="华文楷体" panose="02010600040101010101" pitchFamily="2" charset="-122"/>
                  </a:endParaRPr>
                </a:p>
              </p:txBody>
            </p:sp>
            <p:sp>
              <p:nvSpPr>
                <p:cNvPr id="192" name="矩形 191"/>
                <p:cNvSpPr/>
                <p:nvPr/>
              </p:nvSpPr>
              <p:spPr>
                <a:xfrm>
                  <a:off x="3814063" y="2771750"/>
                  <a:ext cx="1664139" cy="360000"/>
                </a:xfrm>
                <a:prstGeom prst="rect">
                  <a:avLst/>
                </a:prstGeom>
                <a:solidFill>
                  <a:schemeClr val="bg1">
                    <a:lumMod val="95000"/>
                  </a:schemeClr>
                </a:solidFill>
                <a:ln w="1270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solidFill>
                        <a:srgbClr val="404040"/>
                      </a:solidFill>
                      <a:latin typeface="华文楷体" panose="02010600040101010101" pitchFamily="2" charset="-122"/>
                      <a:ea typeface="华文楷体" panose="02010600040101010101" pitchFamily="2" charset="-122"/>
                    </a:rPr>
                    <a:t>XXXX</a:t>
                  </a:r>
                  <a:r>
                    <a:rPr kumimoji="1" lang="zh-CN" altLang="en-US" sz="1200" dirty="0">
                      <a:solidFill>
                        <a:srgbClr val="404040"/>
                      </a:solidFill>
                      <a:latin typeface="华文楷体" panose="02010600040101010101" pitchFamily="2" charset="-122"/>
                      <a:ea typeface="华文楷体" panose="02010600040101010101" pitchFamily="2" charset="-122"/>
                    </a:rPr>
                    <a:t>（批量）</a:t>
                  </a:r>
                  <a:endParaRPr kumimoji="1" lang="en-US" altLang="zh-CN" sz="1200" dirty="0">
                    <a:solidFill>
                      <a:srgbClr val="404040"/>
                    </a:solidFill>
                    <a:latin typeface="华文楷体" panose="02010600040101010101" pitchFamily="2" charset="-122"/>
                    <a:ea typeface="华文楷体" panose="02010600040101010101" pitchFamily="2" charset="-122"/>
                  </a:endParaRPr>
                </a:p>
              </p:txBody>
            </p:sp>
            <p:sp>
              <p:nvSpPr>
                <p:cNvPr id="193" name="矩形 192"/>
                <p:cNvSpPr/>
                <p:nvPr/>
              </p:nvSpPr>
              <p:spPr>
                <a:xfrm>
                  <a:off x="3814063" y="3207490"/>
                  <a:ext cx="1664139" cy="360000"/>
                </a:xfrm>
                <a:prstGeom prst="rect">
                  <a:avLst/>
                </a:prstGeom>
                <a:solidFill>
                  <a:schemeClr val="bg1">
                    <a:lumMod val="95000"/>
                  </a:schemeClr>
                </a:solidFill>
                <a:ln w="1270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solidFill>
                        <a:srgbClr val="404040"/>
                      </a:solidFill>
                      <a:latin typeface="华文楷体" panose="02010600040101010101" pitchFamily="2" charset="-122"/>
                      <a:ea typeface="华文楷体" panose="02010600040101010101" pitchFamily="2" charset="-122"/>
                    </a:rPr>
                    <a:t>XXXX</a:t>
                  </a:r>
                  <a:r>
                    <a:rPr kumimoji="1" lang="zh-CN" altLang="en-US" sz="1200" dirty="0">
                      <a:solidFill>
                        <a:srgbClr val="404040"/>
                      </a:solidFill>
                      <a:latin typeface="华文楷体" panose="02010600040101010101" pitchFamily="2" charset="-122"/>
                      <a:ea typeface="华文楷体" panose="02010600040101010101" pitchFamily="2" charset="-122"/>
                    </a:rPr>
                    <a:t>（批量）</a:t>
                  </a:r>
                  <a:endParaRPr kumimoji="1" lang="en-US" altLang="zh-CN" sz="1200" dirty="0">
                    <a:solidFill>
                      <a:srgbClr val="404040"/>
                    </a:solidFill>
                    <a:latin typeface="华文楷体" panose="02010600040101010101" pitchFamily="2" charset="-122"/>
                    <a:ea typeface="华文楷体" panose="02010600040101010101" pitchFamily="2" charset="-122"/>
                  </a:endParaRPr>
                </a:p>
              </p:txBody>
            </p:sp>
            <p:sp>
              <p:nvSpPr>
                <p:cNvPr id="194" name="矩形 193"/>
                <p:cNvSpPr/>
                <p:nvPr/>
              </p:nvSpPr>
              <p:spPr>
                <a:xfrm>
                  <a:off x="3814063" y="3643230"/>
                  <a:ext cx="1664139" cy="360000"/>
                </a:xfrm>
                <a:prstGeom prst="rect">
                  <a:avLst/>
                </a:prstGeom>
                <a:solidFill>
                  <a:schemeClr val="bg1">
                    <a:lumMod val="95000"/>
                  </a:schemeClr>
                </a:solidFill>
                <a:ln w="1270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solidFill>
                        <a:srgbClr val="404040"/>
                      </a:solidFill>
                      <a:latin typeface="华文楷体" panose="02010600040101010101" pitchFamily="2" charset="-122"/>
                      <a:ea typeface="华文楷体" panose="02010600040101010101" pitchFamily="2" charset="-122"/>
                    </a:rPr>
                    <a:t>XXXX</a:t>
                  </a:r>
                  <a:r>
                    <a:rPr kumimoji="1" lang="zh-CN" altLang="en-US" sz="1200" dirty="0">
                      <a:solidFill>
                        <a:srgbClr val="404040"/>
                      </a:solidFill>
                      <a:latin typeface="华文楷体" panose="02010600040101010101" pitchFamily="2" charset="-122"/>
                      <a:ea typeface="华文楷体" panose="02010600040101010101" pitchFamily="2" charset="-122"/>
                    </a:rPr>
                    <a:t>（批量）</a:t>
                  </a:r>
                  <a:endParaRPr kumimoji="1" lang="en-US" altLang="zh-CN" sz="1200" dirty="0">
                    <a:solidFill>
                      <a:srgbClr val="404040"/>
                    </a:solidFill>
                    <a:latin typeface="华文楷体" panose="02010600040101010101" pitchFamily="2" charset="-122"/>
                    <a:ea typeface="华文楷体" panose="02010600040101010101" pitchFamily="2" charset="-122"/>
                  </a:endParaRPr>
                </a:p>
              </p:txBody>
            </p:sp>
            <p:sp>
              <p:nvSpPr>
                <p:cNvPr id="195" name="矩形 194"/>
                <p:cNvSpPr/>
                <p:nvPr/>
              </p:nvSpPr>
              <p:spPr>
                <a:xfrm>
                  <a:off x="3814063" y="4078972"/>
                  <a:ext cx="1664139" cy="360000"/>
                </a:xfrm>
                <a:prstGeom prst="rect">
                  <a:avLst/>
                </a:prstGeom>
                <a:solidFill>
                  <a:schemeClr val="bg1">
                    <a:lumMod val="95000"/>
                  </a:schemeClr>
                </a:solidFill>
                <a:ln w="1270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solidFill>
                        <a:srgbClr val="404040"/>
                      </a:solidFill>
                      <a:latin typeface="华文楷体" panose="02010600040101010101" pitchFamily="2" charset="-122"/>
                      <a:ea typeface="华文楷体" panose="02010600040101010101" pitchFamily="2" charset="-122"/>
                    </a:rPr>
                    <a:t>XXXX</a:t>
                  </a:r>
                  <a:r>
                    <a:rPr kumimoji="1" lang="zh-CN" altLang="en-US" sz="1200" dirty="0">
                      <a:solidFill>
                        <a:srgbClr val="404040"/>
                      </a:solidFill>
                      <a:latin typeface="华文楷体" panose="02010600040101010101" pitchFamily="2" charset="-122"/>
                      <a:ea typeface="华文楷体" panose="02010600040101010101" pitchFamily="2" charset="-122"/>
                    </a:rPr>
                    <a:t>（批量）</a:t>
                  </a:r>
                  <a:endParaRPr kumimoji="1" lang="en-US" altLang="zh-CN" sz="1200" dirty="0">
                    <a:solidFill>
                      <a:srgbClr val="404040"/>
                    </a:solidFill>
                    <a:latin typeface="华文楷体" panose="02010600040101010101" pitchFamily="2" charset="-122"/>
                    <a:ea typeface="华文楷体" panose="02010600040101010101" pitchFamily="2" charset="-122"/>
                  </a:endParaRPr>
                </a:p>
              </p:txBody>
            </p:sp>
          </p:grpSp>
        </p:grpSp>
        <p:sp>
          <p:nvSpPr>
            <p:cNvPr id="187" name="文本框 186"/>
            <p:cNvSpPr txBox="1"/>
            <p:nvPr/>
          </p:nvSpPr>
          <p:spPr>
            <a:xfrm>
              <a:off x="1873111" y="3579672"/>
              <a:ext cx="1819724" cy="289423"/>
            </a:xfrm>
            <a:prstGeom prst="rect">
              <a:avLst/>
            </a:prstGeom>
            <a:noFill/>
          </p:spPr>
          <p:txBody>
            <a:bodyPr wrap="square" rtlCol="0">
              <a:spAutoFit/>
            </a:bodyPr>
            <a:lstStyle/>
            <a:p>
              <a:pPr algn="ctr"/>
              <a:r>
                <a:rPr kumimoji="1" lang="zh-CN" altLang="en-US" sz="1200" dirty="0">
                  <a:solidFill>
                    <a:srgbClr val="404040"/>
                  </a:solidFill>
                  <a:latin typeface="华文楷体" panose="02010600040101010101" pitchFamily="2" charset="-122"/>
                  <a:ea typeface="华文楷体" panose="02010600040101010101" pitchFamily="2" charset="-122"/>
                </a:rPr>
                <a:t>原仓、湖交集</a:t>
              </a:r>
              <a:r>
                <a:rPr kumimoji="1" lang="en-US" altLang="zh-CN" sz="1200" dirty="0">
                  <a:solidFill>
                    <a:srgbClr val="404040"/>
                  </a:solidFill>
                  <a:latin typeface="华文楷体" panose="02010600040101010101" pitchFamily="2" charset="-122"/>
                  <a:ea typeface="华文楷体" panose="02010600040101010101" pitchFamily="2" charset="-122"/>
                </a:rPr>
                <a:t>80+</a:t>
              </a:r>
              <a:r>
                <a:rPr kumimoji="1" lang="zh-CN" altLang="en-US" sz="1200" dirty="0">
                  <a:solidFill>
                    <a:srgbClr val="404040"/>
                  </a:solidFill>
                  <a:latin typeface="华文楷体" panose="02010600040101010101" pitchFamily="2" charset="-122"/>
                  <a:ea typeface="华文楷体" panose="02010600040101010101" pitchFamily="2" charset="-122"/>
                </a:rPr>
                <a:t>系统</a:t>
              </a:r>
              <a:endParaRPr kumimoji="1" lang="zh-CN" altLang="en-US" sz="1200" dirty="0">
                <a:solidFill>
                  <a:srgbClr val="404040"/>
                </a:solidFill>
                <a:latin typeface="华文楷体" panose="02010600040101010101" pitchFamily="2" charset="-122"/>
                <a:ea typeface="华文楷体" panose="02010600040101010101" pitchFamily="2" charset="-122"/>
              </a:endParaRPr>
            </a:p>
          </p:txBody>
        </p:sp>
      </p:grpSp>
      <p:grpSp>
        <p:nvGrpSpPr>
          <p:cNvPr id="196" name="组合 195"/>
          <p:cNvGrpSpPr/>
          <p:nvPr/>
        </p:nvGrpSpPr>
        <p:grpSpPr>
          <a:xfrm>
            <a:off x="723662" y="4359194"/>
            <a:ext cx="1760181" cy="1142058"/>
            <a:chOff x="3722034" y="1662862"/>
            <a:chExt cx="1839129" cy="1193282"/>
          </a:xfrm>
        </p:grpSpPr>
        <p:sp>
          <p:nvSpPr>
            <p:cNvPr id="197" name="矩形 196"/>
            <p:cNvSpPr/>
            <p:nvPr/>
          </p:nvSpPr>
          <p:spPr>
            <a:xfrm>
              <a:off x="3722034" y="1662862"/>
              <a:ext cx="1839129" cy="1193282"/>
            </a:xfrm>
            <a:prstGeom prst="rect">
              <a:avLst/>
            </a:prstGeom>
            <a:noFill/>
            <a:ln w="28575">
              <a:solidFill>
                <a:srgbClr val="40404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华文楷体" panose="02010600040101010101" pitchFamily="2" charset="-122"/>
                <a:ea typeface="华文楷体" panose="02010600040101010101" pitchFamily="2" charset="-122"/>
              </a:endParaRPr>
            </a:p>
          </p:txBody>
        </p:sp>
        <p:grpSp>
          <p:nvGrpSpPr>
            <p:cNvPr id="198" name="组合 197"/>
            <p:cNvGrpSpPr/>
            <p:nvPr/>
          </p:nvGrpSpPr>
          <p:grpSpPr>
            <a:xfrm>
              <a:off x="3814063" y="1934996"/>
              <a:ext cx="1664139" cy="788830"/>
              <a:chOff x="3814063" y="1900271"/>
              <a:chExt cx="1664139" cy="788830"/>
            </a:xfrm>
          </p:grpSpPr>
          <p:sp>
            <p:nvSpPr>
              <p:cNvPr id="199" name="矩形 198"/>
              <p:cNvSpPr/>
              <p:nvPr/>
            </p:nvSpPr>
            <p:spPr>
              <a:xfrm>
                <a:off x="3814063" y="1900271"/>
                <a:ext cx="1664139" cy="360000"/>
              </a:xfrm>
              <a:prstGeom prst="rect">
                <a:avLst/>
              </a:prstGeom>
              <a:solidFill>
                <a:schemeClr val="bg1">
                  <a:lumMod val="95000"/>
                </a:schemeClr>
              </a:solidFill>
              <a:ln w="1270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solidFill>
                      <a:srgbClr val="404040"/>
                    </a:solidFill>
                    <a:latin typeface="华文楷体" panose="02010600040101010101" pitchFamily="2" charset="-122"/>
                    <a:ea typeface="华文楷体" panose="02010600040101010101" pitchFamily="2" charset="-122"/>
                  </a:rPr>
                  <a:t>XXXX</a:t>
                </a:r>
                <a:r>
                  <a:rPr kumimoji="1" lang="zh-CN" altLang="en-US" sz="1200" dirty="0">
                    <a:solidFill>
                      <a:srgbClr val="404040"/>
                    </a:solidFill>
                    <a:latin typeface="华文楷体" panose="02010600040101010101" pitchFamily="2" charset="-122"/>
                    <a:ea typeface="华文楷体" panose="02010600040101010101" pitchFamily="2" charset="-122"/>
                  </a:rPr>
                  <a:t>（批量）</a:t>
                </a:r>
                <a:endParaRPr kumimoji="1" lang="en-US" altLang="zh-CN" sz="1200" dirty="0">
                  <a:solidFill>
                    <a:srgbClr val="404040"/>
                  </a:solidFill>
                  <a:latin typeface="华文楷体" panose="02010600040101010101" pitchFamily="2" charset="-122"/>
                  <a:ea typeface="华文楷体" panose="02010600040101010101" pitchFamily="2" charset="-122"/>
                </a:endParaRPr>
              </a:p>
            </p:txBody>
          </p:sp>
          <p:sp>
            <p:nvSpPr>
              <p:cNvPr id="200" name="矩形 199"/>
              <p:cNvSpPr/>
              <p:nvPr/>
            </p:nvSpPr>
            <p:spPr>
              <a:xfrm>
                <a:off x="3814063" y="2329101"/>
                <a:ext cx="1664139" cy="360000"/>
              </a:xfrm>
              <a:prstGeom prst="rect">
                <a:avLst/>
              </a:prstGeom>
              <a:solidFill>
                <a:schemeClr val="bg1">
                  <a:lumMod val="95000"/>
                </a:schemeClr>
              </a:solidFill>
              <a:ln w="1270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solidFill>
                      <a:srgbClr val="404040"/>
                    </a:solidFill>
                    <a:latin typeface="华文楷体" panose="02010600040101010101" pitchFamily="2" charset="-122"/>
                    <a:ea typeface="华文楷体" panose="02010600040101010101" pitchFamily="2" charset="-122"/>
                  </a:rPr>
                  <a:t>XXXX</a:t>
                </a:r>
                <a:r>
                  <a:rPr kumimoji="1" lang="zh-CN" altLang="en-US" sz="1200" dirty="0">
                    <a:solidFill>
                      <a:srgbClr val="404040"/>
                    </a:solidFill>
                    <a:latin typeface="华文楷体" panose="02010600040101010101" pitchFamily="2" charset="-122"/>
                    <a:ea typeface="华文楷体" panose="02010600040101010101" pitchFamily="2" charset="-122"/>
                  </a:rPr>
                  <a:t>（批量）</a:t>
                </a:r>
                <a:endParaRPr kumimoji="1" lang="en-US" altLang="zh-CN" sz="1200" dirty="0">
                  <a:solidFill>
                    <a:srgbClr val="404040"/>
                  </a:solidFill>
                  <a:latin typeface="华文楷体" panose="02010600040101010101" pitchFamily="2" charset="-122"/>
                  <a:ea typeface="华文楷体" panose="02010600040101010101" pitchFamily="2" charset="-122"/>
                </a:endParaRPr>
              </a:p>
            </p:txBody>
          </p:sp>
        </p:grpSp>
      </p:grpSp>
      <p:grpSp>
        <p:nvGrpSpPr>
          <p:cNvPr id="201" name="组合 200"/>
          <p:cNvGrpSpPr/>
          <p:nvPr/>
        </p:nvGrpSpPr>
        <p:grpSpPr>
          <a:xfrm>
            <a:off x="723662" y="5575080"/>
            <a:ext cx="1760181" cy="703577"/>
            <a:chOff x="1873111" y="3579672"/>
            <a:chExt cx="1839129" cy="735134"/>
          </a:xfrm>
        </p:grpSpPr>
        <p:grpSp>
          <p:nvGrpSpPr>
            <p:cNvPr id="202" name="组合 201"/>
            <p:cNvGrpSpPr/>
            <p:nvPr/>
          </p:nvGrpSpPr>
          <p:grpSpPr>
            <a:xfrm>
              <a:off x="1873111" y="3579672"/>
              <a:ext cx="1839129" cy="735134"/>
              <a:chOff x="3722034" y="1662862"/>
              <a:chExt cx="1839129" cy="735134"/>
            </a:xfrm>
          </p:grpSpPr>
          <p:sp>
            <p:nvSpPr>
              <p:cNvPr id="204" name="矩形 203"/>
              <p:cNvSpPr/>
              <p:nvPr/>
            </p:nvSpPr>
            <p:spPr>
              <a:xfrm>
                <a:off x="3722034" y="1662862"/>
                <a:ext cx="1839129" cy="735134"/>
              </a:xfrm>
              <a:prstGeom prst="rect">
                <a:avLst/>
              </a:prstGeom>
              <a:noFill/>
              <a:ln w="28575">
                <a:solidFill>
                  <a:srgbClr val="40404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华文楷体" panose="02010600040101010101" pitchFamily="2" charset="-122"/>
                  <a:ea typeface="华文楷体" panose="02010600040101010101" pitchFamily="2" charset="-122"/>
                </a:endParaRPr>
              </a:p>
            </p:txBody>
          </p:sp>
          <p:sp>
            <p:nvSpPr>
              <p:cNvPr id="205" name="矩形 204"/>
              <p:cNvSpPr/>
              <p:nvPr/>
            </p:nvSpPr>
            <p:spPr>
              <a:xfrm>
                <a:off x="3814063" y="1934996"/>
                <a:ext cx="1664139" cy="360000"/>
              </a:xfrm>
              <a:prstGeom prst="rect">
                <a:avLst/>
              </a:prstGeom>
              <a:solidFill>
                <a:schemeClr val="bg1">
                  <a:lumMod val="95000"/>
                </a:schemeClr>
              </a:solidFill>
              <a:ln w="1270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solidFill>
                      <a:srgbClr val="404040"/>
                    </a:solidFill>
                    <a:latin typeface="华文楷体" panose="02010600040101010101" pitchFamily="2" charset="-122"/>
                    <a:ea typeface="华文楷体" panose="02010600040101010101" pitchFamily="2" charset="-122"/>
                  </a:rPr>
                  <a:t>XXXX</a:t>
                </a:r>
                <a:r>
                  <a:rPr kumimoji="1" lang="zh-CN" altLang="en-US" sz="1200" dirty="0">
                    <a:solidFill>
                      <a:srgbClr val="404040"/>
                    </a:solidFill>
                    <a:latin typeface="华文楷体" panose="02010600040101010101" pitchFamily="2" charset="-122"/>
                    <a:ea typeface="华文楷体" panose="02010600040101010101" pitchFamily="2" charset="-122"/>
                  </a:rPr>
                  <a:t>（批量）</a:t>
                </a:r>
                <a:endParaRPr kumimoji="1" lang="en-US" altLang="zh-CN" sz="1200" dirty="0">
                  <a:solidFill>
                    <a:srgbClr val="404040"/>
                  </a:solidFill>
                  <a:latin typeface="华文楷体" panose="02010600040101010101" pitchFamily="2" charset="-122"/>
                  <a:ea typeface="华文楷体" panose="02010600040101010101" pitchFamily="2" charset="-122"/>
                </a:endParaRPr>
              </a:p>
            </p:txBody>
          </p:sp>
        </p:grpSp>
        <p:sp>
          <p:nvSpPr>
            <p:cNvPr id="203" name="文本框 202"/>
            <p:cNvSpPr txBox="1"/>
            <p:nvPr/>
          </p:nvSpPr>
          <p:spPr>
            <a:xfrm>
              <a:off x="2381329" y="3579672"/>
              <a:ext cx="836111" cy="289423"/>
            </a:xfrm>
            <a:prstGeom prst="rect">
              <a:avLst/>
            </a:prstGeom>
            <a:noFill/>
          </p:spPr>
          <p:txBody>
            <a:bodyPr wrap="none" rtlCol="0">
              <a:spAutoFit/>
            </a:bodyPr>
            <a:lstStyle/>
            <a:p>
              <a:pPr algn="ctr"/>
              <a:r>
                <a:rPr kumimoji="1" lang="zh-CN" altLang="en-US" sz="1200" dirty="0">
                  <a:solidFill>
                    <a:srgbClr val="404040"/>
                  </a:solidFill>
                  <a:latin typeface="华文楷体" panose="02010600040101010101" pitchFamily="2" charset="-122"/>
                  <a:ea typeface="华文楷体" panose="02010600040101010101" pitchFamily="2" charset="-122"/>
                </a:rPr>
                <a:t>其它系统</a:t>
              </a:r>
              <a:endParaRPr kumimoji="1" lang="zh-CN" altLang="en-US" sz="1200" dirty="0">
                <a:solidFill>
                  <a:srgbClr val="404040"/>
                </a:solidFill>
                <a:latin typeface="华文楷体" panose="02010600040101010101" pitchFamily="2" charset="-122"/>
                <a:ea typeface="华文楷体" panose="02010600040101010101" pitchFamily="2" charset="-122"/>
              </a:endParaRPr>
            </a:p>
          </p:txBody>
        </p:sp>
      </p:grpSp>
      <p:sp>
        <p:nvSpPr>
          <p:cNvPr id="206" name="文本框 205"/>
          <p:cNvSpPr txBox="1"/>
          <p:nvPr/>
        </p:nvSpPr>
        <p:spPr>
          <a:xfrm>
            <a:off x="340636" y="3315318"/>
            <a:ext cx="461665" cy="1246495"/>
          </a:xfrm>
          <a:prstGeom prst="rect">
            <a:avLst/>
          </a:prstGeom>
          <a:noFill/>
        </p:spPr>
        <p:txBody>
          <a:bodyPr vert="eaVert" wrap="none" rtlCol="0">
            <a:spAutoFit/>
          </a:bodyPr>
          <a:lstStyle/>
          <a:p>
            <a:r>
              <a:rPr kumimoji="1" lang="zh-CN" altLang="en-US" dirty="0">
                <a:solidFill>
                  <a:srgbClr val="404040"/>
                </a:solidFill>
                <a:latin typeface="华文楷体" panose="02010600040101010101" pitchFamily="2" charset="-122"/>
                <a:ea typeface="华文楷体" panose="02010600040101010101" pitchFamily="2" charset="-122"/>
              </a:rPr>
              <a:t>数据源系统</a:t>
            </a:r>
            <a:endParaRPr kumimoji="1" lang="zh-CN" altLang="en-US" dirty="0">
              <a:solidFill>
                <a:srgbClr val="404040"/>
              </a:solidFill>
              <a:latin typeface="华文楷体" panose="02010600040101010101" pitchFamily="2" charset="-122"/>
              <a:ea typeface="华文楷体" panose="02010600040101010101" pitchFamily="2" charset="-122"/>
            </a:endParaRPr>
          </a:p>
        </p:txBody>
      </p:sp>
      <p:sp>
        <p:nvSpPr>
          <p:cNvPr id="207" name="五边形 206"/>
          <p:cNvSpPr/>
          <p:nvPr/>
        </p:nvSpPr>
        <p:spPr>
          <a:xfrm>
            <a:off x="746593" y="672756"/>
            <a:ext cx="1718678" cy="348676"/>
          </a:xfrm>
          <a:prstGeom prst="homePlate">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华文楷体" panose="02010600040101010101" pitchFamily="2" charset="-122"/>
                <a:ea typeface="华文楷体" panose="02010600040101010101" pitchFamily="2" charset="-122"/>
              </a:rPr>
              <a:t>数据交换系统</a:t>
            </a:r>
            <a:endParaRPr lang="zh-CN" altLang="en-US" sz="1400" dirty="0">
              <a:latin typeface="华文楷体" panose="02010600040101010101" pitchFamily="2" charset="-122"/>
              <a:ea typeface="华文楷体" panose="02010600040101010101" pitchFamily="2" charset="-122"/>
            </a:endParaRPr>
          </a:p>
        </p:txBody>
      </p:sp>
      <p:cxnSp>
        <p:nvCxnSpPr>
          <p:cNvPr id="208" name="肘形连接符 207"/>
          <p:cNvCxnSpPr>
            <a:endCxn id="209" idx="2"/>
          </p:cNvCxnSpPr>
          <p:nvPr/>
        </p:nvCxnSpPr>
        <p:spPr>
          <a:xfrm flipV="1">
            <a:off x="2500278" y="4796948"/>
            <a:ext cx="913293" cy="488341"/>
          </a:xfrm>
          <a:prstGeom prst="bentConnector2">
            <a:avLst/>
          </a:prstGeom>
          <a:ln w="25400">
            <a:solidFill>
              <a:srgbClr val="40404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09" name="矩形 208"/>
          <p:cNvSpPr/>
          <p:nvPr/>
        </p:nvSpPr>
        <p:spPr>
          <a:xfrm>
            <a:off x="2801730" y="4230335"/>
            <a:ext cx="1223681" cy="566613"/>
          </a:xfrm>
          <a:prstGeom prst="rect">
            <a:avLst/>
          </a:prstGeom>
          <a:solidFill>
            <a:srgbClr val="40404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latin typeface="华文楷体" panose="02010600040101010101" pitchFamily="2" charset="-122"/>
              <a:ea typeface="华文楷体" panose="02010600040101010101" pitchFamily="2" charset="-122"/>
            </a:endParaRPr>
          </a:p>
        </p:txBody>
      </p:sp>
      <p:sp>
        <p:nvSpPr>
          <p:cNvPr id="210" name="矩形 209"/>
          <p:cNvSpPr/>
          <p:nvPr/>
        </p:nvSpPr>
        <p:spPr>
          <a:xfrm>
            <a:off x="2801729" y="4324306"/>
            <a:ext cx="1223681" cy="37867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华文楷体" panose="02010600040101010101" pitchFamily="2" charset="-122"/>
                <a:ea typeface="华文楷体" panose="02010600040101010101" pitchFamily="2" charset="-122"/>
              </a:rPr>
              <a:t>主文件服务器</a:t>
            </a:r>
            <a:endParaRPr lang="zh-CN" altLang="en-US" sz="1200" dirty="0">
              <a:latin typeface="华文楷体" panose="02010600040101010101" pitchFamily="2" charset="-122"/>
              <a:ea typeface="华文楷体" panose="02010600040101010101" pitchFamily="2" charset="-122"/>
            </a:endParaRPr>
          </a:p>
        </p:txBody>
      </p:sp>
      <p:sp>
        <p:nvSpPr>
          <p:cNvPr id="211" name="矩形 210"/>
          <p:cNvSpPr/>
          <p:nvPr/>
        </p:nvSpPr>
        <p:spPr>
          <a:xfrm>
            <a:off x="2801730" y="2762603"/>
            <a:ext cx="1223681" cy="566613"/>
          </a:xfrm>
          <a:prstGeom prst="rect">
            <a:avLst/>
          </a:prstGeom>
          <a:solidFill>
            <a:srgbClr val="40404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latin typeface="华文楷体" panose="02010600040101010101" pitchFamily="2" charset="-122"/>
              <a:ea typeface="华文楷体" panose="02010600040101010101" pitchFamily="2" charset="-122"/>
            </a:endParaRPr>
          </a:p>
        </p:txBody>
      </p:sp>
      <p:sp>
        <p:nvSpPr>
          <p:cNvPr id="212" name="矩形 211"/>
          <p:cNvSpPr/>
          <p:nvPr/>
        </p:nvSpPr>
        <p:spPr>
          <a:xfrm>
            <a:off x="2804446" y="2856574"/>
            <a:ext cx="1223681" cy="37867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华文楷体" panose="02010600040101010101" pitchFamily="2" charset="-122"/>
                <a:ea typeface="华文楷体" panose="02010600040101010101" pitchFamily="2" charset="-122"/>
              </a:rPr>
              <a:t>调度服务器</a:t>
            </a:r>
            <a:endParaRPr lang="zh-CN" altLang="en-US" sz="1200" dirty="0">
              <a:latin typeface="华文楷体" panose="02010600040101010101" pitchFamily="2" charset="-122"/>
              <a:ea typeface="华文楷体" panose="02010600040101010101" pitchFamily="2" charset="-122"/>
            </a:endParaRPr>
          </a:p>
        </p:txBody>
      </p:sp>
      <p:cxnSp>
        <p:nvCxnSpPr>
          <p:cNvPr id="213" name="直线箭头连接符 212"/>
          <p:cNvCxnSpPr>
            <a:stCxn id="209" idx="0"/>
            <a:endCxn id="211" idx="2"/>
          </p:cNvCxnSpPr>
          <p:nvPr/>
        </p:nvCxnSpPr>
        <p:spPr>
          <a:xfrm flipV="1">
            <a:off x="3413571" y="3329216"/>
            <a:ext cx="0" cy="901119"/>
          </a:xfrm>
          <a:prstGeom prst="straightConnector1">
            <a:avLst/>
          </a:prstGeom>
          <a:ln w="25400">
            <a:solidFill>
              <a:srgbClr val="40404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14" name="罐形 47"/>
          <p:cNvSpPr/>
          <p:nvPr/>
        </p:nvSpPr>
        <p:spPr>
          <a:xfrm>
            <a:off x="4422564" y="2609187"/>
            <a:ext cx="1069127" cy="360000"/>
          </a:xfrm>
          <a:prstGeom prst="can">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err="1">
                <a:solidFill>
                  <a:srgbClr val="C00000"/>
                </a:solidFill>
                <a:latin typeface="华文楷体" panose="02010600040101010101" pitchFamily="2" charset="-122"/>
                <a:ea typeface="华文楷体" panose="02010600040101010101" pitchFamily="2" charset="-122"/>
              </a:rPr>
              <a:t>Oushu</a:t>
            </a:r>
            <a:r>
              <a:rPr kumimoji="1" lang="zh-CN" altLang="en-US" sz="1200" dirty="0">
                <a:solidFill>
                  <a:srgbClr val="C00000"/>
                </a:solidFill>
                <a:latin typeface="华文楷体" panose="02010600040101010101" pitchFamily="2" charset="-122"/>
                <a:ea typeface="华文楷体" panose="02010600040101010101" pitchFamily="2" charset="-122"/>
              </a:rPr>
              <a:t> </a:t>
            </a:r>
            <a:r>
              <a:rPr kumimoji="1" lang="en-US" altLang="zh-CN" sz="1200" dirty="0">
                <a:solidFill>
                  <a:srgbClr val="C00000"/>
                </a:solidFill>
                <a:latin typeface="华文楷体" panose="02010600040101010101" pitchFamily="2" charset="-122"/>
                <a:ea typeface="华文楷体" panose="02010600040101010101" pitchFamily="2" charset="-122"/>
              </a:rPr>
              <a:t>DB</a:t>
            </a:r>
            <a:endParaRPr kumimoji="1" lang="zh-CN" altLang="en-US" sz="1200" dirty="0">
              <a:solidFill>
                <a:srgbClr val="C00000"/>
              </a:solidFill>
              <a:latin typeface="华文楷体" panose="02010600040101010101" pitchFamily="2" charset="-122"/>
              <a:ea typeface="华文楷体" panose="02010600040101010101" pitchFamily="2" charset="-122"/>
            </a:endParaRPr>
          </a:p>
        </p:txBody>
      </p:sp>
      <p:sp>
        <p:nvSpPr>
          <p:cNvPr id="215" name="矩形 214"/>
          <p:cNvSpPr/>
          <p:nvPr/>
        </p:nvSpPr>
        <p:spPr>
          <a:xfrm>
            <a:off x="4422564" y="3005219"/>
            <a:ext cx="1069127" cy="252000"/>
          </a:xfrm>
          <a:prstGeom prst="rect">
            <a:avLst/>
          </a:prstGeom>
          <a:solidFill>
            <a:schemeClr val="bg1"/>
          </a:solid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800" dirty="0">
                <a:solidFill>
                  <a:srgbClr val="C00000"/>
                </a:solidFill>
                <a:latin typeface="华文楷体" panose="02010600040101010101" pitchFamily="2" charset="-122"/>
                <a:ea typeface="华文楷体" panose="02010600040101010101" pitchFamily="2" charset="-122"/>
              </a:rPr>
              <a:t>缓冲层 </a:t>
            </a:r>
            <a:endParaRPr kumimoji="1" lang="en-US" altLang="zh-CN" sz="800" dirty="0">
              <a:solidFill>
                <a:srgbClr val="C00000"/>
              </a:solidFill>
              <a:latin typeface="华文楷体" panose="02010600040101010101" pitchFamily="2" charset="-122"/>
              <a:ea typeface="华文楷体" panose="02010600040101010101" pitchFamily="2" charset="-122"/>
            </a:endParaRPr>
          </a:p>
          <a:p>
            <a:pPr algn="ctr"/>
            <a:r>
              <a:rPr kumimoji="1" lang="en-US" altLang="zh-CN" sz="800" dirty="0">
                <a:solidFill>
                  <a:srgbClr val="C00000"/>
                </a:solidFill>
                <a:latin typeface="华文楷体" panose="02010600040101010101" pitchFamily="2" charset="-122"/>
                <a:ea typeface="华文楷体" panose="02010600040101010101" pitchFamily="2" charset="-122"/>
              </a:rPr>
              <a:t>Text</a:t>
            </a:r>
            <a:endParaRPr kumimoji="1" lang="zh-CN" altLang="en-US" sz="800" dirty="0">
              <a:solidFill>
                <a:srgbClr val="C00000"/>
              </a:solidFill>
              <a:latin typeface="华文楷体" panose="02010600040101010101" pitchFamily="2" charset="-122"/>
              <a:ea typeface="华文楷体" panose="02010600040101010101" pitchFamily="2" charset="-122"/>
            </a:endParaRPr>
          </a:p>
        </p:txBody>
      </p:sp>
      <p:sp>
        <p:nvSpPr>
          <p:cNvPr id="216" name="矩形 215"/>
          <p:cNvSpPr/>
          <p:nvPr/>
        </p:nvSpPr>
        <p:spPr>
          <a:xfrm>
            <a:off x="4274841" y="2393123"/>
            <a:ext cx="1364576" cy="2540000"/>
          </a:xfrm>
          <a:prstGeom prst="rect">
            <a:avLst/>
          </a:prstGeom>
          <a:noFill/>
          <a:ln w="28575">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华文楷体" panose="02010600040101010101" pitchFamily="2" charset="-122"/>
              <a:ea typeface="华文楷体" panose="02010600040101010101" pitchFamily="2" charset="-122"/>
            </a:endParaRPr>
          </a:p>
        </p:txBody>
      </p:sp>
      <p:sp>
        <p:nvSpPr>
          <p:cNvPr id="217" name="文本框 216"/>
          <p:cNvSpPr txBox="1"/>
          <p:nvPr/>
        </p:nvSpPr>
        <p:spPr>
          <a:xfrm>
            <a:off x="4422563" y="2393123"/>
            <a:ext cx="1029221" cy="261610"/>
          </a:xfrm>
          <a:prstGeom prst="rect">
            <a:avLst/>
          </a:prstGeom>
          <a:noFill/>
        </p:spPr>
        <p:txBody>
          <a:bodyPr wrap="square" rtlCol="0">
            <a:spAutoFit/>
          </a:bodyPr>
          <a:lstStyle/>
          <a:p>
            <a:pPr algn="ctr"/>
            <a:r>
              <a:rPr kumimoji="1" lang="zh-CN" altLang="en-US" sz="1100" dirty="0">
                <a:solidFill>
                  <a:srgbClr val="C00000"/>
                </a:solidFill>
                <a:latin typeface="华文楷体" panose="02010600040101010101" pitchFamily="2" charset="-122"/>
                <a:ea typeface="华文楷体" panose="02010600040101010101" pitchFamily="2" charset="-122"/>
              </a:rPr>
              <a:t>湖仓一体平台 </a:t>
            </a:r>
            <a:endParaRPr kumimoji="1" lang="en-US" altLang="zh-CN" sz="1100" dirty="0">
              <a:solidFill>
                <a:srgbClr val="C00000"/>
              </a:solidFill>
              <a:latin typeface="华文楷体" panose="02010600040101010101" pitchFamily="2" charset="-122"/>
              <a:ea typeface="华文楷体" panose="02010600040101010101" pitchFamily="2" charset="-122"/>
            </a:endParaRPr>
          </a:p>
        </p:txBody>
      </p:sp>
      <p:sp>
        <p:nvSpPr>
          <p:cNvPr id="218" name="矩形 217"/>
          <p:cNvSpPr/>
          <p:nvPr/>
        </p:nvSpPr>
        <p:spPr>
          <a:xfrm>
            <a:off x="4422564" y="3401263"/>
            <a:ext cx="1069127" cy="252000"/>
          </a:xfrm>
          <a:prstGeom prst="rect">
            <a:avLst/>
          </a:prstGeom>
          <a:solidFill>
            <a:schemeClr val="bg1"/>
          </a:solid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800" dirty="0">
                <a:solidFill>
                  <a:srgbClr val="C00000"/>
                </a:solidFill>
                <a:latin typeface="华文楷体" panose="02010600040101010101" pitchFamily="2" charset="-122"/>
                <a:ea typeface="华文楷体" panose="02010600040101010101" pitchFamily="2" charset="-122"/>
              </a:rPr>
              <a:t>贴源层 </a:t>
            </a:r>
            <a:endParaRPr kumimoji="1" lang="en-US" altLang="zh-CN" sz="800" dirty="0">
              <a:solidFill>
                <a:srgbClr val="C00000"/>
              </a:solidFill>
              <a:latin typeface="华文楷体" panose="02010600040101010101" pitchFamily="2" charset="-122"/>
              <a:ea typeface="华文楷体" panose="02010600040101010101" pitchFamily="2" charset="-122"/>
            </a:endParaRPr>
          </a:p>
          <a:p>
            <a:pPr algn="ctr"/>
            <a:r>
              <a:rPr kumimoji="1" lang="en-US" altLang="zh-CN" sz="800" dirty="0">
                <a:solidFill>
                  <a:srgbClr val="C00000"/>
                </a:solidFill>
                <a:latin typeface="华文楷体" panose="02010600040101010101" pitchFamily="2" charset="-122"/>
                <a:ea typeface="华文楷体" panose="02010600040101010101" pitchFamily="2" charset="-122"/>
              </a:rPr>
              <a:t>Orc</a:t>
            </a:r>
            <a:endParaRPr kumimoji="1" lang="zh-CN" altLang="en-US" sz="800" dirty="0">
              <a:solidFill>
                <a:srgbClr val="C00000"/>
              </a:solidFill>
              <a:latin typeface="华文楷体" panose="02010600040101010101" pitchFamily="2" charset="-122"/>
              <a:ea typeface="华文楷体" panose="02010600040101010101" pitchFamily="2" charset="-122"/>
            </a:endParaRPr>
          </a:p>
        </p:txBody>
      </p:sp>
      <p:sp>
        <p:nvSpPr>
          <p:cNvPr id="219" name="矩形 218"/>
          <p:cNvSpPr/>
          <p:nvPr/>
        </p:nvSpPr>
        <p:spPr>
          <a:xfrm>
            <a:off x="4422564" y="3797307"/>
            <a:ext cx="1069127" cy="252000"/>
          </a:xfrm>
          <a:prstGeom prst="rect">
            <a:avLst/>
          </a:prstGeom>
          <a:solidFill>
            <a:schemeClr val="bg1"/>
          </a:solid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800" dirty="0">
                <a:solidFill>
                  <a:srgbClr val="C00000"/>
                </a:solidFill>
                <a:latin typeface="华文楷体" panose="02010600040101010101" pitchFamily="2" charset="-122"/>
                <a:ea typeface="华文楷体" panose="02010600040101010101" pitchFamily="2" charset="-122"/>
              </a:rPr>
              <a:t>基础层 </a:t>
            </a:r>
            <a:endParaRPr kumimoji="1" lang="en-US" altLang="zh-CN" sz="800" dirty="0">
              <a:solidFill>
                <a:srgbClr val="C00000"/>
              </a:solidFill>
              <a:latin typeface="华文楷体" panose="02010600040101010101" pitchFamily="2" charset="-122"/>
              <a:ea typeface="华文楷体" panose="02010600040101010101" pitchFamily="2" charset="-122"/>
            </a:endParaRPr>
          </a:p>
          <a:p>
            <a:pPr algn="ctr"/>
            <a:r>
              <a:rPr kumimoji="1" lang="en-US" altLang="zh-CN" sz="800" dirty="0">
                <a:solidFill>
                  <a:srgbClr val="C00000"/>
                </a:solidFill>
                <a:latin typeface="华文楷体" panose="02010600040101010101" pitchFamily="2" charset="-122"/>
                <a:ea typeface="华文楷体" panose="02010600040101010101" pitchFamily="2" charset="-122"/>
              </a:rPr>
              <a:t>Orc</a:t>
            </a:r>
            <a:endParaRPr kumimoji="1" lang="zh-CN" altLang="en-US" sz="800" dirty="0">
              <a:solidFill>
                <a:srgbClr val="C00000"/>
              </a:solidFill>
              <a:latin typeface="华文楷体" panose="02010600040101010101" pitchFamily="2" charset="-122"/>
              <a:ea typeface="华文楷体" panose="02010600040101010101" pitchFamily="2" charset="-122"/>
            </a:endParaRPr>
          </a:p>
        </p:txBody>
      </p:sp>
      <p:sp>
        <p:nvSpPr>
          <p:cNvPr id="220" name="矩形 219"/>
          <p:cNvSpPr/>
          <p:nvPr/>
        </p:nvSpPr>
        <p:spPr>
          <a:xfrm>
            <a:off x="4422564" y="4193351"/>
            <a:ext cx="1069127" cy="252000"/>
          </a:xfrm>
          <a:prstGeom prst="rect">
            <a:avLst/>
          </a:prstGeom>
          <a:solidFill>
            <a:schemeClr val="bg1"/>
          </a:solid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800" dirty="0">
                <a:solidFill>
                  <a:srgbClr val="C00000"/>
                </a:solidFill>
                <a:latin typeface="华文楷体" panose="02010600040101010101" pitchFamily="2" charset="-122"/>
                <a:ea typeface="华文楷体" panose="02010600040101010101" pitchFamily="2" charset="-122"/>
              </a:rPr>
              <a:t>中间</a:t>
            </a:r>
            <a:r>
              <a:rPr kumimoji="1" lang="en-US" altLang="zh-CN" sz="800" dirty="0">
                <a:solidFill>
                  <a:srgbClr val="C00000"/>
                </a:solidFill>
                <a:latin typeface="华文楷体" panose="02010600040101010101" pitchFamily="2" charset="-122"/>
                <a:ea typeface="华文楷体" panose="02010600040101010101" pitchFamily="2" charset="-122"/>
              </a:rPr>
              <a:t>/</a:t>
            </a:r>
            <a:r>
              <a:rPr kumimoji="1" lang="zh-CN" altLang="en-US" sz="800" dirty="0">
                <a:solidFill>
                  <a:srgbClr val="C00000"/>
                </a:solidFill>
                <a:latin typeface="华文楷体" panose="02010600040101010101" pitchFamily="2" charset="-122"/>
                <a:ea typeface="华文楷体" panose="02010600040101010101" pitchFamily="2" charset="-122"/>
              </a:rPr>
              <a:t>汇总层</a:t>
            </a:r>
            <a:endParaRPr kumimoji="1" lang="en-US" altLang="zh-CN" sz="800" dirty="0">
              <a:solidFill>
                <a:srgbClr val="C00000"/>
              </a:solidFill>
              <a:latin typeface="华文楷体" panose="02010600040101010101" pitchFamily="2" charset="-122"/>
              <a:ea typeface="华文楷体" panose="02010600040101010101" pitchFamily="2" charset="-122"/>
            </a:endParaRPr>
          </a:p>
          <a:p>
            <a:pPr algn="ctr"/>
            <a:r>
              <a:rPr kumimoji="1" lang="zh-CN" altLang="en-US" sz="800" dirty="0">
                <a:solidFill>
                  <a:srgbClr val="C00000"/>
                </a:solidFill>
                <a:latin typeface="华文楷体" panose="02010600040101010101" pitchFamily="2" charset="-122"/>
                <a:ea typeface="华文楷体" panose="02010600040101010101" pitchFamily="2" charset="-122"/>
              </a:rPr>
              <a:t> </a:t>
            </a:r>
            <a:r>
              <a:rPr kumimoji="1" lang="en-US" altLang="zh-CN" sz="800" dirty="0">
                <a:solidFill>
                  <a:srgbClr val="C00000"/>
                </a:solidFill>
                <a:latin typeface="华文楷体" panose="02010600040101010101" pitchFamily="2" charset="-122"/>
                <a:ea typeface="华文楷体" panose="02010600040101010101" pitchFamily="2" charset="-122"/>
              </a:rPr>
              <a:t>Orc-</a:t>
            </a:r>
            <a:r>
              <a:rPr kumimoji="1" lang="en-US" altLang="zh-CN" sz="800" dirty="0" err="1">
                <a:solidFill>
                  <a:srgbClr val="C00000"/>
                </a:solidFill>
                <a:latin typeface="华文楷体" panose="02010600040101010101" pitchFamily="2" charset="-122"/>
                <a:ea typeface="华文楷体" panose="02010600040101010101" pitchFamily="2" charset="-122"/>
              </a:rPr>
              <a:t>HudiOrc</a:t>
            </a:r>
            <a:endParaRPr kumimoji="1" lang="zh-CN" altLang="en-US" sz="800" dirty="0">
              <a:solidFill>
                <a:srgbClr val="C00000"/>
              </a:solidFill>
              <a:latin typeface="华文楷体" panose="02010600040101010101" pitchFamily="2" charset="-122"/>
              <a:ea typeface="华文楷体" panose="02010600040101010101" pitchFamily="2" charset="-122"/>
            </a:endParaRPr>
          </a:p>
        </p:txBody>
      </p:sp>
      <p:sp>
        <p:nvSpPr>
          <p:cNvPr id="221" name="矩形 220"/>
          <p:cNvSpPr/>
          <p:nvPr/>
        </p:nvSpPr>
        <p:spPr>
          <a:xfrm>
            <a:off x="4422564" y="4589395"/>
            <a:ext cx="1069127" cy="252000"/>
          </a:xfrm>
          <a:prstGeom prst="rect">
            <a:avLst/>
          </a:prstGeom>
          <a:solidFill>
            <a:schemeClr val="bg1"/>
          </a:solid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800" dirty="0">
                <a:solidFill>
                  <a:srgbClr val="C00000"/>
                </a:solidFill>
                <a:latin typeface="华文楷体" panose="02010600040101010101" pitchFamily="2" charset="-122"/>
                <a:ea typeface="华文楷体" panose="02010600040101010101" pitchFamily="2" charset="-122"/>
              </a:rPr>
              <a:t>集市层 </a:t>
            </a:r>
            <a:endParaRPr kumimoji="1" lang="en-US" altLang="zh-CN" sz="800" dirty="0">
              <a:solidFill>
                <a:srgbClr val="C00000"/>
              </a:solidFill>
              <a:latin typeface="华文楷体" panose="02010600040101010101" pitchFamily="2" charset="-122"/>
              <a:ea typeface="华文楷体" panose="02010600040101010101" pitchFamily="2" charset="-122"/>
            </a:endParaRPr>
          </a:p>
          <a:p>
            <a:pPr algn="ctr"/>
            <a:r>
              <a:rPr kumimoji="1" lang="en-US" altLang="zh-CN" sz="800" dirty="0">
                <a:solidFill>
                  <a:srgbClr val="C00000"/>
                </a:solidFill>
                <a:latin typeface="华文楷体" panose="02010600040101010101" pitchFamily="2" charset="-122"/>
                <a:ea typeface="华文楷体" panose="02010600040101010101" pitchFamily="2" charset="-122"/>
              </a:rPr>
              <a:t>Orc-</a:t>
            </a:r>
            <a:r>
              <a:rPr kumimoji="1" lang="en-US" altLang="zh-CN" sz="800" dirty="0" err="1">
                <a:solidFill>
                  <a:srgbClr val="C00000"/>
                </a:solidFill>
                <a:latin typeface="华文楷体" panose="02010600040101010101" pitchFamily="2" charset="-122"/>
                <a:ea typeface="华文楷体" panose="02010600040101010101" pitchFamily="2" charset="-122"/>
              </a:rPr>
              <a:t>HudiOrc</a:t>
            </a:r>
            <a:endParaRPr kumimoji="1" lang="zh-CN" altLang="en-US" sz="800" dirty="0">
              <a:solidFill>
                <a:srgbClr val="C00000"/>
              </a:solidFill>
              <a:latin typeface="华文楷体" panose="02010600040101010101" pitchFamily="2" charset="-122"/>
              <a:ea typeface="华文楷体" panose="02010600040101010101" pitchFamily="2" charset="-122"/>
            </a:endParaRPr>
          </a:p>
        </p:txBody>
      </p:sp>
      <p:sp>
        <p:nvSpPr>
          <p:cNvPr id="222" name="罐形 47"/>
          <p:cNvSpPr/>
          <p:nvPr/>
        </p:nvSpPr>
        <p:spPr>
          <a:xfrm>
            <a:off x="6334496" y="2609187"/>
            <a:ext cx="1069127" cy="360000"/>
          </a:xfrm>
          <a:prstGeom prst="can">
            <a:avLst/>
          </a:prstGeom>
          <a:solidFill>
            <a:schemeClr val="bg1"/>
          </a:solidFill>
          <a:ln>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solidFill>
                  <a:srgbClr val="404040"/>
                </a:solidFill>
                <a:latin typeface="华文楷体" panose="02010600040101010101" pitchFamily="2" charset="-122"/>
                <a:ea typeface="华文楷体" panose="02010600040101010101" pitchFamily="2" charset="-122"/>
              </a:rPr>
              <a:t>Hive</a:t>
            </a:r>
            <a:endParaRPr kumimoji="1" lang="zh-CN" altLang="en-US" sz="1200" dirty="0">
              <a:solidFill>
                <a:srgbClr val="404040"/>
              </a:solidFill>
              <a:latin typeface="华文楷体" panose="02010600040101010101" pitchFamily="2" charset="-122"/>
              <a:ea typeface="华文楷体" panose="02010600040101010101" pitchFamily="2" charset="-122"/>
            </a:endParaRPr>
          </a:p>
        </p:txBody>
      </p:sp>
      <p:sp>
        <p:nvSpPr>
          <p:cNvPr id="223" name="矩形 222"/>
          <p:cNvSpPr/>
          <p:nvPr/>
        </p:nvSpPr>
        <p:spPr>
          <a:xfrm>
            <a:off x="6334496" y="3005219"/>
            <a:ext cx="1069127" cy="252000"/>
          </a:xfrm>
          <a:prstGeom prst="rect">
            <a:avLst/>
          </a:prstGeom>
          <a:solidFill>
            <a:schemeClr val="bg1"/>
          </a:solidFill>
          <a:ln w="1270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800" dirty="0">
                <a:solidFill>
                  <a:srgbClr val="404040"/>
                </a:solidFill>
                <a:latin typeface="华文楷体" panose="02010600040101010101" pitchFamily="2" charset="-122"/>
                <a:ea typeface="华文楷体" panose="02010600040101010101" pitchFamily="2" charset="-122"/>
              </a:rPr>
              <a:t>接入层 </a:t>
            </a:r>
            <a:endParaRPr kumimoji="1" lang="en-US" altLang="zh-CN" sz="800" dirty="0">
              <a:solidFill>
                <a:srgbClr val="404040"/>
              </a:solidFill>
              <a:latin typeface="华文楷体" panose="02010600040101010101" pitchFamily="2" charset="-122"/>
              <a:ea typeface="华文楷体" panose="02010600040101010101" pitchFamily="2" charset="-122"/>
            </a:endParaRPr>
          </a:p>
          <a:p>
            <a:pPr algn="ctr"/>
            <a:r>
              <a:rPr kumimoji="1" lang="en-US" altLang="zh-CN" sz="800" dirty="0">
                <a:solidFill>
                  <a:srgbClr val="404040"/>
                </a:solidFill>
                <a:latin typeface="华文楷体" panose="02010600040101010101" pitchFamily="2" charset="-122"/>
                <a:ea typeface="华文楷体" panose="02010600040101010101" pitchFamily="2" charset="-122"/>
              </a:rPr>
              <a:t>Text</a:t>
            </a:r>
            <a:endParaRPr kumimoji="1" lang="zh-CN" altLang="en-US" sz="800" dirty="0">
              <a:solidFill>
                <a:srgbClr val="404040"/>
              </a:solidFill>
              <a:latin typeface="华文楷体" panose="02010600040101010101" pitchFamily="2" charset="-122"/>
              <a:ea typeface="华文楷体" panose="02010600040101010101" pitchFamily="2" charset="-122"/>
            </a:endParaRPr>
          </a:p>
        </p:txBody>
      </p:sp>
      <p:sp>
        <p:nvSpPr>
          <p:cNvPr id="224" name="矩形 223"/>
          <p:cNvSpPr/>
          <p:nvPr/>
        </p:nvSpPr>
        <p:spPr>
          <a:xfrm>
            <a:off x="6186773" y="2391544"/>
            <a:ext cx="1364576" cy="2541579"/>
          </a:xfrm>
          <a:prstGeom prst="rect">
            <a:avLst/>
          </a:prstGeom>
          <a:noFill/>
          <a:ln w="2857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华文楷体" panose="02010600040101010101" pitchFamily="2" charset="-122"/>
              <a:ea typeface="华文楷体" panose="02010600040101010101" pitchFamily="2" charset="-122"/>
            </a:endParaRPr>
          </a:p>
        </p:txBody>
      </p:sp>
      <p:sp>
        <p:nvSpPr>
          <p:cNvPr id="225" name="文本框 224"/>
          <p:cNvSpPr txBox="1"/>
          <p:nvPr/>
        </p:nvSpPr>
        <p:spPr>
          <a:xfrm>
            <a:off x="6333711" y="2393123"/>
            <a:ext cx="1029221" cy="261610"/>
          </a:xfrm>
          <a:prstGeom prst="rect">
            <a:avLst/>
          </a:prstGeom>
          <a:noFill/>
        </p:spPr>
        <p:txBody>
          <a:bodyPr wrap="square" rtlCol="0">
            <a:spAutoFit/>
          </a:bodyPr>
          <a:lstStyle/>
          <a:p>
            <a:pPr algn="ctr"/>
            <a:r>
              <a:rPr kumimoji="1" lang="zh-CN" altLang="en-US" sz="1100" dirty="0">
                <a:latin typeface="华文楷体" panose="02010600040101010101" pitchFamily="2" charset="-122"/>
                <a:ea typeface="华文楷体" panose="02010600040101010101" pitchFamily="2" charset="-122"/>
              </a:rPr>
              <a:t>数据湖</a:t>
            </a:r>
            <a:endParaRPr kumimoji="1" lang="en-US" altLang="zh-CN" sz="1100" dirty="0">
              <a:latin typeface="华文楷体" panose="02010600040101010101" pitchFamily="2" charset="-122"/>
              <a:ea typeface="华文楷体" panose="02010600040101010101" pitchFamily="2" charset="-122"/>
            </a:endParaRPr>
          </a:p>
        </p:txBody>
      </p:sp>
      <p:sp>
        <p:nvSpPr>
          <p:cNvPr id="226" name="矩形 225"/>
          <p:cNvSpPr/>
          <p:nvPr/>
        </p:nvSpPr>
        <p:spPr>
          <a:xfrm>
            <a:off x="6334496" y="3401263"/>
            <a:ext cx="1069127" cy="252000"/>
          </a:xfrm>
          <a:prstGeom prst="rect">
            <a:avLst/>
          </a:prstGeom>
          <a:solidFill>
            <a:schemeClr val="bg1"/>
          </a:solidFill>
          <a:ln w="1270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800" dirty="0">
                <a:solidFill>
                  <a:srgbClr val="404040"/>
                </a:solidFill>
                <a:latin typeface="华文楷体" panose="02010600040101010101" pitchFamily="2" charset="-122"/>
                <a:ea typeface="华文楷体" panose="02010600040101010101" pitchFamily="2" charset="-122"/>
              </a:rPr>
              <a:t>贴源层 </a:t>
            </a:r>
            <a:endParaRPr kumimoji="1" lang="en-US" altLang="zh-CN" sz="800" dirty="0">
              <a:solidFill>
                <a:srgbClr val="404040"/>
              </a:solidFill>
              <a:latin typeface="华文楷体" panose="02010600040101010101" pitchFamily="2" charset="-122"/>
              <a:ea typeface="华文楷体" panose="02010600040101010101" pitchFamily="2" charset="-122"/>
            </a:endParaRPr>
          </a:p>
          <a:p>
            <a:pPr algn="ctr"/>
            <a:r>
              <a:rPr kumimoji="1" lang="en-US" altLang="zh-CN" sz="800" dirty="0">
                <a:solidFill>
                  <a:srgbClr val="404040"/>
                </a:solidFill>
                <a:latin typeface="华文楷体" panose="02010600040101010101" pitchFamily="2" charset="-122"/>
                <a:ea typeface="华文楷体" panose="02010600040101010101" pitchFamily="2" charset="-122"/>
              </a:rPr>
              <a:t>Orc</a:t>
            </a:r>
            <a:endParaRPr kumimoji="1" lang="zh-CN" altLang="en-US" sz="800" dirty="0">
              <a:solidFill>
                <a:srgbClr val="404040"/>
              </a:solidFill>
              <a:latin typeface="华文楷体" panose="02010600040101010101" pitchFamily="2" charset="-122"/>
              <a:ea typeface="华文楷体" panose="02010600040101010101" pitchFamily="2" charset="-122"/>
            </a:endParaRPr>
          </a:p>
        </p:txBody>
      </p:sp>
      <p:sp>
        <p:nvSpPr>
          <p:cNvPr id="227" name="矩形 226"/>
          <p:cNvSpPr/>
          <p:nvPr/>
        </p:nvSpPr>
        <p:spPr>
          <a:xfrm>
            <a:off x="6334496" y="3797307"/>
            <a:ext cx="1069127" cy="252000"/>
          </a:xfrm>
          <a:prstGeom prst="rect">
            <a:avLst/>
          </a:prstGeom>
          <a:solidFill>
            <a:schemeClr val="bg1"/>
          </a:solidFill>
          <a:ln w="1270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800" dirty="0">
                <a:solidFill>
                  <a:srgbClr val="404040"/>
                </a:solidFill>
                <a:latin typeface="华文楷体" panose="02010600040101010101" pitchFamily="2" charset="-122"/>
                <a:ea typeface="华文楷体" panose="02010600040101010101" pitchFamily="2" charset="-122"/>
              </a:rPr>
              <a:t>基础层 </a:t>
            </a:r>
            <a:endParaRPr kumimoji="1" lang="en-US" altLang="zh-CN" sz="800" dirty="0">
              <a:solidFill>
                <a:srgbClr val="404040"/>
              </a:solidFill>
              <a:latin typeface="华文楷体" panose="02010600040101010101" pitchFamily="2" charset="-122"/>
              <a:ea typeface="华文楷体" panose="02010600040101010101" pitchFamily="2" charset="-122"/>
            </a:endParaRPr>
          </a:p>
          <a:p>
            <a:pPr algn="ctr"/>
            <a:r>
              <a:rPr kumimoji="1" lang="en-US" altLang="zh-CN" sz="800" dirty="0">
                <a:solidFill>
                  <a:srgbClr val="404040"/>
                </a:solidFill>
                <a:latin typeface="华文楷体" panose="02010600040101010101" pitchFamily="2" charset="-122"/>
                <a:ea typeface="华文楷体" panose="02010600040101010101" pitchFamily="2" charset="-122"/>
              </a:rPr>
              <a:t>Orc</a:t>
            </a:r>
            <a:endParaRPr kumimoji="1" lang="zh-CN" altLang="en-US" sz="800" dirty="0">
              <a:solidFill>
                <a:srgbClr val="404040"/>
              </a:solidFill>
              <a:latin typeface="华文楷体" panose="02010600040101010101" pitchFamily="2" charset="-122"/>
              <a:ea typeface="华文楷体" panose="02010600040101010101" pitchFamily="2" charset="-122"/>
            </a:endParaRPr>
          </a:p>
        </p:txBody>
      </p:sp>
      <p:sp>
        <p:nvSpPr>
          <p:cNvPr id="228" name="矩形 227"/>
          <p:cNvSpPr/>
          <p:nvPr/>
        </p:nvSpPr>
        <p:spPr>
          <a:xfrm>
            <a:off x="6334496" y="4193351"/>
            <a:ext cx="1069127" cy="252000"/>
          </a:xfrm>
          <a:prstGeom prst="rect">
            <a:avLst/>
          </a:prstGeom>
          <a:solidFill>
            <a:schemeClr val="bg1"/>
          </a:solidFill>
          <a:ln w="1270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800" dirty="0">
                <a:solidFill>
                  <a:srgbClr val="404040"/>
                </a:solidFill>
                <a:latin typeface="华文楷体" panose="02010600040101010101" pitchFamily="2" charset="-122"/>
                <a:ea typeface="华文楷体" panose="02010600040101010101" pitchFamily="2" charset="-122"/>
              </a:rPr>
              <a:t>轻度汇总层 </a:t>
            </a:r>
            <a:endParaRPr kumimoji="1" lang="en-US" altLang="zh-CN" sz="800" dirty="0">
              <a:solidFill>
                <a:srgbClr val="404040"/>
              </a:solidFill>
              <a:latin typeface="华文楷体" panose="02010600040101010101" pitchFamily="2" charset="-122"/>
              <a:ea typeface="华文楷体" panose="02010600040101010101" pitchFamily="2" charset="-122"/>
            </a:endParaRPr>
          </a:p>
          <a:p>
            <a:pPr algn="ctr"/>
            <a:r>
              <a:rPr kumimoji="1" lang="en-US" altLang="zh-CN" sz="800" dirty="0">
                <a:solidFill>
                  <a:srgbClr val="404040"/>
                </a:solidFill>
                <a:latin typeface="华文楷体" panose="02010600040101010101" pitchFamily="2" charset="-122"/>
                <a:ea typeface="华文楷体" panose="02010600040101010101" pitchFamily="2" charset="-122"/>
              </a:rPr>
              <a:t>Orc</a:t>
            </a:r>
            <a:endParaRPr kumimoji="1" lang="zh-CN" altLang="en-US" sz="800" dirty="0">
              <a:solidFill>
                <a:srgbClr val="404040"/>
              </a:solidFill>
              <a:latin typeface="华文楷体" panose="02010600040101010101" pitchFamily="2" charset="-122"/>
              <a:ea typeface="华文楷体" panose="02010600040101010101" pitchFamily="2" charset="-122"/>
            </a:endParaRPr>
          </a:p>
        </p:txBody>
      </p:sp>
      <p:sp>
        <p:nvSpPr>
          <p:cNvPr id="229" name="矩形 228"/>
          <p:cNvSpPr/>
          <p:nvPr/>
        </p:nvSpPr>
        <p:spPr>
          <a:xfrm>
            <a:off x="6334496" y="4589395"/>
            <a:ext cx="1069127" cy="252000"/>
          </a:xfrm>
          <a:prstGeom prst="rect">
            <a:avLst/>
          </a:prstGeom>
          <a:solidFill>
            <a:schemeClr val="bg1"/>
          </a:solidFill>
          <a:ln w="1270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800" dirty="0">
                <a:solidFill>
                  <a:srgbClr val="404040"/>
                </a:solidFill>
                <a:latin typeface="华文楷体" panose="02010600040101010101" pitchFamily="2" charset="-122"/>
                <a:ea typeface="华文楷体" panose="02010600040101010101" pitchFamily="2" charset="-122"/>
              </a:rPr>
              <a:t>集市层 </a:t>
            </a:r>
            <a:endParaRPr kumimoji="1" lang="en-US" altLang="zh-CN" sz="800" dirty="0">
              <a:solidFill>
                <a:srgbClr val="404040"/>
              </a:solidFill>
              <a:latin typeface="华文楷体" panose="02010600040101010101" pitchFamily="2" charset="-122"/>
              <a:ea typeface="华文楷体" panose="02010600040101010101" pitchFamily="2" charset="-122"/>
            </a:endParaRPr>
          </a:p>
          <a:p>
            <a:pPr algn="ctr"/>
            <a:r>
              <a:rPr kumimoji="1" lang="en-US" altLang="zh-CN" sz="800" dirty="0">
                <a:solidFill>
                  <a:srgbClr val="404040"/>
                </a:solidFill>
                <a:latin typeface="华文楷体" panose="02010600040101010101" pitchFamily="2" charset="-122"/>
                <a:ea typeface="华文楷体" panose="02010600040101010101" pitchFamily="2" charset="-122"/>
              </a:rPr>
              <a:t>Orc</a:t>
            </a:r>
            <a:endParaRPr kumimoji="1" lang="zh-CN" altLang="en-US" sz="800" dirty="0">
              <a:solidFill>
                <a:srgbClr val="404040"/>
              </a:solidFill>
              <a:latin typeface="华文楷体" panose="02010600040101010101" pitchFamily="2" charset="-122"/>
              <a:ea typeface="华文楷体" panose="02010600040101010101" pitchFamily="2" charset="-122"/>
            </a:endParaRPr>
          </a:p>
        </p:txBody>
      </p:sp>
      <p:sp>
        <p:nvSpPr>
          <p:cNvPr id="230" name="文本框 229"/>
          <p:cNvSpPr txBox="1"/>
          <p:nvPr/>
        </p:nvSpPr>
        <p:spPr>
          <a:xfrm>
            <a:off x="758694" y="4353683"/>
            <a:ext cx="1741609" cy="276999"/>
          </a:xfrm>
          <a:prstGeom prst="rect">
            <a:avLst/>
          </a:prstGeom>
          <a:noFill/>
        </p:spPr>
        <p:txBody>
          <a:bodyPr wrap="square" rtlCol="0">
            <a:spAutoFit/>
          </a:bodyPr>
          <a:lstStyle/>
          <a:p>
            <a:pPr algn="ctr"/>
            <a:r>
              <a:rPr kumimoji="1" lang="zh-CN" altLang="en-US" sz="1200" dirty="0">
                <a:solidFill>
                  <a:srgbClr val="404040"/>
                </a:solidFill>
                <a:latin typeface="华文楷体" panose="02010600040101010101" pitchFamily="2" charset="-122"/>
                <a:ea typeface="华文楷体" panose="02010600040101010101" pitchFamily="2" charset="-122"/>
              </a:rPr>
              <a:t>原湖独有</a:t>
            </a:r>
            <a:r>
              <a:rPr kumimoji="1" lang="en-US" altLang="zh-CN" sz="1200" dirty="0">
                <a:solidFill>
                  <a:srgbClr val="404040"/>
                </a:solidFill>
                <a:latin typeface="华文楷体" panose="02010600040101010101" pitchFamily="2" charset="-122"/>
                <a:ea typeface="华文楷体" panose="02010600040101010101" pitchFamily="2" charset="-122"/>
              </a:rPr>
              <a:t>30+</a:t>
            </a:r>
            <a:r>
              <a:rPr kumimoji="1" lang="zh-CN" altLang="en-US" sz="1200" dirty="0">
                <a:solidFill>
                  <a:srgbClr val="404040"/>
                </a:solidFill>
                <a:latin typeface="华文楷体" panose="02010600040101010101" pitchFamily="2" charset="-122"/>
                <a:ea typeface="华文楷体" panose="02010600040101010101" pitchFamily="2" charset="-122"/>
              </a:rPr>
              <a:t>系统</a:t>
            </a:r>
            <a:endParaRPr kumimoji="1" lang="zh-CN" altLang="en-US" sz="1200" dirty="0">
              <a:solidFill>
                <a:srgbClr val="404040"/>
              </a:solidFill>
              <a:latin typeface="华文楷体" panose="02010600040101010101" pitchFamily="2" charset="-122"/>
              <a:ea typeface="华文楷体" panose="02010600040101010101" pitchFamily="2" charset="-122"/>
            </a:endParaRPr>
          </a:p>
        </p:txBody>
      </p:sp>
      <p:grpSp>
        <p:nvGrpSpPr>
          <p:cNvPr id="231" name="组合 230"/>
          <p:cNvGrpSpPr/>
          <p:nvPr/>
        </p:nvGrpSpPr>
        <p:grpSpPr>
          <a:xfrm>
            <a:off x="8134009" y="1544619"/>
            <a:ext cx="1544616" cy="1163699"/>
            <a:chOff x="3722034" y="1596754"/>
            <a:chExt cx="1613895" cy="1215894"/>
          </a:xfrm>
        </p:grpSpPr>
        <p:sp>
          <p:nvSpPr>
            <p:cNvPr id="232" name="矩形 231"/>
            <p:cNvSpPr/>
            <p:nvPr/>
          </p:nvSpPr>
          <p:spPr>
            <a:xfrm>
              <a:off x="3722034" y="1596754"/>
              <a:ext cx="1613895" cy="1215894"/>
            </a:xfrm>
            <a:prstGeom prst="rect">
              <a:avLst/>
            </a:prstGeom>
            <a:noFill/>
            <a:ln w="28575">
              <a:solidFill>
                <a:srgbClr val="40404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华文楷体" panose="02010600040101010101" pitchFamily="2" charset="-122"/>
                <a:ea typeface="华文楷体" panose="02010600040101010101" pitchFamily="2" charset="-122"/>
              </a:endParaRPr>
            </a:p>
          </p:txBody>
        </p:sp>
        <p:grpSp>
          <p:nvGrpSpPr>
            <p:cNvPr id="233" name="组合 232"/>
            <p:cNvGrpSpPr/>
            <p:nvPr/>
          </p:nvGrpSpPr>
          <p:grpSpPr>
            <a:xfrm>
              <a:off x="3831994" y="1689354"/>
              <a:ext cx="1393975" cy="1030695"/>
              <a:chOff x="3831994" y="1654629"/>
              <a:chExt cx="1393975" cy="1030695"/>
            </a:xfrm>
          </p:grpSpPr>
          <p:sp>
            <p:nvSpPr>
              <p:cNvPr id="234" name="矩形 233"/>
              <p:cNvSpPr/>
              <p:nvPr/>
            </p:nvSpPr>
            <p:spPr>
              <a:xfrm>
                <a:off x="3831994" y="1654629"/>
                <a:ext cx="1393975" cy="432028"/>
              </a:xfrm>
              <a:prstGeom prst="rect">
                <a:avLst/>
              </a:prstGeom>
              <a:solidFill>
                <a:schemeClr val="bg1"/>
              </a:solidFill>
              <a:ln w="1270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rgbClr val="404040"/>
                    </a:solidFill>
                    <a:latin typeface="华文楷体" panose="02010600040101010101" pitchFamily="2" charset="-122"/>
                    <a:ea typeface="华文楷体" panose="02010600040101010101" pitchFamily="2" charset="-122"/>
                  </a:rPr>
                  <a:t>数据下发</a:t>
                </a:r>
                <a:endParaRPr kumimoji="1" lang="en-US" altLang="zh-CN" sz="1200" dirty="0">
                  <a:solidFill>
                    <a:srgbClr val="404040"/>
                  </a:solidFill>
                  <a:latin typeface="华文楷体" panose="02010600040101010101" pitchFamily="2" charset="-122"/>
                  <a:ea typeface="华文楷体" panose="02010600040101010101" pitchFamily="2" charset="-122"/>
                </a:endParaRPr>
              </a:p>
              <a:p>
                <a:pPr algn="ctr"/>
                <a:r>
                  <a:rPr kumimoji="1" lang="zh-CN" altLang="en-US" sz="1200" dirty="0">
                    <a:solidFill>
                      <a:srgbClr val="404040"/>
                    </a:solidFill>
                    <a:latin typeface="华文楷体" panose="02010600040101010101" pitchFamily="2" charset="-122"/>
                    <a:ea typeface="华文楷体" panose="02010600040101010101" pitchFamily="2" charset="-122"/>
                  </a:rPr>
                  <a:t>（</a:t>
                </a:r>
                <a:r>
                  <a:rPr kumimoji="1" lang="zh-CN" altLang="en-US" sz="900" dirty="0">
                    <a:solidFill>
                      <a:srgbClr val="404040"/>
                    </a:solidFill>
                    <a:latin typeface="华文楷体" panose="02010600040101010101" pitchFamily="2" charset="-122"/>
                    <a:ea typeface="华文楷体" panose="02010600040101010101" pitchFamily="2" charset="-122"/>
                  </a:rPr>
                  <a:t>原仓、湖下游系统</a:t>
                </a:r>
                <a:r>
                  <a:rPr kumimoji="1" lang="zh-CN" altLang="en-US" sz="1200" dirty="0">
                    <a:solidFill>
                      <a:srgbClr val="404040"/>
                    </a:solidFill>
                    <a:latin typeface="华文楷体" panose="02010600040101010101" pitchFamily="2" charset="-122"/>
                    <a:ea typeface="华文楷体" panose="02010600040101010101" pitchFamily="2" charset="-122"/>
                  </a:rPr>
                  <a:t>）</a:t>
                </a:r>
                <a:endParaRPr kumimoji="1" lang="zh-CN" altLang="en-US" sz="1200" dirty="0">
                  <a:solidFill>
                    <a:srgbClr val="404040"/>
                  </a:solidFill>
                  <a:latin typeface="华文楷体" panose="02010600040101010101" pitchFamily="2" charset="-122"/>
                  <a:ea typeface="华文楷体" panose="02010600040101010101" pitchFamily="2" charset="-122"/>
                </a:endParaRPr>
              </a:p>
            </p:txBody>
          </p:sp>
          <p:sp>
            <p:nvSpPr>
              <p:cNvPr id="235" name="矩形 234"/>
              <p:cNvSpPr/>
              <p:nvPr/>
            </p:nvSpPr>
            <p:spPr>
              <a:xfrm>
                <a:off x="3831994" y="2253296"/>
                <a:ext cx="1393975" cy="432028"/>
              </a:xfrm>
              <a:prstGeom prst="rect">
                <a:avLst/>
              </a:prstGeom>
              <a:solidFill>
                <a:schemeClr val="bg1"/>
              </a:solidFill>
              <a:ln w="1270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rgbClr val="404040"/>
                    </a:solidFill>
                    <a:latin typeface="华文楷体" panose="02010600040101010101" pitchFamily="2" charset="-122"/>
                    <a:ea typeface="华文楷体" panose="02010600040101010101" pitchFamily="2" charset="-122"/>
                  </a:rPr>
                  <a:t>数据查询</a:t>
                </a:r>
                <a:endParaRPr kumimoji="1" lang="en-US" altLang="zh-CN" sz="1200" dirty="0">
                  <a:solidFill>
                    <a:srgbClr val="404040"/>
                  </a:solidFill>
                  <a:latin typeface="华文楷体" panose="02010600040101010101" pitchFamily="2" charset="-122"/>
                  <a:ea typeface="华文楷体" panose="02010600040101010101" pitchFamily="2" charset="-122"/>
                </a:endParaRPr>
              </a:p>
              <a:p>
                <a:pPr algn="ctr"/>
                <a:r>
                  <a:rPr kumimoji="1" lang="zh-CN" altLang="en-US" sz="900" dirty="0">
                    <a:solidFill>
                      <a:srgbClr val="404040"/>
                    </a:solidFill>
                    <a:latin typeface="华文楷体" panose="02010600040101010101" pitchFamily="2" charset="-122"/>
                    <a:ea typeface="华文楷体" panose="02010600040101010101" pitchFamily="2" charset="-122"/>
                  </a:rPr>
                  <a:t>（原仓、湖下游系统）</a:t>
                </a:r>
                <a:endParaRPr kumimoji="1" lang="zh-CN" altLang="en-US" sz="900" dirty="0">
                  <a:solidFill>
                    <a:srgbClr val="404040"/>
                  </a:solidFill>
                  <a:latin typeface="华文楷体" panose="02010600040101010101" pitchFamily="2" charset="-122"/>
                  <a:ea typeface="华文楷体" panose="02010600040101010101" pitchFamily="2" charset="-122"/>
                </a:endParaRPr>
              </a:p>
            </p:txBody>
          </p:sp>
        </p:grpSp>
      </p:grpSp>
      <p:sp>
        <p:nvSpPr>
          <p:cNvPr id="236" name="罐形 28"/>
          <p:cNvSpPr/>
          <p:nvPr/>
        </p:nvSpPr>
        <p:spPr>
          <a:xfrm>
            <a:off x="10694625" y="1504078"/>
            <a:ext cx="899094" cy="571199"/>
          </a:xfrm>
          <a:prstGeom prst="can">
            <a:avLst/>
          </a:prstGeom>
          <a:solidFill>
            <a:srgbClr val="F2F2F2"/>
          </a:solidFill>
          <a:ln>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rgbClr val="404040"/>
                </a:solidFill>
                <a:latin typeface="华文楷体" panose="02010600040101010101" pitchFamily="2" charset="-122"/>
                <a:ea typeface="华文楷体" panose="02010600040101010101" pitchFamily="2" charset="-122"/>
              </a:rPr>
              <a:t>信息系统</a:t>
            </a:r>
            <a:r>
              <a:rPr kumimoji="1" lang="en-US" altLang="zh-CN" sz="1200" dirty="0">
                <a:solidFill>
                  <a:srgbClr val="404040"/>
                </a:solidFill>
                <a:latin typeface="华文楷体" panose="02010600040101010101" pitchFamily="2" charset="-122"/>
                <a:ea typeface="华文楷体" panose="02010600040101010101" pitchFamily="2" charset="-122"/>
              </a:rPr>
              <a:t>DB</a:t>
            </a:r>
            <a:endParaRPr kumimoji="1" lang="zh-CN" altLang="en-US" sz="1200" dirty="0">
              <a:solidFill>
                <a:srgbClr val="404040"/>
              </a:solidFill>
              <a:latin typeface="华文楷体" panose="02010600040101010101" pitchFamily="2" charset="-122"/>
              <a:ea typeface="华文楷体" panose="02010600040101010101" pitchFamily="2" charset="-122"/>
            </a:endParaRPr>
          </a:p>
        </p:txBody>
      </p:sp>
      <p:sp>
        <p:nvSpPr>
          <p:cNvPr id="237" name="罐形 29"/>
          <p:cNvSpPr/>
          <p:nvPr/>
        </p:nvSpPr>
        <p:spPr>
          <a:xfrm>
            <a:off x="10694625" y="2152806"/>
            <a:ext cx="899094" cy="571947"/>
          </a:xfrm>
          <a:prstGeom prst="can">
            <a:avLst/>
          </a:prstGeom>
          <a:solidFill>
            <a:srgbClr val="F2F2F2"/>
          </a:solidFill>
          <a:ln>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rgbClr val="404040"/>
                </a:solidFill>
                <a:latin typeface="华文楷体" panose="02010600040101010101" pitchFamily="2" charset="-122"/>
                <a:ea typeface="华文楷体" panose="02010600040101010101" pitchFamily="2" charset="-122"/>
              </a:rPr>
              <a:t>信息系统</a:t>
            </a:r>
            <a:endParaRPr kumimoji="1" lang="en-US" altLang="zh-CN" sz="1200" dirty="0">
              <a:solidFill>
                <a:srgbClr val="404040"/>
              </a:solidFill>
              <a:latin typeface="华文楷体" panose="02010600040101010101" pitchFamily="2" charset="-122"/>
              <a:ea typeface="华文楷体" panose="02010600040101010101" pitchFamily="2" charset="-122"/>
            </a:endParaRPr>
          </a:p>
          <a:p>
            <a:pPr algn="ctr"/>
            <a:r>
              <a:rPr kumimoji="1" lang="zh-CN" altLang="en-US" sz="1200" dirty="0">
                <a:solidFill>
                  <a:srgbClr val="404040"/>
                </a:solidFill>
                <a:latin typeface="华文楷体" panose="02010600040101010101" pitchFamily="2" charset="-122"/>
                <a:ea typeface="华文楷体" panose="02010600040101010101" pitchFamily="2" charset="-122"/>
              </a:rPr>
              <a:t>应用</a:t>
            </a:r>
            <a:endParaRPr kumimoji="1" lang="zh-CN" altLang="en-US" sz="1200" dirty="0">
              <a:solidFill>
                <a:srgbClr val="404040"/>
              </a:solidFill>
              <a:latin typeface="华文楷体" panose="02010600040101010101" pitchFamily="2" charset="-122"/>
              <a:ea typeface="华文楷体" panose="02010600040101010101" pitchFamily="2" charset="-122"/>
            </a:endParaRPr>
          </a:p>
        </p:txBody>
      </p:sp>
      <p:cxnSp>
        <p:nvCxnSpPr>
          <p:cNvPr id="238" name="直线箭头连接符 237"/>
          <p:cNvCxnSpPr>
            <a:endCxn id="218" idx="0"/>
          </p:cNvCxnSpPr>
          <p:nvPr/>
        </p:nvCxnSpPr>
        <p:spPr>
          <a:xfrm>
            <a:off x="4957128" y="3257219"/>
            <a:ext cx="0" cy="144044"/>
          </a:xfrm>
          <a:prstGeom prst="straightConnector1">
            <a:avLst/>
          </a:prstGeom>
          <a:ln w="25400">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39" name="直线箭头连接符 238"/>
          <p:cNvCxnSpPr>
            <a:endCxn id="219" idx="0"/>
          </p:cNvCxnSpPr>
          <p:nvPr/>
        </p:nvCxnSpPr>
        <p:spPr>
          <a:xfrm>
            <a:off x="4957128" y="3653263"/>
            <a:ext cx="0" cy="144044"/>
          </a:xfrm>
          <a:prstGeom prst="straightConnector1">
            <a:avLst/>
          </a:prstGeom>
          <a:ln w="25400">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40" name="直线箭头连接符 239"/>
          <p:cNvCxnSpPr>
            <a:stCxn id="219" idx="2"/>
            <a:endCxn id="220" idx="0"/>
          </p:cNvCxnSpPr>
          <p:nvPr/>
        </p:nvCxnSpPr>
        <p:spPr>
          <a:xfrm>
            <a:off x="4957128" y="4049307"/>
            <a:ext cx="0" cy="144044"/>
          </a:xfrm>
          <a:prstGeom prst="straightConnector1">
            <a:avLst/>
          </a:prstGeom>
          <a:ln w="25400">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41" name="直线箭头连接符 240"/>
          <p:cNvCxnSpPr>
            <a:endCxn id="221" idx="0"/>
          </p:cNvCxnSpPr>
          <p:nvPr/>
        </p:nvCxnSpPr>
        <p:spPr>
          <a:xfrm>
            <a:off x="4950003" y="4455581"/>
            <a:ext cx="7125" cy="133814"/>
          </a:xfrm>
          <a:prstGeom prst="straightConnector1">
            <a:avLst/>
          </a:prstGeom>
          <a:ln w="25400">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42" name="直线箭头连接符 241"/>
          <p:cNvCxnSpPr>
            <a:stCxn id="223" idx="2"/>
            <a:endCxn id="226" idx="0"/>
          </p:cNvCxnSpPr>
          <p:nvPr/>
        </p:nvCxnSpPr>
        <p:spPr>
          <a:xfrm>
            <a:off x="6869060" y="3257219"/>
            <a:ext cx="0" cy="144044"/>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43" name="直线箭头连接符 242"/>
          <p:cNvCxnSpPr>
            <a:endCxn id="227" idx="0"/>
          </p:cNvCxnSpPr>
          <p:nvPr/>
        </p:nvCxnSpPr>
        <p:spPr>
          <a:xfrm>
            <a:off x="6869060" y="3653263"/>
            <a:ext cx="0" cy="144044"/>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44" name="直线箭头连接符 243"/>
          <p:cNvCxnSpPr>
            <a:endCxn id="228" idx="0"/>
          </p:cNvCxnSpPr>
          <p:nvPr/>
        </p:nvCxnSpPr>
        <p:spPr>
          <a:xfrm>
            <a:off x="6869060" y="4049307"/>
            <a:ext cx="0" cy="144044"/>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45" name="直线箭头连接符 244"/>
          <p:cNvCxnSpPr>
            <a:endCxn id="229" idx="0"/>
          </p:cNvCxnSpPr>
          <p:nvPr/>
        </p:nvCxnSpPr>
        <p:spPr>
          <a:xfrm>
            <a:off x="6869059" y="4455581"/>
            <a:ext cx="1" cy="133814"/>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46" name="直线箭头连接符 245"/>
          <p:cNvCxnSpPr>
            <a:stCxn id="232" idx="2"/>
            <a:endCxn id="173" idx="0"/>
          </p:cNvCxnSpPr>
          <p:nvPr/>
        </p:nvCxnSpPr>
        <p:spPr>
          <a:xfrm>
            <a:off x="8906317" y="2708318"/>
            <a:ext cx="0" cy="771883"/>
          </a:xfrm>
          <a:prstGeom prst="straightConnector1">
            <a:avLst/>
          </a:prstGeom>
          <a:ln w="25400">
            <a:solidFill>
              <a:srgbClr val="40404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47" name="文本框 246"/>
          <p:cNvSpPr txBox="1"/>
          <p:nvPr/>
        </p:nvSpPr>
        <p:spPr>
          <a:xfrm>
            <a:off x="7917985" y="2969187"/>
            <a:ext cx="1933543" cy="261610"/>
          </a:xfrm>
          <a:prstGeom prst="rect">
            <a:avLst/>
          </a:prstGeom>
          <a:solidFill>
            <a:schemeClr val="bg1"/>
          </a:solidFill>
        </p:spPr>
        <p:txBody>
          <a:bodyPr wrap="none" rtlCol="0">
            <a:spAutoFit/>
          </a:bodyPr>
          <a:lstStyle>
            <a:defPPr>
              <a:defRPr lang="zh-CN"/>
            </a:defPPr>
            <a:lvl1pPr>
              <a:defRPr kumimoji="1" sz="1100">
                <a:solidFill>
                  <a:srgbClr val="C00000"/>
                </a:solidFill>
                <a:latin typeface="微软雅黑 Light" panose="020B0502040204020203" pitchFamily="34" charset="-122"/>
                <a:ea typeface="微软雅黑 Light" panose="020B0502040204020203" pitchFamily="34" charset="-122"/>
              </a:defRPr>
            </a:lvl1pPr>
          </a:lstStyle>
          <a:p>
            <a:r>
              <a:rPr lang="zh-CN" altLang="en-US" dirty="0">
                <a:solidFill>
                  <a:srgbClr val="404040"/>
                </a:solidFill>
                <a:latin typeface="华文楷体" panose="02010600040101010101" pitchFamily="2" charset="-122"/>
                <a:ea typeface="华文楷体" panose="02010600040101010101" pitchFamily="2" charset="-122"/>
              </a:rPr>
              <a:t>获取</a:t>
            </a:r>
            <a:r>
              <a:rPr lang="en-US" altLang="zh-CN" dirty="0">
                <a:solidFill>
                  <a:srgbClr val="404040"/>
                </a:solidFill>
                <a:latin typeface="华文楷体" panose="02010600040101010101" pitchFamily="2" charset="-122"/>
                <a:ea typeface="华文楷体" panose="02010600040101010101" pitchFamily="2" charset="-122"/>
              </a:rPr>
              <a:t>/</a:t>
            </a:r>
            <a:r>
              <a:rPr lang="zh-CN" altLang="en-US" dirty="0">
                <a:solidFill>
                  <a:srgbClr val="404040"/>
                </a:solidFill>
                <a:latin typeface="华文楷体" panose="02010600040101010101" pitchFamily="2" charset="-122"/>
                <a:ea typeface="华文楷体" panose="02010600040101010101" pitchFamily="2" charset="-122"/>
              </a:rPr>
              <a:t>触发数据交换配置信息</a:t>
            </a:r>
            <a:endParaRPr lang="zh-CN" altLang="en-US" dirty="0">
              <a:solidFill>
                <a:srgbClr val="404040"/>
              </a:solidFill>
              <a:latin typeface="华文楷体" panose="02010600040101010101" pitchFamily="2" charset="-122"/>
              <a:ea typeface="华文楷体" panose="02010600040101010101" pitchFamily="2" charset="-122"/>
            </a:endParaRPr>
          </a:p>
        </p:txBody>
      </p:sp>
      <p:cxnSp>
        <p:nvCxnSpPr>
          <p:cNvPr id="248" name="直线箭头连接符 247"/>
          <p:cNvCxnSpPr/>
          <p:nvPr/>
        </p:nvCxnSpPr>
        <p:spPr>
          <a:xfrm flipV="1">
            <a:off x="8904091" y="3976881"/>
            <a:ext cx="0" cy="159485"/>
          </a:xfrm>
          <a:prstGeom prst="straightConnector1">
            <a:avLst/>
          </a:prstGeom>
          <a:ln w="25400">
            <a:solidFill>
              <a:srgbClr val="404040"/>
            </a:solidFill>
            <a:tailEnd type="triangle"/>
          </a:ln>
        </p:spPr>
        <p:style>
          <a:lnRef idx="1">
            <a:schemeClr val="accent1"/>
          </a:lnRef>
          <a:fillRef idx="0">
            <a:schemeClr val="accent1"/>
          </a:fillRef>
          <a:effectRef idx="0">
            <a:schemeClr val="accent1"/>
          </a:effectRef>
          <a:fontRef idx="minor">
            <a:schemeClr val="tx1"/>
          </a:fontRef>
        </p:style>
      </p:cxnSp>
      <p:sp>
        <p:nvSpPr>
          <p:cNvPr id="249" name="矩形 248"/>
          <p:cNvSpPr/>
          <p:nvPr/>
        </p:nvSpPr>
        <p:spPr>
          <a:xfrm>
            <a:off x="7880562" y="5526557"/>
            <a:ext cx="1948956" cy="413482"/>
          </a:xfrm>
          <a:prstGeom prst="rect">
            <a:avLst/>
          </a:prstGeom>
          <a:solidFill>
            <a:schemeClr val="bg1"/>
          </a:solidFill>
          <a:ln w="1270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rgbClr val="404040"/>
                </a:solidFill>
                <a:latin typeface="华文楷体" panose="02010600040101010101" pitchFamily="2" charset="-122"/>
                <a:ea typeface="华文楷体" panose="02010600040101010101" pitchFamily="2" charset="-122"/>
              </a:rPr>
              <a:t>过程监控管理</a:t>
            </a:r>
            <a:endParaRPr kumimoji="1" lang="en-US" altLang="zh-CN" sz="1200" dirty="0">
              <a:solidFill>
                <a:srgbClr val="404040"/>
              </a:solidFill>
              <a:latin typeface="华文楷体" panose="02010600040101010101" pitchFamily="2" charset="-122"/>
              <a:ea typeface="华文楷体" panose="02010600040101010101" pitchFamily="2" charset="-122"/>
            </a:endParaRPr>
          </a:p>
          <a:p>
            <a:pPr algn="ctr"/>
            <a:r>
              <a:rPr kumimoji="1" lang="en-US" altLang="zh-CN" sz="900" dirty="0">
                <a:solidFill>
                  <a:srgbClr val="404040"/>
                </a:solidFill>
                <a:latin typeface="华文楷体" panose="02010600040101010101" pitchFamily="2" charset="-122"/>
                <a:ea typeface="华文楷体" panose="02010600040101010101" pitchFamily="2" charset="-122"/>
              </a:rPr>
              <a:t>web-pc-log</a:t>
            </a:r>
            <a:endParaRPr kumimoji="1" lang="zh-CN" altLang="en-US" sz="900" dirty="0">
              <a:solidFill>
                <a:srgbClr val="404040"/>
              </a:solidFill>
              <a:latin typeface="华文楷体" panose="02010600040101010101" pitchFamily="2" charset="-122"/>
              <a:ea typeface="华文楷体" panose="02010600040101010101" pitchFamily="2" charset="-122"/>
            </a:endParaRPr>
          </a:p>
        </p:txBody>
      </p:sp>
      <p:sp>
        <p:nvSpPr>
          <p:cNvPr id="250" name="五边形 249"/>
          <p:cNvSpPr/>
          <p:nvPr/>
        </p:nvSpPr>
        <p:spPr>
          <a:xfrm>
            <a:off x="10485119" y="5497292"/>
            <a:ext cx="1534455" cy="336490"/>
          </a:xfrm>
          <a:prstGeom prst="homePlate">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华文楷体" panose="02010600040101010101" pitchFamily="2" charset="-122"/>
                <a:ea typeface="华文楷体" panose="02010600040101010101" pitchFamily="2" charset="-122"/>
              </a:rPr>
              <a:t>监控与告警</a:t>
            </a:r>
            <a:endParaRPr lang="zh-CN" altLang="en-US" sz="1100" dirty="0">
              <a:latin typeface="华文楷体" panose="02010600040101010101" pitchFamily="2" charset="-122"/>
              <a:ea typeface="华文楷体" panose="02010600040101010101" pitchFamily="2" charset="-122"/>
            </a:endParaRPr>
          </a:p>
        </p:txBody>
      </p:sp>
      <p:cxnSp>
        <p:nvCxnSpPr>
          <p:cNvPr id="251" name="直线箭头连接符 250"/>
          <p:cNvCxnSpPr>
            <a:stCxn id="249" idx="3"/>
            <a:endCxn id="250" idx="1"/>
          </p:cNvCxnSpPr>
          <p:nvPr/>
        </p:nvCxnSpPr>
        <p:spPr>
          <a:xfrm flipV="1">
            <a:off x="9829518" y="5665537"/>
            <a:ext cx="655601" cy="67761"/>
          </a:xfrm>
          <a:prstGeom prst="straightConnector1">
            <a:avLst/>
          </a:prstGeom>
          <a:ln w="25400">
            <a:solidFill>
              <a:srgbClr val="404040"/>
            </a:solidFill>
            <a:tailEnd type="triangle"/>
          </a:ln>
        </p:spPr>
        <p:style>
          <a:lnRef idx="1">
            <a:schemeClr val="accent1"/>
          </a:lnRef>
          <a:fillRef idx="0">
            <a:schemeClr val="accent1"/>
          </a:fillRef>
          <a:effectRef idx="0">
            <a:schemeClr val="accent1"/>
          </a:effectRef>
          <a:fontRef idx="minor">
            <a:schemeClr val="tx1"/>
          </a:fontRef>
        </p:style>
      </p:cxnSp>
      <p:sp>
        <p:nvSpPr>
          <p:cNvPr id="252" name="文本框 251"/>
          <p:cNvSpPr txBox="1"/>
          <p:nvPr/>
        </p:nvSpPr>
        <p:spPr>
          <a:xfrm>
            <a:off x="2897246" y="3672202"/>
            <a:ext cx="1031051" cy="261610"/>
          </a:xfrm>
          <a:prstGeom prst="rect">
            <a:avLst/>
          </a:prstGeom>
          <a:solidFill>
            <a:schemeClr val="bg1"/>
          </a:solidFill>
        </p:spPr>
        <p:txBody>
          <a:bodyPr wrap="none" rtlCol="0">
            <a:spAutoFit/>
          </a:bodyPr>
          <a:lstStyle>
            <a:defPPr>
              <a:defRPr lang="zh-CN"/>
            </a:defPPr>
            <a:lvl1pPr>
              <a:defRPr kumimoji="1" sz="1100">
                <a:solidFill>
                  <a:srgbClr val="C00000"/>
                </a:solidFill>
                <a:latin typeface="微软雅黑 Light" panose="020B0502040204020203" pitchFamily="34" charset="-122"/>
                <a:ea typeface="微软雅黑 Light" panose="020B0502040204020203" pitchFamily="34" charset="-122"/>
              </a:defRPr>
            </a:lvl1pPr>
          </a:lstStyle>
          <a:p>
            <a:r>
              <a:rPr lang="zh-CN" altLang="en-US" dirty="0">
                <a:solidFill>
                  <a:srgbClr val="404040"/>
                </a:solidFill>
                <a:latin typeface="华文楷体" panose="02010600040101010101" pitchFamily="2" charset="-122"/>
                <a:ea typeface="华文楷体" panose="02010600040101010101" pitchFamily="2" charset="-122"/>
              </a:rPr>
              <a:t>触发批量调度</a:t>
            </a:r>
            <a:endParaRPr lang="zh-CN" altLang="en-US" dirty="0">
              <a:solidFill>
                <a:srgbClr val="404040"/>
              </a:solidFill>
              <a:latin typeface="华文楷体" panose="02010600040101010101" pitchFamily="2" charset="-122"/>
              <a:ea typeface="华文楷体" panose="02010600040101010101" pitchFamily="2" charset="-122"/>
            </a:endParaRPr>
          </a:p>
        </p:txBody>
      </p:sp>
      <p:cxnSp>
        <p:nvCxnSpPr>
          <p:cNvPr id="253" name="直线箭头连接符 252"/>
          <p:cNvCxnSpPr>
            <a:stCxn id="180" idx="3"/>
            <a:endCxn id="249" idx="1"/>
          </p:cNvCxnSpPr>
          <p:nvPr/>
        </p:nvCxnSpPr>
        <p:spPr>
          <a:xfrm flipV="1">
            <a:off x="6362663" y="5733298"/>
            <a:ext cx="1517899" cy="87"/>
          </a:xfrm>
          <a:prstGeom prst="straightConnector1">
            <a:avLst/>
          </a:prstGeom>
          <a:ln w="25400">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54" name="文本框 253"/>
          <p:cNvSpPr txBox="1"/>
          <p:nvPr/>
        </p:nvSpPr>
        <p:spPr>
          <a:xfrm>
            <a:off x="6427454" y="5599222"/>
            <a:ext cx="1313180" cy="261610"/>
          </a:xfrm>
          <a:prstGeom prst="rect">
            <a:avLst/>
          </a:prstGeom>
          <a:solidFill>
            <a:schemeClr val="bg1"/>
          </a:solidFill>
        </p:spPr>
        <p:txBody>
          <a:bodyPr wrap="none" rtlCol="0">
            <a:spAutoFit/>
          </a:bodyPr>
          <a:lstStyle>
            <a:defPPr>
              <a:defRPr lang="zh-CN"/>
            </a:defPPr>
            <a:lvl1pPr>
              <a:defRPr kumimoji="1" sz="1100">
                <a:solidFill>
                  <a:srgbClr val="C00000"/>
                </a:solidFill>
                <a:latin typeface="微软雅黑 Light" panose="020B0502040204020203" pitchFamily="34" charset="-122"/>
                <a:ea typeface="微软雅黑 Light" panose="020B0502040204020203" pitchFamily="34" charset="-122"/>
              </a:defRPr>
            </a:lvl1pPr>
          </a:lstStyle>
          <a:p>
            <a:r>
              <a:rPr lang="zh-CN" altLang="en-US" dirty="0">
                <a:latin typeface="华文楷体" panose="02010600040101010101" pitchFamily="2" charset="-122"/>
                <a:ea typeface="华文楷体" panose="02010600040101010101" pitchFamily="2" charset="-122"/>
              </a:rPr>
              <a:t>湖仓一体状态监控</a:t>
            </a:r>
            <a:endParaRPr lang="zh-CN" altLang="en-US" dirty="0">
              <a:latin typeface="华文楷体" panose="02010600040101010101" pitchFamily="2" charset="-122"/>
              <a:ea typeface="华文楷体" panose="02010600040101010101" pitchFamily="2" charset="-122"/>
            </a:endParaRPr>
          </a:p>
        </p:txBody>
      </p:sp>
      <p:sp>
        <p:nvSpPr>
          <p:cNvPr id="255" name="文本框 254"/>
          <p:cNvSpPr txBox="1"/>
          <p:nvPr/>
        </p:nvSpPr>
        <p:spPr>
          <a:xfrm>
            <a:off x="9916422" y="5502442"/>
            <a:ext cx="466794" cy="430887"/>
          </a:xfrm>
          <a:prstGeom prst="rect">
            <a:avLst/>
          </a:prstGeom>
          <a:solidFill>
            <a:schemeClr val="bg1"/>
          </a:solidFill>
        </p:spPr>
        <p:txBody>
          <a:bodyPr wrap="none" rtlCol="0">
            <a:spAutoFit/>
          </a:bodyPr>
          <a:lstStyle>
            <a:defPPr>
              <a:defRPr lang="zh-CN"/>
            </a:defPPr>
            <a:lvl1pPr>
              <a:defRPr kumimoji="1" sz="1100">
                <a:solidFill>
                  <a:srgbClr val="C00000"/>
                </a:solidFill>
                <a:latin typeface="微软雅黑 Light" panose="020B0502040204020203" pitchFamily="34" charset="-122"/>
                <a:ea typeface="微软雅黑 Light" panose="020B0502040204020203" pitchFamily="34" charset="-122"/>
              </a:defRPr>
            </a:lvl1pPr>
          </a:lstStyle>
          <a:p>
            <a:r>
              <a:rPr lang="zh-CN" altLang="en-US" dirty="0">
                <a:solidFill>
                  <a:srgbClr val="7F7F7F"/>
                </a:solidFill>
                <a:latin typeface="华文楷体" panose="02010600040101010101" pitchFamily="2" charset="-122"/>
                <a:ea typeface="华文楷体" panose="02010600040101010101" pitchFamily="2" charset="-122"/>
              </a:rPr>
              <a:t>推送</a:t>
            </a:r>
            <a:endParaRPr lang="en-US" altLang="zh-CN" dirty="0">
              <a:solidFill>
                <a:srgbClr val="7F7F7F"/>
              </a:solidFill>
              <a:latin typeface="华文楷体" panose="02010600040101010101" pitchFamily="2" charset="-122"/>
              <a:ea typeface="华文楷体" panose="02010600040101010101" pitchFamily="2" charset="-122"/>
            </a:endParaRPr>
          </a:p>
          <a:p>
            <a:r>
              <a:rPr lang="zh-CN" altLang="en-US" dirty="0">
                <a:solidFill>
                  <a:srgbClr val="7F7F7F"/>
                </a:solidFill>
                <a:latin typeface="华文楷体" panose="02010600040101010101" pitchFamily="2" charset="-122"/>
                <a:ea typeface="华文楷体" panose="02010600040101010101" pitchFamily="2" charset="-122"/>
              </a:rPr>
              <a:t>监控</a:t>
            </a:r>
            <a:endParaRPr lang="zh-CN" altLang="en-US" dirty="0">
              <a:solidFill>
                <a:srgbClr val="7F7F7F"/>
              </a:solidFill>
              <a:latin typeface="华文楷体" panose="02010600040101010101" pitchFamily="2" charset="-122"/>
              <a:ea typeface="华文楷体" panose="02010600040101010101" pitchFamily="2" charset="-122"/>
            </a:endParaRPr>
          </a:p>
        </p:txBody>
      </p:sp>
      <p:sp>
        <p:nvSpPr>
          <p:cNvPr id="256" name="文本框 255"/>
          <p:cNvSpPr txBox="1"/>
          <p:nvPr/>
        </p:nvSpPr>
        <p:spPr>
          <a:xfrm>
            <a:off x="2973035" y="1514066"/>
            <a:ext cx="889987" cy="261610"/>
          </a:xfrm>
          <a:prstGeom prst="rect">
            <a:avLst/>
          </a:prstGeom>
          <a:solidFill>
            <a:schemeClr val="bg1"/>
          </a:solidFill>
        </p:spPr>
        <p:txBody>
          <a:bodyPr wrap="none" rtlCol="0">
            <a:spAutoFit/>
          </a:bodyPr>
          <a:lstStyle/>
          <a:p>
            <a:r>
              <a:rPr kumimoji="1" lang="zh-CN" altLang="en-US" sz="1100" dirty="0">
                <a:solidFill>
                  <a:srgbClr val="404040"/>
                </a:solidFill>
                <a:latin typeface="华文楷体" panose="02010600040101010101" pitchFamily="2" charset="-122"/>
                <a:ea typeface="华文楷体" panose="02010600040101010101" pitchFamily="2" charset="-122"/>
              </a:rPr>
              <a:t>转换实体表</a:t>
            </a:r>
            <a:endParaRPr kumimoji="1" lang="zh-CN" altLang="en-US" sz="1100" dirty="0">
              <a:solidFill>
                <a:srgbClr val="404040"/>
              </a:solidFill>
              <a:latin typeface="华文楷体" panose="02010600040101010101" pitchFamily="2" charset="-122"/>
              <a:ea typeface="华文楷体" panose="02010600040101010101" pitchFamily="2" charset="-122"/>
            </a:endParaRPr>
          </a:p>
        </p:txBody>
      </p:sp>
      <p:cxnSp>
        <p:nvCxnSpPr>
          <p:cNvPr id="257" name="肘形连接符 256"/>
          <p:cNvCxnSpPr>
            <a:stCxn id="207" idx="3"/>
            <a:endCxn id="232" idx="0"/>
          </p:cNvCxnSpPr>
          <p:nvPr/>
        </p:nvCxnSpPr>
        <p:spPr>
          <a:xfrm>
            <a:off x="2465271" y="847094"/>
            <a:ext cx="6441046" cy="697525"/>
          </a:xfrm>
          <a:prstGeom prst="bentConnector2">
            <a:avLst/>
          </a:prstGeom>
          <a:ln w="25400">
            <a:solidFill>
              <a:srgbClr val="40404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58" name="肘形连接符 257"/>
          <p:cNvCxnSpPr/>
          <p:nvPr/>
        </p:nvCxnSpPr>
        <p:spPr>
          <a:xfrm rot="16200000" flipH="1">
            <a:off x="5049838" y="4210140"/>
            <a:ext cx="1452835" cy="273676"/>
          </a:xfrm>
          <a:prstGeom prst="bentConnector3">
            <a:avLst>
              <a:gd name="adj1" fmla="val 26060"/>
            </a:avLst>
          </a:prstGeom>
          <a:ln w="25400">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59" name="直线箭头连接符 258"/>
          <p:cNvCxnSpPr>
            <a:stCxn id="207" idx="2"/>
          </p:cNvCxnSpPr>
          <p:nvPr/>
        </p:nvCxnSpPr>
        <p:spPr>
          <a:xfrm flipH="1">
            <a:off x="1483728" y="1021431"/>
            <a:ext cx="0" cy="432000"/>
          </a:xfrm>
          <a:prstGeom prst="straightConnector1">
            <a:avLst/>
          </a:prstGeom>
          <a:ln w="25400">
            <a:solidFill>
              <a:srgbClr val="40404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60" name="直线箭头连接符 259"/>
          <p:cNvCxnSpPr>
            <a:endCxn id="236" idx="2"/>
          </p:cNvCxnSpPr>
          <p:nvPr/>
        </p:nvCxnSpPr>
        <p:spPr>
          <a:xfrm flipV="1">
            <a:off x="9669384" y="1758496"/>
            <a:ext cx="1051149" cy="0"/>
          </a:xfrm>
          <a:prstGeom prst="straightConnector1">
            <a:avLst/>
          </a:prstGeom>
          <a:ln w="25400">
            <a:solidFill>
              <a:srgbClr val="404040"/>
            </a:solidFill>
            <a:tailEnd type="triangle"/>
          </a:ln>
        </p:spPr>
        <p:style>
          <a:lnRef idx="1">
            <a:schemeClr val="accent1"/>
          </a:lnRef>
          <a:fillRef idx="0">
            <a:schemeClr val="accent1"/>
          </a:fillRef>
          <a:effectRef idx="0">
            <a:schemeClr val="accent1"/>
          </a:effectRef>
          <a:fontRef idx="minor">
            <a:schemeClr val="tx1"/>
          </a:fontRef>
        </p:style>
      </p:cxnSp>
      <p:sp>
        <p:nvSpPr>
          <p:cNvPr id="261" name="文本框 260"/>
          <p:cNvSpPr txBox="1"/>
          <p:nvPr/>
        </p:nvSpPr>
        <p:spPr>
          <a:xfrm>
            <a:off x="9817756" y="1602955"/>
            <a:ext cx="748923" cy="261610"/>
          </a:xfrm>
          <a:prstGeom prst="rect">
            <a:avLst/>
          </a:prstGeom>
          <a:solidFill>
            <a:schemeClr val="bg1"/>
          </a:solidFill>
          <a:ln>
            <a:solidFill>
              <a:schemeClr val="bg1"/>
            </a:solidFill>
          </a:ln>
        </p:spPr>
        <p:txBody>
          <a:bodyPr wrap="none" rtlCol="0">
            <a:spAutoFit/>
          </a:bodyPr>
          <a:lstStyle>
            <a:defPPr>
              <a:defRPr lang="zh-CN"/>
            </a:defPPr>
            <a:lvl1pPr>
              <a:defRPr kumimoji="1" sz="1100">
                <a:solidFill>
                  <a:srgbClr val="C00000"/>
                </a:solidFill>
                <a:latin typeface="微软雅黑 Light" panose="020B0502040204020203" pitchFamily="34" charset="-122"/>
                <a:ea typeface="微软雅黑 Light" panose="020B0502040204020203" pitchFamily="34" charset="-122"/>
              </a:defRPr>
            </a:lvl1pPr>
          </a:lstStyle>
          <a:p>
            <a:r>
              <a:rPr lang="zh-CN" altLang="en-US" dirty="0">
                <a:solidFill>
                  <a:srgbClr val="404040"/>
                </a:solidFill>
                <a:latin typeface="华文楷体" panose="02010600040101010101" pitchFamily="2" charset="-122"/>
                <a:ea typeface="华文楷体" panose="02010600040101010101" pitchFamily="2" charset="-122"/>
              </a:rPr>
              <a:t>批量下发</a:t>
            </a:r>
            <a:endParaRPr lang="zh-CN" altLang="en-US" dirty="0">
              <a:solidFill>
                <a:srgbClr val="404040"/>
              </a:solidFill>
              <a:latin typeface="华文楷体" panose="02010600040101010101" pitchFamily="2" charset="-122"/>
              <a:ea typeface="华文楷体" panose="02010600040101010101" pitchFamily="2" charset="-122"/>
            </a:endParaRPr>
          </a:p>
        </p:txBody>
      </p:sp>
      <p:cxnSp>
        <p:nvCxnSpPr>
          <p:cNvPr id="262" name="直线箭头连接符 261"/>
          <p:cNvCxnSpPr/>
          <p:nvPr/>
        </p:nvCxnSpPr>
        <p:spPr>
          <a:xfrm flipV="1">
            <a:off x="9669384" y="2443799"/>
            <a:ext cx="1051149" cy="0"/>
          </a:xfrm>
          <a:prstGeom prst="straightConnector1">
            <a:avLst/>
          </a:prstGeom>
          <a:ln w="25400">
            <a:solidFill>
              <a:srgbClr val="404040"/>
            </a:solidFill>
            <a:tailEnd type="triangle"/>
          </a:ln>
        </p:spPr>
        <p:style>
          <a:lnRef idx="1">
            <a:schemeClr val="accent1"/>
          </a:lnRef>
          <a:fillRef idx="0">
            <a:schemeClr val="accent1"/>
          </a:fillRef>
          <a:effectRef idx="0">
            <a:schemeClr val="accent1"/>
          </a:effectRef>
          <a:fontRef idx="minor">
            <a:schemeClr val="tx1"/>
          </a:fontRef>
        </p:style>
      </p:cxnSp>
      <p:sp>
        <p:nvSpPr>
          <p:cNvPr id="263" name="文本框 262"/>
          <p:cNvSpPr txBox="1"/>
          <p:nvPr/>
        </p:nvSpPr>
        <p:spPr>
          <a:xfrm>
            <a:off x="9817756" y="2288258"/>
            <a:ext cx="748923" cy="261610"/>
          </a:xfrm>
          <a:prstGeom prst="rect">
            <a:avLst/>
          </a:prstGeom>
          <a:solidFill>
            <a:schemeClr val="bg1"/>
          </a:solidFill>
          <a:ln>
            <a:solidFill>
              <a:schemeClr val="bg1"/>
            </a:solidFill>
          </a:ln>
        </p:spPr>
        <p:txBody>
          <a:bodyPr wrap="none" rtlCol="0">
            <a:spAutoFit/>
          </a:bodyPr>
          <a:lstStyle>
            <a:defPPr>
              <a:defRPr lang="zh-CN"/>
            </a:defPPr>
            <a:lvl1pPr>
              <a:defRPr kumimoji="1" sz="1100">
                <a:solidFill>
                  <a:srgbClr val="C00000"/>
                </a:solidFill>
                <a:latin typeface="微软雅黑 Light" panose="020B0502040204020203" pitchFamily="34" charset="-122"/>
                <a:ea typeface="微软雅黑 Light" panose="020B0502040204020203" pitchFamily="34" charset="-122"/>
              </a:defRPr>
            </a:lvl1pPr>
          </a:lstStyle>
          <a:p>
            <a:r>
              <a:rPr lang="zh-CN" altLang="en-US" dirty="0">
                <a:solidFill>
                  <a:srgbClr val="404040"/>
                </a:solidFill>
                <a:latin typeface="华文楷体" panose="02010600040101010101" pitchFamily="2" charset="-122"/>
                <a:ea typeface="华文楷体" panose="02010600040101010101" pitchFamily="2" charset="-122"/>
              </a:rPr>
              <a:t>数据查询</a:t>
            </a:r>
            <a:endParaRPr lang="zh-CN" altLang="en-US" dirty="0">
              <a:solidFill>
                <a:srgbClr val="404040"/>
              </a:solidFill>
              <a:latin typeface="华文楷体" panose="02010600040101010101" pitchFamily="2" charset="-122"/>
              <a:ea typeface="华文楷体" panose="02010600040101010101" pitchFamily="2" charset="-122"/>
            </a:endParaRPr>
          </a:p>
        </p:txBody>
      </p:sp>
      <p:sp>
        <p:nvSpPr>
          <p:cNvPr id="264" name="文本框 263"/>
          <p:cNvSpPr txBox="1"/>
          <p:nvPr/>
        </p:nvSpPr>
        <p:spPr>
          <a:xfrm>
            <a:off x="5691534" y="4140420"/>
            <a:ext cx="466794" cy="261610"/>
          </a:xfrm>
          <a:prstGeom prst="rect">
            <a:avLst/>
          </a:prstGeom>
          <a:solidFill>
            <a:schemeClr val="bg1"/>
          </a:solidFill>
        </p:spPr>
        <p:txBody>
          <a:bodyPr wrap="none" rtlCol="0">
            <a:spAutoFit/>
          </a:bodyPr>
          <a:lstStyle>
            <a:defPPr>
              <a:defRPr lang="zh-CN"/>
            </a:defPPr>
            <a:lvl1pPr>
              <a:defRPr kumimoji="1" sz="1100">
                <a:solidFill>
                  <a:srgbClr val="C00000"/>
                </a:solidFill>
                <a:latin typeface="微软雅黑 Light" panose="020B0502040204020203" pitchFamily="34" charset="-122"/>
                <a:ea typeface="微软雅黑 Light" panose="020B0502040204020203" pitchFamily="34" charset="-122"/>
              </a:defRPr>
            </a:lvl1pPr>
          </a:lstStyle>
          <a:p>
            <a:r>
              <a:rPr lang="zh-CN" altLang="en-US" dirty="0">
                <a:latin typeface="华文楷体" panose="02010600040101010101" pitchFamily="2" charset="-122"/>
                <a:ea typeface="华文楷体" panose="02010600040101010101" pitchFamily="2" charset="-122"/>
              </a:rPr>
              <a:t>监控</a:t>
            </a:r>
            <a:endParaRPr lang="zh-CN" altLang="en-US" dirty="0">
              <a:latin typeface="华文楷体" panose="02010600040101010101" pitchFamily="2" charset="-122"/>
              <a:ea typeface="华文楷体" panose="02010600040101010101" pitchFamily="2" charset="-122"/>
            </a:endParaRPr>
          </a:p>
        </p:txBody>
      </p:sp>
      <p:sp>
        <p:nvSpPr>
          <p:cNvPr id="265" name="文本框 264"/>
          <p:cNvSpPr txBox="1"/>
          <p:nvPr/>
        </p:nvSpPr>
        <p:spPr>
          <a:xfrm>
            <a:off x="953702" y="1107677"/>
            <a:ext cx="1031051" cy="261610"/>
          </a:xfrm>
          <a:prstGeom prst="rect">
            <a:avLst/>
          </a:prstGeom>
          <a:solidFill>
            <a:schemeClr val="bg1"/>
          </a:solidFill>
        </p:spPr>
        <p:txBody>
          <a:bodyPr wrap="none" rtlCol="0">
            <a:spAutoFit/>
          </a:bodyPr>
          <a:lstStyle>
            <a:defPPr>
              <a:defRPr lang="zh-CN"/>
            </a:defPPr>
            <a:lvl1pPr>
              <a:defRPr kumimoji="1" sz="1100">
                <a:solidFill>
                  <a:srgbClr val="C00000"/>
                </a:solidFill>
                <a:latin typeface="微软雅黑 Light" panose="020B0502040204020203" pitchFamily="34" charset="-122"/>
                <a:ea typeface="微软雅黑 Light" panose="020B0502040204020203" pitchFamily="34" charset="-122"/>
              </a:defRPr>
            </a:lvl1pPr>
          </a:lstStyle>
          <a:p>
            <a:r>
              <a:rPr lang="zh-CN" altLang="en-US" dirty="0">
                <a:solidFill>
                  <a:srgbClr val="404040"/>
                </a:solidFill>
                <a:latin typeface="华文楷体" panose="02010600040101010101" pitchFamily="2" charset="-122"/>
                <a:ea typeface="华文楷体" panose="02010600040101010101" pitchFamily="2" charset="-122"/>
              </a:rPr>
              <a:t>触发抽取任务</a:t>
            </a:r>
            <a:endParaRPr lang="zh-CN" altLang="en-US" dirty="0">
              <a:solidFill>
                <a:srgbClr val="404040"/>
              </a:solidFill>
              <a:latin typeface="华文楷体" panose="02010600040101010101" pitchFamily="2" charset="-122"/>
              <a:ea typeface="华文楷体" panose="02010600040101010101" pitchFamily="2" charset="-122"/>
            </a:endParaRPr>
          </a:p>
        </p:txBody>
      </p:sp>
      <p:cxnSp>
        <p:nvCxnSpPr>
          <p:cNvPr id="266" name="直线箭头连接符 265"/>
          <p:cNvCxnSpPr>
            <a:stCxn id="211" idx="0"/>
            <a:endCxn id="256" idx="2"/>
          </p:cNvCxnSpPr>
          <p:nvPr/>
        </p:nvCxnSpPr>
        <p:spPr>
          <a:xfrm flipV="1">
            <a:off x="3413571" y="1775676"/>
            <a:ext cx="0" cy="986927"/>
          </a:xfrm>
          <a:prstGeom prst="straightConnector1">
            <a:avLst/>
          </a:prstGeom>
          <a:ln w="25400">
            <a:solidFill>
              <a:srgbClr val="40404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67" name="文本框 266"/>
          <p:cNvSpPr txBox="1"/>
          <p:nvPr/>
        </p:nvSpPr>
        <p:spPr>
          <a:xfrm>
            <a:off x="2885757" y="2173884"/>
            <a:ext cx="1031051" cy="261610"/>
          </a:xfrm>
          <a:prstGeom prst="rect">
            <a:avLst/>
          </a:prstGeom>
          <a:solidFill>
            <a:schemeClr val="bg1"/>
          </a:solidFill>
        </p:spPr>
        <p:txBody>
          <a:bodyPr wrap="none" rtlCol="0">
            <a:spAutoFit/>
          </a:bodyPr>
          <a:lstStyle>
            <a:defPPr>
              <a:defRPr lang="zh-CN"/>
            </a:defPPr>
            <a:lvl1pPr>
              <a:defRPr kumimoji="1" sz="1100">
                <a:solidFill>
                  <a:srgbClr val="C00000"/>
                </a:solidFill>
                <a:latin typeface="微软雅黑 Light" panose="020B0502040204020203" pitchFamily="34" charset="-122"/>
                <a:ea typeface="微软雅黑 Light" panose="020B0502040204020203" pitchFamily="34" charset="-122"/>
              </a:defRPr>
            </a:lvl1pPr>
          </a:lstStyle>
          <a:p>
            <a:r>
              <a:rPr lang="zh-CN" altLang="en-US" dirty="0">
                <a:solidFill>
                  <a:srgbClr val="404040"/>
                </a:solidFill>
                <a:latin typeface="华文楷体" panose="02010600040101010101" pitchFamily="2" charset="-122"/>
                <a:ea typeface="华文楷体" panose="02010600040101010101" pitchFamily="2" charset="-122"/>
              </a:rPr>
              <a:t>执行批量任务</a:t>
            </a:r>
            <a:endParaRPr lang="zh-CN" altLang="en-US" dirty="0">
              <a:solidFill>
                <a:srgbClr val="404040"/>
              </a:solidFill>
              <a:latin typeface="华文楷体" panose="02010600040101010101" pitchFamily="2" charset="-122"/>
              <a:ea typeface="华文楷体" panose="02010600040101010101" pitchFamily="2" charset="-122"/>
            </a:endParaRPr>
          </a:p>
        </p:txBody>
      </p:sp>
      <p:sp>
        <p:nvSpPr>
          <p:cNvPr id="268" name="矩形 267"/>
          <p:cNvSpPr/>
          <p:nvPr/>
        </p:nvSpPr>
        <p:spPr>
          <a:xfrm>
            <a:off x="2808658" y="5761519"/>
            <a:ext cx="1223681" cy="566613"/>
          </a:xfrm>
          <a:prstGeom prst="rect">
            <a:avLst/>
          </a:prstGeom>
          <a:solidFill>
            <a:srgbClr val="40404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latin typeface="华文楷体" panose="02010600040101010101" pitchFamily="2" charset="-122"/>
              <a:ea typeface="华文楷体" panose="02010600040101010101" pitchFamily="2" charset="-122"/>
            </a:endParaRPr>
          </a:p>
        </p:txBody>
      </p:sp>
      <p:sp>
        <p:nvSpPr>
          <p:cNvPr id="269" name="矩形 268"/>
          <p:cNvSpPr/>
          <p:nvPr/>
        </p:nvSpPr>
        <p:spPr>
          <a:xfrm>
            <a:off x="2808657" y="5855490"/>
            <a:ext cx="1223681" cy="37867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华文楷体" panose="02010600040101010101" pitchFamily="2" charset="-122"/>
                <a:ea typeface="华文楷体" panose="02010600040101010101" pitchFamily="2" charset="-122"/>
              </a:rPr>
              <a:t>备文件服务器</a:t>
            </a:r>
            <a:endParaRPr lang="zh-CN" altLang="en-US" sz="1200" dirty="0">
              <a:latin typeface="华文楷体" panose="02010600040101010101" pitchFamily="2" charset="-122"/>
              <a:ea typeface="华文楷体" panose="02010600040101010101" pitchFamily="2" charset="-122"/>
            </a:endParaRPr>
          </a:p>
        </p:txBody>
      </p:sp>
      <p:cxnSp>
        <p:nvCxnSpPr>
          <p:cNvPr id="270" name="直线箭头连接符 269"/>
          <p:cNvCxnSpPr>
            <a:stCxn id="209" idx="2"/>
          </p:cNvCxnSpPr>
          <p:nvPr/>
        </p:nvCxnSpPr>
        <p:spPr>
          <a:xfrm>
            <a:off x="3413571" y="4796948"/>
            <a:ext cx="578" cy="939171"/>
          </a:xfrm>
          <a:prstGeom prst="straightConnector1">
            <a:avLst/>
          </a:prstGeom>
          <a:ln w="25400">
            <a:solidFill>
              <a:srgbClr val="40404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71" name="文本框 270"/>
          <p:cNvSpPr txBox="1"/>
          <p:nvPr/>
        </p:nvSpPr>
        <p:spPr>
          <a:xfrm>
            <a:off x="2824290" y="5382466"/>
            <a:ext cx="1156086" cy="261610"/>
          </a:xfrm>
          <a:prstGeom prst="rect">
            <a:avLst/>
          </a:prstGeom>
          <a:solidFill>
            <a:schemeClr val="bg1"/>
          </a:solidFill>
          <a:ln>
            <a:solidFill>
              <a:schemeClr val="bg1"/>
            </a:solidFill>
          </a:ln>
        </p:spPr>
        <p:txBody>
          <a:bodyPr wrap="none" rtlCol="0">
            <a:spAutoFit/>
          </a:bodyPr>
          <a:lstStyle>
            <a:defPPr>
              <a:defRPr lang="zh-CN"/>
            </a:defPPr>
            <a:lvl1pPr>
              <a:defRPr kumimoji="1" sz="1100">
                <a:solidFill>
                  <a:srgbClr val="C00000"/>
                </a:solidFill>
                <a:latin typeface="微软雅黑 Light" panose="020B0502040204020203" pitchFamily="34" charset="-122"/>
                <a:ea typeface="微软雅黑 Light" panose="020B0502040204020203" pitchFamily="34" charset="-122"/>
              </a:defRPr>
            </a:lvl1pPr>
          </a:lstStyle>
          <a:p>
            <a:r>
              <a:rPr lang="zh-CN" altLang="en-US" dirty="0">
                <a:solidFill>
                  <a:srgbClr val="404040"/>
                </a:solidFill>
                <a:latin typeface="华文楷体" panose="02010600040101010101" pitchFamily="2" charset="-122"/>
                <a:ea typeface="华文楷体" panose="02010600040101010101" pitchFamily="2" charset="-122"/>
              </a:rPr>
              <a:t>  同步备份文件 </a:t>
            </a:r>
            <a:endParaRPr lang="zh-CN" altLang="en-US" dirty="0">
              <a:solidFill>
                <a:srgbClr val="404040"/>
              </a:solidFill>
              <a:latin typeface="华文楷体" panose="02010600040101010101" pitchFamily="2" charset="-122"/>
              <a:ea typeface="华文楷体" panose="02010600040101010101" pitchFamily="2" charset="-122"/>
            </a:endParaRPr>
          </a:p>
        </p:txBody>
      </p:sp>
      <p:sp>
        <p:nvSpPr>
          <p:cNvPr id="272" name="文本框 271"/>
          <p:cNvSpPr txBox="1"/>
          <p:nvPr/>
        </p:nvSpPr>
        <p:spPr>
          <a:xfrm>
            <a:off x="2814255" y="4924371"/>
            <a:ext cx="1172116" cy="261610"/>
          </a:xfrm>
          <a:prstGeom prst="rect">
            <a:avLst/>
          </a:prstGeom>
          <a:solidFill>
            <a:schemeClr val="bg1"/>
          </a:solidFill>
          <a:ln>
            <a:solidFill>
              <a:schemeClr val="bg1"/>
            </a:solidFill>
          </a:ln>
        </p:spPr>
        <p:txBody>
          <a:bodyPr wrap="none" rtlCol="0">
            <a:spAutoFit/>
          </a:bodyPr>
          <a:lstStyle>
            <a:defPPr>
              <a:defRPr lang="zh-CN"/>
            </a:defPPr>
            <a:lvl1pPr>
              <a:defRPr kumimoji="1" sz="1100">
                <a:solidFill>
                  <a:srgbClr val="C00000"/>
                </a:solidFill>
                <a:latin typeface="微软雅黑 Light" panose="020B0502040204020203" pitchFamily="34" charset="-122"/>
                <a:ea typeface="微软雅黑 Light" panose="020B0502040204020203" pitchFamily="34" charset="-122"/>
              </a:defRPr>
            </a:lvl1pPr>
          </a:lstStyle>
          <a:p>
            <a:r>
              <a:rPr lang="zh-CN" altLang="en-US" dirty="0">
                <a:solidFill>
                  <a:srgbClr val="404040"/>
                </a:solidFill>
                <a:latin typeface="华文楷体" panose="02010600040101010101" pitchFamily="2" charset="-122"/>
                <a:ea typeface="华文楷体" panose="02010600040101010101" pitchFamily="2" charset="-122"/>
              </a:rPr>
              <a:t>源系统文件落地</a:t>
            </a:r>
            <a:endParaRPr lang="zh-CN" altLang="en-US" dirty="0">
              <a:solidFill>
                <a:srgbClr val="404040"/>
              </a:solidFill>
              <a:latin typeface="华文楷体" panose="02010600040101010101" pitchFamily="2" charset="-122"/>
              <a:ea typeface="华文楷体" panose="02010600040101010101" pitchFamily="2" charset="-122"/>
            </a:endParaRPr>
          </a:p>
        </p:txBody>
      </p:sp>
      <p:cxnSp>
        <p:nvCxnSpPr>
          <p:cNvPr id="273" name="肘形连接符 272"/>
          <p:cNvCxnSpPr>
            <a:stCxn id="207" idx="1"/>
            <a:endCxn id="250" idx="2"/>
          </p:cNvCxnSpPr>
          <p:nvPr/>
        </p:nvCxnSpPr>
        <p:spPr>
          <a:xfrm rot="10800000" flipH="1" flipV="1">
            <a:off x="746592" y="847094"/>
            <a:ext cx="10421631" cy="4986688"/>
          </a:xfrm>
          <a:prstGeom prst="bentConnector4">
            <a:avLst>
              <a:gd name="adj1" fmla="val -4887"/>
              <a:gd name="adj2" fmla="val 115840"/>
            </a:avLst>
          </a:prstGeom>
          <a:ln w="25400">
            <a:solidFill>
              <a:srgbClr val="40404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74" name="肘形连接符 273"/>
          <p:cNvCxnSpPr>
            <a:stCxn id="224" idx="2"/>
            <a:endCxn id="249" idx="0"/>
          </p:cNvCxnSpPr>
          <p:nvPr/>
        </p:nvCxnSpPr>
        <p:spPr>
          <a:xfrm rot="16200000" flipH="1">
            <a:off x="7565333" y="4236850"/>
            <a:ext cx="593434" cy="1985979"/>
          </a:xfrm>
          <a:prstGeom prst="bentConnector3">
            <a:avLst>
              <a:gd name="adj1" fmla="val 50000"/>
            </a:avLst>
          </a:prstGeom>
          <a:ln w="25400">
            <a:solidFill>
              <a:srgbClr val="40404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75" name="文本框 274"/>
          <p:cNvSpPr txBox="1"/>
          <p:nvPr/>
        </p:nvSpPr>
        <p:spPr>
          <a:xfrm>
            <a:off x="7216450" y="5169538"/>
            <a:ext cx="1172116" cy="261610"/>
          </a:xfrm>
          <a:prstGeom prst="rect">
            <a:avLst/>
          </a:prstGeom>
          <a:solidFill>
            <a:schemeClr val="bg1"/>
          </a:solidFill>
        </p:spPr>
        <p:txBody>
          <a:bodyPr wrap="none" rtlCol="0">
            <a:spAutoFit/>
          </a:bodyPr>
          <a:lstStyle>
            <a:defPPr>
              <a:defRPr lang="zh-CN"/>
            </a:defPPr>
            <a:lvl1pPr>
              <a:defRPr kumimoji="1" sz="1100">
                <a:solidFill>
                  <a:srgbClr val="C00000"/>
                </a:solidFill>
                <a:latin typeface="微软雅黑 Light" panose="020B0502040204020203" pitchFamily="34" charset="-122"/>
                <a:ea typeface="微软雅黑 Light" panose="020B0502040204020203" pitchFamily="34" charset="-122"/>
              </a:defRPr>
            </a:lvl1pPr>
          </a:lstStyle>
          <a:p>
            <a:r>
              <a:rPr lang="zh-CN" altLang="en-US" dirty="0">
                <a:solidFill>
                  <a:schemeClr val="tx1"/>
                </a:solidFill>
                <a:latin typeface="华文楷体" panose="02010600040101010101" pitchFamily="2" charset="-122"/>
                <a:ea typeface="华文楷体" panose="02010600040101010101" pitchFamily="2" charset="-122"/>
              </a:rPr>
              <a:t>数据湖状态监控</a:t>
            </a:r>
            <a:endParaRPr lang="zh-CN" altLang="en-US" dirty="0">
              <a:solidFill>
                <a:schemeClr val="tx1"/>
              </a:solidFill>
              <a:latin typeface="华文楷体" panose="02010600040101010101" pitchFamily="2" charset="-122"/>
              <a:ea typeface="华文楷体" panose="02010600040101010101" pitchFamily="2" charset="-122"/>
            </a:endParaRPr>
          </a:p>
        </p:txBody>
      </p:sp>
      <p:sp>
        <p:nvSpPr>
          <p:cNvPr id="276" name="矩形 275"/>
          <p:cNvSpPr/>
          <p:nvPr/>
        </p:nvSpPr>
        <p:spPr>
          <a:xfrm>
            <a:off x="4274055" y="1063042"/>
            <a:ext cx="3294219" cy="1042021"/>
          </a:xfrm>
          <a:prstGeom prst="rect">
            <a:avLst/>
          </a:prstGeom>
          <a:noFill/>
          <a:ln w="2857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华文楷体" panose="02010600040101010101" pitchFamily="2" charset="-122"/>
              <a:ea typeface="华文楷体" panose="02010600040101010101" pitchFamily="2" charset="-122"/>
            </a:endParaRPr>
          </a:p>
        </p:txBody>
      </p:sp>
      <p:cxnSp>
        <p:nvCxnSpPr>
          <p:cNvPr id="277" name="肘形连接符 276"/>
          <p:cNvCxnSpPr>
            <a:stCxn id="256" idx="0"/>
            <a:endCxn id="280" idx="1"/>
          </p:cNvCxnSpPr>
          <p:nvPr/>
        </p:nvCxnSpPr>
        <p:spPr>
          <a:xfrm rot="5400000" flipH="1" flipV="1">
            <a:off x="3796697" y="888200"/>
            <a:ext cx="247198" cy="1004534"/>
          </a:xfrm>
          <a:prstGeom prst="bentConnector2">
            <a:avLst/>
          </a:prstGeom>
          <a:ln w="25400">
            <a:solidFill>
              <a:srgbClr val="40404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78" name="文本框 277"/>
          <p:cNvSpPr txBox="1"/>
          <p:nvPr/>
        </p:nvSpPr>
        <p:spPr>
          <a:xfrm>
            <a:off x="5887135" y="1135023"/>
            <a:ext cx="1029221" cy="261610"/>
          </a:xfrm>
          <a:prstGeom prst="rect">
            <a:avLst/>
          </a:prstGeom>
          <a:noFill/>
        </p:spPr>
        <p:txBody>
          <a:bodyPr wrap="square" rtlCol="0">
            <a:spAutoFit/>
          </a:bodyPr>
          <a:lstStyle/>
          <a:p>
            <a:pPr algn="ctr"/>
            <a:r>
              <a:rPr kumimoji="1" lang="zh-CN" altLang="en-US" sz="1100" dirty="0">
                <a:latin typeface="华文楷体" panose="02010600040101010101" pitchFamily="2" charset="-122"/>
                <a:ea typeface="华文楷体" panose="02010600040101010101" pitchFamily="2" charset="-122"/>
              </a:rPr>
              <a:t>数据仓库</a:t>
            </a:r>
            <a:endParaRPr kumimoji="1" lang="en-US" altLang="zh-CN" sz="1100" dirty="0">
              <a:latin typeface="华文楷体" panose="02010600040101010101" pitchFamily="2" charset="-122"/>
              <a:ea typeface="华文楷体" panose="02010600040101010101" pitchFamily="2" charset="-122"/>
            </a:endParaRPr>
          </a:p>
        </p:txBody>
      </p:sp>
      <p:sp>
        <p:nvSpPr>
          <p:cNvPr id="279" name="罐形 47"/>
          <p:cNvSpPr/>
          <p:nvPr/>
        </p:nvSpPr>
        <p:spPr>
          <a:xfrm>
            <a:off x="6413943" y="1568416"/>
            <a:ext cx="1069127" cy="360000"/>
          </a:xfrm>
          <a:prstGeom prst="can">
            <a:avLst/>
          </a:prstGeom>
          <a:solidFill>
            <a:schemeClr val="bg1"/>
          </a:solidFill>
          <a:ln>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solidFill>
                  <a:srgbClr val="404040"/>
                </a:solidFill>
                <a:latin typeface="华文楷体" panose="02010600040101010101" pitchFamily="2" charset="-122"/>
                <a:ea typeface="华文楷体" panose="02010600040101010101" pitchFamily="2" charset="-122"/>
              </a:rPr>
              <a:t>GP</a:t>
            </a:r>
            <a:endParaRPr kumimoji="1" lang="zh-CN" altLang="en-US" sz="1200" dirty="0">
              <a:solidFill>
                <a:srgbClr val="404040"/>
              </a:solidFill>
              <a:latin typeface="华文楷体" panose="02010600040101010101" pitchFamily="2" charset="-122"/>
              <a:ea typeface="华文楷体" panose="02010600040101010101" pitchFamily="2" charset="-122"/>
            </a:endParaRPr>
          </a:p>
        </p:txBody>
      </p:sp>
      <p:sp>
        <p:nvSpPr>
          <p:cNvPr id="280" name="矩形 279"/>
          <p:cNvSpPr/>
          <p:nvPr/>
        </p:nvSpPr>
        <p:spPr>
          <a:xfrm>
            <a:off x="4422563" y="1140868"/>
            <a:ext cx="900000" cy="252000"/>
          </a:xfrm>
          <a:prstGeom prst="rect">
            <a:avLst/>
          </a:prstGeom>
          <a:solidFill>
            <a:schemeClr val="bg1"/>
          </a:solidFill>
          <a:ln w="1270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800" dirty="0">
                <a:solidFill>
                  <a:srgbClr val="404040"/>
                </a:solidFill>
                <a:latin typeface="华文楷体" panose="02010600040101010101" pitchFamily="2" charset="-122"/>
                <a:ea typeface="华文楷体" panose="02010600040101010101" pitchFamily="2" charset="-122"/>
              </a:rPr>
              <a:t>缓冲层 </a:t>
            </a:r>
            <a:endParaRPr kumimoji="1" lang="en-US" altLang="zh-CN" sz="800" dirty="0">
              <a:solidFill>
                <a:srgbClr val="404040"/>
              </a:solidFill>
              <a:latin typeface="华文楷体" panose="02010600040101010101" pitchFamily="2" charset="-122"/>
              <a:ea typeface="华文楷体" panose="02010600040101010101" pitchFamily="2" charset="-122"/>
            </a:endParaRPr>
          </a:p>
        </p:txBody>
      </p:sp>
      <p:sp>
        <p:nvSpPr>
          <p:cNvPr id="281" name="矩形 280"/>
          <p:cNvSpPr/>
          <p:nvPr/>
        </p:nvSpPr>
        <p:spPr>
          <a:xfrm>
            <a:off x="4422562" y="1447468"/>
            <a:ext cx="900000" cy="252000"/>
          </a:xfrm>
          <a:prstGeom prst="rect">
            <a:avLst/>
          </a:prstGeom>
          <a:solidFill>
            <a:schemeClr val="bg1"/>
          </a:solidFill>
          <a:ln w="1270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800" dirty="0">
                <a:solidFill>
                  <a:srgbClr val="404040"/>
                </a:solidFill>
                <a:latin typeface="华文楷体" panose="02010600040101010101" pitchFamily="2" charset="-122"/>
                <a:ea typeface="华文楷体" panose="02010600040101010101" pitchFamily="2" charset="-122"/>
              </a:rPr>
              <a:t>贴源层 </a:t>
            </a:r>
            <a:endParaRPr kumimoji="1" lang="en-US" altLang="zh-CN" sz="800" dirty="0">
              <a:solidFill>
                <a:srgbClr val="404040"/>
              </a:solidFill>
              <a:latin typeface="华文楷体" panose="02010600040101010101" pitchFamily="2" charset="-122"/>
              <a:ea typeface="华文楷体" panose="02010600040101010101" pitchFamily="2" charset="-122"/>
            </a:endParaRPr>
          </a:p>
        </p:txBody>
      </p:sp>
      <p:sp>
        <p:nvSpPr>
          <p:cNvPr id="282" name="矩形 281"/>
          <p:cNvSpPr/>
          <p:nvPr/>
        </p:nvSpPr>
        <p:spPr>
          <a:xfrm>
            <a:off x="4422562" y="1754068"/>
            <a:ext cx="900000" cy="252000"/>
          </a:xfrm>
          <a:prstGeom prst="rect">
            <a:avLst/>
          </a:prstGeom>
          <a:solidFill>
            <a:schemeClr val="bg1"/>
          </a:solidFill>
          <a:ln w="1270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800" dirty="0">
                <a:solidFill>
                  <a:srgbClr val="404040"/>
                </a:solidFill>
                <a:latin typeface="华文楷体" panose="02010600040101010101" pitchFamily="2" charset="-122"/>
                <a:ea typeface="华文楷体" panose="02010600040101010101" pitchFamily="2" charset="-122"/>
              </a:rPr>
              <a:t>基础层 </a:t>
            </a:r>
            <a:endParaRPr kumimoji="1" lang="en-US" altLang="zh-CN" sz="800" dirty="0">
              <a:solidFill>
                <a:srgbClr val="404040"/>
              </a:solidFill>
              <a:latin typeface="华文楷体" panose="02010600040101010101" pitchFamily="2" charset="-122"/>
              <a:ea typeface="华文楷体" panose="02010600040101010101" pitchFamily="2" charset="-122"/>
            </a:endParaRPr>
          </a:p>
        </p:txBody>
      </p:sp>
      <p:sp>
        <p:nvSpPr>
          <p:cNvPr id="283" name="矩形 282"/>
          <p:cNvSpPr/>
          <p:nvPr/>
        </p:nvSpPr>
        <p:spPr>
          <a:xfrm>
            <a:off x="5408208" y="1445785"/>
            <a:ext cx="900000" cy="252000"/>
          </a:xfrm>
          <a:prstGeom prst="rect">
            <a:avLst/>
          </a:prstGeom>
          <a:solidFill>
            <a:schemeClr val="bg1"/>
          </a:solidFill>
          <a:ln w="1270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800" dirty="0">
                <a:solidFill>
                  <a:srgbClr val="404040"/>
                </a:solidFill>
                <a:latin typeface="华文楷体" panose="02010600040101010101" pitchFamily="2" charset="-122"/>
                <a:ea typeface="华文楷体" panose="02010600040101010101" pitchFamily="2" charset="-122"/>
              </a:rPr>
              <a:t>集市层</a:t>
            </a:r>
            <a:endParaRPr kumimoji="1" lang="en-US" altLang="zh-CN" sz="800" dirty="0">
              <a:solidFill>
                <a:srgbClr val="404040"/>
              </a:solidFill>
              <a:latin typeface="华文楷体" panose="02010600040101010101" pitchFamily="2" charset="-122"/>
              <a:ea typeface="华文楷体" panose="02010600040101010101" pitchFamily="2" charset="-122"/>
            </a:endParaRPr>
          </a:p>
        </p:txBody>
      </p:sp>
      <p:cxnSp>
        <p:nvCxnSpPr>
          <p:cNvPr id="284" name="直线箭头连接符 283"/>
          <p:cNvCxnSpPr>
            <a:stCxn id="285" idx="0"/>
            <a:endCxn id="283" idx="2"/>
          </p:cNvCxnSpPr>
          <p:nvPr/>
        </p:nvCxnSpPr>
        <p:spPr>
          <a:xfrm flipV="1">
            <a:off x="5858208" y="1697785"/>
            <a:ext cx="0" cy="54600"/>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85" name="矩形 284"/>
          <p:cNvSpPr/>
          <p:nvPr/>
        </p:nvSpPr>
        <p:spPr>
          <a:xfrm>
            <a:off x="5408208" y="1752385"/>
            <a:ext cx="900000" cy="252000"/>
          </a:xfrm>
          <a:prstGeom prst="rect">
            <a:avLst/>
          </a:prstGeom>
          <a:solidFill>
            <a:schemeClr val="bg1"/>
          </a:solidFill>
          <a:ln w="1270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800" dirty="0">
                <a:solidFill>
                  <a:srgbClr val="404040"/>
                </a:solidFill>
                <a:latin typeface="华文楷体" panose="02010600040101010101" pitchFamily="2" charset="-122"/>
                <a:ea typeface="华文楷体" panose="02010600040101010101" pitchFamily="2" charset="-122"/>
              </a:rPr>
              <a:t>中间</a:t>
            </a:r>
            <a:r>
              <a:rPr kumimoji="1" lang="en-US" altLang="zh-CN" sz="800" dirty="0">
                <a:solidFill>
                  <a:srgbClr val="404040"/>
                </a:solidFill>
                <a:latin typeface="华文楷体" panose="02010600040101010101" pitchFamily="2" charset="-122"/>
                <a:ea typeface="华文楷体" panose="02010600040101010101" pitchFamily="2" charset="-122"/>
              </a:rPr>
              <a:t>/</a:t>
            </a:r>
            <a:r>
              <a:rPr kumimoji="1" lang="zh-CN" altLang="en-US" sz="800" dirty="0">
                <a:solidFill>
                  <a:srgbClr val="404040"/>
                </a:solidFill>
                <a:latin typeface="华文楷体" panose="02010600040101010101" pitchFamily="2" charset="-122"/>
                <a:ea typeface="华文楷体" panose="02010600040101010101" pitchFamily="2" charset="-122"/>
              </a:rPr>
              <a:t>汇总层 </a:t>
            </a:r>
            <a:endParaRPr kumimoji="1" lang="en-US" altLang="zh-CN" sz="800" dirty="0">
              <a:solidFill>
                <a:srgbClr val="404040"/>
              </a:solidFill>
              <a:latin typeface="华文楷体" panose="02010600040101010101" pitchFamily="2" charset="-122"/>
              <a:ea typeface="华文楷体" panose="02010600040101010101" pitchFamily="2" charset="-122"/>
            </a:endParaRPr>
          </a:p>
        </p:txBody>
      </p:sp>
      <p:cxnSp>
        <p:nvCxnSpPr>
          <p:cNvPr id="286" name="肘形连接符 285"/>
          <p:cNvCxnSpPr>
            <a:stCxn id="276" idx="3"/>
            <a:endCxn id="232" idx="1"/>
          </p:cNvCxnSpPr>
          <p:nvPr/>
        </p:nvCxnSpPr>
        <p:spPr>
          <a:xfrm>
            <a:off x="7568274" y="1584053"/>
            <a:ext cx="565735" cy="542416"/>
          </a:xfrm>
          <a:prstGeom prst="bentConnector3">
            <a:avLst>
              <a:gd name="adj1" fmla="val 27596"/>
            </a:avLst>
          </a:prstGeom>
          <a:ln w="25400">
            <a:solidFill>
              <a:srgbClr val="40404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87" name="直线箭头连接符 286"/>
          <p:cNvCxnSpPr>
            <a:stCxn id="280" idx="2"/>
            <a:endCxn id="281" idx="0"/>
          </p:cNvCxnSpPr>
          <p:nvPr/>
        </p:nvCxnSpPr>
        <p:spPr>
          <a:xfrm flipH="1">
            <a:off x="4872562" y="1392868"/>
            <a:ext cx="1" cy="54600"/>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88" name="肘形连接符 287"/>
          <p:cNvCxnSpPr>
            <a:stCxn id="224" idx="3"/>
            <a:endCxn id="232" idx="1"/>
          </p:cNvCxnSpPr>
          <p:nvPr/>
        </p:nvCxnSpPr>
        <p:spPr>
          <a:xfrm flipV="1">
            <a:off x="7551349" y="2126469"/>
            <a:ext cx="582660" cy="1535865"/>
          </a:xfrm>
          <a:prstGeom prst="bentConnector3">
            <a:avLst>
              <a:gd name="adj1" fmla="val 29800"/>
            </a:avLst>
          </a:prstGeom>
          <a:ln w="25400">
            <a:solidFill>
              <a:srgbClr val="40404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89" name="直线箭头连接符 288"/>
          <p:cNvCxnSpPr>
            <a:stCxn id="281" idx="2"/>
            <a:endCxn id="282" idx="0"/>
          </p:cNvCxnSpPr>
          <p:nvPr/>
        </p:nvCxnSpPr>
        <p:spPr>
          <a:xfrm>
            <a:off x="4872562" y="1699468"/>
            <a:ext cx="0" cy="54600"/>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90" name="肘形连接符 289"/>
          <p:cNvCxnSpPr>
            <a:stCxn id="256" idx="2"/>
            <a:endCxn id="225" idx="0"/>
          </p:cNvCxnSpPr>
          <p:nvPr/>
        </p:nvCxnSpPr>
        <p:spPr>
          <a:xfrm rot="16200000" flipH="1">
            <a:off x="4824452" y="369252"/>
            <a:ext cx="617447" cy="3430293"/>
          </a:xfrm>
          <a:prstGeom prst="bentConnector3">
            <a:avLst>
              <a:gd name="adj1" fmla="val 66129"/>
            </a:avLst>
          </a:prstGeom>
          <a:ln w="25400">
            <a:solidFill>
              <a:srgbClr val="40404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91" name="直线箭头连接符 290"/>
          <p:cNvCxnSpPr>
            <a:stCxn id="282" idx="3"/>
            <a:endCxn id="285" idx="1"/>
          </p:cNvCxnSpPr>
          <p:nvPr/>
        </p:nvCxnSpPr>
        <p:spPr>
          <a:xfrm flipV="1">
            <a:off x="5322562" y="1878385"/>
            <a:ext cx="85646" cy="1683"/>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92" name="文本框 291"/>
          <p:cNvSpPr txBox="1"/>
          <p:nvPr/>
        </p:nvSpPr>
        <p:spPr>
          <a:xfrm>
            <a:off x="10291619" y="2824405"/>
            <a:ext cx="1805326" cy="1631216"/>
          </a:xfrm>
          <a:prstGeom prst="rect">
            <a:avLst/>
          </a:prstGeom>
          <a:noFill/>
          <a:ln>
            <a:solidFill>
              <a:srgbClr val="C00000"/>
            </a:solidFill>
          </a:ln>
        </p:spPr>
        <p:txBody>
          <a:bodyPr wrap="square" rtlCol="0">
            <a:spAutoFit/>
          </a:bodyPr>
          <a:lstStyle/>
          <a:p>
            <a:pPr marL="171450" indent="-171450">
              <a:buFont typeface="Wingdings" panose="05000000000000000000" pitchFamily="2" charset="2"/>
              <a:buChar char="Ø"/>
            </a:pPr>
            <a:r>
              <a:rPr kumimoji="1" lang="zh-CN" altLang="en-US" sz="1000" b="1" dirty="0">
                <a:solidFill>
                  <a:srgbClr val="C00000"/>
                </a:solidFill>
                <a:latin typeface="华文楷体" panose="02010600040101010101" pitchFamily="2" charset="-122"/>
                <a:ea typeface="华文楷体" panose="02010600040101010101" pitchFamily="2" charset="-122"/>
              </a:rPr>
              <a:t>重点</a:t>
            </a:r>
            <a:endParaRPr kumimoji="1" lang="en-US" altLang="zh-CN" sz="1000" b="1" dirty="0">
              <a:solidFill>
                <a:srgbClr val="C00000"/>
              </a:solidFill>
              <a:latin typeface="华文楷体" panose="02010600040101010101" pitchFamily="2" charset="-122"/>
              <a:ea typeface="华文楷体" panose="02010600040101010101" pitchFamily="2" charset="-122"/>
            </a:endParaRPr>
          </a:p>
          <a:p>
            <a:endParaRPr kumimoji="1" lang="en-US" altLang="zh-CN" sz="1000" b="1" dirty="0">
              <a:solidFill>
                <a:srgbClr val="C00000"/>
              </a:solidFill>
              <a:latin typeface="华文楷体" panose="02010600040101010101" pitchFamily="2" charset="-122"/>
              <a:ea typeface="华文楷体" panose="02010600040101010101" pitchFamily="2" charset="-122"/>
            </a:endParaRPr>
          </a:p>
          <a:p>
            <a:pPr marL="228600" indent="-228600">
              <a:buFont typeface="+mj-ea"/>
              <a:buAutoNum type="circleNumDbPlain"/>
            </a:pPr>
            <a:r>
              <a:rPr kumimoji="1" lang="zh-CN" altLang="en-US" sz="800" dirty="0">
                <a:solidFill>
                  <a:srgbClr val="C00000"/>
                </a:solidFill>
                <a:latin typeface="华文楷体" panose="02010600040101010101" pitchFamily="2" charset="-122"/>
                <a:ea typeface="华文楷体" panose="02010600040101010101" pitchFamily="2" charset="-122"/>
              </a:rPr>
              <a:t>湖仓一体平台基于基线日，对基线日前的历史数据数据、存量脚本进行初始化到湖仓一体平台的工作，不直接对接源数据；</a:t>
            </a:r>
            <a:endParaRPr kumimoji="1" lang="en-US" altLang="zh-CN" sz="800" dirty="0">
              <a:solidFill>
                <a:srgbClr val="C00000"/>
              </a:solidFill>
              <a:latin typeface="华文楷体" panose="02010600040101010101" pitchFamily="2" charset="-122"/>
              <a:ea typeface="华文楷体" panose="02010600040101010101" pitchFamily="2" charset="-122"/>
            </a:endParaRPr>
          </a:p>
          <a:p>
            <a:pPr marL="228600" indent="-228600">
              <a:buFont typeface="+mj-ea"/>
              <a:buAutoNum type="circleNumDbPlain"/>
            </a:pPr>
            <a:r>
              <a:rPr kumimoji="1" lang="zh-CN" altLang="en-US" sz="800" dirty="0">
                <a:solidFill>
                  <a:srgbClr val="C00000"/>
                </a:solidFill>
                <a:latin typeface="华文楷体" panose="02010600040101010101" pitchFamily="2" charset="-122"/>
                <a:ea typeface="华文楷体" panose="02010600040101010101" pitchFamily="2" charset="-122"/>
              </a:rPr>
              <a:t>数据仓库按照原有数据存储、加工流程承担原有职能；</a:t>
            </a:r>
            <a:endParaRPr kumimoji="1" lang="en-US" altLang="zh-CN" sz="800" dirty="0">
              <a:solidFill>
                <a:srgbClr val="C00000"/>
              </a:solidFill>
              <a:latin typeface="华文楷体" panose="02010600040101010101" pitchFamily="2" charset="-122"/>
              <a:ea typeface="华文楷体" panose="02010600040101010101" pitchFamily="2" charset="-122"/>
            </a:endParaRPr>
          </a:p>
          <a:p>
            <a:pPr marL="228600" indent="-228600">
              <a:buFont typeface="+mj-ea"/>
              <a:buAutoNum type="circleNumDbPlain"/>
            </a:pPr>
            <a:r>
              <a:rPr kumimoji="1" lang="zh-CN" altLang="en-US" sz="800" dirty="0">
                <a:solidFill>
                  <a:srgbClr val="C00000"/>
                </a:solidFill>
                <a:latin typeface="华文楷体" panose="02010600040101010101" pitchFamily="2" charset="-122"/>
                <a:ea typeface="华文楷体" panose="02010600040101010101" pitchFamily="2" charset="-122"/>
              </a:rPr>
              <a:t>数据湖按照原有数据存储、加工流程承担原有职能；</a:t>
            </a:r>
            <a:endParaRPr kumimoji="1" lang="en-US" altLang="zh-CN" sz="800" dirty="0">
              <a:solidFill>
                <a:srgbClr val="C00000"/>
              </a:solidFill>
              <a:latin typeface="华文楷体" panose="02010600040101010101" pitchFamily="2" charset="-122"/>
              <a:ea typeface="华文楷体" panose="02010600040101010101" pitchFamily="2" charset="-122"/>
            </a:endParaRPr>
          </a:p>
          <a:p>
            <a:endParaRPr kumimoji="1" lang="zh-CN" altLang="en-US" sz="800" dirty="0">
              <a:solidFill>
                <a:srgbClr val="C00000"/>
              </a:solidFill>
              <a:latin typeface="华文楷体" panose="02010600040101010101" pitchFamily="2" charset="-122"/>
              <a:ea typeface="华文楷体" panose="02010600040101010101" pitchFamily="2" charset="-122"/>
            </a:endParaRPr>
          </a:p>
        </p:txBody>
      </p:sp>
      <p:sp>
        <p:nvSpPr>
          <p:cNvPr id="293" name="文本框 292"/>
          <p:cNvSpPr txBox="1"/>
          <p:nvPr/>
        </p:nvSpPr>
        <p:spPr>
          <a:xfrm>
            <a:off x="10282485" y="748314"/>
            <a:ext cx="1805326" cy="707886"/>
          </a:xfrm>
          <a:prstGeom prst="rect">
            <a:avLst/>
          </a:prstGeom>
          <a:noFill/>
          <a:ln>
            <a:solidFill>
              <a:srgbClr val="C00000"/>
            </a:solidFill>
          </a:ln>
        </p:spPr>
        <p:txBody>
          <a:bodyPr wrap="square" rtlCol="0">
            <a:spAutoFit/>
          </a:bodyPr>
          <a:lstStyle/>
          <a:p>
            <a:pPr marL="171450" indent="-171450">
              <a:buFont typeface="Wingdings" panose="05000000000000000000" pitchFamily="2" charset="2"/>
              <a:buChar char="Ø"/>
            </a:pPr>
            <a:r>
              <a:rPr kumimoji="1" lang="zh-CN" altLang="en-US" sz="1000" b="1" dirty="0">
                <a:solidFill>
                  <a:srgbClr val="C00000"/>
                </a:solidFill>
                <a:latin typeface="华文楷体" panose="02010600040101010101" pitchFamily="2" charset="-122"/>
                <a:ea typeface="华文楷体" panose="02010600040101010101" pitchFamily="2" charset="-122"/>
              </a:rPr>
              <a:t>注：阶段性的详细步骤，请结合后面的“</a:t>
            </a:r>
            <a:r>
              <a:rPr kumimoji="1" lang="en-US" altLang="zh-CN" sz="1000" b="1" dirty="0">
                <a:solidFill>
                  <a:srgbClr val="C00000"/>
                </a:solidFill>
                <a:latin typeface="华文楷体" panose="02010600040101010101" pitchFamily="2" charset="-122"/>
                <a:ea typeface="华文楷体" panose="02010600040101010101" pitchFamily="2" charset="-122"/>
              </a:rPr>
              <a:t>XXX</a:t>
            </a:r>
            <a:r>
              <a:rPr kumimoji="1" lang="zh-CN" altLang="en-US" sz="1000" b="1" dirty="0">
                <a:solidFill>
                  <a:srgbClr val="C00000"/>
                </a:solidFill>
                <a:latin typeface="华文楷体" panose="02010600040101010101" pitchFamily="2" charset="-122"/>
                <a:ea typeface="华文楷体" panose="02010600040101010101" pitchFamily="2" charset="-122"/>
              </a:rPr>
              <a:t>初始化及并行方案”与“测试要点”进行深入理解</a:t>
            </a:r>
            <a:endParaRPr kumimoji="1" lang="en-US" altLang="zh-CN" sz="1000" b="1" dirty="0">
              <a:solidFill>
                <a:srgbClr val="C00000"/>
              </a:solidFill>
              <a:latin typeface="华文楷体" panose="02010600040101010101" pitchFamily="2" charset="-122"/>
              <a:ea typeface="华文楷体" panose="02010600040101010101" pitchFamily="2" charset="-122"/>
            </a:endParaRPr>
          </a:p>
        </p:txBody>
      </p:sp>
      <p:cxnSp>
        <p:nvCxnSpPr>
          <p:cNvPr id="294" name="肘形连接符 293"/>
          <p:cNvCxnSpPr>
            <a:stCxn id="256" idx="3"/>
            <a:endCxn id="215" idx="1"/>
          </p:cNvCxnSpPr>
          <p:nvPr/>
        </p:nvCxnSpPr>
        <p:spPr>
          <a:xfrm>
            <a:off x="3863022" y="1644871"/>
            <a:ext cx="559542" cy="1486348"/>
          </a:xfrm>
          <a:prstGeom prst="bentConnector3">
            <a:avLst>
              <a:gd name="adj1" fmla="val 42111"/>
            </a:avLst>
          </a:prstGeom>
          <a:ln w="25400">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1.8 </a:t>
            </a:r>
            <a:r>
              <a:rPr lang="zh-CN" altLang="en-US" dirty="0"/>
              <a:t>平台生产部署方案</a:t>
            </a:r>
            <a:endParaRPr lang="zh-CN" altLang="en-US" dirty="0"/>
          </a:p>
        </p:txBody>
      </p:sp>
      <p:pic>
        <p:nvPicPr>
          <p:cNvPr id="3" name="图片 6"/>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a:xfrm>
            <a:off x="706498" y="3759835"/>
            <a:ext cx="5085972" cy="2390775"/>
          </a:xfrm>
          <a:prstGeom prst="rect">
            <a:avLst/>
          </a:prstGeom>
          <a:noFill/>
        </p:spPr>
      </p:pic>
      <p:pic>
        <p:nvPicPr>
          <p:cNvPr id="6" name="图片 5"/>
          <p:cNvPicPr>
            <a:picLocks noChangeAspect="1"/>
          </p:cNvPicPr>
          <p:nvPr/>
        </p:nvPicPr>
        <p:blipFill>
          <a:blip r:embed="rId2"/>
          <a:stretch>
            <a:fillRect/>
          </a:stretch>
        </p:blipFill>
        <p:spPr>
          <a:xfrm>
            <a:off x="5943329" y="3476211"/>
            <a:ext cx="6136422" cy="2677441"/>
          </a:xfrm>
          <a:prstGeom prst="rect">
            <a:avLst/>
          </a:prstGeom>
        </p:spPr>
      </p:pic>
      <p:sp>
        <p:nvSpPr>
          <p:cNvPr id="8" name="文本框 7"/>
          <p:cNvSpPr txBox="1"/>
          <p:nvPr/>
        </p:nvSpPr>
        <p:spPr>
          <a:xfrm>
            <a:off x="422275" y="4428293"/>
            <a:ext cx="3126740" cy="306705"/>
          </a:xfrm>
          <a:prstGeom prst="rect">
            <a:avLst/>
          </a:prstGeom>
          <a:noFill/>
        </p:spPr>
        <p:txBody>
          <a:bodyPr wrap="square" rtlCol="0">
            <a:spAutoFit/>
          </a:bodyPr>
          <a:lstStyle/>
          <a:p>
            <a:r>
              <a:rPr lang="zh-CN" altLang="en-US" sz="1400">
                <a:latin typeface="华文楷体" panose="02010600040101010101" pitchFamily="2" charset="-122"/>
                <a:ea typeface="华文楷体" panose="02010600040101010101" pitchFamily="2" charset="-122"/>
              </a:rPr>
              <a:t>部署架构图</a:t>
            </a:r>
            <a:endParaRPr lang="zh-CN" altLang="en-US" sz="1400">
              <a:latin typeface="华文楷体" panose="02010600040101010101" pitchFamily="2" charset="-122"/>
              <a:ea typeface="华文楷体" panose="02010600040101010101" pitchFamily="2" charset="-122"/>
            </a:endParaRPr>
          </a:p>
        </p:txBody>
      </p:sp>
      <p:sp>
        <p:nvSpPr>
          <p:cNvPr id="9" name="文本框 8"/>
          <p:cNvSpPr txBox="1"/>
          <p:nvPr/>
        </p:nvSpPr>
        <p:spPr>
          <a:xfrm>
            <a:off x="422275" y="707390"/>
            <a:ext cx="11268710" cy="3041650"/>
          </a:xfrm>
          <a:prstGeom prst="rect">
            <a:avLst/>
          </a:prstGeom>
          <a:noFill/>
        </p:spPr>
        <p:txBody>
          <a:bodyPr wrap="square">
            <a:spAutoFit/>
          </a:bodyPr>
          <a:lstStyle/>
          <a:p>
            <a:pPr>
              <a:lnSpc>
                <a:spcPct val="120000"/>
              </a:lnSpc>
            </a:pPr>
            <a:r>
              <a:rPr lang="zh-CN" altLang="en-US" sz="1400" b="1" dirty="0">
                <a:solidFill>
                  <a:schemeClr val="tx1">
                    <a:lumMod val="50000"/>
                    <a:lumOff val="50000"/>
                  </a:schemeClr>
                </a:solidFill>
                <a:latin typeface="华文楷体" panose="02010600040101010101" pitchFamily="2" charset="-122"/>
                <a:ea typeface="华文楷体" panose="02010600040101010101" pitchFamily="2" charset="-122"/>
              </a:rPr>
              <a:t>湖仓一体平台生产环境</a:t>
            </a:r>
            <a:r>
              <a:rPr lang="zh-CN" altLang="en-US" sz="1400" b="1" dirty="0">
                <a:solidFill>
                  <a:schemeClr val="tx1">
                    <a:lumMod val="50000"/>
                    <a:lumOff val="50000"/>
                  </a:schemeClr>
                </a:solidFill>
                <a:latin typeface="华文楷体" panose="02010600040101010101" pitchFamily="2" charset="-122"/>
                <a:ea typeface="华文楷体" panose="02010600040101010101" pitchFamily="2" charset="-122"/>
                <a:sym typeface="+mn-ea"/>
              </a:rPr>
              <a:t>资源需求：</a:t>
            </a:r>
            <a:endParaRPr lang="zh-CN" altLang="en-US" sz="1400" dirty="0">
              <a:latin typeface="华文楷体" panose="02010600040101010101" pitchFamily="2" charset="-122"/>
              <a:ea typeface="华文楷体" panose="02010600040101010101" pitchFamily="2" charset="-122"/>
              <a:sym typeface="+mn-ea"/>
            </a:endParaRPr>
          </a:p>
          <a:p>
            <a:pPr marL="171450" indent="-171450">
              <a:lnSpc>
                <a:spcPct val="120000"/>
              </a:lnSpc>
              <a:buFont typeface="Wingdings" panose="05000000000000000000" charset="0"/>
              <a:buChar char="Ø"/>
            </a:pPr>
            <a:r>
              <a:rPr lang="zh-CN" altLang="en-US" sz="1200" dirty="0">
                <a:solidFill>
                  <a:schemeClr val="tx1"/>
                </a:solidFill>
                <a:latin typeface="华文楷体" panose="02010600040101010101" pitchFamily="2" charset="-122"/>
                <a:ea typeface="华文楷体" panose="02010600040101010101" pitchFamily="2" charset="-122"/>
                <a:cs typeface="微软雅黑" panose="020B0503020204020204" charset="-122"/>
              </a:rPr>
              <a:t>服务器：需</a:t>
            </a:r>
            <a:r>
              <a:rPr lang="en-US" altLang="zh-CN" sz="1200" dirty="0">
                <a:solidFill>
                  <a:schemeClr val="tx1"/>
                </a:solidFill>
                <a:latin typeface="华文楷体" panose="02010600040101010101" pitchFamily="2" charset="-122"/>
                <a:ea typeface="华文楷体" panose="02010600040101010101" pitchFamily="2" charset="-122"/>
                <a:cs typeface="微软雅黑" panose="020B0503020204020204" charset="-122"/>
              </a:rPr>
              <a:t>48</a:t>
            </a:r>
            <a:r>
              <a:rPr lang="zh-CN" altLang="en-US" sz="1200" dirty="0">
                <a:solidFill>
                  <a:schemeClr val="tx1"/>
                </a:solidFill>
                <a:latin typeface="华文楷体" panose="02010600040101010101" pitchFamily="2" charset="-122"/>
                <a:ea typeface="华文楷体" panose="02010600040101010101" pitchFamily="2" charset="-122"/>
                <a:cs typeface="微软雅黑" panose="020B0503020204020204" charset="-122"/>
              </a:rPr>
              <a:t>台物理服务器，主节点（</a:t>
            </a:r>
            <a:r>
              <a:rPr lang="en-US" altLang="zh-CN" sz="1200" dirty="0">
                <a:solidFill>
                  <a:schemeClr val="tx1"/>
                </a:solidFill>
                <a:latin typeface="华文楷体" panose="02010600040101010101" pitchFamily="2" charset="-122"/>
                <a:ea typeface="华文楷体" panose="02010600040101010101" pitchFamily="2" charset="-122"/>
                <a:cs typeface="微软雅黑" panose="020B0503020204020204" charset="-122"/>
              </a:rPr>
              <a:t>3</a:t>
            </a:r>
            <a:r>
              <a:rPr lang="zh-CN" altLang="en-US" sz="1200" dirty="0">
                <a:solidFill>
                  <a:schemeClr val="tx1"/>
                </a:solidFill>
                <a:latin typeface="华文楷体" panose="02010600040101010101" pitchFamily="2" charset="-122"/>
                <a:ea typeface="华文楷体" panose="02010600040101010101" pitchFamily="2" charset="-122"/>
                <a:cs typeface="微软雅黑" panose="020B0503020204020204" charset="-122"/>
              </a:rPr>
              <a:t>）</a:t>
            </a:r>
            <a:r>
              <a:rPr lang="en-US" altLang="zh-CN" sz="1200" dirty="0">
                <a:solidFill>
                  <a:schemeClr val="tx1"/>
                </a:solidFill>
                <a:latin typeface="华文楷体" panose="02010600040101010101" pitchFamily="2" charset="-122"/>
                <a:ea typeface="华文楷体" panose="02010600040101010101" pitchFamily="2" charset="-122"/>
                <a:cs typeface="微软雅黑" panose="020B0503020204020204" charset="-122"/>
              </a:rPr>
              <a:t>/</a:t>
            </a:r>
            <a:r>
              <a:rPr lang="zh-CN" altLang="en-US" sz="1200" dirty="0">
                <a:solidFill>
                  <a:schemeClr val="tx1"/>
                </a:solidFill>
                <a:latin typeface="华文楷体" panose="02010600040101010101" pitchFamily="2" charset="-122"/>
                <a:ea typeface="华文楷体" panose="02010600040101010101" pitchFamily="2" charset="-122"/>
                <a:cs typeface="微软雅黑" panose="020B0503020204020204" charset="-122"/>
              </a:rPr>
              <a:t>计算节点（</a:t>
            </a:r>
            <a:r>
              <a:rPr lang="en-US" altLang="zh-CN" sz="1200" dirty="0">
                <a:solidFill>
                  <a:schemeClr val="tx1"/>
                </a:solidFill>
                <a:latin typeface="华文楷体" panose="02010600040101010101" pitchFamily="2" charset="-122"/>
                <a:ea typeface="华文楷体" panose="02010600040101010101" pitchFamily="2" charset="-122"/>
                <a:cs typeface="微软雅黑" panose="020B0503020204020204" charset="-122"/>
              </a:rPr>
              <a:t>20</a:t>
            </a:r>
            <a:r>
              <a:rPr lang="zh-CN" altLang="en-US" sz="1200" dirty="0">
                <a:solidFill>
                  <a:schemeClr val="tx1"/>
                </a:solidFill>
                <a:latin typeface="华文楷体" panose="02010600040101010101" pitchFamily="2" charset="-122"/>
                <a:ea typeface="华文楷体" panose="02010600040101010101" pitchFamily="2" charset="-122"/>
                <a:cs typeface="微软雅黑" panose="020B0503020204020204" charset="-122"/>
              </a:rPr>
              <a:t>）</a:t>
            </a:r>
            <a:r>
              <a:rPr lang="en-US" altLang="zh-CN" sz="1200" dirty="0">
                <a:solidFill>
                  <a:schemeClr val="tx1"/>
                </a:solidFill>
                <a:latin typeface="华文楷体" panose="02010600040101010101" pitchFamily="2" charset="-122"/>
                <a:ea typeface="华文楷体" panose="02010600040101010101" pitchFamily="2" charset="-122"/>
                <a:cs typeface="微软雅黑" panose="020B0503020204020204" charset="-122"/>
              </a:rPr>
              <a:t>/</a:t>
            </a:r>
            <a:r>
              <a:rPr lang="zh-CN" altLang="en-US" sz="1200" dirty="0">
                <a:solidFill>
                  <a:schemeClr val="tx1"/>
                </a:solidFill>
                <a:latin typeface="华文楷体" panose="02010600040101010101" pitchFamily="2" charset="-122"/>
                <a:ea typeface="华文楷体" panose="02010600040101010101" pitchFamily="2" charset="-122"/>
                <a:cs typeface="微软雅黑" panose="020B0503020204020204" charset="-122"/>
              </a:rPr>
              <a:t>存储节点（</a:t>
            </a:r>
            <a:r>
              <a:rPr lang="en-US" altLang="zh-CN" sz="1200" dirty="0">
                <a:solidFill>
                  <a:schemeClr val="tx1"/>
                </a:solidFill>
                <a:latin typeface="华文楷体" panose="02010600040101010101" pitchFamily="2" charset="-122"/>
                <a:ea typeface="华文楷体" panose="02010600040101010101" pitchFamily="2" charset="-122"/>
                <a:cs typeface="微软雅黑" panose="020B0503020204020204" charset="-122"/>
              </a:rPr>
              <a:t>23</a:t>
            </a:r>
            <a:r>
              <a:rPr lang="zh-CN" altLang="en-US" sz="1200" dirty="0">
                <a:solidFill>
                  <a:schemeClr val="tx1"/>
                </a:solidFill>
                <a:latin typeface="华文楷体" panose="02010600040101010101" pitchFamily="2" charset="-122"/>
                <a:ea typeface="华文楷体" panose="02010600040101010101" pitchFamily="2" charset="-122"/>
                <a:cs typeface="微软雅黑" panose="020B0503020204020204" charset="-122"/>
              </a:rPr>
              <a:t>）</a:t>
            </a:r>
            <a:r>
              <a:rPr lang="en-US" altLang="zh-CN" sz="1200" dirty="0">
                <a:solidFill>
                  <a:schemeClr val="tx1"/>
                </a:solidFill>
                <a:latin typeface="华文楷体" panose="02010600040101010101" pitchFamily="2" charset="-122"/>
                <a:ea typeface="华文楷体" panose="02010600040101010101" pitchFamily="2" charset="-122"/>
                <a:cs typeface="微软雅黑" panose="020B0503020204020204" charset="-122"/>
              </a:rPr>
              <a:t>/</a:t>
            </a:r>
            <a:r>
              <a:rPr lang="zh-CN" altLang="en-US" sz="1200" dirty="0">
                <a:solidFill>
                  <a:schemeClr val="tx1"/>
                </a:solidFill>
                <a:latin typeface="华文楷体" panose="02010600040101010101" pitchFamily="2" charset="-122"/>
                <a:ea typeface="华文楷体" panose="02010600040101010101" pitchFamily="2" charset="-122"/>
                <a:cs typeface="微软雅黑" panose="020B0503020204020204" charset="-122"/>
              </a:rPr>
              <a:t>管理节点（</a:t>
            </a:r>
            <a:r>
              <a:rPr lang="en-US" altLang="zh-CN" sz="1200" dirty="0">
                <a:solidFill>
                  <a:schemeClr val="tx1"/>
                </a:solidFill>
                <a:latin typeface="华文楷体" panose="02010600040101010101" pitchFamily="2" charset="-122"/>
                <a:ea typeface="华文楷体" panose="02010600040101010101" pitchFamily="2" charset="-122"/>
                <a:cs typeface="微软雅黑" panose="020B0503020204020204" charset="-122"/>
              </a:rPr>
              <a:t>2</a:t>
            </a:r>
            <a:r>
              <a:rPr lang="zh-CN" altLang="en-US" sz="1200" dirty="0">
                <a:solidFill>
                  <a:schemeClr val="tx1"/>
                </a:solidFill>
                <a:latin typeface="华文楷体" panose="02010600040101010101" pitchFamily="2" charset="-122"/>
                <a:ea typeface="华文楷体" panose="02010600040101010101" pitchFamily="2" charset="-122"/>
                <a:cs typeface="微软雅黑" panose="020B0503020204020204" charset="-122"/>
              </a:rPr>
              <a:t>）</a:t>
            </a:r>
            <a:endParaRPr lang="zh-CN" altLang="en-US" sz="1200" dirty="0">
              <a:solidFill>
                <a:schemeClr val="tx1"/>
              </a:solidFill>
              <a:latin typeface="华文楷体" panose="02010600040101010101" pitchFamily="2" charset="-122"/>
              <a:ea typeface="华文楷体" panose="02010600040101010101" pitchFamily="2" charset="-122"/>
              <a:cs typeface="微软雅黑" panose="020B0503020204020204" charset="-122"/>
            </a:endParaRPr>
          </a:p>
          <a:p>
            <a:pPr marL="171450" indent="-171450">
              <a:lnSpc>
                <a:spcPct val="120000"/>
              </a:lnSpc>
              <a:buFont typeface="Wingdings" panose="05000000000000000000" charset="0"/>
              <a:buChar char="Ø"/>
            </a:pPr>
            <a:r>
              <a:rPr lang="zh-CN" altLang="en-US" sz="1200" dirty="0">
                <a:solidFill>
                  <a:schemeClr val="tx1"/>
                </a:solidFill>
                <a:latin typeface="华文楷体" panose="02010600040101010101" pitchFamily="2" charset="-122"/>
                <a:ea typeface="华文楷体" panose="02010600040101010101" pitchFamily="2" charset="-122"/>
                <a:cs typeface="微软雅黑" panose="020B0503020204020204" charset="-122"/>
              </a:rPr>
              <a:t>机柜：需</a:t>
            </a:r>
            <a:r>
              <a:rPr lang="en-US" altLang="zh-CN" sz="1200" dirty="0">
                <a:solidFill>
                  <a:schemeClr val="tx1"/>
                </a:solidFill>
                <a:latin typeface="华文楷体" panose="02010600040101010101" pitchFamily="2" charset="-122"/>
                <a:ea typeface="华文楷体" panose="02010600040101010101" pitchFamily="2" charset="-122"/>
                <a:cs typeface="微软雅黑" panose="020B0503020204020204" charset="-122"/>
              </a:rPr>
              <a:t>8</a:t>
            </a:r>
            <a:r>
              <a:rPr lang="zh-CN" altLang="en-US" sz="1200" dirty="0">
                <a:solidFill>
                  <a:schemeClr val="tx1"/>
                </a:solidFill>
                <a:latin typeface="华文楷体" panose="02010600040101010101" pitchFamily="2" charset="-122"/>
                <a:ea typeface="华文楷体" panose="02010600040101010101" pitchFamily="2" charset="-122"/>
                <a:cs typeface="微软雅黑" panose="020B0503020204020204" charset="-122"/>
              </a:rPr>
              <a:t>个机柜：由于信创服务器能耗大，机柜限电，一个机柜承载</a:t>
            </a:r>
            <a:r>
              <a:rPr lang="en-US" altLang="zh-CN" sz="1200" dirty="0">
                <a:solidFill>
                  <a:schemeClr val="tx1"/>
                </a:solidFill>
                <a:latin typeface="华文楷体" panose="02010600040101010101" pitchFamily="2" charset="-122"/>
                <a:ea typeface="华文楷体" panose="02010600040101010101" pitchFamily="2" charset="-122"/>
                <a:cs typeface="微软雅黑" panose="020B0503020204020204" charset="-122"/>
              </a:rPr>
              <a:t>6</a:t>
            </a:r>
            <a:r>
              <a:rPr lang="zh-CN" altLang="en-US" sz="1200" dirty="0">
                <a:solidFill>
                  <a:schemeClr val="tx1"/>
                </a:solidFill>
                <a:latin typeface="华文楷体" panose="02010600040101010101" pitchFamily="2" charset="-122"/>
                <a:ea typeface="华文楷体" panose="02010600040101010101" pitchFamily="2" charset="-122"/>
                <a:cs typeface="微软雅黑" panose="020B0503020204020204" charset="-122"/>
              </a:rPr>
              <a:t>台服务器</a:t>
            </a:r>
            <a:endParaRPr lang="zh-CN" altLang="en-US" sz="1200" dirty="0">
              <a:solidFill>
                <a:schemeClr val="tx1"/>
              </a:solidFill>
              <a:latin typeface="华文楷体" panose="02010600040101010101" pitchFamily="2" charset="-122"/>
              <a:ea typeface="华文楷体" panose="02010600040101010101" pitchFamily="2" charset="-122"/>
              <a:cs typeface="微软雅黑" panose="020B0503020204020204" charset="-122"/>
            </a:endParaRPr>
          </a:p>
          <a:p>
            <a:pPr marL="171450" indent="-171450">
              <a:lnSpc>
                <a:spcPct val="120000"/>
              </a:lnSpc>
              <a:buFont typeface="Wingdings" panose="05000000000000000000" charset="0"/>
              <a:buChar char="Ø"/>
            </a:pPr>
            <a:r>
              <a:rPr lang="zh-CN" altLang="en-US" sz="1200" dirty="0">
                <a:solidFill>
                  <a:srgbClr val="BB0A14"/>
                </a:solidFill>
                <a:latin typeface="华文楷体" panose="02010600040101010101" pitchFamily="2" charset="-122"/>
                <a:ea typeface="华文楷体" panose="02010600040101010101" pitchFamily="2" charset="-122"/>
                <a:cs typeface="微软雅黑" panose="020B0503020204020204" charset="-122"/>
              </a:rPr>
              <a:t>网络：系统上线后，夜间涉及到大流量跨网段数据交换，建议先部署在16网段，待上下游系统完成信创化改造，再同步切换到26网段</a:t>
            </a:r>
            <a:r>
              <a:rPr lang="zh-CN" altLang="en-US" sz="1200" dirty="0">
                <a:solidFill>
                  <a:srgbClr val="BB0A14"/>
                </a:solidFill>
                <a:latin typeface="华文楷体" panose="02010600040101010101" pitchFamily="2" charset="-122"/>
                <a:ea typeface="华文楷体" panose="02010600040101010101" pitchFamily="2" charset="-122"/>
                <a:cs typeface="微软雅黑" panose="020B0503020204020204" charset="-122"/>
                <a:sym typeface="+mn-ea"/>
              </a:rPr>
              <a:t>（需要网络组支持）</a:t>
            </a:r>
            <a:endParaRPr lang="zh-CN" altLang="en-US" sz="1200" dirty="0">
              <a:solidFill>
                <a:srgbClr val="BB0A14"/>
              </a:solidFill>
              <a:latin typeface="华文楷体" panose="02010600040101010101" pitchFamily="2" charset="-122"/>
              <a:ea typeface="华文楷体" panose="02010600040101010101" pitchFamily="2" charset="-122"/>
              <a:cs typeface="微软雅黑" panose="020B0503020204020204" charset="-122"/>
            </a:endParaRPr>
          </a:p>
          <a:p>
            <a:pPr>
              <a:lnSpc>
                <a:spcPct val="120000"/>
              </a:lnSpc>
              <a:buFont typeface="Wingdings" panose="05000000000000000000" charset="0"/>
            </a:pPr>
            <a:r>
              <a:rPr lang="en-US" altLang="zh-CN" sz="1200" dirty="0">
                <a:solidFill>
                  <a:srgbClr val="BB0A14"/>
                </a:solidFill>
                <a:latin typeface="华文楷体" panose="02010600040101010101" pitchFamily="2" charset="-122"/>
                <a:ea typeface="华文楷体" panose="02010600040101010101" pitchFamily="2" charset="-122"/>
                <a:cs typeface="微软雅黑" panose="020B0503020204020204" charset="-122"/>
              </a:rPr>
              <a:t>             </a:t>
            </a:r>
            <a:r>
              <a:rPr lang="zh-CN" altLang="en-US" sz="1200" dirty="0">
                <a:solidFill>
                  <a:srgbClr val="BB0A14"/>
                </a:solidFill>
                <a:latin typeface="华文楷体" panose="02010600040101010101" pitchFamily="2" charset="-122"/>
                <a:ea typeface="华文楷体" panose="02010600040101010101" pitchFamily="2" charset="-122"/>
                <a:cs typeface="微软雅黑" panose="020B0503020204020204" charset="-122"/>
              </a:rPr>
              <a:t>原因：目前与</a:t>
            </a:r>
            <a:r>
              <a:rPr lang="en-US" altLang="zh-CN" sz="1200" dirty="0">
                <a:solidFill>
                  <a:srgbClr val="BB0A14"/>
                </a:solidFill>
                <a:latin typeface="华文楷体" panose="02010600040101010101" pitchFamily="2" charset="-122"/>
                <a:ea typeface="华文楷体" panose="02010600040101010101" pitchFamily="2" charset="-122"/>
                <a:cs typeface="微软雅黑" panose="020B0503020204020204" charset="-122"/>
              </a:rPr>
              <a:t>16</a:t>
            </a:r>
            <a:r>
              <a:rPr lang="zh-CN" altLang="en-US" sz="1200" dirty="0">
                <a:solidFill>
                  <a:srgbClr val="BB0A14"/>
                </a:solidFill>
                <a:latin typeface="华文楷体" panose="02010600040101010101" pitchFamily="2" charset="-122"/>
                <a:ea typeface="华文楷体" panose="02010600040101010101" pitchFamily="2" charset="-122"/>
                <a:cs typeface="微软雅黑" panose="020B0503020204020204" charset="-122"/>
              </a:rPr>
              <a:t>网段交换数据量约</a:t>
            </a:r>
            <a:r>
              <a:rPr lang="en-US" altLang="zh-CN" sz="1200" dirty="0">
                <a:solidFill>
                  <a:srgbClr val="BB0A14"/>
                </a:solidFill>
                <a:latin typeface="华文楷体" panose="02010600040101010101" pitchFamily="2" charset="-122"/>
                <a:ea typeface="华文楷体" panose="02010600040101010101" pitchFamily="2" charset="-122"/>
                <a:cs typeface="微软雅黑" panose="020B0503020204020204" charset="-122"/>
              </a:rPr>
              <a:t>430GB/</a:t>
            </a:r>
            <a:r>
              <a:rPr lang="zh-CN" altLang="en-US" sz="1200" dirty="0">
                <a:solidFill>
                  <a:srgbClr val="BB0A14"/>
                </a:solidFill>
                <a:latin typeface="华文楷体" panose="02010600040101010101" pitchFamily="2" charset="-122"/>
                <a:ea typeface="华文楷体" panose="02010600040101010101" pitchFamily="2" charset="-122"/>
                <a:cs typeface="微软雅黑" panose="020B0503020204020204" charset="-122"/>
              </a:rPr>
              <a:t>天、调研主要上下游系统信创改造大部分最快在</a:t>
            </a:r>
            <a:r>
              <a:rPr lang="en-US" altLang="zh-CN" sz="1200" dirty="0">
                <a:solidFill>
                  <a:srgbClr val="BB0A14"/>
                </a:solidFill>
                <a:latin typeface="华文楷体" panose="02010600040101010101" pitchFamily="2" charset="-122"/>
                <a:ea typeface="华文楷体" panose="02010600040101010101" pitchFamily="2" charset="-122"/>
                <a:cs typeface="微软雅黑" panose="020B0503020204020204" charset="-122"/>
              </a:rPr>
              <a:t>23</a:t>
            </a:r>
            <a:r>
              <a:rPr lang="zh-CN" altLang="en-US" sz="1200" dirty="0">
                <a:solidFill>
                  <a:srgbClr val="BB0A14"/>
                </a:solidFill>
                <a:latin typeface="华文楷体" panose="02010600040101010101" pitchFamily="2" charset="-122"/>
                <a:ea typeface="华文楷体" panose="02010600040101010101" pitchFamily="2" charset="-122"/>
                <a:cs typeface="微软雅黑" panose="020B0503020204020204" charset="-122"/>
              </a:rPr>
              <a:t>年年底完成。</a:t>
            </a:r>
            <a:endParaRPr lang="zh-CN" altLang="en-US" sz="1200" dirty="0">
              <a:solidFill>
                <a:srgbClr val="BB0A14"/>
              </a:solidFill>
              <a:latin typeface="华文楷体" panose="02010600040101010101" pitchFamily="2" charset="-122"/>
              <a:ea typeface="华文楷体" panose="02010600040101010101" pitchFamily="2" charset="-122"/>
              <a:cs typeface="微软雅黑" panose="020B0503020204020204" charset="-122"/>
            </a:endParaRPr>
          </a:p>
          <a:p>
            <a:pPr marL="171450" indent="-171450">
              <a:lnSpc>
                <a:spcPct val="120000"/>
              </a:lnSpc>
              <a:buFont typeface="Wingdings" panose="05000000000000000000" charset="0"/>
              <a:buChar char="Ø"/>
            </a:pPr>
            <a:r>
              <a:rPr lang="zh-CN" altLang="en-US" sz="1200" dirty="0">
                <a:solidFill>
                  <a:schemeClr val="tx1"/>
                </a:solidFill>
                <a:latin typeface="华文楷体" panose="02010600040101010101" pitchFamily="2" charset="-122"/>
                <a:ea typeface="华文楷体" panose="02010600040101010101" pitchFamily="2" charset="-122"/>
                <a:cs typeface="微软雅黑" panose="020B0503020204020204" charset="-122"/>
              </a:rPr>
              <a:t>生产环境需在</a:t>
            </a:r>
            <a:r>
              <a:rPr lang="en-US" altLang="zh-CN" sz="1200" dirty="0">
                <a:solidFill>
                  <a:schemeClr val="tx1"/>
                </a:solidFill>
                <a:latin typeface="华文楷体" panose="02010600040101010101" pitchFamily="2" charset="-122"/>
                <a:ea typeface="华文楷体" panose="02010600040101010101" pitchFamily="2" charset="-122"/>
                <a:cs typeface="微软雅黑" panose="020B0503020204020204" charset="-122"/>
              </a:rPr>
              <a:t>2023</a:t>
            </a:r>
            <a:r>
              <a:rPr lang="zh-CN" altLang="en-US" sz="1200" dirty="0">
                <a:solidFill>
                  <a:schemeClr val="tx1"/>
                </a:solidFill>
                <a:latin typeface="华文楷体" panose="02010600040101010101" pitchFamily="2" charset="-122"/>
                <a:ea typeface="华文楷体" panose="02010600040101010101" pitchFamily="2" charset="-122"/>
                <a:cs typeface="微软雅黑" panose="020B0503020204020204" charset="-122"/>
              </a:rPr>
              <a:t>年</a:t>
            </a:r>
            <a:r>
              <a:rPr lang="en-US" altLang="zh-CN" sz="1200" dirty="0">
                <a:solidFill>
                  <a:schemeClr val="tx1"/>
                </a:solidFill>
                <a:latin typeface="华文楷体" panose="02010600040101010101" pitchFamily="2" charset="-122"/>
                <a:ea typeface="华文楷体" panose="02010600040101010101" pitchFamily="2" charset="-122"/>
                <a:cs typeface="微软雅黑" panose="020B0503020204020204" charset="-122"/>
              </a:rPr>
              <a:t>3</a:t>
            </a:r>
            <a:r>
              <a:rPr lang="zh-CN" altLang="en-US" sz="1200" dirty="0">
                <a:solidFill>
                  <a:schemeClr val="tx1"/>
                </a:solidFill>
                <a:latin typeface="华文楷体" panose="02010600040101010101" pitchFamily="2" charset="-122"/>
                <a:ea typeface="华文楷体" panose="02010600040101010101" pitchFamily="2" charset="-122"/>
                <a:cs typeface="微软雅黑" panose="020B0503020204020204" charset="-122"/>
              </a:rPr>
              <a:t>月中旬准备就绪：需要采购设备和网络尽快推进</a:t>
            </a:r>
            <a:endParaRPr lang="zh-CN" altLang="en-US" sz="1200" dirty="0">
              <a:solidFill>
                <a:schemeClr val="tx1"/>
              </a:solidFill>
              <a:latin typeface="华文楷体" panose="02010600040101010101" pitchFamily="2" charset="-122"/>
              <a:ea typeface="华文楷体" panose="02010600040101010101" pitchFamily="2" charset="-122"/>
              <a:cs typeface="微软雅黑" panose="020B0503020204020204" charset="-122"/>
            </a:endParaRPr>
          </a:p>
          <a:p>
            <a:pPr>
              <a:lnSpc>
                <a:spcPct val="120000"/>
              </a:lnSpc>
              <a:buFont typeface="Wingdings" panose="05000000000000000000" charset="0"/>
            </a:pPr>
            <a:endParaRPr lang="zh-CN" altLang="en-US" sz="1200" b="1" dirty="0">
              <a:solidFill>
                <a:schemeClr val="tx1">
                  <a:lumMod val="50000"/>
                  <a:lumOff val="50000"/>
                </a:schemeClr>
              </a:solidFill>
              <a:latin typeface="华文楷体" panose="02010600040101010101" pitchFamily="2" charset="-122"/>
              <a:ea typeface="华文楷体" panose="02010600040101010101" pitchFamily="2" charset="-122"/>
              <a:sym typeface="+mn-ea"/>
            </a:endParaRPr>
          </a:p>
          <a:p>
            <a:pPr>
              <a:lnSpc>
                <a:spcPct val="120000"/>
              </a:lnSpc>
              <a:buFont typeface="Wingdings" panose="05000000000000000000" charset="0"/>
            </a:pPr>
            <a:r>
              <a:rPr lang="zh-CN" altLang="en-US" sz="1400" b="1" dirty="0">
                <a:solidFill>
                  <a:schemeClr val="tx1">
                    <a:lumMod val="50000"/>
                    <a:lumOff val="50000"/>
                  </a:schemeClr>
                </a:solidFill>
                <a:latin typeface="华文楷体" panose="02010600040101010101" pitchFamily="2" charset="-122"/>
                <a:ea typeface="华文楷体" panose="02010600040101010101" pitchFamily="2" charset="-122"/>
                <a:sym typeface="+mn-ea"/>
              </a:rPr>
              <a:t>湖仓一体平台测试环境资源需求：</a:t>
            </a:r>
            <a:endParaRPr lang="zh-CN" altLang="en-US" sz="1200" dirty="0">
              <a:latin typeface="华文楷体" panose="02010600040101010101" pitchFamily="2" charset="-122"/>
              <a:ea typeface="华文楷体" panose="02010600040101010101" pitchFamily="2" charset="-122"/>
              <a:sym typeface="+mn-ea"/>
            </a:endParaRPr>
          </a:p>
          <a:p>
            <a:pPr marL="171450" indent="-171450">
              <a:lnSpc>
                <a:spcPct val="120000"/>
              </a:lnSpc>
              <a:buFont typeface="Wingdings" panose="05000000000000000000" charset="0"/>
              <a:buChar char="Ø"/>
            </a:pPr>
            <a:r>
              <a:rPr lang="zh-CN" altLang="en-US" sz="1200" dirty="0">
                <a:solidFill>
                  <a:schemeClr val="tx1"/>
                </a:solidFill>
                <a:latin typeface="华文楷体" panose="02010600040101010101" pitchFamily="2" charset="-122"/>
                <a:ea typeface="华文楷体" panose="02010600040101010101" pitchFamily="2" charset="-122"/>
                <a:cs typeface="微软雅黑" panose="020B0503020204020204" charset="-122"/>
                <a:sym typeface="+mn-ea"/>
              </a:rPr>
              <a:t>服务器：共</a:t>
            </a:r>
            <a:r>
              <a:rPr lang="en-US" altLang="zh-CN" sz="1200" dirty="0">
                <a:solidFill>
                  <a:schemeClr val="tx1"/>
                </a:solidFill>
                <a:latin typeface="华文楷体" panose="02010600040101010101" pitchFamily="2" charset="-122"/>
                <a:ea typeface="华文楷体" panose="02010600040101010101" pitchFamily="2" charset="-122"/>
                <a:cs typeface="微软雅黑" panose="020B0503020204020204" charset="-122"/>
                <a:sym typeface="+mn-ea"/>
              </a:rPr>
              <a:t>14</a:t>
            </a:r>
            <a:r>
              <a:rPr lang="zh-CN" altLang="en-US" sz="1200" dirty="0">
                <a:solidFill>
                  <a:schemeClr val="tx1"/>
                </a:solidFill>
                <a:latin typeface="华文楷体" panose="02010600040101010101" pitchFamily="2" charset="-122"/>
                <a:ea typeface="华文楷体" panose="02010600040101010101" pitchFamily="2" charset="-122"/>
                <a:cs typeface="微软雅黑" panose="020B0503020204020204" charset="-122"/>
                <a:sym typeface="+mn-ea"/>
              </a:rPr>
              <a:t>台服务器，主节点（</a:t>
            </a:r>
            <a:r>
              <a:rPr lang="en-US" altLang="zh-CN" sz="1200" dirty="0">
                <a:solidFill>
                  <a:schemeClr val="tx1"/>
                </a:solidFill>
                <a:latin typeface="华文楷体" panose="02010600040101010101" pitchFamily="2" charset="-122"/>
                <a:ea typeface="华文楷体" panose="02010600040101010101" pitchFamily="2" charset="-122"/>
                <a:cs typeface="微软雅黑" panose="020B0503020204020204" charset="-122"/>
                <a:sym typeface="+mn-ea"/>
              </a:rPr>
              <a:t>3</a:t>
            </a:r>
            <a:r>
              <a:rPr lang="zh-CN" altLang="en-US" sz="1200" dirty="0">
                <a:solidFill>
                  <a:schemeClr val="tx1"/>
                </a:solidFill>
                <a:latin typeface="华文楷体" panose="02010600040101010101" pitchFamily="2" charset="-122"/>
                <a:ea typeface="华文楷体" panose="02010600040101010101" pitchFamily="2" charset="-122"/>
                <a:cs typeface="微软雅黑" panose="020B0503020204020204" charset="-122"/>
                <a:sym typeface="+mn-ea"/>
              </a:rPr>
              <a:t>）</a:t>
            </a:r>
            <a:r>
              <a:rPr lang="en-US" altLang="zh-CN" sz="1200" dirty="0">
                <a:solidFill>
                  <a:schemeClr val="tx1"/>
                </a:solidFill>
                <a:latin typeface="华文楷体" panose="02010600040101010101" pitchFamily="2" charset="-122"/>
                <a:ea typeface="华文楷体" panose="02010600040101010101" pitchFamily="2" charset="-122"/>
                <a:cs typeface="微软雅黑" panose="020B0503020204020204" charset="-122"/>
                <a:sym typeface="+mn-ea"/>
              </a:rPr>
              <a:t>/</a:t>
            </a:r>
            <a:r>
              <a:rPr lang="zh-CN" altLang="en-US" sz="1200" dirty="0">
                <a:solidFill>
                  <a:schemeClr val="tx1"/>
                </a:solidFill>
                <a:latin typeface="华文楷体" panose="02010600040101010101" pitchFamily="2" charset="-122"/>
                <a:ea typeface="华文楷体" panose="02010600040101010101" pitchFamily="2" charset="-122"/>
                <a:cs typeface="微软雅黑" panose="020B0503020204020204" charset="-122"/>
                <a:sym typeface="+mn-ea"/>
              </a:rPr>
              <a:t>计算节点（</a:t>
            </a:r>
            <a:r>
              <a:rPr lang="en-US" altLang="zh-CN" sz="1200" dirty="0">
                <a:solidFill>
                  <a:schemeClr val="tx1"/>
                </a:solidFill>
                <a:latin typeface="华文楷体" panose="02010600040101010101" pitchFamily="2" charset="-122"/>
                <a:ea typeface="华文楷体" panose="02010600040101010101" pitchFamily="2" charset="-122"/>
                <a:cs typeface="微软雅黑" panose="020B0503020204020204" charset="-122"/>
                <a:sym typeface="+mn-ea"/>
              </a:rPr>
              <a:t>6</a:t>
            </a:r>
            <a:r>
              <a:rPr lang="zh-CN" altLang="en-US" sz="1200" dirty="0">
                <a:solidFill>
                  <a:schemeClr val="tx1"/>
                </a:solidFill>
                <a:latin typeface="华文楷体" panose="02010600040101010101" pitchFamily="2" charset="-122"/>
                <a:ea typeface="华文楷体" panose="02010600040101010101" pitchFamily="2" charset="-122"/>
                <a:cs typeface="微软雅黑" panose="020B0503020204020204" charset="-122"/>
                <a:sym typeface="+mn-ea"/>
              </a:rPr>
              <a:t>）</a:t>
            </a:r>
            <a:r>
              <a:rPr lang="en-US" altLang="zh-CN" sz="1200" dirty="0">
                <a:solidFill>
                  <a:schemeClr val="tx1"/>
                </a:solidFill>
                <a:latin typeface="华文楷体" panose="02010600040101010101" pitchFamily="2" charset="-122"/>
                <a:ea typeface="华文楷体" panose="02010600040101010101" pitchFamily="2" charset="-122"/>
                <a:cs typeface="微软雅黑" panose="020B0503020204020204" charset="-122"/>
                <a:sym typeface="+mn-ea"/>
              </a:rPr>
              <a:t>/</a:t>
            </a:r>
            <a:r>
              <a:rPr lang="zh-CN" altLang="en-US" sz="1200" dirty="0">
                <a:solidFill>
                  <a:schemeClr val="tx1"/>
                </a:solidFill>
                <a:latin typeface="华文楷体" panose="02010600040101010101" pitchFamily="2" charset="-122"/>
                <a:ea typeface="华文楷体" panose="02010600040101010101" pitchFamily="2" charset="-122"/>
                <a:cs typeface="微软雅黑" panose="020B0503020204020204" charset="-122"/>
                <a:sym typeface="+mn-ea"/>
              </a:rPr>
              <a:t>存储节点（</a:t>
            </a:r>
            <a:r>
              <a:rPr lang="en-US" altLang="zh-CN" sz="1200" dirty="0">
                <a:solidFill>
                  <a:schemeClr val="tx1"/>
                </a:solidFill>
                <a:latin typeface="华文楷体" panose="02010600040101010101" pitchFamily="2" charset="-122"/>
                <a:ea typeface="华文楷体" panose="02010600040101010101" pitchFamily="2" charset="-122"/>
                <a:cs typeface="微软雅黑" panose="020B0503020204020204" charset="-122"/>
                <a:sym typeface="+mn-ea"/>
              </a:rPr>
              <a:t>3</a:t>
            </a:r>
            <a:r>
              <a:rPr lang="zh-CN" altLang="en-US" sz="1200" dirty="0">
                <a:solidFill>
                  <a:schemeClr val="tx1"/>
                </a:solidFill>
                <a:latin typeface="华文楷体" panose="02010600040101010101" pitchFamily="2" charset="-122"/>
                <a:ea typeface="华文楷体" panose="02010600040101010101" pitchFamily="2" charset="-122"/>
                <a:cs typeface="微软雅黑" panose="020B0503020204020204" charset="-122"/>
                <a:sym typeface="+mn-ea"/>
              </a:rPr>
              <a:t>）</a:t>
            </a:r>
            <a:r>
              <a:rPr lang="en-US" altLang="zh-CN" sz="1200" dirty="0">
                <a:solidFill>
                  <a:schemeClr val="tx1"/>
                </a:solidFill>
                <a:latin typeface="华文楷体" panose="02010600040101010101" pitchFamily="2" charset="-122"/>
                <a:ea typeface="华文楷体" panose="02010600040101010101" pitchFamily="2" charset="-122"/>
                <a:cs typeface="微软雅黑" panose="020B0503020204020204" charset="-122"/>
                <a:sym typeface="+mn-ea"/>
              </a:rPr>
              <a:t>/</a:t>
            </a:r>
            <a:r>
              <a:rPr lang="zh-CN" altLang="en-US" sz="1200" dirty="0">
                <a:solidFill>
                  <a:schemeClr val="tx1"/>
                </a:solidFill>
                <a:latin typeface="华文楷体" panose="02010600040101010101" pitchFamily="2" charset="-122"/>
                <a:ea typeface="华文楷体" panose="02010600040101010101" pitchFamily="2" charset="-122"/>
                <a:cs typeface="微软雅黑" panose="020B0503020204020204" charset="-122"/>
                <a:sym typeface="+mn-ea"/>
              </a:rPr>
              <a:t>管理节点（</a:t>
            </a:r>
            <a:r>
              <a:rPr lang="en-US" altLang="zh-CN" sz="1200" dirty="0">
                <a:solidFill>
                  <a:schemeClr val="tx1"/>
                </a:solidFill>
                <a:latin typeface="华文楷体" panose="02010600040101010101" pitchFamily="2" charset="-122"/>
                <a:ea typeface="华文楷体" panose="02010600040101010101" pitchFamily="2" charset="-122"/>
                <a:cs typeface="微软雅黑" panose="020B0503020204020204" charset="-122"/>
                <a:sym typeface="+mn-ea"/>
              </a:rPr>
              <a:t>2</a:t>
            </a:r>
            <a:r>
              <a:rPr lang="zh-CN" altLang="en-US" sz="1200" dirty="0">
                <a:solidFill>
                  <a:schemeClr val="tx1"/>
                </a:solidFill>
                <a:latin typeface="华文楷体" panose="02010600040101010101" pitchFamily="2" charset="-122"/>
                <a:ea typeface="华文楷体" panose="02010600040101010101" pitchFamily="2" charset="-122"/>
                <a:cs typeface="微软雅黑" panose="020B0503020204020204" charset="-122"/>
                <a:sym typeface="+mn-ea"/>
              </a:rPr>
              <a:t>）</a:t>
            </a:r>
            <a:endParaRPr lang="zh-CN" altLang="en-US" sz="1200" dirty="0">
              <a:solidFill>
                <a:schemeClr val="tx1"/>
              </a:solidFill>
              <a:latin typeface="华文楷体" panose="02010600040101010101" pitchFamily="2" charset="-122"/>
              <a:ea typeface="华文楷体" panose="02010600040101010101" pitchFamily="2" charset="-122"/>
              <a:cs typeface="微软雅黑" panose="020B0503020204020204" charset="-122"/>
              <a:sym typeface="+mn-ea"/>
            </a:endParaRPr>
          </a:p>
          <a:p>
            <a:pPr marL="171450" indent="-171450">
              <a:lnSpc>
                <a:spcPct val="120000"/>
              </a:lnSpc>
              <a:buFont typeface="Wingdings" panose="05000000000000000000" charset="0"/>
              <a:buChar char="Ø"/>
            </a:pPr>
            <a:r>
              <a:rPr lang="zh-CN" sz="1200" dirty="0">
                <a:solidFill>
                  <a:srgbClr val="C00000"/>
                </a:solidFill>
                <a:latin typeface="华文楷体" panose="02010600040101010101" pitchFamily="2" charset="-122"/>
                <a:ea typeface="华文楷体" panose="02010600040101010101" pitchFamily="2" charset="-122"/>
                <a:cs typeface="微软雅黑" panose="020B0503020204020204" charset="-122"/>
              </a:rPr>
              <a:t>测试环境跟周立斌确认在</a:t>
            </a:r>
            <a:r>
              <a:rPr lang="en-US" altLang="zh-CN" sz="1200" dirty="0">
                <a:solidFill>
                  <a:srgbClr val="C00000"/>
                </a:solidFill>
                <a:latin typeface="华文楷体" panose="02010600040101010101" pitchFamily="2" charset="-122"/>
                <a:ea typeface="华文楷体" panose="02010600040101010101" pitchFamily="2" charset="-122"/>
                <a:cs typeface="微软雅黑" panose="020B0503020204020204" charset="-122"/>
              </a:rPr>
              <a:t>2022</a:t>
            </a:r>
            <a:r>
              <a:rPr lang="zh-CN" altLang="en-US" sz="1200" dirty="0">
                <a:solidFill>
                  <a:srgbClr val="C00000"/>
                </a:solidFill>
                <a:latin typeface="华文楷体" panose="02010600040101010101" pitchFamily="2" charset="-122"/>
                <a:ea typeface="华文楷体" panose="02010600040101010101" pitchFamily="2" charset="-122"/>
                <a:cs typeface="微软雅黑" panose="020B0503020204020204" charset="-122"/>
              </a:rPr>
              <a:t>年</a:t>
            </a:r>
            <a:r>
              <a:rPr lang="en-US" altLang="zh-CN" sz="1200" dirty="0">
                <a:solidFill>
                  <a:srgbClr val="C00000"/>
                </a:solidFill>
                <a:latin typeface="华文楷体" panose="02010600040101010101" pitchFamily="2" charset="-122"/>
                <a:ea typeface="华文楷体" panose="02010600040101010101" pitchFamily="2" charset="-122"/>
                <a:cs typeface="微软雅黑" panose="020B0503020204020204" charset="-122"/>
              </a:rPr>
              <a:t>12</a:t>
            </a:r>
            <a:r>
              <a:rPr lang="zh-CN" altLang="en-US" sz="1200" dirty="0">
                <a:solidFill>
                  <a:srgbClr val="C00000"/>
                </a:solidFill>
                <a:latin typeface="华文楷体" panose="02010600040101010101" pitchFamily="2" charset="-122"/>
                <a:ea typeface="华文楷体" panose="02010600040101010101" pitchFamily="2" charset="-122"/>
                <a:cs typeface="微软雅黑" panose="020B0503020204020204" charset="-122"/>
              </a:rPr>
              <a:t>月底之前准备就绪</a:t>
            </a:r>
            <a:endParaRPr lang="zh-CN" altLang="en-US" sz="1200" dirty="0">
              <a:solidFill>
                <a:srgbClr val="C00000"/>
              </a:solidFill>
              <a:latin typeface="华文楷体" panose="02010600040101010101" pitchFamily="2" charset="-122"/>
              <a:ea typeface="华文楷体" panose="02010600040101010101" pitchFamily="2" charset="-122"/>
              <a:cs typeface="微软雅黑" panose="020B0503020204020204" charset="-122"/>
            </a:endParaRPr>
          </a:p>
          <a:p>
            <a:pPr marL="171450" indent="-171450">
              <a:lnSpc>
                <a:spcPct val="120000"/>
              </a:lnSpc>
              <a:buFont typeface="Wingdings" panose="05000000000000000000" charset="0"/>
              <a:buChar char="Ø"/>
            </a:pPr>
            <a:r>
              <a:rPr lang="zh-CN" altLang="en-US" sz="1200" dirty="0">
                <a:solidFill>
                  <a:schemeClr val="tx1"/>
                </a:solidFill>
                <a:latin typeface="华文楷体" panose="02010600040101010101" pitchFamily="2" charset="-122"/>
                <a:ea typeface="华文楷体" panose="02010600040101010101" pitchFamily="2" charset="-122"/>
                <a:cs typeface="微软雅黑" panose="020B0503020204020204" charset="-122"/>
              </a:rPr>
              <a:t>测试环境数据加载、数据开发平台与调度工具联调后开放给</a:t>
            </a:r>
            <a:r>
              <a:rPr lang="en-US" altLang="zh-CN" sz="1200" dirty="0">
                <a:solidFill>
                  <a:schemeClr val="tx1"/>
                </a:solidFill>
                <a:latin typeface="华文楷体" panose="02010600040101010101" pitchFamily="2" charset="-122"/>
                <a:ea typeface="华文楷体" panose="02010600040101010101" pitchFamily="2" charset="-122"/>
                <a:cs typeface="微软雅黑" panose="020B0503020204020204" charset="-122"/>
              </a:rPr>
              <a:t>CRM</a:t>
            </a:r>
            <a:r>
              <a:rPr lang="zh-CN" altLang="en-US" sz="1200" dirty="0">
                <a:solidFill>
                  <a:schemeClr val="tx1"/>
                </a:solidFill>
                <a:latin typeface="华文楷体" panose="02010600040101010101" pitchFamily="2" charset="-122"/>
                <a:ea typeface="华文楷体" panose="02010600040101010101" pitchFamily="2" charset="-122"/>
                <a:cs typeface="微软雅黑" panose="020B0503020204020204" charset="-122"/>
              </a:rPr>
              <a:t>集市等使用（</a:t>
            </a:r>
            <a:r>
              <a:rPr lang="en-US" altLang="zh-CN" sz="1200" dirty="0">
                <a:solidFill>
                  <a:schemeClr val="tx1"/>
                </a:solidFill>
                <a:latin typeface="华文楷体" panose="02010600040101010101" pitchFamily="2" charset="-122"/>
                <a:ea typeface="华文楷体" panose="02010600040101010101" pitchFamily="2" charset="-122"/>
                <a:cs typeface="微软雅黑" panose="020B0503020204020204" charset="-122"/>
              </a:rPr>
              <a:t>2023</a:t>
            </a:r>
            <a:r>
              <a:rPr lang="zh-CN" altLang="en-US" sz="1200" dirty="0">
                <a:solidFill>
                  <a:schemeClr val="tx1"/>
                </a:solidFill>
                <a:latin typeface="华文楷体" panose="02010600040101010101" pitchFamily="2" charset="-122"/>
                <a:ea typeface="华文楷体" panose="02010600040101010101" pitchFamily="2" charset="-122"/>
                <a:cs typeface="微软雅黑" panose="020B0503020204020204" charset="-122"/>
              </a:rPr>
              <a:t>年</a:t>
            </a:r>
            <a:r>
              <a:rPr lang="en-US" altLang="zh-CN" sz="1200" dirty="0">
                <a:solidFill>
                  <a:schemeClr val="tx1"/>
                </a:solidFill>
                <a:latin typeface="华文楷体" panose="02010600040101010101" pitchFamily="2" charset="-122"/>
                <a:ea typeface="华文楷体" panose="02010600040101010101" pitchFamily="2" charset="-122"/>
                <a:cs typeface="微软雅黑" panose="020B0503020204020204" charset="-122"/>
              </a:rPr>
              <a:t>1</a:t>
            </a:r>
            <a:r>
              <a:rPr lang="zh-CN" altLang="en-US" sz="1200" dirty="0">
                <a:solidFill>
                  <a:schemeClr val="tx1"/>
                </a:solidFill>
                <a:latin typeface="华文楷体" panose="02010600040101010101" pitchFamily="2" charset="-122"/>
                <a:ea typeface="华文楷体" panose="02010600040101010101" pitchFamily="2" charset="-122"/>
                <a:cs typeface="微软雅黑" panose="020B0503020204020204" charset="-122"/>
              </a:rPr>
              <a:t>月底）</a:t>
            </a:r>
            <a:endParaRPr lang="zh-CN" altLang="en-US" sz="1200" dirty="0">
              <a:solidFill>
                <a:schemeClr val="tx1"/>
              </a:solidFill>
              <a:latin typeface="华文楷体" panose="02010600040101010101" pitchFamily="2" charset="-122"/>
              <a:ea typeface="华文楷体" panose="02010600040101010101" pitchFamily="2" charset="-122"/>
              <a:cs typeface="微软雅黑" panose="020B0503020204020204" charset="-122"/>
            </a:endParaRPr>
          </a:p>
          <a:p>
            <a:pPr marL="171450" indent="-171450">
              <a:lnSpc>
                <a:spcPct val="120000"/>
              </a:lnSpc>
              <a:buFont typeface="Wingdings" panose="05000000000000000000" charset="0"/>
              <a:buChar char="Ø"/>
            </a:pPr>
            <a:endParaRPr lang="zh-CN" altLang="en-US" sz="1200" dirty="0">
              <a:solidFill>
                <a:srgbClr val="C00000"/>
              </a:solidFill>
              <a:latin typeface="华文楷体" panose="02010600040101010101" pitchFamily="2" charset="-122"/>
              <a:ea typeface="华文楷体" panose="02010600040101010101" pitchFamily="2" charset="-122"/>
              <a:cs typeface="微软雅黑" panose="020B0503020204020204" charset="-122"/>
            </a:endParaRPr>
          </a:p>
          <a:p>
            <a:pPr>
              <a:lnSpc>
                <a:spcPct val="120000"/>
              </a:lnSpc>
              <a:buFont typeface="Wingdings" panose="05000000000000000000" charset="0"/>
            </a:pPr>
            <a:r>
              <a:rPr lang="zh-CN" altLang="en-US" sz="1200" b="1" dirty="0">
                <a:solidFill>
                  <a:schemeClr val="tx1">
                    <a:lumMod val="50000"/>
                    <a:lumOff val="50000"/>
                  </a:schemeClr>
                </a:solidFill>
                <a:latin typeface="华文楷体" panose="02010600040101010101" pitchFamily="2" charset="-122"/>
                <a:ea typeface="华文楷体" panose="02010600040101010101" pitchFamily="2" charset="-122"/>
                <a:sym typeface="+mn-ea"/>
              </a:rPr>
              <a:t>湖仓一体异地灾备资源需求：</a:t>
            </a:r>
            <a:r>
              <a:rPr lang="en-US" altLang="zh-CN" sz="1200" dirty="0">
                <a:solidFill>
                  <a:schemeClr val="tx1"/>
                </a:solidFill>
                <a:latin typeface="华文楷体" panose="02010600040101010101" pitchFamily="2" charset="-122"/>
                <a:ea typeface="华文楷体" panose="02010600040101010101" pitchFamily="2" charset="-122"/>
                <a:sym typeface="+mn-ea"/>
              </a:rPr>
              <a:t>2023</a:t>
            </a:r>
            <a:r>
              <a:rPr lang="zh-CN" altLang="en-US" sz="1200" dirty="0">
                <a:solidFill>
                  <a:schemeClr val="tx1"/>
                </a:solidFill>
                <a:latin typeface="华文楷体" panose="02010600040101010101" pitchFamily="2" charset="-122"/>
                <a:ea typeface="华文楷体" panose="02010600040101010101" pitchFamily="2" charset="-122"/>
                <a:sym typeface="+mn-ea"/>
              </a:rPr>
              <a:t>年系统上线运行，</a:t>
            </a:r>
            <a:r>
              <a:rPr lang="en-US" altLang="zh-CN" sz="1200" dirty="0">
                <a:solidFill>
                  <a:schemeClr val="tx1"/>
                </a:solidFill>
                <a:latin typeface="华文楷体" panose="02010600040101010101" pitchFamily="2" charset="-122"/>
                <a:ea typeface="华文楷体" panose="02010600040101010101" pitchFamily="2" charset="-122"/>
                <a:sym typeface="+mn-ea"/>
              </a:rPr>
              <a:t>2024</a:t>
            </a:r>
            <a:r>
              <a:rPr lang="zh-CN" altLang="en-US" sz="1200" dirty="0">
                <a:solidFill>
                  <a:schemeClr val="tx1"/>
                </a:solidFill>
                <a:latin typeface="华文楷体" panose="02010600040101010101" pitchFamily="2" charset="-122"/>
                <a:ea typeface="华文楷体" panose="02010600040101010101" pitchFamily="2" charset="-122"/>
                <a:sym typeface="+mn-ea"/>
              </a:rPr>
              <a:t>年搭建灾备，</a:t>
            </a:r>
            <a:r>
              <a:rPr lang="en-US" altLang="zh-CN" sz="1200" dirty="0">
                <a:solidFill>
                  <a:schemeClr val="tx1"/>
                </a:solidFill>
                <a:latin typeface="华文楷体" panose="02010600040101010101" pitchFamily="2" charset="-122"/>
                <a:ea typeface="华文楷体" panose="02010600040101010101" pitchFamily="2" charset="-122"/>
                <a:sym typeface="+mn-ea"/>
              </a:rPr>
              <a:t>2023</a:t>
            </a:r>
            <a:r>
              <a:rPr lang="zh-CN" altLang="en-US" sz="1200" dirty="0">
                <a:solidFill>
                  <a:schemeClr val="tx1"/>
                </a:solidFill>
                <a:latin typeface="华文楷体" panose="02010600040101010101" pitchFamily="2" charset="-122"/>
                <a:ea typeface="华文楷体" panose="02010600040101010101" pitchFamily="2" charset="-122"/>
                <a:sym typeface="+mn-ea"/>
              </a:rPr>
              <a:t>年</a:t>
            </a:r>
            <a:r>
              <a:rPr lang="en-US" altLang="zh-CN" sz="1200" dirty="0">
                <a:solidFill>
                  <a:schemeClr val="tx1"/>
                </a:solidFill>
                <a:latin typeface="华文楷体" panose="02010600040101010101" pitchFamily="2" charset="-122"/>
                <a:ea typeface="华文楷体" panose="02010600040101010101" pitchFamily="2" charset="-122"/>
                <a:sym typeface="+mn-ea"/>
              </a:rPr>
              <a:t>4</a:t>
            </a:r>
            <a:r>
              <a:rPr lang="zh-CN" altLang="en-US" sz="1200" dirty="0">
                <a:solidFill>
                  <a:schemeClr val="tx1"/>
                </a:solidFill>
                <a:latin typeface="华文楷体" panose="02010600040101010101" pitchFamily="2" charset="-122"/>
                <a:ea typeface="华文楷体" panose="02010600040101010101" pitchFamily="2" charset="-122"/>
                <a:sym typeface="+mn-ea"/>
              </a:rPr>
              <a:t>季度确认机房和设备资源。</a:t>
            </a:r>
            <a:endParaRPr lang="zh-CN" altLang="en-US" sz="1200" dirty="0">
              <a:solidFill>
                <a:schemeClr val="tx1"/>
              </a:solidFill>
              <a:latin typeface="华文楷体" panose="02010600040101010101" pitchFamily="2" charset="-122"/>
              <a:ea typeface="华文楷体" panose="02010600040101010101" pitchFamily="2" charset="-122"/>
              <a:cs typeface="微软雅黑" panose="020B050302020402020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chemeClr val="bg1">
                    <a:lumMod val="50000"/>
                  </a:schemeClr>
                </a:solidFill>
              </a:rPr>
              <a:t>一、实施节奏</a:t>
            </a:r>
            <a:endParaRPr lang="en-US" altLang="zh-CN" dirty="0">
              <a:solidFill>
                <a:schemeClr val="bg1">
                  <a:lumMod val="50000"/>
                </a:schemeClr>
              </a:solidFill>
            </a:endParaRPr>
          </a:p>
          <a:p>
            <a:r>
              <a:rPr lang="zh-CN" altLang="en-US" dirty="0">
                <a:solidFill>
                  <a:srgbClr val="C00000"/>
                </a:solidFill>
              </a:rPr>
              <a:t>二、本周进展</a:t>
            </a:r>
            <a:endParaRPr lang="en-US" altLang="zh-CN" dirty="0">
              <a:solidFill>
                <a:srgbClr val="C00000"/>
              </a:solidFill>
            </a:endParaRPr>
          </a:p>
          <a:p>
            <a:r>
              <a:rPr lang="zh-CN" altLang="en-US" dirty="0">
                <a:solidFill>
                  <a:schemeClr val="bg1">
                    <a:lumMod val="50000"/>
                  </a:schemeClr>
                </a:solidFill>
              </a:rPr>
              <a:t>三、专项讨论</a:t>
            </a:r>
            <a:endParaRPr lang="en-US" altLang="zh-CN" dirty="0">
              <a:solidFill>
                <a:schemeClr val="bg1">
                  <a:lumMod val="50000"/>
                </a:schemeClr>
              </a:solidFill>
            </a:endParaRPr>
          </a:p>
          <a:p>
            <a:r>
              <a:rPr lang="zh-CN" altLang="en-US" dirty="0">
                <a:solidFill>
                  <a:schemeClr val="bg1">
                    <a:lumMod val="50000"/>
                  </a:schemeClr>
                </a:solidFill>
              </a:rPr>
              <a:t>四、下周工作</a:t>
            </a:r>
            <a:endParaRPr lang="en-US" altLang="zh-CN" dirty="0">
              <a:solidFill>
                <a:schemeClr val="bg1">
                  <a:lumMod val="50000"/>
                </a:schemeClr>
              </a:solidFill>
            </a:endParaRPr>
          </a:p>
          <a:p>
            <a:endParaRPr lang="zh-CN" altLang="en-US" dirty="0">
              <a:solidFill>
                <a:schemeClr val="bg1">
                  <a:lumMod val="50000"/>
                </a:schemeClr>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本周进展及产出物</a:t>
            </a:r>
            <a:endParaRPr lang="zh-CN" altLang="en-US" dirty="0"/>
          </a:p>
        </p:txBody>
      </p:sp>
      <p:graphicFrame>
        <p:nvGraphicFramePr>
          <p:cNvPr id="3" name="表格 3"/>
          <p:cNvGraphicFramePr>
            <a:graphicFrameLocks noGrp="1"/>
          </p:cNvGraphicFramePr>
          <p:nvPr/>
        </p:nvGraphicFramePr>
        <p:xfrm>
          <a:off x="334490" y="779654"/>
          <a:ext cx="11415138" cy="5271625"/>
        </p:xfrm>
        <a:graphic>
          <a:graphicData uri="http://schemas.openxmlformats.org/drawingml/2006/table">
            <a:tbl>
              <a:tblPr firstRow="1" bandRow="1">
                <a:tableStyleId>{5C22544A-7EE6-4342-B048-85BDC9FD1C3A}</a:tableStyleId>
              </a:tblPr>
              <a:tblGrid>
                <a:gridCol w="1399717"/>
                <a:gridCol w="6427395"/>
                <a:gridCol w="3588026"/>
              </a:tblGrid>
              <a:tr h="605948">
                <a:tc>
                  <a:txBody>
                    <a:bodyPr/>
                    <a:lstStyle/>
                    <a:p>
                      <a:pPr algn="ctr"/>
                      <a:r>
                        <a:rPr lang="zh-CN" altLang="en-US">
                          <a:latin typeface="华文楷体" panose="02010600040101010101" pitchFamily="2" charset="-122"/>
                          <a:ea typeface="华文楷体" panose="02010600040101010101" pitchFamily="2" charset="-122"/>
                        </a:rPr>
                        <a:t>模块</a:t>
                      </a:r>
                      <a:endParaRPr lang="zh-CN" altLang="en-US" dirty="0">
                        <a:latin typeface="华文楷体" panose="02010600040101010101" pitchFamily="2" charset="-122"/>
                        <a:ea typeface="华文楷体" panose="02010600040101010101" pitchFamily="2" charset="-122"/>
                      </a:endParaRPr>
                    </a:p>
                  </a:txBody>
                  <a:tcPr anchor="ctr"/>
                </a:tc>
                <a:tc>
                  <a:txBody>
                    <a:bodyPr/>
                    <a:lstStyle/>
                    <a:p>
                      <a:pPr algn="ctr"/>
                      <a:r>
                        <a:rPr lang="zh-CN" altLang="en-US">
                          <a:latin typeface="华文楷体" panose="02010600040101010101" pitchFamily="2" charset="-122"/>
                          <a:ea typeface="华文楷体" panose="02010600040101010101" pitchFamily="2" charset="-122"/>
                        </a:rPr>
                        <a:t>核心进展</a:t>
                      </a:r>
                      <a:endParaRPr lang="zh-CN" altLang="en-US" dirty="0">
                        <a:latin typeface="华文楷体" panose="02010600040101010101" pitchFamily="2" charset="-122"/>
                        <a:ea typeface="华文楷体" panose="02010600040101010101" pitchFamily="2" charset="-122"/>
                      </a:endParaRPr>
                    </a:p>
                  </a:txBody>
                  <a:tcPr anchor="ctr"/>
                </a:tc>
                <a:tc>
                  <a:txBody>
                    <a:bodyPr/>
                    <a:lstStyle/>
                    <a:p>
                      <a:pPr algn="ctr"/>
                      <a:r>
                        <a:rPr lang="zh-CN" altLang="en-US">
                          <a:latin typeface="华文楷体" panose="02010600040101010101" pitchFamily="2" charset="-122"/>
                          <a:ea typeface="华文楷体" panose="02010600040101010101" pitchFamily="2" charset="-122"/>
                        </a:rPr>
                        <a:t>关键产出物</a:t>
                      </a:r>
                      <a:endParaRPr lang="zh-CN" altLang="en-US" dirty="0">
                        <a:latin typeface="华文楷体" panose="02010600040101010101" pitchFamily="2" charset="-122"/>
                        <a:ea typeface="华文楷体" panose="02010600040101010101" pitchFamily="2" charset="-122"/>
                      </a:endParaRPr>
                    </a:p>
                  </a:txBody>
                  <a:tcPr anchor="ctr"/>
                </a:tc>
              </a:tr>
              <a:tr h="1801522">
                <a:tc>
                  <a:txBody>
                    <a:bodyPr/>
                    <a:lstStyle/>
                    <a:p>
                      <a:pPr algn="ctr"/>
                      <a:r>
                        <a:rPr lang="zh-CN" altLang="en-US" dirty="0">
                          <a:latin typeface="华文楷体" panose="02010600040101010101" pitchFamily="2" charset="-122"/>
                          <a:ea typeface="华文楷体" panose="02010600040101010101" pitchFamily="2" charset="-122"/>
                        </a:rPr>
                        <a:t>数仓</a:t>
                      </a:r>
                      <a:r>
                        <a:rPr lang="en-US" altLang="zh-CN" dirty="0">
                          <a:latin typeface="华文楷体" panose="02010600040101010101" pitchFamily="2" charset="-122"/>
                          <a:ea typeface="华文楷体" panose="02010600040101010101" pitchFamily="2" charset="-122"/>
                        </a:rPr>
                        <a:t>&amp;</a:t>
                      </a:r>
                      <a:r>
                        <a:rPr lang="zh-CN" altLang="en-US" dirty="0">
                          <a:latin typeface="华文楷体" panose="02010600040101010101" pitchFamily="2" charset="-122"/>
                          <a:ea typeface="华文楷体" panose="02010600040101010101" pitchFamily="2" charset="-122"/>
                        </a:rPr>
                        <a:t>湖</a:t>
                      </a:r>
                      <a:endParaRPr lang="zh-CN" altLang="en-US" dirty="0">
                        <a:latin typeface="华文楷体" panose="02010600040101010101" pitchFamily="2" charset="-122"/>
                        <a:ea typeface="华文楷体" panose="02010600040101010101" pitchFamily="2" charset="-122"/>
                      </a:endParaRPr>
                    </a:p>
                  </a:txBody>
                  <a:tcPr anchor="ctr"/>
                </a:tc>
                <a:tc>
                  <a:txBody>
                    <a:bodyPr/>
                    <a:lstStyle/>
                    <a:p>
                      <a:pPr marL="0" indent="0">
                        <a:buFont typeface="Arial" panose="020B0604020202020204" pitchFamily="34" charset="0"/>
                        <a:buNone/>
                      </a:pPr>
                      <a:r>
                        <a:rPr lang="en-US" altLang="zh-CN" sz="1400" dirty="0">
                          <a:latin typeface="华文楷体" panose="02010600040101010101" pitchFamily="2" charset="-122"/>
                          <a:ea typeface="华文楷体" panose="02010600040101010101" pitchFamily="2" charset="-122"/>
                        </a:rPr>
                        <a:t>1.</a:t>
                      </a:r>
                      <a:r>
                        <a:rPr lang="zh-CN" altLang="en-US" sz="1400" dirty="0">
                          <a:latin typeface="华文楷体" panose="02010600040101010101" pitchFamily="2" charset="-122"/>
                          <a:ea typeface="华文楷体" panose="02010600040101010101" pitchFamily="2" charset="-122"/>
                        </a:rPr>
                        <a:t>已与健超确定数仓数据测试初步方案和评估数据测试周期</a:t>
                      </a:r>
                      <a:endParaRPr lang="en-US" altLang="zh-CN" sz="1400" dirty="0">
                        <a:latin typeface="华文楷体" panose="02010600040101010101" pitchFamily="2" charset="-122"/>
                        <a:ea typeface="华文楷体" panose="02010600040101010101" pitchFamily="2" charset="-122"/>
                      </a:endParaRPr>
                    </a:p>
                    <a:p>
                      <a:pPr marL="0" indent="0">
                        <a:buFont typeface="Arial" panose="020B0604020202020204" pitchFamily="34" charset="0"/>
                        <a:buNone/>
                      </a:pPr>
                      <a:r>
                        <a:rPr lang="en-US" altLang="zh-CN" sz="1400" dirty="0">
                          <a:latin typeface="华文楷体" panose="02010600040101010101" pitchFamily="2" charset="-122"/>
                          <a:ea typeface="华文楷体" panose="02010600040101010101" pitchFamily="2" charset="-122"/>
                        </a:rPr>
                        <a:t>2.</a:t>
                      </a:r>
                      <a:r>
                        <a:rPr lang="zh-CN" altLang="en-US" sz="1400" dirty="0">
                          <a:latin typeface="华文楷体" panose="02010600040101010101" pitchFamily="2" charset="-122"/>
                          <a:ea typeface="华文楷体" panose="02010600040101010101" pitchFamily="2" charset="-122"/>
                        </a:rPr>
                        <a:t>已与金航评估在保障数仓先完成迁移的情况下的数据湖迁移计划</a:t>
                      </a:r>
                      <a:endParaRPr lang="en-US" altLang="zh-CN" sz="1400" dirty="0">
                        <a:latin typeface="华文楷体" panose="02010600040101010101" pitchFamily="2" charset="-122"/>
                        <a:ea typeface="华文楷体" panose="02010600040101010101" pitchFamily="2" charset="-122"/>
                      </a:endParaRPr>
                    </a:p>
                    <a:p>
                      <a:pPr marL="0" indent="0">
                        <a:buFont typeface="Arial" panose="020B0604020202020204" pitchFamily="34" charset="0"/>
                        <a:buNone/>
                      </a:pPr>
                      <a:r>
                        <a:rPr lang="en-US" altLang="zh-CN" sz="1400" dirty="0">
                          <a:latin typeface="华文楷体" panose="02010600040101010101" pitchFamily="2" charset="-122"/>
                          <a:ea typeface="华文楷体" panose="02010600040101010101" pitchFamily="2" charset="-122"/>
                        </a:rPr>
                        <a:t>3.</a:t>
                      </a:r>
                      <a:r>
                        <a:rPr lang="zh-CN" altLang="en-US" sz="1400" dirty="0">
                          <a:latin typeface="华文楷体" panose="02010600040101010101" pitchFamily="2" charset="-122"/>
                          <a:ea typeface="华文楷体" panose="02010600040101010101" pitchFamily="2" charset="-122"/>
                        </a:rPr>
                        <a:t>已与许哲对离线开发平台、调度、交换进行培训排期</a:t>
                      </a:r>
                      <a:endParaRPr lang="en-US" altLang="zh-CN" sz="1400" dirty="0">
                        <a:latin typeface="华文楷体" panose="02010600040101010101" pitchFamily="2" charset="-122"/>
                        <a:ea typeface="华文楷体" panose="02010600040101010101" pitchFamily="2" charset="-122"/>
                      </a:endParaRPr>
                    </a:p>
                    <a:p>
                      <a:pPr marL="0" indent="0">
                        <a:buFont typeface="Arial" panose="020B0604020202020204" pitchFamily="34" charset="0"/>
                        <a:buNone/>
                      </a:pPr>
                      <a:r>
                        <a:rPr lang="en-US" altLang="zh-CN" sz="1400" dirty="0">
                          <a:latin typeface="华文楷体" panose="02010600040101010101" pitchFamily="2" charset="-122"/>
                          <a:ea typeface="华文楷体" panose="02010600040101010101" pitchFamily="2" charset="-122"/>
                        </a:rPr>
                        <a:t>4.</a:t>
                      </a:r>
                      <a:r>
                        <a:rPr lang="zh-CN" altLang="en-US" sz="1400" dirty="0">
                          <a:latin typeface="华文楷体" panose="02010600040101010101" pitchFamily="2" charset="-122"/>
                          <a:ea typeface="华文楷体" panose="02010600040101010101" pitchFamily="2" charset="-122"/>
                        </a:rPr>
                        <a:t>已与培海对数据模型进行培训排期</a:t>
                      </a:r>
                      <a:endParaRPr lang="zh-CN" altLang="en-US" sz="1400" dirty="0">
                        <a:latin typeface="华文楷体" panose="02010600040101010101" pitchFamily="2" charset="-122"/>
                        <a:ea typeface="华文楷体" panose="02010600040101010101" pitchFamily="2" charset="-122"/>
                      </a:endParaRPr>
                    </a:p>
                  </a:txBody>
                  <a:tcPr/>
                </a:tc>
                <a:tc>
                  <a:txBody>
                    <a:bodyPr/>
                    <a:lstStyle/>
                    <a:p>
                      <a:r>
                        <a:rPr lang="zh-CN" altLang="en-US" sz="1400" dirty="0">
                          <a:latin typeface="华文楷体" panose="02010600040101010101" pitchFamily="2" charset="-122"/>
                          <a:ea typeface="华文楷体" panose="02010600040101010101" pitchFamily="2" charset="-122"/>
                        </a:rPr>
                        <a:t>详见进度管理文档</a:t>
                      </a:r>
                      <a:endParaRPr lang="zh-CN" altLang="en-US" sz="1400" dirty="0">
                        <a:latin typeface="华文楷体" panose="02010600040101010101" pitchFamily="2" charset="-122"/>
                        <a:ea typeface="华文楷体" panose="02010600040101010101" pitchFamily="2" charset="-122"/>
                      </a:endParaRPr>
                    </a:p>
                  </a:txBody>
                  <a:tcPr/>
                </a:tc>
              </a:tr>
              <a:tr h="1639311">
                <a:tc>
                  <a:txBody>
                    <a:bodyPr/>
                    <a:lstStyle/>
                    <a:p>
                      <a:pPr algn="ctr"/>
                      <a:r>
                        <a:rPr lang="zh-CN" altLang="en-US" dirty="0">
                          <a:latin typeface="华文楷体" panose="02010600040101010101" pitchFamily="2" charset="-122"/>
                          <a:ea typeface="华文楷体" panose="02010600040101010101" pitchFamily="2" charset="-122"/>
                        </a:rPr>
                        <a:t>产品</a:t>
                      </a:r>
                      <a:endParaRPr lang="zh-CN" altLang="en-US" dirty="0">
                        <a:latin typeface="华文楷体" panose="02010600040101010101" pitchFamily="2" charset="-122"/>
                        <a:ea typeface="华文楷体" panose="02010600040101010101" pitchFamily="2" charset="-122"/>
                      </a:endParaRPr>
                    </a:p>
                  </a:txBody>
                  <a:tcPr anchor="ctr"/>
                </a:tc>
                <a:tc>
                  <a:txBody>
                    <a:bodyPr/>
                    <a:lstStyle/>
                    <a:p>
                      <a:pPr marL="0" indent="0">
                        <a:buFont typeface="Arial" panose="020B0604020202020204" pitchFamily="34" charset="0"/>
                        <a:buNone/>
                      </a:pPr>
                      <a:r>
                        <a:rPr lang="en-US" altLang="zh-CN" sz="1400" dirty="0">
                          <a:latin typeface="华文楷体" panose="02010600040101010101" pitchFamily="2" charset="-122"/>
                          <a:ea typeface="华文楷体" panose="02010600040101010101" pitchFamily="2" charset="-122"/>
                        </a:rPr>
                        <a:t>1.Oushu</a:t>
                      </a:r>
                      <a:r>
                        <a:rPr lang="zh-CN" altLang="en-US" sz="1400" dirty="0">
                          <a:latin typeface="华文楷体" panose="02010600040101010101" pitchFamily="2" charset="-122"/>
                          <a:ea typeface="华文楷体" panose="02010600040101010101" pitchFamily="2" charset="-122"/>
                        </a:rPr>
                        <a:t>已经完成迁移</a:t>
                      </a:r>
                      <a:r>
                        <a:rPr lang="en-US" altLang="zh-CN" sz="1400" dirty="0">
                          <a:latin typeface="华文楷体" panose="02010600040101010101" pitchFamily="2" charset="-122"/>
                          <a:ea typeface="华文楷体" panose="02010600040101010101" pitchFamily="2" charset="-122"/>
                        </a:rPr>
                        <a:t>DDL</a:t>
                      </a:r>
                      <a:endParaRPr lang="en-US" altLang="zh-CN" sz="1400" dirty="0">
                        <a:latin typeface="华文楷体" panose="02010600040101010101" pitchFamily="2" charset="-122"/>
                        <a:ea typeface="华文楷体" panose="02010600040101010101" pitchFamily="2" charset="-122"/>
                      </a:endParaRPr>
                    </a:p>
                    <a:p>
                      <a:pPr marL="0" indent="0">
                        <a:buFont typeface="Arial" panose="020B0604020202020204" pitchFamily="34" charset="0"/>
                        <a:buNone/>
                      </a:pPr>
                      <a:r>
                        <a:rPr lang="en-US" altLang="zh-CN" sz="1400" dirty="0">
                          <a:latin typeface="华文楷体" panose="02010600040101010101" pitchFamily="2" charset="-122"/>
                          <a:ea typeface="华文楷体" panose="02010600040101010101" pitchFamily="2" charset="-122"/>
                        </a:rPr>
                        <a:t>2.Oushu</a:t>
                      </a:r>
                      <a:r>
                        <a:rPr lang="zh-CN" altLang="en-US" sz="1400" dirty="0">
                          <a:latin typeface="华文楷体" panose="02010600040101010101" pitchFamily="2" charset="-122"/>
                          <a:ea typeface="华文楷体" panose="02010600040101010101" pitchFamily="2" charset="-122"/>
                        </a:rPr>
                        <a:t>拟定使用的</a:t>
                      </a:r>
                      <a:r>
                        <a:rPr lang="en-US" altLang="zh-CN" sz="1400" dirty="0">
                          <a:latin typeface="华文楷体" panose="02010600040101010101" pitchFamily="2" charset="-122"/>
                          <a:ea typeface="华文楷体" panose="02010600040101010101" pitchFamily="2" charset="-122"/>
                        </a:rPr>
                        <a:t>copy</a:t>
                      </a:r>
                      <a:r>
                        <a:rPr lang="zh-CN" altLang="en-US" sz="1400" dirty="0">
                          <a:latin typeface="华文楷体" panose="02010600040101010101" pitchFamily="2" charset="-122"/>
                          <a:ea typeface="华文楷体" panose="02010600040101010101" pitchFamily="2" charset="-122"/>
                        </a:rPr>
                        <a:t>数据迁移方式受限，准备进行外表迁移方式技术打通（进度</a:t>
                      </a:r>
                      <a:r>
                        <a:rPr lang="en-US" altLang="zh-CN" sz="1400" dirty="0">
                          <a:latin typeface="华文楷体" panose="02010600040101010101" pitchFamily="2" charset="-122"/>
                          <a:ea typeface="华文楷体" panose="02010600040101010101" pitchFamily="2" charset="-122"/>
                        </a:rPr>
                        <a:t>10%</a:t>
                      </a:r>
                      <a:r>
                        <a:rPr lang="zh-CN" altLang="en-US" sz="1400" dirty="0">
                          <a:latin typeface="华文楷体" panose="02010600040101010101" pitchFamily="2" charset="-122"/>
                          <a:ea typeface="华文楷体" panose="02010600040101010101" pitchFamily="2" charset="-122"/>
                        </a:rPr>
                        <a:t>）</a:t>
                      </a:r>
                      <a:endParaRPr lang="en-US" altLang="zh-CN" sz="1400" dirty="0">
                        <a:latin typeface="华文楷体" panose="02010600040101010101" pitchFamily="2" charset="-122"/>
                        <a:ea typeface="华文楷体" panose="02010600040101010101" pitchFamily="2" charset="-122"/>
                      </a:endParaRPr>
                    </a:p>
                    <a:p>
                      <a:pPr marL="0" indent="0">
                        <a:buFont typeface="Arial" panose="020B0604020202020204" pitchFamily="34" charset="0"/>
                        <a:buNone/>
                      </a:pPr>
                      <a:r>
                        <a:rPr lang="en-US" altLang="zh-CN" sz="1400" dirty="0">
                          <a:latin typeface="华文楷体" panose="02010600040101010101" pitchFamily="2" charset="-122"/>
                          <a:ea typeface="华文楷体" panose="02010600040101010101" pitchFamily="2" charset="-122"/>
                        </a:rPr>
                        <a:t>3.Oushu</a:t>
                      </a:r>
                      <a:r>
                        <a:rPr lang="zh-CN" altLang="en-US" sz="1400" dirty="0">
                          <a:latin typeface="华文楷体" panose="02010600040101010101" pitchFamily="2" charset="-122"/>
                          <a:ea typeface="华文楷体" panose="02010600040101010101" pitchFamily="2" charset="-122"/>
                        </a:rPr>
                        <a:t>分析部分数仓典型脚本，确认语法函数的特征差异（进度</a:t>
                      </a:r>
                      <a:r>
                        <a:rPr lang="en-US" altLang="zh-CN" sz="1400" dirty="0">
                          <a:latin typeface="华文楷体" panose="02010600040101010101" pitchFamily="2" charset="-122"/>
                          <a:ea typeface="华文楷体" panose="02010600040101010101" pitchFamily="2" charset="-122"/>
                        </a:rPr>
                        <a:t>17%</a:t>
                      </a:r>
                      <a:r>
                        <a:rPr lang="zh-CN" altLang="en-US" sz="1400" dirty="0">
                          <a:latin typeface="华文楷体" panose="02010600040101010101" pitchFamily="2" charset="-122"/>
                          <a:ea typeface="华文楷体" panose="02010600040101010101" pitchFamily="2" charset="-122"/>
                        </a:rPr>
                        <a:t>）</a:t>
                      </a:r>
                      <a:endParaRPr lang="en-US" altLang="zh-CN" sz="1400" dirty="0">
                        <a:latin typeface="华文楷体" panose="02010600040101010101" pitchFamily="2" charset="-122"/>
                        <a:ea typeface="华文楷体" panose="02010600040101010101" pitchFamily="2"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u="none" dirty="0">
                          <a:solidFill>
                            <a:schemeClr val="tx1"/>
                          </a:solidFill>
                          <a:latin typeface="华文楷体" panose="02010600040101010101" pitchFamily="2" charset="-122"/>
                          <a:ea typeface="华文楷体" panose="02010600040101010101" pitchFamily="2" charset="-122"/>
                        </a:rPr>
                        <a:t>已完成：</a:t>
                      </a:r>
                      <a:endParaRPr lang="en-US" altLang="zh-CN" sz="1400" u="none" dirty="0">
                        <a:solidFill>
                          <a:schemeClr val="tx1"/>
                        </a:solidFill>
                        <a:latin typeface="华文楷体" panose="02010600040101010101" pitchFamily="2" charset="-122"/>
                        <a:ea typeface="华文楷体" panose="02010600040101010101" pitchFamily="2" charset="-122"/>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defRPr/>
                      </a:pPr>
                      <a:r>
                        <a:rPr lang="zh-CN" altLang="en-US" sz="1400" u="sng" dirty="0">
                          <a:solidFill>
                            <a:srgbClr val="4472C4"/>
                          </a:solidFill>
                          <a:latin typeface="华文楷体" panose="02010600040101010101" pitchFamily="2" charset="-122"/>
                          <a:ea typeface="华文楷体" panose="02010600040101010101" pitchFamily="2" charset="-122"/>
                        </a:rPr>
                        <a:t>中信建投湖仓平台项目进度管理文档</a:t>
                      </a:r>
                      <a:r>
                        <a:rPr lang="en-US" altLang="zh-CN" sz="1400" u="sng" dirty="0">
                          <a:solidFill>
                            <a:srgbClr val="4472C4"/>
                          </a:solidFill>
                          <a:latin typeface="华文楷体" panose="02010600040101010101" pitchFamily="2" charset="-122"/>
                          <a:ea typeface="华文楷体" panose="02010600040101010101" pitchFamily="2" charset="-122"/>
                        </a:rPr>
                        <a:t>_</a:t>
                      </a:r>
                      <a:r>
                        <a:rPr lang="en-GB" altLang="zh-CN" sz="1400" u="sng" dirty="0">
                          <a:solidFill>
                            <a:srgbClr val="4472C4"/>
                          </a:solidFill>
                          <a:latin typeface="华文楷体" panose="02010600040101010101" pitchFamily="2" charset="-122"/>
                          <a:ea typeface="华文楷体" panose="02010600040101010101" pitchFamily="2" charset="-122"/>
                        </a:rPr>
                        <a:t>V1.</a:t>
                      </a:r>
                      <a:r>
                        <a:rPr lang="en-US" altLang="zh-CN" sz="1400" u="sng" dirty="0">
                          <a:solidFill>
                            <a:srgbClr val="4472C4"/>
                          </a:solidFill>
                          <a:latin typeface="华文楷体" panose="02010600040101010101" pitchFamily="2" charset="-122"/>
                          <a:ea typeface="华文楷体" panose="02010600040101010101" pitchFamily="2" charset="-122"/>
                        </a:rPr>
                        <a:t>4.</a:t>
                      </a:r>
                      <a:r>
                        <a:rPr lang="en-GB" altLang="zh-CN" sz="1400" u="sng" dirty="0">
                          <a:solidFill>
                            <a:srgbClr val="4472C4"/>
                          </a:solidFill>
                          <a:latin typeface="华文楷体" panose="02010600040101010101" pitchFamily="2" charset="-122"/>
                          <a:ea typeface="华文楷体" panose="02010600040101010101" pitchFamily="2" charset="-122"/>
                        </a:rPr>
                        <a:t>xlsx</a:t>
                      </a:r>
                      <a:endParaRPr lang="en-US" altLang="zh-CN" sz="1400" u="sng" dirty="0">
                        <a:solidFill>
                          <a:srgbClr val="4472C4"/>
                        </a:solidFill>
                        <a:latin typeface="华文楷体" panose="02010600040101010101" pitchFamily="2" charset="-122"/>
                        <a:ea typeface="华文楷体" panose="02010600040101010101" pitchFamily="2" charset="-122"/>
                        <a:hlinkClick r:id="rId1"/>
                      </a:endParaRPr>
                    </a:p>
                  </a:txBody>
                  <a:tcPr/>
                </a:tc>
              </a:tr>
              <a:tr h="1224844">
                <a:tc>
                  <a:txBody>
                    <a:bodyPr/>
                    <a:lstStyle/>
                    <a:p>
                      <a:pPr algn="ctr"/>
                      <a:r>
                        <a:rPr lang="zh-CN" altLang="en-US">
                          <a:latin typeface="华文楷体" panose="02010600040101010101" pitchFamily="2" charset="-122"/>
                          <a:ea typeface="华文楷体" panose="02010600040101010101" pitchFamily="2" charset="-122"/>
                        </a:rPr>
                        <a:t>研发</a:t>
                      </a:r>
                      <a:endParaRPr lang="zh-CN" altLang="en-US" dirty="0">
                        <a:latin typeface="华文楷体" panose="02010600040101010101" pitchFamily="2" charset="-122"/>
                        <a:ea typeface="华文楷体" panose="02010600040101010101" pitchFamily="2" charset="-122"/>
                      </a:endParaRPr>
                    </a:p>
                  </a:txBody>
                  <a:tcPr anchor="ctr"/>
                </a:tc>
                <a:tc>
                  <a:txBody>
                    <a:bodyPr/>
                    <a:lstStyle/>
                    <a:p>
                      <a:pPr marL="0" indent="0">
                        <a:buFont typeface="Arial" panose="020B0604020202020204" pitchFamily="34" charset="0"/>
                        <a:buNone/>
                      </a:pPr>
                      <a:r>
                        <a:rPr lang="en-US" altLang="zh-CN" sz="1400" kern="1200" dirty="0">
                          <a:solidFill>
                            <a:schemeClr val="dk1"/>
                          </a:solidFill>
                          <a:latin typeface="华文楷体" panose="02010600040101010101" pitchFamily="2" charset="-122"/>
                          <a:ea typeface="华文楷体" panose="02010600040101010101" pitchFamily="2" charset="-122"/>
                          <a:cs typeface="+mn-cs"/>
                        </a:rPr>
                        <a:t>1.</a:t>
                      </a:r>
                      <a:r>
                        <a:rPr lang="zh-CN" altLang="en-US" sz="1400" kern="1200" dirty="0">
                          <a:solidFill>
                            <a:schemeClr val="dk1"/>
                          </a:solidFill>
                          <a:latin typeface="华文楷体" panose="02010600040101010101" pitchFamily="2" charset="-122"/>
                          <a:ea typeface="华文楷体" panose="02010600040101010101" pitchFamily="2" charset="-122"/>
                          <a:cs typeface="+mn-cs"/>
                        </a:rPr>
                        <a:t>离线开发平台适配</a:t>
                      </a:r>
                      <a:r>
                        <a:rPr lang="en-US" altLang="zh-CN" sz="1400" kern="1200" dirty="0" err="1">
                          <a:solidFill>
                            <a:schemeClr val="dk1"/>
                          </a:solidFill>
                          <a:latin typeface="华文楷体" panose="02010600040101010101" pitchFamily="2" charset="-122"/>
                          <a:ea typeface="华文楷体" panose="02010600040101010101" pitchFamily="2" charset="-122"/>
                          <a:cs typeface="+mn-cs"/>
                        </a:rPr>
                        <a:t>OushuDB</a:t>
                      </a:r>
                      <a:r>
                        <a:rPr lang="zh-CN" altLang="en-US" sz="1400" kern="1200" dirty="0">
                          <a:solidFill>
                            <a:schemeClr val="dk1"/>
                          </a:solidFill>
                          <a:latin typeface="华文楷体" panose="02010600040101010101" pitchFamily="2" charset="-122"/>
                          <a:ea typeface="华文楷体" panose="02010600040101010101" pitchFamily="2" charset="-122"/>
                          <a:cs typeface="+mn-cs"/>
                        </a:rPr>
                        <a:t>，回归测试中，预计</a:t>
                      </a:r>
                      <a:r>
                        <a:rPr lang="en-US" altLang="zh-CN" sz="1400" kern="1200" dirty="0">
                          <a:solidFill>
                            <a:schemeClr val="dk1"/>
                          </a:solidFill>
                          <a:latin typeface="华文楷体" panose="02010600040101010101" pitchFamily="2" charset="-122"/>
                          <a:ea typeface="华文楷体" panose="02010600040101010101" pitchFamily="2" charset="-122"/>
                          <a:cs typeface="+mn-cs"/>
                        </a:rPr>
                        <a:t>2</a:t>
                      </a:r>
                      <a:r>
                        <a:rPr lang="zh-CN" altLang="en-US" sz="1400" kern="1200" dirty="0">
                          <a:solidFill>
                            <a:schemeClr val="dk1"/>
                          </a:solidFill>
                          <a:latin typeface="华文楷体" panose="02010600040101010101" pitchFamily="2" charset="-122"/>
                          <a:ea typeface="华文楷体" panose="02010600040101010101" pitchFamily="2" charset="-122"/>
                          <a:cs typeface="+mn-cs"/>
                        </a:rPr>
                        <a:t>月</a:t>
                      </a:r>
                      <a:r>
                        <a:rPr lang="en-US" altLang="zh-CN" sz="1400" kern="1200" dirty="0">
                          <a:solidFill>
                            <a:schemeClr val="dk1"/>
                          </a:solidFill>
                          <a:latin typeface="华文楷体" panose="02010600040101010101" pitchFamily="2" charset="-122"/>
                          <a:ea typeface="华文楷体" panose="02010600040101010101" pitchFamily="2" charset="-122"/>
                          <a:cs typeface="+mn-cs"/>
                        </a:rPr>
                        <a:t>17</a:t>
                      </a:r>
                      <a:r>
                        <a:rPr lang="zh-CN" altLang="en-US" sz="1400" kern="1200" dirty="0">
                          <a:solidFill>
                            <a:schemeClr val="dk1"/>
                          </a:solidFill>
                          <a:latin typeface="华文楷体" panose="02010600040101010101" pitchFamily="2" charset="-122"/>
                          <a:ea typeface="华文楷体" panose="02010600040101010101" pitchFamily="2" charset="-122"/>
                          <a:cs typeface="+mn-cs"/>
                        </a:rPr>
                        <a:t>日上一个新版本</a:t>
                      </a:r>
                      <a:endParaRPr lang="en-US" altLang="zh-CN" sz="1400" kern="1200" dirty="0">
                        <a:solidFill>
                          <a:schemeClr val="dk1"/>
                        </a:solidFill>
                        <a:latin typeface="华文楷体" panose="02010600040101010101" pitchFamily="2" charset="-122"/>
                        <a:ea typeface="华文楷体" panose="02010600040101010101" pitchFamily="2" charset="-122"/>
                        <a:cs typeface="+mn-cs"/>
                      </a:endParaRPr>
                    </a:p>
                    <a:p>
                      <a:pPr marL="0" indent="0">
                        <a:buFont typeface="Arial" panose="020B0604020202020204" pitchFamily="34" charset="0"/>
                        <a:buNone/>
                      </a:pPr>
                      <a:r>
                        <a:rPr lang="en-US" altLang="zh-CN" sz="1400" kern="1200" dirty="0">
                          <a:solidFill>
                            <a:schemeClr val="dk1"/>
                          </a:solidFill>
                          <a:latin typeface="华文楷体" panose="02010600040101010101" pitchFamily="2" charset="-122"/>
                          <a:ea typeface="华文楷体" panose="02010600040101010101" pitchFamily="2" charset="-122"/>
                          <a:cs typeface="+mn-cs"/>
                        </a:rPr>
                        <a:t>2.</a:t>
                      </a:r>
                      <a:r>
                        <a:rPr lang="zh-CN" altLang="en-US" sz="1400" kern="1200" dirty="0">
                          <a:solidFill>
                            <a:schemeClr val="dk1"/>
                          </a:solidFill>
                          <a:latin typeface="华文楷体" panose="02010600040101010101" pitchFamily="2" charset="-122"/>
                          <a:ea typeface="华文楷体" panose="02010600040101010101" pitchFamily="2" charset="-122"/>
                          <a:cs typeface="+mn-cs"/>
                        </a:rPr>
                        <a:t>调度和交换当前看没有太大问题。</a:t>
                      </a:r>
                      <a:endParaRPr lang="en-US" altLang="zh-CN" sz="1400" kern="1200" dirty="0">
                        <a:solidFill>
                          <a:schemeClr val="dk1"/>
                        </a:solidFill>
                        <a:latin typeface="华文楷体" panose="02010600040101010101" pitchFamily="2" charset="-122"/>
                        <a:ea typeface="华文楷体" panose="02010600040101010101" pitchFamily="2" charset="-122"/>
                        <a:cs typeface="+mn-cs"/>
                      </a:endParaRPr>
                    </a:p>
                  </a:txBody>
                  <a:tcPr/>
                </a:tc>
                <a:tc>
                  <a:txBody>
                    <a:bodyPr/>
                    <a:lstStyle/>
                    <a:p>
                      <a:endParaRPr lang="zh-CN" altLang="en-US" sz="1400" dirty="0">
                        <a:latin typeface="华文楷体" panose="02010600040101010101" pitchFamily="2" charset="-122"/>
                        <a:ea typeface="华文楷体" panose="02010600040101010101" pitchFamily="2" charset="-122"/>
                      </a:endParaRPr>
                    </a:p>
                  </a:txBody>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本周风险及问题</a:t>
            </a:r>
            <a:endParaRPr lang="zh-CN" altLang="en-US" dirty="0"/>
          </a:p>
        </p:txBody>
      </p:sp>
      <p:sp>
        <p:nvSpPr>
          <p:cNvPr id="3" name="ïṡļîḓè"/>
          <p:cNvSpPr/>
          <p:nvPr/>
        </p:nvSpPr>
        <p:spPr>
          <a:xfrm>
            <a:off x="839976" y="1215506"/>
            <a:ext cx="4913406" cy="4022071"/>
          </a:xfrm>
          <a:prstGeom prst="roundRect">
            <a:avLst>
              <a:gd name="adj" fmla="val 8000"/>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华文楷体" panose="02010600040101010101" pitchFamily="2" charset="-122"/>
              <a:ea typeface="华文楷体" panose="02010600040101010101" pitchFamily="2" charset="-122"/>
            </a:endParaRPr>
          </a:p>
        </p:txBody>
      </p:sp>
      <p:cxnSp>
        <p:nvCxnSpPr>
          <p:cNvPr id="4" name="iṧľídè"/>
          <p:cNvCxnSpPr/>
          <p:nvPr/>
        </p:nvCxnSpPr>
        <p:spPr>
          <a:xfrm>
            <a:off x="857936" y="2170167"/>
            <a:ext cx="0" cy="178532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 name="îśľïdè"/>
          <p:cNvSpPr/>
          <p:nvPr/>
        </p:nvSpPr>
        <p:spPr>
          <a:xfrm>
            <a:off x="1232772" y="2497082"/>
            <a:ext cx="4127814" cy="3524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171450" indent="-171450">
              <a:lnSpc>
                <a:spcPct val="130000"/>
              </a:lnSpc>
              <a:buFont typeface="Arial" panose="020B0604020202020204" pitchFamily="34" charset="0"/>
              <a:buChar char="•"/>
            </a:pPr>
            <a:r>
              <a:rPr lang="zh-CN" altLang="en-US" sz="1400" dirty="0">
                <a:solidFill>
                  <a:schemeClr val="tx1"/>
                </a:solidFill>
                <a:latin typeface="华文楷体" panose="02010600040101010101" pitchFamily="2" charset="-122"/>
                <a:ea typeface="华文楷体" panose="02010600040101010101" pitchFamily="2" charset="-122"/>
              </a:rPr>
              <a:t>暂无</a:t>
            </a:r>
            <a:endParaRPr lang="en-US" altLang="zh-CN" sz="1400" dirty="0">
              <a:solidFill>
                <a:schemeClr val="tx1"/>
              </a:solidFill>
              <a:latin typeface="华文楷体" panose="02010600040101010101" pitchFamily="2" charset="-122"/>
              <a:ea typeface="华文楷体" panose="02010600040101010101" pitchFamily="2" charset="-122"/>
            </a:endParaRPr>
          </a:p>
        </p:txBody>
      </p:sp>
      <p:sp>
        <p:nvSpPr>
          <p:cNvPr id="6" name="iṡľîde"/>
          <p:cNvSpPr/>
          <p:nvPr/>
        </p:nvSpPr>
        <p:spPr>
          <a:xfrm>
            <a:off x="1232772" y="1678139"/>
            <a:ext cx="2631331" cy="4616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r>
              <a:rPr kumimoji="1" lang="zh-CN" altLang="en-US" sz="2400" b="1" dirty="0">
                <a:solidFill>
                  <a:schemeClr val="tx1"/>
                </a:solidFill>
                <a:latin typeface="华文楷体" panose="02010600040101010101" pitchFamily="2" charset="-122"/>
                <a:ea typeface="华文楷体" panose="02010600040101010101" pitchFamily="2" charset="-122"/>
              </a:rPr>
              <a:t>风险</a:t>
            </a:r>
            <a:endParaRPr kumimoji="1" lang="en-US" altLang="zh-CN" sz="2400" b="1" dirty="0">
              <a:solidFill>
                <a:schemeClr val="tx1"/>
              </a:solidFill>
              <a:latin typeface="华文楷体" panose="02010600040101010101" pitchFamily="2" charset="-122"/>
              <a:ea typeface="华文楷体" panose="02010600040101010101" pitchFamily="2" charset="-122"/>
            </a:endParaRPr>
          </a:p>
        </p:txBody>
      </p:sp>
      <p:sp>
        <p:nvSpPr>
          <p:cNvPr id="7" name="íSľiḍé"/>
          <p:cNvSpPr/>
          <p:nvPr/>
        </p:nvSpPr>
        <p:spPr>
          <a:xfrm>
            <a:off x="6175194" y="1215506"/>
            <a:ext cx="4913406" cy="4022071"/>
          </a:xfrm>
          <a:prstGeom prst="roundRect">
            <a:avLst>
              <a:gd name="adj" fmla="val 8000"/>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华文楷体" panose="02010600040101010101" pitchFamily="2" charset="-122"/>
              <a:ea typeface="华文楷体" panose="02010600040101010101" pitchFamily="2" charset="-122"/>
            </a:endParaRPr>
          </a:p>
        </p:txBody>
      </p:sp>
      <p:cxnSp>
        <p:nvCxnSpPr>
          <p:cNvPr id="8" name="í$ḻïḓè"/>
          <p:cNvCxnSpPr/>
          <p:nvPr/>
        </p:nvCxnSpPr>
        <p:spPr>
          <a:xfrm>
            <a:off x="6181179" y="2170167"/>
            <a:ext cx="0" cy="178532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9" name="î$ḷíḋê"/>
          <p:cNvSpPr/>
          <p:nvPr/>
        </p:nvSpPr>
        <p:spPr>
          <a:xfrm>
            <a:off x="6556016" y="2497082"/>
            <a:ext cx="4127814" cy="3524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171450" indent="-171450">
              <a:lnSpc>
                <a:spcPct val="130000"/>
              </a:lnSpc>
              <a:buFont typeface="Arial" panose="020B0604020202020204" pitchFamily="34" charset="0"/>
              <a:buChar char="•"/>
            </a:pPr>
            <a:r>
              <a:rPr lang="zh-CN" altLang="en-US" sz="1400" b="0" i="0" dirty="0">
                <a:solidFill>
                  <a:schemeClr val="tx1"/>
                </a:solidFill>
                <a:effectLst/>
                <a:latin typeface="华文楷体" panose="02010600040101010101" pitchFamily="2" charset="-122"/>
                <a:ea typeface="华文楷体" panose="02010600040101010101" pitchFamily="2" charset="-122"/>
              </a:rPr>
              <a:t>暂无</a:t>
            </a:r>
            <a:endParaRPr lang="en-US" altLang="zh-CN" sz="1400" b="0" i="0" dirty="0">
              <a:solidFill>
                <a:schemeClr val="tx1"/>
              </a:solidFill>
              <a:effectLst/>
              <a:latin typeface="华文楷体" panose="02010600040101010101" pitchFamily="2" charset="-122"/>
              <a:ea typeface="华文楷体" panose="02010600040101010101" pitchFamily="2" charset="-122"/>
            </a:endParaRPr>
          </a:p>
        </p:txBody>
      </p:sp>
      <p:sp>
        <p:nvSpPr>
          <p:cNvPr id="10" name="iŝḻiḑé"/>
          <p:cNvSpPr/>
          <p:nvPr/>
        </p:nvSpPr>
        <p:spPr>
          <a:xfrm>
            <a:off x="6544040" y="1678139"/>
            <a:ext cx="2631331" cy="4616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r>
              <a:rPr kumimoji="1" lang="zh-CN" altLang="en-US" sz="2400" b="1" dirty="0">
                <a:solidFill>
                  <a:schemeClr val="tx1"/>
                </a:solidFill>
                <a:latin typeface="华文楷体" panose="02010600040101010101" pitchFamily="2" charset="-122"/>
                <a:ea typeface="华文楷体" panose="02010600040101010101" pitchFamily="2" charset="-122"/>
              </a:rPr>
              <a:t>问题</a:t>
            </a:r>
            <a:endParaRPr kumimoji="1" lang="en-US" altLang="zh-CN" sz="2400" b="1" dirty="0">
              <a:solidFill>
                <a:schemeClr val="tx1"/>
              </a:solidFill>
              <a:latin typeface="华文楷体" panose="02010600040101010101" pitchFamily="2" charset="-122"/>
              <a:ea typeface="华文楷体" panose="0201060004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chemeClr val="bg1">
                    <a:lumMod val="50000"/>
                  </a:schemeClr>
                </a:solidFill>
              </a:rPr>
              <a:t>一、实施节奏</a:t>
            </a:r>
            <a:endParaRPr lang="en-US" altLang="zh-CN" dirty="0">
              <a:solidFill>
                <a:schemeClr val="bg1">
                  <a:lumMod val="50000"/>
                </a:schemeClr>
              </a:solidFill>
            </a:endParaRPr>
          </a:p>
          <a:p>
            <a:r>
              <a:rPr lang="zh-CN" altLang="en-US" dirty="0">
                <a:solidFill>
                  <a:schemeClr val="bg1">
                    <a:lumMod val="50000"/>
                  </a:schemeClr>
                </a:solidFill>
              </a:rPr>
              <a:t>二、本周进展</a:t>
            </a:r>
            <a:endParaRPr lang="en-US" altLang="zh-CN" dirty="0">
              <a:solidFill>
                <a:schemeClr val="bg1">
                  <a:lumMod val="50000"/>
                </a:schemeClr>
              </a:solidFill>
            </a:endParaRPr>
          </a:p>
          <a:p>
            <a:r>
              <a:rPr lang="zh-CN" altLang="en-US" dirty="0">
                <a:solidFill>
                  <a:srgbClr val="C00000"/>
                </a:solidFill>
              </a:rPr>
              <a:t>三、专项讨论</a:t>
            </a:r>
            <a:endParaRPr lang="en-US" altLang="zh-CN" dirty="0">
              <a:solidFill>
                <a:srgbClr val="C00000"/>
              </a:solidFill>
            </a:endParaRPr>
          </a:p>
          <a:p>
            <a:r>
              <a:rPr lang="zh-CN" altLang="en-US" dirty="0">
                <a:solidFill>
                  <a:schemeClr val="bg1">
                    <a:lumMod val="50000"/>
                  </a:schemeClr>
                </a:solidFill>
              </a:rPr>
              <a:t>四、下周工作</a:t>
            </a:r>
            <a:endParaRPr lang="en-US" altLang="zh-CN" dirty="0">
              <a:solidFill>
                <a:schemeClr val="bg1">
                  <a:lumMod val="50000"/>
                </a:schemeClr>
              </a:solidFill>
            </a:endParaRPr>
          </a:p>
          <a:p>
            <a:endParaRPr lang="zh-CN" altLang="en-US" dirty="0">
              <a:solidFill>
                <a:schemeClr val="bg1">
                  <a:lumMod val="50000"/>
                </a:schemeClr>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本周专项讨论</a:t>
            </a:r>
            <a:endParaRPr lang="zh-CN" altLang="en-US" dirty="0"/>
          </a:p>
        </p:txBody>
      </p:sp>
      <p:sp>
        <p:nvSpPr>
          <p:cNvPr id="3" name="ïṡļîḓè"/>
          <p:cNvSpPr/>
          <p:nvPr/>
        </p:nvSpPr>
        <p:spPr>
          <a:xfrm>
            <a:off x="839976" y="1215506"/>
            <a:ext cx="4913406" cy="4022071"/>
          </a:xfrm>
          <a:prstGeom prst="roundRect">
            <a:avLst>
              <a:gd name="adj" fmla="val 8000"/>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华文楷体" panose="02010600040101010101" pitchFamily="2" charset="-122"/>
              <a:ea typeface="华文楷体" panose="02010600040101010101" pitchFamily="2" charset="-122"/>
            </a:endParaRPr>
          </a:p>
        </p:txBody>
      </p:sp>
      <p:cxnSp>
        <p:nvCxnSpPr>
          <p:cNvPr id="4" name="iṧľídè"/>
          <p:cNvCxnSpPr/>
          <p:nvPr/>
        </p:nvCxnSpPr>
        <p:spPr>
          <a:xfrm>
            <a:off x="857936" y="2170167"/>
            <a:ext cx="0" cy="178532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 name="îśľïdè"/>
          <p:cNvSpPr/>
          <p:nvPr/>
        </p:nvSpPr>
        <p:spPr>
          <a:xfrm>
            <a:off x="1279749" y="2170167"/>
            <a:ext cx="4127814" cy="19786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171450" indent="-171450">
              <a:lnSpc>
                <a:spcPct val="130000"/>
              </a:lnSpc>
              <a:buFont typeface="Arial" panose="020B0604020202020204" pitchFamily="34" charset="0"/>
              <a:buChar char="•"/>
            </a:pPr>
            <a:r>
              <a:rPr lang="en-US" altLang="zh-CN" sz="1200" dirty="0">
                <a:solidFill>
                  <a:schemeClr val="tx1"/>
                </a:solidFill>
                <a:latin typeface="华文楷体" panose="02010600040101010101" pitchFamily="2" charset="-122"/>
                <a:ea typeface="华文楷体" panose="02010600040101010101" pitchFamily="2" charset="-122"/>
              </a:rPr>
              <a:t>1.</a:t>
            </a:r>
            <a:r>
              <a:rPr lang="zh-CN" altLang="en-US" sz="1200" dirty="0">
                <a:solidFill>
                  <a:schemeClr val="tx1"/>
                </a:solidFill>
                <a:latin typeface="华文楷体" panose="02010600040101010101" pitchFamily="2" charset="-122"/>
                <a:ea typeface="华文楷体" panose="02010600040101010101" pitchFamily="2" charset="-122"/>
              </a:rPr>
              <a:t>子浩：测试环境抽数据的时间段是否有限制？</a:t>
            </a:r>
            <a:endParaRPr lang="en-US" altLang="zh-CN" sz="1200" dirty="0">
              <a:solidFill>
                <a:schemeClr val="tx1"/>
              </a:solidFill>
              <a:latin typeface="华文楷体" panose="02010600040101010101" pitchFamily="2" charset="-122"/>
              <a:ea typeface="华文楷体" panose="02010600040101010101" pitchFamily="2" charset="-122"/>
            </a:endParaRPr>
          </a:p>
          <a:p>
            <a:pPr marL="171450" indent="-171450">
              <a:lnSpc>
                <a:spcPct val="130000"/>
              </a:lnSpc>
              <a:buFont typeface="Arial" panose="020B0604020202020204" pitchFamily="34" charset="0"/>
              <a:buChar char="•"/>
            </a:pPr>
            <a:r>
              <a:rPr lang="en-US" altLang="zh-CN" sz="1200" dirty="0">
                <a:solidFill>
                  <a:schemeClr val="tx1"/>
                </a:solidFill>
                <a:latin typeface="华文楷体" panose="02010600040101010101" pitchFamily="2" charset="-122"/>
                <a:ea typeface="华文楷体" panose="02010600040101010101" pitchFamily="2" charset="-122"/>
              </a:rPr>
              <a:t>2.</a:t>
            </a:r>
            <a:r>
              <a:rPr lang="zh-CN" altLang="en-US" sz="1200" dirty="0">
                <a:solidFill>
                  <a:schemeClr val="tx1"/>
                </a:solidFill>
                <a:latin typeface="华文楷体" panose="02010600040101010101" pitchFamily="2" charset="-122"/>
                <a:ea typeface="华文楷体" panose="02010600040101010101" pitchFamily="2" charset="-122"/>
              </a:rPr>
              <a:t>子浩：并发数是否有上限？</a:t>
            </a:r>
            <a:endParaRPr lang="en-US" altLang="zh-CN" sz="1200" dirty="0">
              <a:solidFill>
                <a:schemeClr val="tx1"/>
              </a:solidFill>
              <a:latin typeface="华文楷体" panose="02010600040101010101" pitchFamily="2" charset="-122"/>
              <a:ea typeface="华文楷体" panose="02010600040101010101" pitchFamily="2" charset="-122"/>
            </a:endParaRPr>
          </a:p>
          <a:p>
            <a:pPr marL="171450" indent="-171450">
              <a:lnSpc>
                <a:spcPct val="130000"/>
              </a:lnSpc>
              <a:buFont typeface="Arial" panose="020B0604020202020204" pitchFamily="34" charset="0"/>
              <a:buChar char="•"/>
            </a:pPr>
            <a:r>
              <a:rPr lang="en-US" altLang="zh-CN" sz="1200" dirty="0">
                <a:solidFill>
                  <a:schemeClr val="tx1"/>
                </a:solidFill>
                <a:latin typeface="华文楷体" panose="02010600040101010101" pitchFamily="2" charset="-122"/>
                <a:ea typeface="华文楷体" panose="02010600040101010101" pitchFamily="2" charset="-122"/>
              </a:rPr>
              <a:t>3.</a:t>
            </a:r>
            <a:r>
              <a:rPr lang="zh-CN" altLang="en-US" sz="1200" dirty="0">
                <a:solidFill>
                  <a:schemeClr val="tx1"/>
                </a:solidFill>
                <a:latin typeface="华文楷体" panose="02010600040101010101" pitchFamily="2" charset="-122"/>
                <a:ea typeface="华文楷体" panose="02010600040101010101" pitchFamily="2" charset="-122"/>
              </a:rPr>
              <a:t>许哲：目录结构需要定一下，方便管理。</a:t>
            </a:r>
            <a:endParaRPr lang="en-US" altLang="zh-CN" sz="1200" dirty="0">
              <a:solidFill>
                <a:schemeClr val="tx1"/>
              </a:solidFill>
              <a:latin typeface="华文楷体" panose="02010600040101010101" pitchFamily="2" charset="-122"/>
              <a:ea typeface="华文楷体" panose="02010600040101010101" pitchFamily="2" charset="-122"/>
            </a:endParaRPr>
          </a:p>
          <a:p>
            <a:pPr marL="171450" indent="-171450">
              <a:lnSpc>
                <a:spcPct val="130000"/>
              </a:lnSpc>
              <a:buFont typeface="Arial" panose="020B0604020202020204" pitchFamily="34" charset="0"/>
              <a:buChar char="•"/>
            </a:pPr>
            <a:r>
              <a:rPr lang="en-US" altLang="zh-CN" sz="1200" dirty="0">
                <a:solidFill>
                  <a:schemeClr val="tx1"/>
                </a:solidFill>
                <a:latin typeface="华文楷体" panose="02010600040101010101" pitchFamily="2" charset="-122"/>
                <a:ea typeface="华文楷体" panose="02010600040101010101" pitchFamily="2" charset="-122"/>
              </a:rPr>
              <a:t>4.</a:t>
            </a:r>
            <a:r>
              <a:rPr lang="zh-CN" altLang="en-US" sz="1200" dirty="0">
                <a:solidFill>
                  <a:schemeClr val="tx1"/>
                </a:solidFill>
                <a:latin typeface="华文楷体" panose="02010600040101010101" pitchFamily="2" charset="-122"/>
                <a:ea typeface="华文楷体" panose="02010600040101010101" pitchFamily="2" charset="-122"/>
              </a:rPr>
              <a:t>金航：数据湖与数仓</a:t>
            </a:r>
            <a:r>
              <a:rPr lang="en-US" altLang="zh-CN" sz="1200" dirty="0">
                <a:solidFill>
                  <a:schemeClr val="tx1"/>
                </a:solidFill>
                <a:latin typeface="华文楷体" panose="02010600040101010101" pitchFamily="2" charset="-122"/>
                <a:ea typeface="华文楷体" panose="02010600040101010101" pitchFamily="2" charset="-122"/>
              </a:rPr>
              <a:t>ODS</a:t>
            </a:r>
            <a:r>
              <a:rPr lang="zh-CN" altLang="en-US" sz="1200" dirty="0">
                <a:solidFill>
                  <a:schemeClr val="tx1"/>
                </a:solidFill>
                <a:latin typeface="华文楷体" panose="02010600040101010101" pitchFamily="2" charset="-122"/>
                <a:ea typeface="华文楷体" panose="02010600040101010101" pitchFamily="2" charset="-122"/>
              </a:rPr>
              <a:t>的数据字段不一致如何保障？</a:t>
            </a:r>
            <a:endParaRPr lang="en-US" altLang="zh-CN" sz="1200" dirty="0">
              <a:solidFill>
                <a:schemeClr val="tx1"/>
              </a:solidFill>
              <a:latin typeface="华文楷体" panose="02010600040101010101" pitchFamily="2" charset="-122"/>
              <a:ea typeface="华文楷体" panose="02010600040101010101" pitchFamily="2" charset="-122"/>
            </a:endParaRPr>
          </a:p>
          <a:p>
            <a:pPr marL="171450" indent="-171450">
              <a:lnSpc>
                <a:spcPct val="130000"/>
              </a:lnSpc>
              <a:buFont typeface="Arial" panose="020B0604020202020204" pitchFamily="34" charset="0"/>
              <a:buChar char="•"/>
            </a:pPr>
            <a:r>
              <a:rPr lang="en-US" altLang="zh-CN" sz="1200" dirty="0">
                <a:solidFill>
                  <a:schemeClr val="tx1"/>
                </a:solidFill>
                <a:latin typeface="华文楷体" panose="02010600040101010101" pitchFamily="2" charset="-122"/>
                <a:ea typeface="华文楷体" panose="02010600040101010101" pitchFamily="2" charset="-122"/>
              </a:rPr>
              <a:t>5.</a:t>
            </a:r>
            <a:r>
              <a:rPr lang="zh-CN" altLang="en-US" sz="1200" dirty="0">
                <a:solidFill>
                  <a:schemeClr val="tx1"/>
                </a:solidFill>
                <a:latin typeface="华文楷体" panose="02010600040101010101" pitchFamily="2" charset="-122"/>
                <a:ea typeface="华文楷体" panose="02010600040101010101" pitchFamily="2" charset="-122"/>
              </a:rPr>
              <a:t>健涛：后续的交换服务器是一套吗？</a:t>
            </a:r>
            <a:endParaRPr lang="en-US" altLang="zh-CN" sz="1200" dirty="0">
              <a:solidFill>
                <a:schemeClr val="tx1"/>
              </a:solidFill>
              <a:latin typeface="华文楷体" panose="02010600040101010101" pitchFamily="2" charset="-122"/>
              <a:ea typeface="华文楷体" panose="02010600040101010101" pitchFamily="2" charset="-122"/>
            </a:endParaRPr>
          </a:p>
          <a:p>
            <a:pPr marL="171450" indent="-171450">
              <a:lnSpc>
                <a:spcPct val="130000"/>
              </a:lnSpc>
              <a:buFont typeface="Arial" panose="020B0604020202020204" pitchFamily="34" charset="0"/>
              <a:buChar char="•"/>
            </a:pPr>
            <a:r>
              <a:rPr lang="en-US" altLang="zh-CN" sz="1200" dirty="0">
                <a:solidFill>
                  <a:schemeClr val="tx1"/>
                </a:solidFill>
                <a:latin typeface="华文楷体" panose="02010600040101010101" pitchFamily="2" charset="-122"/>
                <a:ea typeface="华文楷体" panose="02010600040101010101" pitchFamily="2" charset="-122"/>
              </a:rPr>
              <a:t>6.</a:t>
            </a:r>
            <a:r>
              <a:rPr lang="zh-CN" altLang="en-US" sz="1200" dirty="0">
                <a:solidFill>
                  <a:schemeClr val="tx1"/>
                </a:solidFill>
                <a:latin typeface="华文楷体" panose="02010600040101010101" pitchFamily="2" charset="-122"/>
                <a:ea typeface="华文楷体" panose="02010600040101010101" pitchFamily="2" charset="-122"/>
              </a:rPr>
              <a:t>若梦：数仓的加载测试有没有计划？</a:t>
            </a:r>
            <a:endParaRPr lang="en-US" altLang="zh-CN" sz="1200" dirty="0">
              <a:solidFill>
                <a:schemeClr val="tx1"/>
              </a:solidFill>
              <a:latin typeface="华文楷体" panose="02010600040101010101" pitchFamily="2" charset="-122"/>
              <a:ea typeface="华文楷体" panose="02010600040101010101" pitchFamily="2" charset="-122"/>
            </a:endParaRPr>
          </a:p>
          <a:p>
            <a:pPr marL="171450" indent="-171450">
              <a:lnSpc>
                <a:spcPct val="130000"/>
              </a:lnSpc>
              <a:buFont typeface="Arial" panose="020B0604020202020204" pitchFamily="34" charset="0"/>
              <a:buChar char="•"/>
            </a:pPr>
            <a:r>
              <a:rPr lang="en-US" altLang="zh-CN" sz="1200" dirty="0">
                <a:solidFill>
                  <a:schemeClr val="tx1"/>
                </a:solidFill>
                <a:latin typeface="华文楷体" panose="02010600040101010101" pitchFamily="2" charset="-122"/>
                <a:ea typeface="华文楷体" panose="02010600040101010101" pitchFamily="2" charset="-122"/>
              </a:rPr>
              <a:t>7.</a:t>
            </a:r>
            <a:r>
              <a:rPr lang="zh-CN" altLang="en-US" sz="1200" dirty="0">
                <a:solidFill>
                  <a:schemeClr val="tx1"/>
                </a:solidFill>
                <a:latin typeface="华文楷体" panose="02010600040101010101" pitchFamily="2" charset="-122"/>
                <a:ea typeface="华文楷体" panose="02010600040101010101" pitchFamily="2" charset="-122"/>
              </a:rPr>
              <a:t>蒙一铭：生产数据迁移的时间窗口？</a:t>
            </a:r>
            <a:endParaRPr lang="en-US" altLang="zh-CN" sz="1200" dirty="0">
              <a:solidFill>
                <a:schemeClr val="tx1"/>
              </a:solidFill>
              <a:latin typeface="华文楷体" panose="02010600040101010101" pitchFamily="2" charset="-122"/>
              <a:ea typeface="华文楷体" panose="02010600040101010101" pitchFamily="2" charset="-122"/>
            </a:endParaRPr>
          </a:p>
          <a:p>
            <a:pPr marL="171450" indent="-171450">
              <a:lnSpc>
                <a:spcPct val="130000"/>
              </a:lnSpc>
              <a:buFont typeface="Arial" panose="020B0604020202020204" pitchFamily="34" charset="0"/>
              <a:buChar char="•"/>
            </a:pPr>
            <a:r>
              <a:rPr lang="en-US" altLang="zh-CN" sz="1200" dirty="0">
                <a:solidFill>
                  <a:schemeClr val="tx1"/>
                </a:solidFill>
                <a:latin typeface="华文楷体" panose="02010600040101010101" pitchFamily="2" charset="-122"/>
                <a:ea typeface="华文楷体" panose="02010600040101010101" pitchFamily="2" charset="-122"/>
              </a:rPr>
              <a:t>8.</a:t>
            </a:r>
            <a:r>
              <a:rPr lang="zh-CN" altLang="en-US" sz="1200" dirty="0">
                <a:solidFill>
                  <a:schemeClr val="tx1"/>
                </a:solidFill>
                <a:latin typeface="华文楷体" panose="02010600040101010101" pitchFamily="2" charset="-122"/>
                <a:ea typeface="华文楷体" panose="02010600040101010101" pitchFamily="2" charset="-122"/>
              </a:rPr>
              <a:t>金航：数据湖迁移后的交换工作如何进行？</a:t>
            </a:r>
            <a:endParaRPr lang="en-US" altLang="zh-CN" sz="1200" dirty="0">
              <a:solidFill>
                <a:schemeClr val="tx1"/>
              </a:solidFill>
              <a:latin typeface="华文楷体" panose="02010600040101010101" pitchFamily="2" charset="-122"/>
              <a:ea typeface="华文楷体" panose="02010600040101010101" pitchFamily="2" charset="-122"/>
            </a:endParaRPr>
          </a:p>
        </p:txBody>
      </p:sp>
      <p:sp>
        <p:nvSpPr>
          <p:cNvPr id="6" name="iṡľîde"/>
          <p:cNvSpPr/>
          <p:nvPr/>
        </p:nvSpPr>
        <p:spPr>
          <a:xfrm>
            <a:off x="1232772" y="1678139"/>
            <a:ext cx="2631331" cy="4616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r>
              <a:rPr kumimoji="1" lang="zh-CN" altLang="en-US" sz="2400" b="1" dirty="0">
                <a:solidFill>
                  <a:schemeClr val="tx1"/>
                </a:solidFill>
                <a:latin typeface="华文楷体" panose="02010600040101010101" pitchFamily="2" charset="-122"/>
                <a:ea typeface="华文楷体" panose="02010600040101010101" pitchFamily="2" charset="-122"/>
              </a:rPr>
              <a:t>问题</a:t>
            </a:r>
            <a:endParaRPr kumimoji="1" lang="en-US" altLang="zh-CN" sz="2400" b="1" dirty="0">
              <a:solidFill>
                <a:schemeClr val="tx1"/>
              </a:solidFill>
              <a:latin typeface="华文楷体" panose="02010600040101010101" pitchFamily="2" charset="-122"/>
              <a:ea typeface="华文楷体" panose="02010600040101010101" pitchFamily="2" charset="-122"/>
            </a:endParaRPr>
          </a:p>
        </p:txBody>
      </p:sp>
      <p:sp>
        <p:nvSpPr>
          <p:cNvPr id="7" name="íSľiḍé"/>
          <p:cNvSpPr/>
          <p:nvPr/>
        </p:nvSpPr>
        <p:spPr>
          <a:xfrm>
            <a:off x="6175194" y="1215506"/>
            <a:ext cx="4913406" cy="4022071"/>
          </a:xfrm>
          <a:prstGeom prst="roundRect">
            <a:avLst>
              <a:gd name="adj" fmla="val 8000"/>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华文楷体" panose="02010600040101010101" pitchFamily="2" charset="-122"/>
              <a:ea typeface="华文楷体" panose="02010600040101010101" pitchFamily="2" charset="-122"/>
            </a:endParaRPr>
          </a:p>
        </p:txBody>
      </p:sp>
      <p:cxnSp>
        <p:nvCxnSpPr>
          <p:cNvPr id="8" name="í$ḻïḓè"/>
          <p:cNvCxnSpPr/>
          <p:nvPr/>
        </p:nvCxnSpPr>
        <p:spPr>
          <a:xfrm>
            <a:off x="6181179" y="2170167"/>
            <a:ext cx="0" cy="178532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9" name="î$ḷíḋê"/>
          <p:cNvSpPr/>
          <p:nvPr/>
        </p:nvSpPr>
        <p:spPr>
          <a:xfrm>
            <a:off x="6602992" y="2170167"/>
            <a:ext cx="4127814" cy="29389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171450" indent="-171450">
              <a:lnSpc>
                <a:spcPct val="130000"/>
              </a:lnSpc>
              <a:buFont typeface="Arial" panose="020B0604020202020204" pitchFamily="34" charset="0"/>
              <a:buChar char="•"/>
            </a:pPr>
            <a:r>
              <a:rPr lang="en-US" altLang="zh-CN" sz="1200" dirty="0">
                <a:solidFill>
                  <a:schemeClr val="tx1"/>
                </a:solidFill>
                <a:latin typeface="华文楷体" panose="02010600040101010101" pitchFamily="2" charset="-122"/>
                <a:ea typeface="华文楷体" panose="02010600040101010101" pitchFamily="2" charset="-122"/>
              </a:rPr>
              <a:t>1.</a:t>
            </a:r>
            <a:r>
              <a:rPr lang="zh-CN" altLang="en-US" sz="1200" dirty="0">
                <a:solidFill>
                  <a:schemeClr val="tx1"/>
                </a:solidFill>
                <a:latin typeface="华文楷体" panose="02010600040101010101" pitchFamily="2" charset="-122"/>
                <a:ea typeface="华文楷体" panose="02010600040101010101" pitchFamily="2" charset="-122"/>
              </a:rPr>
              <a:t>天扬：无限制，可以随时使用。</a:t>
            </a:r>
            <a:endParaRPr lang="en-US" altLang="zh-CN" sz="1200" dirty="0">
              <a:solidFill>
                <a:schemeClr val="tx1"/>
              </a:solidFill>
              <a:latin typeface="华文楷体" panose="02010600040101010101" pitchFamily="2" charset="-122"/>
              <a:ea typeface="华文楷体" panose="02010600040101010101" pitchFamily="2" charset="-122"/>
            </a:endParaRPr>
          </a:p>
          <a:p>
            <a:pPr marL="171450" indent="-171450">
              <a:lnSpc>
                <a:spcPct val="130000"/>
              </a:lnSpc>
              <a:buFont typeface="Arial" panose="020B0604020202020204" pitchFamily="34" charset="0"/>
              <a:buChar char="•"/>
            </a:pPr>
            <a:r>
              <a:rPr lang="en-US" altLang="zh-CN" sz="1200" dirty="0">
                <a:solidFill>
                  <a:schemeClr val="tx1"/>
                </a:solidFill>
                <a:latin typeface="华文楷体" panose="02010600040101010101" pitchFamily="2" charset="-122"/>
                <a:ea typeface="华文楷体" panose="02010600040101010101" pitchFamily="2" charset="-122"/>
              </a:rPr>
              <a:t>2.</a:t>
            </a:r>
            <a:r>
              <a:rPr lang="zh-CN" altLang="en-US" sz="1200" dirty="0">
                <a:solidFill>
                  <a:schemeClr val="tx1"/>
                </a:solidFill>
                <a:latin typeface="华文楷体" panose="02010600040101010101" pitchFamily="2" charset="-122"/>
                <a:ea typeface="华文楷体" panose="02010600040101010101" pitchFamily="2" charset="-122"/>
              </a:rPr>
              <a:t>天扬：无并发限制。</a:t>
            </a:r>
            <a:endParaRPr lang="en-US" altLang="zh-CN" sz="1200" dirty="0">
              <a:solidFill>
                <a:schemeClr val="tx1"/>
              </a:solidFill>
              <a:latin typeface="华文楷体" panose="02010600040101010101" pitchFamily="2" charset="-122"/>
              <a:ea typeface="华文楷体" panose="02010600040101010101" pitchFamily="2" charset="-122"/>
            </a:endParaRPr>
          </a:p>
          <a:p>
            <a:pPr marL="171450" indent="-171450">
              <a:lnSpc>
                <a:spcPct val="130000"/>
              </a:lnSpc>
              <a:buFont typeface="Arial" panose="020B0604020202020204" pitchFamily="34" charset="0"/>
              <a:buChar char="•"/>
            </a:pPr>
            <a:r>
              <a:rPr lang="en-US" altLang="zh-CN" sz="1200" dirty="0">
                <a:solidFill>
                  <a:schemeClr val="tx1"/>
                </a:solidFill>
                <a:latin typeface="华文楷体" panose="02010600040101010101" pitchFamily="2" charset="-122"/>
                <a:ea typeface="华文楷体" panose="02010600040101010101" pitchFamily="2" charset="-122"/>
              </a:rPr>
              <a:t>3.</a:t>
            </a:r>
            <a:r>
              <a:rPr lang="zh-CN" altLang="en-US" sz="1200" dirty="0">
                <a:solidFill>
                  <a:schemeClr val="tx1"/>
                </a:solidFill>
                <a:latin typeface="华文楷体" panose="02010600040101010101" pitchFamily="2" charset="-122"/>
                <a:ea typeface="华文楷体" panose="02010600040101010101" pitchFamily="2" charset="-122"/>
              </a:rPr>
              <a:t>建涛：数据交换目录结构定成系统</a:t>
            </a:r>
            <a:r>
              <a:rPr lang="en-US" altLang="zh-CN" sz="1200" dirty="0">
                <a:solidFill>
                  <a:schemeClr val="tx1"/>
                </a:solidFill>
                <a:latin typeface="华文楷体" panose="02010600040101010101" pitchFamily="2" charset="-122"/>
                <a:ea typeface="华文楷体" panose="02010600040101010101" pitchFamily="2" charset="-122"/>
              </a:rPr>
              <a:t>-</a:t>
            </a:r>
            <a:r>
              <a:rPr lang="zh-CN" altLang="en-US" sz="1200" dirty="0">
                <a:solidFill>
                  <a:schemeClr val="tx1"/>
                </a:solidFill>
                <a:latin typeface="华文楷体" panose="02010600040101010101" pitchFamily="2" charset="-122"/>
                <a:ea typeface="华文楷体" panose="02010600040101010101" pitchFamily="2" charset="-122"/>
              </a:rPr>
              <a:t>日期</a:t>
            </a:r>
            <a:r>
              <a:rPr lang="en-US" altLang="zh-CN" sz="1200" dirty="0">
                <a:solidFill>
                  <a:schemeClr val="tx1"/>
                </a:solidFill>
                <a:latin typeface="华文楷体" panose="02010600040101010101" pitchFamily="2" charset="-122"/>
                <a:ea typeface="华文楷体" panose="02010600040101010101" pitchFamily="2" charset="-122"/>
              </a:rPr>
              <a:t>-</a:t>
            </a:r>
            <a:r>
              <a:rPr lang="zh-CN" altLang="en-US" sz="1200" dirty="0">
                <a:solidFill>
                  <a:schemeClr val="tx1"/>
                </a:solidFill>
                <a:latin typeface="华文楷体" panose="02010600040101010101" pitchFamily="2" charset="-122"/>
                <a:ea typeface="华文楷体" panose="02010600040101010101" pitchFamily="2" charset="-122"/>
              </a:rPr>
              <a:t>表。</a:t>
            </a:r>
            <a:endParaRPr lang="en-US" altLang="zh-CN" sz="1200" dirty="0">
              <a:solidFill>
                <a:schemeClr val="tx1"/>
              </a:solidFill>
              <a:latin typeface="华文楷体" panose="02010600040101010101" pitchFamily="2" charset="-122"/>
              <a:ea typeface="华文楷体" panose="02010600040101010101" pitchFamily="2" charset="-122"/>
            </a:endParaRPr>
          </a:p>
          <a:p>
            <a:pPr marL="171450" indent="-171450">
              <a:lnSpc>
                <a:spcPct val="130000"/>
              </a:lnSpc>
              <a:buFont typeface="Arial" panose="020B0604020202020204" pitchFamily="34" charset="0"/>
              <a:buChar char="•"/>
            </a:pPr>
            <a:r>
              <a:rPr lang="en-US" altLang="zh-CN" sz="1200" dirty="0">
                <a:solidFill>
                  <a:schemeClr val="tx1"/>
                </a:solidFill>
                <a:latin typeface="华文楷体" panose="02010600040101010101" pitchFamily="2" charset="-122"/>
                <a:ea typeface="华文楷体" panose="02010600040101010101" pitchFamily="2" charset="-122"/>
              </a:rPr>
              <a:t>4.</a:t>
            </a:r>
            <a:r>
              <a:rPr lang="zh-CN" altLang="en-US" sz="1200" dirty="0">
                <a:solidFill>
                  <a:schemeClr val="tx1"/>
                </a:solidFill>
                <a:latin typeface="华文楷体" panose="02010600040101010101" pitchFamily="2" charset="-122"/>
                <a:ea typeface="华文楷体" panose="02010600040101010101" pitchFamily="2" charset="-122"/>
              </a:rPr>
              <a:t>天扬：</a:t>
            </a:r>
            <a:r>
              <a:rPr lang="zh-CN" altLang="en-US" sz="1200" b="0" i="0" dirty="0">
                <a:solidFill>
                  <a:schemeClr val="tx1"/>
                </a:solidFill>
                <a:effectLst/>
                <a:latin typeface="华文楷体" panose="02010600040101010101" pitchFamily="2" charset="-122"/>
                <a:ea typeface="华文楷体" panose="02010600040101010101" pitchFamily="2" charset="-122"/>
              </a:rPr>
              <a:t>数据湖需</a:t>
            </a:r>
            <a:r>
              <a:rPr lang="zh-CN" altLang="en-US" sz="1200" dirty="0">
                <a:solidFill>
                  <a:schemeClr val="tx1"/>
                </a:solidFill>
                <a:latin typeface="华文楷体" panose="02010600040101010101" pitchFamily="2" charset="-122"/>
                <a:ea typeface="华文楷体" panose="02010600040101010101" pitchFamily="2" charset="-122"/>
              </a:rPr>
              <a:t>遵循数仓规范进行改造</a:t>
            </a:r>
            <a:r>
              <a:rPr lang="en-US" altLang="zh-CN" sz="1200" dirty="0" err="1">
                <a:solidFill>
                  <a:schemeClr val="tx1"/>
                </a:solidFill>
                <a:latin typeface="华文楷体" panose="02010600040101010101" pitchFamily="2" charset="-122"/>
                <a:ea typeface="华文楷体" panose="02010600040101010101" pitchFamily="2" charset="-122"/>
              </a:rPr>
              <a:t>rec_dt</a:t>
            </a:r>
            <a:r>
              <a:rPr lang="zh-CN" altLang="en-US" sz="1200" dirty="0">
                <a:solidFill>
                  <a:schemeClr val="tx1"/>
                </a:solidFill>
                <a:latin typeface="华文楷体" panose="02010600040101010101" pitchFamily="2" charset="-122"/>
                <a:ea typeface="华文楷体" panose="02010600040101010101" pitchFamily="2" charset="-122"/>
              </a:rPr>
              <a:t>、</a:t>
            </a:r>
            <a:r>
              <a:rPr lang="en-US" altLang="zh-CN" sz="1200" dirty="0" err="1">
                <a:solidFill>
                  <a:schemeClr val="tx1"/>
                </a:solidFill>
                <a:latin typeface="华文楷体" panose="02010600040101010101" pitchFamily="2" charset="-122"/>
                <a:ea typeface="华文楷体" panose="02010600040101010101" pitchFamily="2" charset="-122"/>
              </a:rPr>
              <a:t>etl_dt</a:t>
            </a:r>
            <a:r>
              <a:rPr lang="zh-CN" altLang="en-US" sz="1200" dirty="0">
                <a:solidFill>
                  <a:schemeClr val="tx1"/>
                </a:solidFill>
                <a:latin typeface="华文楷体" panose="02010600040101010101" pitchFamily="2" charset="-122"/>
                <a:ea typeface="华文楷体" panose="02010600040101010101" pitchFamily="2" charset="-122"/>
              </a:rPr>
              <a:t>。</a:t>
            </a:r>
            <a:endParaRPr lang="en-US" altLang="zh-CN" sz="1200" dirty="0">
              <a:solidFill>
                <a:schemeClr val="tx1"/>
              </a:solidFill>
              <a:latin typeface="华文楷体" panose="02010600040101010101" pitchFamily="2" charset="-122"/>
              <a:ea typeface="华文楷体" panose="02010600040101010101" pitchFamily="2" charset="-122"/>
            </a:endParaRPr>
          </a:p>
          <a:p>
            <a:pPr marL="171450" indent="-171450">
              <a:lnSpc>
                <a:spcPct val="130000"/>
              </a:lnSpc>
              <a:buFont typeface="Arial" panose="020B0604020202020204" pitchFamily="34" charset="0"/>
              <a:buChar char="•"/>
            </a:pPr>
            <a:r>
              <a:rPr lang="en-US" altLang="zh-CN" sz="1200" dirty="0">
                <a:solidFill>
                  <a:schemeClr val="tx1"/>
                </a:solidFill>
                <a:latin typeface="华文楷体" panose="02010600040101010101" pitchFamily="2" charset="-122"/>
                <a:ea typeface="华文楷体" panose="02010600040101010101" pitchFamily="2" charset="-122"/>
              </a:rPr>
              <a:t>5.</a:t>
            </a:r>
            <a:r>
              <a:rPr lang="zh-CN" altLang="en-US" sz="1200" dirty="0">
                <a:solidFill>
                  <a:schemeClr val="tx1"/>
                </a:solidFill>
                <a:latin typeface="华文楷体" panose="02010600040101010101" pitchFamily="2" charset="-122"/>
                <a:ea typeface="华文楷体" panose="02010600040101010101" pitchFamily="2" charset="-122"/>
              </a:rPr>
              <a:t>天扬：理想情况是一套，但</a:t>
            </a:r>
            <a:r>
              <a:rPr lang="en-US" altLang="zh-CN" sz="1200" dirty="0">
                <a:solidFill>
                  <a:schemeClr val="tx1"/>
                </a:solidFill>
                <a:latin typeface="华文楷体" panose="02010600040101010101" pitchFamily="2" charset="-122"/>
                <a:ea typeface="华文楷体" panose="02010600040101010101" pitchFamily="2" charset="-122"/>
              </a:rPr>
              <a:t>PWC</a:t>
            </a:r>
            <a:r>
              <a:rPr lang="zh-CN" altLang="en-US" sz="1200" dirty="0">
                <a:solidFill>
                  <a:schemeClr val="tx1"/>
                </a:solidFill>
                <a:latin typeface="华文楷体" panose="02010600040101010101" pitchFamily="2" charset="-122"/>
                <a:ea typeface="华文楷体" panose="02010600040101010101" pitchFamily="2" charset="-122"/>
              </a:rPr>
              <a:t>和</a:t>
            </a:r>
            <a:r>
              <a:rPr lang="en-US" altLang="zh-CN" sz="1200" dirty="0" err="1">
                <a:solidFill>
                  <a:schemeClr val="tx1"/>
                </a:solidFill>
                <a:latin typeface="华文楷体" panose="02010600040101010101" pitchFamily="2" charset="-122"/>
                <a:ea typeface="华文楷体" panose="02010600040101010101" pitchFamily="2" charset="-122"/>
              </a:rPr>
              <a:t>DataX</a:t>
            </a:r>
            <a:r>
              <a:rPr lang="zh-CN" altLang="en-US" sz="1200" dirty="0">
                <a:solidFill>
                  <a:schemeClr val="tx1"/>
                </a:solidFill>
                <a:latin typeface="华文楷体" panose="02010600040101010101" pitchFamily="2" charset="-122"/>
                <a:ea typeface="华文楷体" panose="02010600040101010101" pitchFamily="2" charset="-122"/>
              </a:rPr>
              <a:t>存在差异，可接受数据一致推两套数据文件方案。</a:t>
            </a:r>
            <a:endParaRPr lang="en-US" altLang="zh-CN" sz="1200" dirty="0">
              <a:solidFill>
                <a:schemeClr val="tx1"/>
              </a:solidFill>
              <a:latin typeface="华文楷体" panose="02010600040101010101" pitchFamily="2" charset="-122"/>
              <a:ea typeface="华文楷体" panose="02010600040101010101" pitchFamily="2" charset="-122"/>
            </a:endParaRPr>
          </a:p>
          <a:p>
            <a:pPr marL="171450" indent="-171450">
              <a:lnSpc>
                <a:spcPct val="130000"/>
              </a:lnSpc>
              <a:buFont typeface="Arial" panose="020B0604020202020204" pitchFamily="34" charset="0"/>
              <a:buChar char="•"/>
            </a:pPr>
            <a:r>
              <a:rPr lang="en-US" altLang="zh-CN" sz="1200" dirty="0">
                <a:solidFill>
                  <a:schemeClr val="tx1"/>
                </a:solidFill>
                <a:latin typeface="华文楷体" panose="02010600040101010101" pitchFamily="2" charset="-122"/>
                <a:ea typeface="华文楷体" panose="02010600040101010101" pitchFamily="2" charset="-122"/>
              </a:rPr>
              <a:t>6.</a:t>
            </a:r>
            <a:r>
              <a:rPr lang="zh-CN" altLang="en-US" sz="1200" b="0" i="0" dirty="0">
                <a:solidFill>
                  <a:schemeClr val="tx1"/>
                </a:solidFill>
                <a:effectLst/>
                <a:latin typeface="华文楷体" panose="02010600040101010101" pitchFamily="2" charset="-122"/>
                <a:ea typeface="华文楷体" panose="02010600040101010101" pitchFamily="2" charset="-122"/>
              </a:rPr>
              <a:t>天扬：现在可以测试，随时具备条件。</a:t>
            </a:r>
            <a:endParaRPr lang="en-US" altLang="zh-CN" sz="1200" b="0" i="0" dirty="0">
              <a:solidFill>
                <a:schemeClr val="tx1"/>
              </a:solidFill>
              <a:effectLst/>
              <a:latin typeface="华文楷体" panose="02010600040101010101" pitchFamily="2" charset="-122"/>
              <a:ea typeface="华文楷体" panose="02010600040101010101" pitchFamily="2" charset="-122"/>
            </a:endParaRPr>
          </a:p>
          <a:p>
            <a:pPr marL="171450" indent="-171450">
              <a:lnSpc>
                <a:spcPct val="130000"/>
              </a:lnSpc>
              <a:buFont typeface="Arial" panose="020B0604020202020204" pitchFamily="34" charset="0"/>
              <a:buChar char="•"/>
            </a:pPr>
            <a:r>
              <a:rPr lang="en-US" altLang="zh-CN" sz="1200" dirty="0">
                <a:solidFill>
                  <a:schemeClr val="tx1"/>
                </a:solidFill>
                <a:latin typeface="华文楷体" panose="02010600040101010101" pitchFamily="2" charset="-122"/>
                <a:ea typeface="华文楷体" panose="02010600040101010101" pitchFamily="2" charset="-122"/>
              </a:rPr>
              <a:t>7.</a:t>
            </a:r>
            <a:r>
              <a:rPr lang="zh-CN" altLang="en-US" sz="1200" dirty="0">
                <a:solidFill>
                  <a:schemeClr val="tx1"/>
                </a:solidFill>
                <a:latin typeface="华文楷体" panose="02010600040101010101" pitchFamily="2" charset="-122"/>
                <a:ea typeface="华文楷体" panose="02010600040101010101" pitchFamily="2" charset="-122"/>
              </a:rPr>
              <a:t>天扬：分</a:t>
            </a:r>
            <a:r>
              <a:rPr lang="en-US" altLang="zh-CN" sz="1200" dirty="0" err="1">
                <a:solidFill>
                  <a:schemeClr val="tx1"/>
                </a:solidFill>
                <a:latin typeface="华文楷体" panose="02010600040101010101" pitchFamily="2" charset="-122"/>
                <a:ea typeface="华文楷体" panose="02010600040101010101" pitchFamily="2" charset="-122"/>
              </a:rPr>
              <a:t>schame</a:t>
            </a:r>
            <a:r>
              <a:rPr lang="zh-CN" altLang="en-US" sz="1200" dirty="0">
                <a:solidFill>
                  <a:schemeClr val="tx1"/>
                </a:solidFill>
                <a:latin typeface="华文楷体" panose="02010600040101010101" pitchFamily="2" charset="-122"/>
                <a:ea typeface="华文楷体" panose="02010600040101010101" pitchFamily="2" charset="-122"/>
              </a:rPr>
              <a:t>，在周末和长假阶段迁。健超补充，最近有时间可测试备份速度进行评估。</a:t>
            </a:r>
            <a:endParaRPr lang="en-US" altLang="zh-CN" sz="1200" dirty="0">
              <a:solidFill>
                <a:schemeClr val="tx1"/>
              </a:solidFill>
              <a:latin typeface="华文楷体" panose="02010600040101010101" pitchFamily="2" charset="-122"/>
              <a:ea typeface="华文楷体" panose="02010600040101010101" pitchFamily="2" charset="-122"/>
            </a:endParaRPr>
          </a:p>
          <a:p>
            <a:pPr marL="171450" indent="-171450">
              <a:lnSpc>
                <a:spcPct val="130000"/>
              </a:lnSpc>
              <a:buFont typeface="Arial" panose="020B0604020202020204" pitchFamily="34" charset="0"/>
              <a:buChar char="•"/>
            </a:pPr>
            <a:r>
              <a:rPr lang="en-US" altLang="zh-CN" sz="1200" dirty="0">
                <a:solidFill>
                  <a:schemeClr val="tx1"/>
                </a:solidFill>
                <a:latin typeface="华文楷体" panose="02010600040101010101" pitchFamily="2" charset="-122"/>
                <a:ea typeface="华文楷体" panose="02010600040101010101" pitchFamily="2" charset="-122"/>
              </a:rPr>
              <a:t>8.</a:t>
            </a:r>
            <a:r>
              <a:rPr lang="zh-CN" altLang="en-US" sz="1200" b="0" i="0" dirty="0">
                <a:solidFill>
                  <a:schemeClr val="tx1"/>
                </a:solidFill>
                <a:effectLst/>
                <a:latin typeface="华文楷体" panose="02010600040101010101" pitchFamily="2" charset="-122"/>
                <a:ea typeface="华文楷体" panose="02010600040101010101" pitchFamily="2" charset="-122"/>
              </a:rPr>
              <a:t>金航：暂定数据湖</a:t>
            </a:r>
            <a:r>
              <a:rPr lang="en-US" altLang="zh-CN" sz="1200" b="0" i="0" dirty="0" err="1">
                <a:solidFill>
                  <a:schemeClr val="tx1"/>
                </a:solidFill>
                <a:effectLst/>
                <a:latin typeface="华文楷体" panose="02010600040101010101" pitchFamily="2" charset="-122"/>
                <a:ea typeface="华文楷体" panose="02010600040101010101" pitchFamily="2" charset="-122"/>
              </a:rPr>
              <a:t>ods</a:t>
            </a:r>
            <a:r>
              <a:rPr lang="zh-CN" altLang="en-US" sz="1200" b="0" i="0" dirty="0">
                <a:solidFill>
                  <a:schemeClr val="tx1"/>
                </a:solidFill>
                <a:effectLst/>
                <a:latin typeface="华文楷体" panose="02010600040101010101" pitchFamily="2" charset="-122"/>
                <a:ea typeface="华文楷体" panose="02010600040101010101" pitchFamily="2" charset="-122"/>
              </a:rPr>
              <a:t>让若梦团队协助完成，应用层的交换工作数据湖项目组内部尝试迁移，线下会与若梦沟通。</a:t>
            </a:r>
            <a:endParaRPr lang="en-US" altLang="zh-CN" sz="1200" b="0" i="0" dirty="0">
              <a:solidFill>
                <a:schemeClr val="tx1"/>
              </a:solidFill>
              <a:effectLst/>
              <a:latin typeface="华文楷体" panose="02010600040101010101" pitchFamily="2" charset="-122"/>
              <a:ea typeface="华文楷体" panose="02010600040101010101" pitchFamily="2" charset="-122"/>
            </a:endParaRPr>
          </a:p>
        </p:txBody>
      </p:sp>
      <p:sp>
        <p:nvSpPr>
          <p:cNvPr id="10" name="iŝḻiḑé"/>
          <p:cNvSpPr/>
          <p:nvPr/>
        </p:nvSpPr>
        <p:spPr>
          <a:xfrm>
            <a:off x="6544040" y="1678139"/>
            <a:ext cx="2631331" cy="4616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r>
              <a:rPr kumimoji="1" lang="zh-CN" altLang="en-US" sz="2400" b="1" dirty="0">
                <a:solidFill>
                  <a:schemeClr val="tx1"/>
                </a:solidFill>
                <a:latin typeface="华文楷体" panose="02010600040101010101" pitchFamily="2" charset="-122"/>
                <a:ea typeface="华文楷体" panose="02010600040101010101" pitchFamily="2" charset="-122"/>
              </a:rPr>
              <a:t>结果</a:t>
            </a:r>
            <a:r>
              <a:rPr kumimoji="1" lang="zh-CN" altLang="en-US" sz="1100" b="1" dirty="0">
                <a:solidFill>
                  <a:schemeClr val="tx1"/>
                </a:solidFill>
                <a:latin typeface="华文楷体" panose="02010600040101010101" pitchFamily="2" charset="-122"/>
                <a:ea typeface="华文楷体" panose="02010600040101010101" pitchFamily="2" charset="-122"/>
              </a:rPr>
              <a:t>（对应问题序号）</a:t>
            </a:r>
            <a:endParaRPr kumimoji="1" lang="en-US" altLang="zh-CN" sz="2400" b="1" dirty="0">
              <a:solidFill>
                <a:schemeClr val="tx1"/>
              </a:solidFill>
              <a:latin typeface="华文楷体" panose="02010600040101010101" pitchFamily="2" charset="-122"/>
              <a:ea typeface="华文楷体" panose="0201060004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chemeClr val="bg1">
                    <a:lumMod val="50000"/>
                  </a:schemeClr>
                </a:solidFill>
              </a:rPr>
              <a:t>一、实施节奏</a:t>
            </a:r>
            <a:endParaRPr lang="en-US" altLang="zh-CN" dirty="0">
              <a:solidFill>
                <a:schemeClr val="bg1">
                  <a:lumMod val="50000"/>
                </a:schemeClr>
              </a:solidFill>
            </a:endParaRPr>
          </a:p>
          <a:p>
            <a:r>
              <a:rPr lang="zh-CN" altLang="en-US" dirty="0">
                <a:solidFill>
                  <a:schemeClr val="bg1">
                    <a:lumMod val="50000"/>
                  </a:schemeClr>
                </a:solidFill>
              </a:rPr>
              <a:t>二、本周进展</a:t>
            </a:r>
            <a:endParaRPr lang="en-US" altLang="zh-CN" dirty="0">
              <a:solidFill>
                <a:schemeClr val="bg1">
                  <a:lumMod val="50000"/>
                </a:schemeClr>
              </a:solidFill>
            </a:endParaRPr>
          </a:p>
          <a:p>
            <a:r>
              <a:rPr lang="zh-CN" altLang="en-US" dirty="0">
                <a:solidFill>
                  <a:schemeClr val="bg1">
                    <a:lumMod val="50000"/>
                  </a:schemeClr>
                </a:solidFill>
              </a:rPr>
              <a:t>三、专项讨论</a:t>
            </a:r>
            <a:endParaRPr lang="en-US" altLang="zh-CN" dirty="0">
              <a:solidFill>
                <a:schemeClr val="bg1">
                  <a:lumMod val="50000"/>
                </a:schemeClr>
              </a:solidFill>
            </a:endParaRPr>
          </a:p>
          <a:p>
            <a:r>
              <a:rPr lang="zh-CN" altLang="en-US" dirty="0">
                <a:solidFill>
                  <a:srgbClr val="C00000"/>
                </a:solidFill>
              </a:rPr>
              <a:t>四、下周工作</a:t>
            </a:r>
            <a:endParaRPr lang="en-US" altLang="zh-CN" dirty="0">
              <a:solidFill>
                <a:srgbClr val="C00000"/>
              </a:solidFill>
            </a:endParaRPr>
          </a:p>
          <a:p>
            <a:endParaRPr lang="zh-CN" altLang="en-US" dirty="0">
              <a:solidFill>
                <a:schemeClr val="bg1">
                  <a:lumMod val="50000"/>
                </a:schemeClr>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下周工作安排</a:t>
            </a:r>
            <a:endParaRPr lang="zh-CN" altLang="en-US" dirty="0"/>
          </a:p>
        </p:txBody>
      </p:sp>
      <p:graphicFrame>
        <p:nvGraphicFramePr>
          <p:cNvPr id="3" name="表格 3"/>
          <p:cNvGraphicFramePr>
            <a:graphicFrameLocks noGrp="1"/>
          </p:cNvGraphicFramePr>
          <p:nvPr/>
        </p:nvGraphicFramePr>
        <p:xfrm>
          <a:off x="323839" y="1083034"/>
          <a:ext cx="11477096" cy="4715674"/>
        </p:xfrm>
        <a:graphic>
          <a:graphicData uri="http://schemas.openxmlformats.org/drawingml/2006/table">
            <a:tbl>
              <a:tblPr firstRow="1" bandRow="1">
                <a:tableStyleId>{5C22544A-7EE6-4342-B048-85BDC9FD1C3A}</a:tableStyleId>
              </a:tblPr>
              <a:tblGrid>
                <a:gridCol w="1183119"/>
                <a:gridCol w="10293977"/>
              </a:tblGrid>
              <a:tr h="546275">
                <a:tc>
                  <a:txBody>
                    <a:bodyPr/>
                    <a:lstStyle/>
                    <a:p>
                      <a:pPr algn="ctr"/>
                      <a:r>
                        <a:rPr lang="zh-CN" altLang="en-US" dirty="0">
                          <a:latin typeface="华文楷体" panose="02010600040101010101" pitchFamily="2" charset="-122"/>
                          <a:ea typeface="华文楷体" panose="02010600040101010101" pitchFamily="2" charset="-122"/>
                        </a:rPr>
                        <a:t>模块</a:t>
                      </a:r>
                      <a:endParaRPr lang="zh-CN" altLang="en-US" dirty="0">
                        <a:latin typeface="华文楷体" panose="02010600040101010101" pitchFamily="2" charset="-122"/>
                        <a:ea typeface="华文楷体" panose="02010600040101010101" pitchFamily="2" charset="-122"/>
                      </a:endParaRPr>
                    </a:p>
                  </a:txBody>
                  <a:tcPr/>
                </a:tc>
                <a:tc>
                  <a:txBody>
                    <a:bodyPr/>
                    <a:lstStyle/>
                    <a:p>
                      <a:pPr algn="ctr"/>
                      <a:r>
                        <a:rPr lang="zh-CN" altLang="en-US" dirty="0">
                          <a:latin typeface="华文楷体" panose="02010600040101010101" pitchFamily="2" charset="-122"/>
                          <a:ea typeface="华文楷体" panose="02010600040101010101" pitchFamily="2" charset="-122"/>
                        </a:rPr>
                        <a:t>下周工作安排</a:t>
                      </a:r>
                      <a:endParaRPr lang="zh-CN" altLang="en-US" dirty="0">
                        <a:latin typeface="华文楷体" panose="02010600040101010101" pitchFamily="2" charset="-122"/>
                        <a:ea typeface="华文楷体" panose="02010600040101010101" pitchFamily="2" charset="-122"/>
                      </a:endParaRPr>
                    </a:p>
                  </a:txBody>
                  <a:tcPr/>
                </a:tc>
              </a:tr>
              <a:tr h="1481063">
                <a:tc>
                  <a:txBody>
                    <a:bodyPr/>
                    <a:lstStyle/>
                    <a:p>
                      <a:r>
                        <a:rPr lang="zh-CN" altLang="en-US" dirty="0">
                          <a:latin typeface="华文楷体" panose="02010600040101010101" pitchFamily="2" charset="-122"/>
                          <a:ea typeface="华文楷体" panose="02010600040101010101" pitchFamily="2" charset="-122"/>
                        </a:rPr>
                        <a:t>数仓</a:t>
                      </a:r>
                      <a:r>
                        <a:rPr lang="en-US" altLang="zh-CN" dirty="0">
                          <a:latin typeface="华文楷体" panose="02010600040101010101" pitchFamily="2" charset="-122"/>
                          <a:ea typeface="华文楷体" panose="02010600040101010101" pitchFamily="2" charset="-122"/>
                        </a:rPr>
                        <a:t>&amp;</a:t>
                      </a:r>
                      <a:r>
                        <a:rPr lang="zh-CN" altLang="en-US" dirty="0">
                          <a:latin typeface="华文楷体" panose="02010600040101010101" pitchFamily="2" charset="-122"/>
                          <a:ea typeface="华文楷体" panose="02010600040101010101" pitchFamily="2" charset="-122"/>
                        </a:rPr>
                        <a:t>湖</a:t>
                      </a:r>
                      <a:endParaRPr lang="zh-CN" altLang="en-US" dirty="0">
                        <a:latin typeface="华文楷体" panose="02010600040101010101" pitchFamily="2" charset="-122"/>
                        <a:ea typeface="华文楷体" panose="02010600040101010101" pitchFamily="2" charset="-122"/>
                      </a:endParaRPr>
                    </a:p>
                  </a:txBody>
                  <a:tcPr/>
                </a:tc>
                <a:tc>
                  <a:txBody>
                    <a:bodyPr/>
                    <a:lstStyle/>
                    <a:p>
                      <a:pPr marL="0" indent="0">
                        <a:buFont typeface="Arial" panose="020B0604020202020204" pitchFamily="34" charset="0"/>
                        <a:buNone/>
                      </a:pPr>
                      <a:r>
                        <a:rPr lang="en-US" altLang="zh-CN" sz="1400" kern="1200" dirty="0">
                          <a:solidFill>
                            <a:schemeClr val="dk1"/>
                          </a:solidFill>
                          <a:latin typeface="华文楷体" panose="02010600040101010101" pitchFamily="2" charset="-122"/>
                          <a:ea typeface="华文楷体" panose="02010600040101010101" pitchFamily="2" charset="-122"/>
                          <a:cs typeface="+mn-cs"/>
                        </a:rPr>
                        <a:t>1</a:t>
                      </a:r>
                      <a:r>
                        <a:rPr lang="en-US" altLang="zh-CN" sz="1400" dirty="0">
                          <a:latin typeface="华文楷体" panose="02010600040101010101" pitchFamily="2" charset="-122"/>
                          <a:ea typeface="华文楷体" panose="02010600040101010101" pitchFamily="2" charset="-122"/>
                        </a:rPr>
                        <a:t>.</a:t>
                      </a:r>
                      <a:r>
                        <a:rPr lang="zh-CN" altLang="en-US" sz="1400" kern="1200" dirty="0">
                          <a:solidFill>
                            <a:schemeClr val="dk1"/>
                          </a:solidFill>
                          <a:latin typeface="华文楷体" panose="02010600040101010101" pitchFamily="2" charset="-122"/>
                          <a:ea typeface="华文楷体" panose="02010600040101010101" pitchFamily="2" charset="-122"/>
                          <a:cs typeface="+mn-cs"/>
                        </a:rPr>
                        <a:t>天扬：下周完成初版</a:t>
                      </a:r>
                      <a:r>
                        <a:rPr lang="zh-CN" altLang="en-US" sz="1400" dirty="0">
                          <a:latin typeface="华文楷体" panose="02010600040101010101" pitchFamily="2" charset="-122"/>
                          <a:ea typeface="华文楷体" panose="02010600040101010101" pitchFamily="2" charset="-122"/>
                        </a:rPr>
                        <a:t>迁移方案并进行内部讨论</a:t>
                      </a:r>
                      <a:endParaRPr lang="en-US" altLang="zh-CN" sz="1400" dirty="0">
                        <a:latin typeface="华文楷体" panose="02010600040101010101" pitchFamily="2" charset="-122"/>
                        <a:ea typeface="华文楷体" panose="02010600040101010101" pitchFamily="2" charset="-122"/>
                      </a:endParaRPr>
                    </a:p>
                    <a:p>
                      <a:pPr marL="0" indent="0">
                        <a:buFont typeface="Arial" panose="020B0604020202020204" pitchFamily="34" charset="0"/>
                        <a:buNone/>
                      </a:pPr>
                      <a:r>
                        <a:rPr lang="en-US" altLang="zh-CN" sz="1400" kern="1200" dirty="0">
                          <a:solidFill>
                            <a:schemeClr val="dk1"/>
                          </a:solidFill>
                          <a:latin typeface="华文楷体" panose="02010600040101010101" pitchFamily="2" charset="-122"/>
                          <a:ea typeface="华文楷体" panose="02010600040101010101" pitchFamily="2" charset="-122"/>
                          <a:cs typeface="+mn-cs"/>
                        </a:rPr>
                        <a:t>2</a:t>
                      </a:r>
                      <a:r>
                        <a:rPr lang="en-US" altLang="zh-CN" sz="1400" dirty="0">
                          <a:latin typeface="华文楷体" panose="02010600040101010101" pitchFamily="2" charset="-122"/>
                          <a:ea typeface="华文楷体" panose="02010600040101010101" pitchFamily="2" charset="-122"/>
                        </a:rPr>
                        <a:t>.</a:t>
                      </a:r>
                      <a:r>
                        <a:rPr lang="zh-CN" altLang="en-US" sz="1400" dirty="0">
                          <a:latin typeface="华文楷体" panose="02010600040101010101" pitchFamily="2" charset="-122"/>
                          <a:ea typeface="华文楷体" panose="02010600040101010101" pitchFamily="2" charset="-122"/>
                        </a:rPr>
                        <a:t>健超：下周完成初版验证方案并进行内部讨论</a:t>
                      </a:r>
                      <a:endParaRPr lang="en-US" altLang="zh-CN" sz="1400" dirty="0">
                        <a:latin typeface="华文楷体" panose="02010600040101010101" pitchFamily="2" charset="-122"/>
                        <a:ea typeface="华文楷体" panose="02010600040101010101" pitchFamily="2" charset="-122"/>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lang="en-US" altLang="zh-CN" sz="1400" kern="1200" dirty="0">
                          <a:solidFill>
                            <a:schemeClr val="dk1"/>
                          </a:solidFill>
                          <a:latin typeface="华文楷体" panose="02010600040101010101" pitchFamily="2" charset="-122"/>
                          <a:ea typeface="华文楷体" panose="02010600040101010101" pitchFamily="2" charset="-122"/>
                          <a:cs typeface="+mn-cs"/>
                        </a:rPr>
                        <a:t>3</a:t>
                      </a:r>
                      <a:r>
                        <a:rPr lang="en-US" altLang="zh-CN" sz="1400" dirty="0">
                          <a:latin typeface="华文楷体" panose="02010600040101010101" pitchFamily="2" charset="-122"/>
                          <a:ea typeface="华文楷体" panose="02010600040101010101" pitchFamily="2" charset="-122"/>
                        </a:rPr>
                        <a:t>.</a:t>
                      </a:r>
                      <a:r>
                        <a:rPr lang="zh-CN" altLang="en-US" sz="1400" dirty="0">
                          <a:latin typeface="华文楷体" panose="02010600040101010101" pitchFamily="2" charset="-122"/>
                          <a:ea typeface="华文楷体" panose="02010600040101010101" pitchFamily="2" charset="-122"/>
                        </a:rPr>
                        <a:t>若梦：下周细化调度、交换在技术验证阶段节点任务</a:t>
                      </a:r>
                      <a:endParaRPr lang="en-US" altLang="zh-CN" sz="1400" dirty="0">
                        <a:latin typeface="华文楷体" panose="02010600040101010101" pitchFamily="2" charset="-122"/>
                        <a:ea typeface="华文楷体" panose="02010600040101010101" pitchFamily="2" charset="-122"/>
                      </a:endParaRPr>
                    </a:p>
                    <a:p>
                      <a:pPr marL="0" indent="0">
                        <a:buFont typeface="Arial" panose="020B0604020202020204" pitchFamily="34" charset="0"/>
                        <a:buNone/>
                      </a:pPr>
                      <a:r>
                        <a:rPr lang="en-US" altLang="zh-CN" sz="1400" kern="1200" dirty="0">
                          <a:solidFill>
                            <a:schemeClr val="dk1"/>
                          </a:solidFill>
                          <a:latin typeface="华文楷体" panose="02010600040101010101" pitchFamily="2" charset="-122"/>
                          <a:ea typeface="华文楷体" panose="02010600040101010101" pitchFamily="2" charset="-122"/>
                          <a:cs typeface="+mn-cs"/>
                        </a:rPr>
                        <a:t>4</a:t>
                      </a:r>
                      <a:r>
                        <a:rPr lang="en-US" altLang="zh-CN" sz="1400" dirty="0">
                          <a:latin typeface="华文楷体" panose="02010600040101010101" pitchFamily="2" charset="-122"/>
                          <a:ea typeface="华文楷体" panose="02010600040101010101" pitchFamily="2" charset="-122"/>
                        </a:rPr>
                        <a:t>.</a:t>
                      </a:r>
                      <a:r>
                        <a:rPr lang="zh-CN" altLang="en-US" sz="1400" dirty="0">
                          <a:latin typeface="华文楷体" panose="02010600040101010101" pitchFamily="2" charset="-122"/>
                          <a:ea typeface="华文楷体" panose="02010600040101010101" pitchFamily="2" charset="-122"/>
                        </a:rPr>
                        <a:t>金航：下周开始，对数据湖的全量表结构（</a:t>
                      </a:r>
                      <a:r>
                        <a:rPr lang="en-US" altLang="zh-CN" sz="1400" dirty="0" err="1">
                          <a:latin typeface="华文楷体" panose="02010600040101010101" pitchFamily="2" charset="-122"/>
                          <a:ea typeface="华文楷体" panose="02010600040101010101" pitchFamily="2" charset="-122"/>
                        </a:rPr>
                        <a:t>ddl</a:t>
                      </a:r>
                      <a:r>
                        <a:rPr lang="zh-CN" altLang="en-US" sz="1400" dirty="0">
                          <a:latin typeface="华文楷体" panose="02010600040101010101" pitchFamily="2" charset="-122"/>
                          <a:ea typeface="华文楷体" panose="02010600040101010101" pitchFamily="2" charset="-122"/>
                        </a:rPr>
                        <a:t>）涉及到字段改造的进行映射整理、对需要迁移的脚本范围进行整理，为期</a:t>
                      </a:r>
                      <a:r>
                        <a:rPr lang="en-US" altLang="zh-CN" sz="1400" dirty="0">
                          <a:latin typeface="华文楷体" panose="02010600040101010101" pitchFamily="2" charset="-122"/>
                          <a:ea typeface="华文楷体" panose="02010600040101010101" pitchFamily="2" charset="-122"/>
                        </a:rPr>
                        <a:t>1</a:t>
                      </a:r>
                      <a:r>
                        <a:rPr lang="zh-CN" altLang="en-US" sz="1400" dirty="0">
                          <a:latin typeface="华文楷体" panose="02010600040101010101" pitchFamily="2" charset="-122"/>
                          <a:ea typeface="华文楷体" panose="02010600040101010101" pitchFamily="2" charset="-122"/>
                        </a:rPr>
                        <a:t>个月。</a:t>
                      </a:r>
                      <a:endParaRPr lang="en-US" altLang="zh-CN" sz="1400" kern="1200" dirty="0">
                        <a:solidFill>
                          <a:schemeClr val="dk1"/>
                        </a:solidFill>
                        <a:latin typeface="华文楷体" panose="02010600040101010101" pitchFamily="2" charset="-122"/>
                        <a:ea typeface="华文楷体" panose="02010600040101010101" pitchFamily="2" charset="-122"/>
                        <a:cs typeface="+mn-cs"/>
                      </a:endParaRPr>
                    </a:p>
                  </a:txBody>
                  <a:tcPr/>
                </a:tc>
              </a:tr>
              <a:tr h="1595787">
                <a:tc>
                  <a:txBody>
                    <a:bodyPr/>
                    <a:lstStyle/>
                    <a:p>
                      <a:r>
                        <a:rPr lang="zh-CN" altLang="en-US" dirty="0">
                          <a:latin typeface="华文楷体" panose="02010600040101010101" pitchFamily="2" charset="-122"/>
                          <a:ea typeface="华文楷体" panose="02010600040101010101" pitchFamily="2" charset="-122"/>
                        </a:rPr>
                        <a:t>产品</a:t>
                      </a:r>
                      <a:endParaRPr lang="zh-CN" altLang="en-US" dirty="0">
                        <a:latin typeface="华文楷体" panose="02010600040101010101" pitchFamily="2" charset="-122"/>
                        <a:ea typeface="华文楷体" panose="02010600040101010101" pitchFamily="2" charset="-122"/>
                      </a:endParaRPr>
                    </a:p>
                  </a:txBody>
                  <a:tcPr/>
                </a:tc>
                <a:tc>
                  <a:txBody>
                    <a:bodyPr/>
                    <a:lstStyle/>
                    <a:p>
                      <a:pPr marL="0" indent="0">
                        <a:buFont typeface="Arial" panose="020B0604020202020204" pitchFamily="34" charset="0"/>
                        <a:buNone/>
                      </a:pPr>
                      <a:r>
                        <a:rPr lang="en-US" altLang="zh-CN" sz="1400" dirty="0">
                          <a:latin typeface="华文楷体" panose="02010600040101010101" pitchFamily="2" charset="-122"/>
                          <a:ea typeface="华文楷体" panose="02010600040101010101" pitchFamily="2" charset="-122"/>
                        </a:rPr>
                        <a:t>1.Oushu</a:t>
                      </a:r>
                      <a:r>
                        <a:rPr lang="zh-CN" altLang="en-US" sz="1400" dirty="0">
                          <a:latin typeface="华文楷体" panose="02010600040101010101" pitchFamily="2" charset="-122"/>
                          <a:ea typeface="华文楷体" panose="02010600040101010101" pitchFamily="2" charset="-122"/>
                        </a:rPr>
                        <a:t>进行外表迁移方式技术打通，进行测试环境数据迁移（预计</a:t>
                      </a:r>
                      <a:r>
                        <a:rPr lang="en-US" altLang="zh-CN" sz="1400" dirty="0">
                          <a:latin typeface="华文楷体" panose="02010600040101010101" pitchFamily="2" charset="-122"/>
                          <a:ea typeface="华文楷体" panose="02010600040101010101" pitchFamily="2" charset="-122"/>
                        </a:rPr>
                        <a:t>2</a:t>
                      </a:r>
                      <a:r>
                        <a:rPr lang="zh-CN" altLang="en-US" sz="1400" dirty="0">
                          <a:latin typeface="华文楷体" panose="02010600040101010101" pitchFamily="2" charset="-122"/>
                          <a:ea typeface="华文楷体" panose="02010600040101010101" pitchFamily="2" charset="-122"/>
                        </a:rPr>
                        <a:t>月</a:t>
                      </a:r>
                      <a:r>
                        <a:rPr lang="en-US" altLang="zh-CN" sz="1400" dirty="0">
                          <a:latin typeface="华文楷体" panose="02010600040101010101" pitchFamily="2" charset="-122"/>
                          <a:ea typeface="华文楷体" panose="02010600040101010101" pitchFamily="2" charset="-122"/>
                        </a:rPr>
                        <a:t>24</a:t>
                      </a:r>
                      <a:r>
                        <a:rPr lang="zh-CN" altLang="en-US" sz="1400" dirty="0">
                          <a:latin typeface="华文楷体" panose="02010600040101010101" pitchFamily="2" charset="-122"/>
                          <a:ea typeface="华文楷体" panose="02010600040101010101" pitchFamily="2" charset="-122"/>
                        </a:rPr>
                        <a:t>号</a:t>
                      </a:r>
                      <a:r>
                        <a:rPr lang="en-US" altLang="zh-CN" sz="1400" dirty="0">
                          <a:latin typeface="华文楷体" panose="02010600040101010101" pitchFamily="2" charset="-122"/>
                          <a:ea typeface="华文楷体" panose="02010600040101010101" pitchFamily="2" charset="-122"/>
                        </a:rPr>
                        <a:t>-26</a:t>
                      </a:r>
                      <a:r>
                        <a:rPr lang="zh-CN" altLang="en-US" sz="1400" dirty="0">
                          <a:latin typeface="华文楷体" panose="02010600040101010101" pitchFamily="2" charset="-122"/>
                          <a:ea typeface="华文楷体" panose="02010600040101010101" pitchFamily="2" charset="-122"/>
                        </a:rPr>
                        <a:t>号完成）</a:t>
                      </a:r>
                      <a:endParaRPr lang="en-US" altLang="zh-CN" sz="1400" dirty="0">
                        <a:latin typeface="华文楷体" panose="02010600040101010101" pitchFamily="2" charset="-122"/>
                        <a:ea typeface="华文楷体" panose="02010600040101010101" pitchFamily="2" charset="-122"/>
                      </a:endParaRPr>
                    </a:p>
                    <a:p>
                      <a:pPr marL="0" indent="0">
                        <a:buFont typeface="Arial" panose="020B0604020202020204" pitchFamily="34" charset="0"/>
                        <a:buNone/>
                      </a:pPr>
                      <a:r>
                        <a:rPr lang="en-US" altLang="zh-CN" sz="1400" dirty="0">
                          <a:latin typeface="华文楷体" panose="02010600040101010101" pitchFamily="2" charset="-122"/>
                          <a:ea typeface="华文楷体" panose="02010600040101010101" pitchFamily="2" charset="-122"/>
                        </a:rPr>
                        <a:t>2.Oushu</a:t>
                      </a:r>
                      <a:r>
                        <a:rPr lang="zh-CN" altLang="en-US" sz="1400" dirty="0">
                          <a:latin typeface="华文楷体" panose="02010600040101010101" pitchFamily="2" charset="-122"/>
                          <a:ea typeface="华文楷体" panose="02010600040101010101" pitchFamily="2" charset="-122"/>
                        </a:rPr>
                        <a:t>分析部分数仓典型脚本，确认语法函数的特征差异，并进行测试环境脚本迁移（初版预计</a:t>
                      </a:r>
                      <a:r>
                        <a:rPr lang="en-US" altLang="zh-CN" sz="1400" dirty="0">
                          <a:latin typeface="华文楷体" panose="02010600040101010101" pitchFamily="2" charset="-122"/>
                          <a:ea typeface="华文楷体" panose="02010600040101010101" pitchFamily="2" charset="-122"/>
                        </a:rPr>
                        <a:t>2</a:t>
                      </a:r>
                      <a:r>
                        <a:rPr lang="zh-CN" altLang="en-US" sz="1400" dirty="0">
                          <a:latin typeface="华文楷体" panose="02010600040101010101" pitchFamily="2" charset="-122"/>
                          <a:ea typeface="华文楷体" panose="02010600040101010101" pitchFamily="2" charset="-122"/>
                        </a:rPr>
                        <a:t>月</a:t>
                      </a:r>
                      <a:r>
                        <a:rPr lang="en-US" altLang="zh-CN" sz="1400" dirty="0">
                          <a:latin typeface="华文楷体" panose="02010600040101010101" pitchFamily="2" charset="-122"/>
                          <a:ea typeface="华文楷体" panose="02010600040101010101" pitchFamily="2" charset="-122"/>
                        </a:rPr>
                        <a:t>24</a:t>
                      </a:r>
                      <a:r>
                        <a:rPr lang="zh-CN" altLang="en-US" sz="1400" dirty="0">
                          <a:latin typeface="华文楷体" panose="02010600040101010101" pitchFamily="2" charset="-122"/>
                          <a:ea typeface="华文楷体" panose="02010600040101010101" pitchFamily="2" charset="-122"/>
                        </a:rPr>
                        <a:t>号</a:t>
                      </a:r>
                      <a:r>
                        <a:rPr lang="en-US" altLang="zh-CN" sz="1400" dirty="0">
                          <a:latin typeface="华文楷体" panose="02010600040101010101" pitchFamily="2" charset="-122"/>
                          <a:ea typeface="华文楷体" panose="02010600040101010101" pitchFamily="2" charset="-122"/>
                        </a:rPr>
                        <a:t>-26</a:t>
                      </a:r>
                      <a:r>
                        <a:rPr lang="zh-CN" altLang="en-US" sz="1400" dirty="0">
                          <a:latin typeface="华文楷体" panose="02010600040101010101" pitchFamily="2" charset="-122"/>
                          <a:ea typeface="华文楷体" panose="02010600040101010101" pitchFamily="2" charset="-122"/>
                        </a:rPr>
                        <a:t>号完成，终版截止日</a:t>
                      </a:r>
                      <a:r>
                        <a:rPr lang="en-US" altLang="zh-CN" sz="1400" dirty="0">
                          <a:latin typeface="华文楷体" panose="02010600040101010101" pitchFamily="2" charset="-122"/>
                          <a:ea typeface="华文楷体" panose="02010600040101010101" pitchFamily="2" charset="-122"/>
                        </a:rPr>
                        <a:t>3</a:t>
                      </a:r>
                      <a:r>
                        <a:rPr lang="zh-CN" altLang="en-US" sz="1400" dirty="0">
                          <a:latin typeface="华文楷体" panose="02010600040101010101" pitchFamily="2" charset="-122"/>
                          <a:ea typeface="华文楷体" panose="02010600040101010101" pitchFamily="2" charset="-122"/>
                        </a:rPr>
                        <a:t>月</a:t>
                      </a:r>
                      <a:r>
                        <a:rPr lang="en-US" altLang="zh-CN" sz="1400" dirty="0">
                          <a:latin typeface="华文楷体" panose="02010600040101010101" pitchFamily="2" charset="-122"/>
                          <a:ea typeface="华文楷体" panose="02010600040101010101" pitchFamily="2" charset="-122"/>
                        </a:rPr>
                        <a:t>4</a:t>
                      </a:r>
                      <a:r>
                        <a:rPr lang="zh-CN" altLang="en-US" sz="1400" dirty="0">
                          <a:latin typeface="华文楷体" panose="02010600040101010101" pitchFamily="2" charset="-122"/>
                          <a:ea typeface="华文楷体" panose="02010600040101010101" pitchFamily="2" charset="-122"/>
                        </a:rPr>
                        <a:t>日）</a:t>
                      </a:r>
                      <a:endParaRPr lang="en-US" altLang="zh-CN" sz="1400" dirty="0">
                        <a:latin typeface="华文楷体" panose="02010600040101010101" pitchFamily="2" charset="-122"/>
                        <a:ea typeface="华文楷体" panose="02010600040101010101" pitchFamily="2" charset="-122"/>
                      </a:endParaRPr>
                    </a:p>
                  </a:txBody>
                  <a:tcPr/>
                </a:tc>
              </a:tr>
              <a:tr h="1092549">
                <a:tc>
                  <a:txBody>
                    <a:bodyPr/>
                    <a:lstStyle/>
                    <a:p>
                      <a:r>
                        <a:rPr lang="zh-CN" altLang="en-US" dirty="0">
                          <a:latin typeface="华文楷体" panose="02010600040101010101" pitchFamily="2" charset="-122"/>
                          <a:ea typeface="华文楷体" panose="02010600040101010101" pitchFamily="2" charset="-122"/>
                        </a:rPr>
                        <a:t>研发</a:t>
                      </a:r>
                      <a:endParaRPr lang="zh-CN" altLang="en-US" dirty="0">
                        <a:latin typeface="华文楷体" panose="02010600040101010101" pitchFamily="2" charset="-122"/>
                        <a:ea typeface="华文楷体" panose="02010600040101010101" pitchFamily="2" charset="-122"/>
                      </a:endParaRPr>
                    </a:p>
                  </a:txBody>
                  <a:tcPr/>
                </a:tc>
                <a:tc>
                  <a:txBody>
                    <a:bodyPr/>
                    <a:lstStyle/>
                    <a:p>
                      <a:pPr marL="0" indent="0">
                        <a:buFont typeface="Arial" panose="020B0604020202020204" pitchFamily="34" charset="0"/>
                        <a:buNone/>
                      </a:pPr>
                      <a:r>
                        <a:rPr lang="en-US" altLang="zh-CN" sz="1400" kern="1200" dirty="0">
                          <a:solidFill>
                            <a:schemeClr val="dk1"/>
                          </a:solidFill>
                          <a:latin typeface="华文楷体" panose="02010600040101010101" pitchFamily="2" charset="-122"/>
                          <a:ea typeface="华文楷体" panose="02010600040101010101" pitchFamily="2" charset="-122"/>
                          <a:cs typeface="+mn-cs"/>
                        </a:rPr>
                        <a:t>1</a:t>
                      </a:r>
                      <a:r>
                        <a:rPr lang="en-US" altLang="zh-CN" sz="1400" dirty="0">
                          <a:latin typeface="华文楷体" panose="02010600040101010101" pitchFamily="2" charset="-122"/>
                          <a:ea typeface="华文楷体" panose="02010600040101010101" pitchFamily="2" charset="-122"/>
                        </a:rPr>
                        <a:t>.</a:t>
                      </a:r>
                      <a:r>
                        <a:rPr lang="zh-CN" altLang="en-US" sz="1400" kern="1200" dirty="0">
                          <a:solidFill>
                            <a:schemeClr val="dk1"/>
                          </a:solidFill>
                          <a:latin typeface="华文楷体" panose="02010600040101010101" pitchFamily="2" charset="-122"/>
                          <a:ea typeface="华文楷体" panose="02010600040101010101" pitchFamily="2" charset="-122"/>
                          <a:cs typeface="+mn-cs"/>
                        </a:rPr>
                        <a:t>许哲：开发平台适配 （</a:t>
                      </a:r>
                      <a:r>
                        <a:rPr lang="en-US" altLang="zh-CN" sz="1400" kern="1200" dirty="0">
                          <a:solidFill>
                            <a:schemeClr val="dk1"/>
                          </a:solidFill>
                          <a:latin typeface="华文楷体" panose="02010600040101010101" pitchFamily="2" charset="-122"/>
                          <a:ea typeface="华文楷体" panose="02010600040101010101" pitchFamily="2" charset="-122"/>
                          <a:cs typeface="+mn-cs"/>
                        </a:rPr>
                        <a:t>2</a:t>
                      </a:r>
                      <a:r>
                        <a:rPr lang="zh-CN" altLang="en-US" sz="1400" kern="1200" dirty="0">
                          <a:solidFill>
                            <a:schemeClr val="dk1"/>
                          </a:solidFill>
                          <a:latin typeface="华文楷体" panose="02010600040101010101" pitchFamily="2" charset="-122"/>
                          <a:ea typeface="华文楷体" panose="02010600040101010101" pitchFamily="2" charset="-122"/>
                          <a:cs typeface="+mn-cs"/>
                        </a:rPr>
                        <a:t>月</a:t>
                      </a:r>
                      <a:r>
                        <a:rPr lang="en-US" altLang="zh-CN" sz="1400" kern="1200" dirty="0">
                          <a:solidFill>
                            <a:schemeClr val="dk1"/>
                          </a:solidFill>
                          <a:latin typeface="华文楷体" panose="02010600040101010101" pitchFamily="2" charset="-122"/>
                          <a:ea typeface="华文楷体" panose="02010600040101010101" pitchFamily="2" charset="-122"/>
                          <a:cs typeface="+mn-cs"/>
                        </a:rPr>
                        <a:t>17</a:t>
                      </a:r>
                      <a:r>
                        <a:rPr lang="zh-CN" altLang="en-US" sz="1400" kern="1200" dirty="0">
                          <a:solidFill>
                            <a:schemeClr val="dk1"/>
                          </a:solidFill>
                          <a:latin typeface="华文楷体" panose="02010600040101010101" pitchFamily="2" charset="-122"/>
                          <a:ea typeface="华文楷体" panose="02010600040101010101" pitchFamily="2" charset="-122"/>
                          <a:cs typeface="+mn-cs"/>
                        </a:rPr>
                        <a:t>日发版）</a:t>
                      </a:r>
                      <a:endParaRPr lang="en-US" altLang="zh-CN" sz="1400" kern="1200" dirty="0">
                        <a:solidFill>
                          <a:schemeClr val="dk1"/>
                        </a:solidFill>
                        <a:latin typeface="华文楷体" panose="02010600040101010101" pitchFamily="2" charset="-122"/>
                        <a:ea typeface="华文楷体" panose="02010600040101010101" pitchFamily="2" charset="-122"/>
                        <a:cs typeface="+mn-cs"/>
                      </a:endParaRPr>
                    </a:p>
                    <a:p>
                      <a:pPr marL="0" indent="0">
                        <a:buFont typeface="Arial" panose="020B0604020202020204" pitchFamily="34" charset="0"/>
                        <a:buNone/>
                      </a:pPr>
                      <a:r>
                        <a:rPr lang="en-US" altLang="zh-CN" sz="1400" kern="1200" dirty="0">
                          <a:solidFill>
                            <a:schemeClr val="dk1"/>
                          </a:solidFill>
                          <a:latin typeface="华文楷体" panose="02010600040101010101" pitchFamily="2" charset="-122"/>
                          <a:ea typeface="华文楷体" panose="02010600040101010101" pitchFamily="2" charset="-122"/>
                          <a:cs typeface="+mn-cs"/>
                        </a:rPr>
                        <a:t>2</a:t>
                      </a:r>
                      <a:r>
                        <a:rPr lang="en-US" altLang="zh-CN" sz="1400" dirty="0">
                          <a:latin typeface="华文楷体" panose="02010600040101010101" pitchFamily="2" charset="-122"/>
                          <a:ea typeface="华文楷体" panose="02010600040101010101" pitchFamily="2" charset="-122"/>
                        </a:rPr>
                        <a:t>.</a:t>
                      </a:r>
                      <a:r>
                        <a:rPr lang="zh-CN" altLang="en-US" sz="1400" kern="1200" dirty="0">
                          <a:solidFill>
                            <a:schemeClr val="dk1"/>
                          </a:solidFill>
                          <a:latin typeface="华文楷体" panose="02010600040101010101" pitchFamily="2" charset="-122"/>
                          <a:ea typeface="华文楷体" panose="02010600040101010101" pitchFamily="2" charset="-122"/>
                          <a:cs typeface="+mn-cs"/>
                        </a:rPr>
                        <a:t>许哲：交换定目录规范后，将准备开始进行迁移测试。</a:t>
                      </a:r>
                      <a:endParaRPr lang="zh-CN" altLang="en-US" sz="1400" kern="1200" dirty="0">
                        <a:solidFill>
                          <a:schemeClr val="dk1"/>
                        </a:solidFill>
                        <a:latin typeface="华文楷体" panose="02010600040101010101" pitchFamily="2" charset="-122"/>
                        <a:ea typeface="华文楷体" panose="02010600040101010101" pitchFamily="2" charset="-122"/>
                        <a:cs typeface="+mn-cs"/>
                      </a:endParaRPr>
                    </a:p>
                  </a:txBody>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p="http://schemas.openxmlformats.org/presentationml/2006/main">
  <p:tag name="KSO_WM_UNIT_PLACING_PICTURE_USER_VIEWPORT" val="{&quot;height&quot;:8967.091338582677,&quot;width&quot;:16322.182677165354}"/>
</p:tagLst>
</file>

<file path=ppt/tags/tag2.xml><?xml version="1.0" encoding="utf-8"?>
<p:tagLst xmlns:p="http://schemas.openxmlformats.org/presentationml/2006/main">
  <p:tag name="KSO_WPP_MARK_KEY" val="d676d795-da61-4e60-9087-fa07d3d6f3d0"/>
  <p:tag name="COMMONDATA" val="eyJoZGlkIjoiYjBjNGM2N2U3YzFhNDM2OTU1MDRhMWYzNGJmZGM3YWIifQ=="/>
</p:tagLst>
</file>

<file path=ppt/theme/theme1.xml><?xml version="1.0" encoding="utf-8"?>
<a:theme xmlns:a="http://schemas.openxmlformats.org/drawingml/2006/main" name="方案1 配色">
  <a:themeElements>
    <a:clrScheme name="Office 主题​​">
      <a:dk1>
        <a:srgbClr val="000000"/>
      </a:dk1>
      <a:lt1>
        <a:srgbClr val="FFFFFF"/>
      </a:lt1>
      <a:dk2>
        <a:srgbClr val="778495"/>
      </a:dk2>
      <a:lt2>
        <a:srgbClr val="F0F0F0"/>
      </a:lt2>
      <a:accent1>
        <a:srgbClr val="995190"/>
      </a:accent1>
      <a:accent2>
        <a:srgbClr val="B7599A"/>
      </a:accent2>
      <a:accent3>
        <a:srgbClr val="C65E9E"/>
      </a:accent3>
      <a:accent4>
        <a:srgbClr val="D17DB1"/>
      </a:accent4>
      <a:accent5>
        <a:srgbClr val="B4B4B4"/>
      </a:accent5>
      <a:accent6>
        <a:srgbClr val="D8D8D8"/>
      </a:accent6>
      <a:hlink>
        <a:srgbClr val="4472C4"/>
      </a:hlink>
      <a:folHlink>
        <a:srgbClr val="BFBFBF"/>
      </a:folHlink>
    </a:clrScheme>
    <a:fontScheme name="efgf5kf5">
      <a:majorFont>
        <a:latin typeface="Arial"/>
        <a:ea typeface="华光楷体_CNKI"/>
        <a:cs typeface=""/>
      </a:majorFont>
      <a:minorFont>
        <a:latin typeface="Arial"/>
        <a:ea typeface="华光楷体_CNKI"/>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主题​​">
    <a:dk1>
      <a:srgbClr val="000000"/>
    </a:dk1>
    <a:lt1>
      <a:srgbClr val="FFFFFF"/>
    </a:lt1>
    <a:dk2>
      <a:srgbClr val="778495"/>
    </a:dk2>
    <a:lt2>
      <a:srgbClr val="F0F0F0"/>
    </a:lt2>
    <a:accent1>
      <a:srgbClr val="995190"/>
    </a:accent1>
    <a:accent2>
      <a:srgbClr val="B7599A"/>
    </a:accent2>
    <a:accent3>
      <a:srgbClr val="C65E9E"/>
    </a:accent3>
    <a:accent4>
      <a:srgbClr val="D17DB1"/>
    </a:accent4>
    <a:accent5>
      <a:srgbClr val="B4B4B4"/>
    </a:accent5>
    <a:accent6>
      <a:srgbClr val="D8D8D8"/>
    </a:accent6>
    <a:hlink>
      <a:srgbClr val="4472C4"/>
    </a:hlink>
    <a:folHlink>
      <a:srgbClr val="BFBFBF"/>
    </a:folHlink>
  </a:clrScheme>
</a:themeOverride>
</file>

<file path=ppt/theme/themeOverride2.xml><?xml version="1.0" encoding="utf-8"?>
<a:themeOverride xmlns:a="http://schemas.openxmlformats.org/drawingml/2006/main">
  <a:clrScheme name="Office 主题​​">
    <a:dk1>
      <a:srgbClr val="000000"/>
    </a:dk1>
    <a:lt1>
      <a:srgbClr val="FFFFFF"/>
    </a:lt1>
    <a:dk2>
      <a:srgbClr val="778495"/>
    </a:dk2>
    <a:lt2>
      <a:srgbClr val="F0F0F0"/>
    </a:lt2>
    <a:accent1>
      <a:srgbClr val="995190"/>
    </a:accent1>
    <a:accent2>
      <a:srgbClr val="B7599A"/>
    </a:accent2>
    <a:accent3>
      <a:srgbClr val="C65E9E"/>
    </a:accent3>
    <a:accent4>
      <a:srgbClr val="D17DB1"/>
    </a:accent4>
    <a:accent5>
      <a:srgbClr val="B4B4B4"/>
    </a:accent5>
    <a:accent6>
      <a:srgbClr val="D8D8D8"/>
    </a:accent6>
    <a:hlink>
      <a:srgbClr val="4472C4"/>
    </a:hlink>
    <a:folHlink>
      <a:srgbClr val="BFBFBF"/>
    </a:folHlink>
  </a:clrScheme>
</a:themeOverride>
</file>

<file path=ppt/theme/themeOverride3.xml><?xml version="1.0" encoding="utf-8"?>
<a:themeOverride xmlns:a="http://schemas.openxmlformats.org/drawingml/2006/main">
  <a:clrScheme name="Office 主题​​">
    <a:dk1>
      <a:srgbClr val="000000"/>
    </a:dk1>
    <a:lt1>
      <a:srgbClr val="FFFFFF"/>
    </a:lt1>
    <a:dk2>
      <a:srgbClr val="778495"/>
    </a:dk2>
    <a:lt2>
      <a:srgbClr val="F0F0F0"/>
    </a:lt2>
    <a:accent1>
      <a:srgbClr val="995190"/>
    </a:accent1>
    <a:accent2>
      <a:srgbClr val="B7599A"/>
    </a:accent2>
    <a:accent3>
      <a:srgbClr val="C65E9E"/>
    </a:accent3>
    <a:accent4>
      <a:srgbClr val="D17DB1"/>
    </a:accent4>
    <a:accent5>
      <a:srgbClr val="B4B4B4"/>
    </a:accent5>
    <a:accent6>
      <a:srgbClr val="D8D8D8"/>
    </a:accent6>
    <a:hlink>
      <a:srgbClr val="4472C4"/>
    </a:hlink>
    <a:folHlink>
      <a:srgbClr val="BFBFBF"/>
    </a:folHlink>
  </a:clrScheme>
</a:themeOverride>
</file>

<file path=ppt/theme/themeOverride4.xml><?xml version="1.0" encoding="utf-8"?>
<a:themeOverride xmlns:a="http://schemas.openxmlformats.org/drawingml/2006/main">
  <a:clrScheme name="Office 主题​​">
    <a:dk1>
      <a:srgbClr val="000000"/>
    </a:dk1>
    <a:lt1>
      <a:srgbClr val="FFFFFF"/>
    </a:lt1>
    <a:dk2>
      <a:srgbClr val="778495"/>
    </a:dk2>
    <a:lt2>
      <a:srgbClr val="F0F0F0"/>
    </a:lt2>
    <a:accent1>
      <a:srgbClr val="995190"/>
    </a:accent1>
    <a:accent2>
      <a:srgbClr val="B7599A"/>
    </a:accent2>
    <a:accent3>
      <a:srgbClr val="C65E9E"/>
    </a:accent3>
    <a:accent4>
      <a:srgbClr val="D17DB1"/>
    </a:accent4>
    <a:accent5>
      <a:srgbClr val="B4B4B4"/>
    </a:accent5>
    <a:accent6>
      <a:srgbClr val="D8D8D8"/>
    </a:accent6>
    <a:hlink>
      <a:srgbClr val="4472C4"/>
    </a:hlink>
    <a:folHlink>
      <a:srgbClr val="BFBFBF"/>
    </a:folHlink>
  </a:clrScheme>
</a:themeOverride>
</file>

<file path=ppt/theme/themeOverride5.xml><?xml version="1.0" encoding="utf-8"?>
<a:themeOverride xmlns:a="http://schemas.openxmlformats.org/drawingml/2006/main">
  <a:clrScheme name="Office 主题​​">
    <a:dk1>
      <a:srgbClr val="000000"/>
    </a:dk1>
    <a:lt1>
      <a:srgbClr val="FFFFFF"/>
    </a:lt1>
    <a:dk2>
      <a:srgbClr val="778495"/>
    </a:dk2>
    <a:lt2>
      <a:srgbClr val="F0F0F0"/>
    </a:lt2>
    <a:accent1>
      <a:srgbClr val="995190"/>
    </a:accent1>
    <a:accent2>
      <a:srgbClr val="B7599A"/>
    </a:accent2>
    <a:accent3>
      <a:srgbClr val="C65E9E"/>
    </a:accent3>
    <a:accent4>
      <a:srgbClr val="D17DB1"/>
    </a:accent4>
    <a:accent5>
      <a:srgbClr val="B4B4B4"/>
    </a:accent5>
    <a:accent6>
      <a:srgbClr val="D8D8D8"/>
    </a:accent6>
    <a:hlink>
      <a:srgbClr val="4472C4"/>
    </a:hlink>
    <a:folHlink>
      <a:srgbClr val="BFBFBF"/>
    </a:folHlink>
  </a:clrScheme>
</a:themeOverride>
</file>

<file path=ppt/theme/themeOverride6.xml><?xml version="1.0" encoding="utf-8"?>
<a:themeOverride xmlns:a="http://schemas.openxmlformats.org/drawingml/2006/main">
  <a:clrScheme name="Office 主题​​">
    <a:dk1>
      <a:srgbClr val="000000"/>
    </a:dk1>
    <a:lt1>
      <a:srgbClr val="FFFFFF"/>
    </a:lt1>
    <a:dk2>
      <a:srgbClr val="778495"/>
    </a:dk2>
    <a:lt2>
      <a:srgbClr val="F0F0F0"/>
    </a:lt2>
    <a:accent1>
      <a:srgbClr val="995190"/>
    </a:accent1>
    <a:accent2>
      <a:srgbClr val="B7599A"/>
    </a:accent2>
    <a:accent3>
      <a:srgbClr val="C65E9E"/>
    </a:accent3>
    <a:accent4>
      <a:srgbClr val="D17DB1"/>
    </a:accent4>
    <a:accent5>
      <a:srgbClr val="B4B4B4"/>
    </a:accent5>
    <a:accent6>
      <a:srgbClr val="D8D8D8"/>
    </a:accent6>
    <a:hlink>
      <a:srgbClr val="4472C4"/>
    </a:hlink>
    <a:folHlink>
      <a:srgbClr val="BFBFBF"/>
    </a:folHlink>
  </a:clrScheme>
</a:themeOverride>
</file>

<file path=ppt/theme/themeOverride7.xml><?xml version="1.0" encoding="utf-8"?>
<a:themeOverride xmlns:a="http://schemas.openxmlformats.org/drawingml/2006/main">
  <a:clrScheme name="Office 主题​​">
    <a:dk1>
      <a:srgbClr val="000000"/>
    </a:dk1>
    <a:lt1>
      <a:srgbClr val="FFFFFF"/>
    </a:lt1>
    <a:dk2>
      <a:srgbClr val="778495"/>
    </a:dk2>
    <a:lt2>
      <a:srgbClr val="F0F0F0"/>
    </a:lt2>
    <a:accent1>
      <a:srgbClr val="A92226"/>
    </a:accent1>
    <a:accent2>
      <a:srgbClr val="C8141D"/>
    </a:accent2>
    <a:accent3>
      <a:srgbClr val="D33819"/>
    </a:accent3>
    <a:accent4>
      <a:srgbClr val="EA5513"/>
    </a:accent4>
    <a:accent5>
      <a:srgbClr val="B4B4B4"/>
    </a:accent5>
    <a:accent6>
      <a:srgbClr val="D8D8D8"/>
    </a:accent6>
    <a:hlink>
      <a:srgbClr val="4472C4"/>
    </a:hlink>
    <a:folHlink>
      <a:srgbClr val="BFBFBF"/>
    </a:folHlink>
  </a:clrScheme>
</a:themeOverride>
</file>

<file path=ppt/theme/themeOverride8.xml><?xml version="1.0" encoding="utf-8"?>
<a:themeOverride xmlns:a="http://schemas.openxmlformats.org/drawingml/2006/main">
  <a:clrScheme name="Office 主题​​">
    <a:dk1>
      <a:srgbClr val="000000"/>
    </a:dk1>
    <a:lt1>
      <a:srgbClr val="FFFFFF"/>
    </a:lt1>
    <a:dk2>
      <a:srgbClr val="778495"/>
    </a:dk2>
    <a:lt2>
      <a:srgbClr val="F0F0F0"/>
    </a:lt2>
    <a:accent1>
      <a:srgbClr val="A92226"/>
    </a:accent1>
    <a:accent2>
      <a:srgbClr val="C8141D"/>
    </a:accent2>
    <a:accent3>
      <a:srgbClr val="D33819"/>
    </a:accent3>
    <a:accent4>
      <a:srgbClr val="EA5513"/>
    </a:accent4>
    <a:accent5>
      <a:srgbClr val="B4B4B4"/>
    </a:accent5>
    <a:accent6>
      <a:srgbClr val="D8D8D8"/>
    </a:accent6>
    <a:hlink>
      <a:srgbClr val="4472C4"/>
    </a:hlink>
    <a:folHlink>
      <a:srgbClr val="BFBFBF"/>
    </a:folHlink>
  </a:clrScheme>
</a:themeOverride>
</file>

<file path=ppt/theme/themeOverride9.xml><?xml version="1.0" encoding="utf-8"?>
<a:themeOverride xmlns:a="http://schemas.openxmlformats.org/drawingml/2006/main">
  <a:clrScheme name="Office 主题​​">
    <a:dk1>
      <a:srgbClr val="000000"/>
    </a:dk1>
    <a:lt1>
      <a:srgbClr val="FFFFFF"/>
    </a:lt1>
    <a:dk2>
      <a:srgbClr val="778495"/>
    </a:dk2>
    <a:lt2>
      <a:srgbClr val="F0F0F0"/>
    </a:lt2>
    <a:accent1>
      <a:srgbClr val="995190"/>
    </a:accent1>
    <a:accent2>
      <a:srgbClr val="B7599A"/>
    </a:accent2>
    <a:accent3>
      <a:srgbClr val="C65E9E"/>
    </a:accent3>
    <a:accent4>
      <a:srgbClr val="D17DB1"/>
    </a:accent4>
    <a:accent5>
      <a:srgbClr val="B4B4B4"/>
    </a:accent5>
    <a:accent6>
      <a:srgbClr val="D8D8D8"/>
    </a:accent6>
    <a:hlink>
      <a:srgbClr val="4472C4"/>
    </a:hlink>
    <a:folHlink>
      <a:srgbClr val="BFBFBF"/>
    </a:folHlink>
  </a:clrScheme>
</a:themeOverride>
</file>

<file path=ppt/theme/themeOverride10.xml><?xml version="1.0" encoding="utf-8"?>
<a:themeOverride xmlns:a="http://schemas.openxmlformats.org/drawingml/2006/main">
  <a:clrScheme name="Office 主题​​">
    <a:dk1>
      <a:srgbClr val="000000"/>
    </a:dk1>
    <a:lt1>
      <a:srgbClr val="FFFFFF"/>
    </a:lt1>
    <a:dk2>
      <a:srgbClr val="778495"/>
    </a:dk2>
    <a:lt2>
      <a:srgbClr val="F0F0F0"/>
    </a:lt2>
    <a:accent1>
      <a:srgbClr val="A92226"/>
    </a:accent1>
    <a:accent2>
      <a:srgbClr val="C8141D"/>
    </a:accent2>
    <a:accent3>
      <a:srgbClr val="D33819"/>
    </a:accent3>
    <a:accent4>
      <a:srgbClr val="EA5513"/>
    </a:accent4>
    <a:accent5>
      <a:srgbClr val="B4B4B4"/>
    </a:accent5>
    <a:accent6>
      <a:srgbClr val="D8D8D8"/>
    </a:accent6>
    <a:hlink>
      <a:srgbClr val="4472C4"/>
    </a:hlink>
    <a:folHlink>
      <a:srgbClr val="BFBFBF"/>
    </a:folHlink>
  </a:clrScheme>
</a:themeOverride>
</file>

<file path=ppt/theme/themeOverride11.xml><?xml version="1.0" encoding="utf-8"?>
<a:themeOverride xmlns:a="http://schemas.openxmlformats.org/drawingml/2006/main">
  <a:clrScheme name="Office 主题​​">
    <a:dk1>
      <a:srgbClr val="000000"/>
    </a:dk1>
    <a:lt1>
      <a:srgbClr val="FFFFFF"/>
    </a:lt1>
    <a:dk2>
      <a:srgbClr val="778495"/>
    </a:dk2>
    <a:lt2>
      <a:srgbClr val="F0F0F0"/>
    </a:lt2>
    <a:accent1>
      <a:srgbClr val="995190"/>
    </a:accent1>
    <a:accent2>
      <a:srgbClr val="B7599A"/>
    </a:accent2>
    <a:accent3>
      <a:srgbClr val="C65E9E"/>
    </a:accent3>
    <a:accent4>
      <a:srgbClr val="D17DB1"/>
    </a:accent4>
    <a:accent5>
      <a:srgbClr val="B4B4B4"/>
    </a:accent5>
    <a:accent6>
      <a:srgbClr val="D8D8D8"/>
    </a:accent6>
    <a:hlink>
      <a:srgbClr val="4472C4"/>
    </a:hlink>
    <a:folHlink>
      <a:srgbClr val="BFBFBF"/>
    </a:folHlink>
  </a:clrScheme>
</a:themeOverride>
</file>

<file path=ppt/theme/themeOverride12.xml><?xml version="1.0" encoding="utf-8"?>
<a:themeOverride xmlns:a="http://schemas.openxmlformats.org/drawingml/2006/main">
  <a:clrScheme name="Office 主题​​">
    <a:dk1>
      <a:srgbClr val="000000"/>
    </a:dk1>
    <a:lt1>
      <a:srgbClr val="FFFFFF"/>
    </a:lt1>
    <a:dk2>
      <a:srgbClr val="778495"/>
    </a:dk2>
    <a:lt2>
      <a:srgbClr val="F0F0F0"/>
    </a:lt2>
    <a:accent1>
      <a:srgbClr val="A92226"/>
    </a:accent1>
    <a:accent2>
      <a:srgbClr val="C8141D"/>
    </a:accent2>
    <a:accent3>
      <a:srgbClr val="D33819"/>
    </a:accent3>
    <a:accent4>
      <a:srgbClr val="EA5513"/>
    </a:accent4>
    <a:accent5>
      <a:srgbClr val="B4B4B4"/>
    </a:accent5>
    <a:accent6>
      <a:srgbClr val="D8D8D8"/>
    </a:accent6>
    <a:hlink>
      <a:srgbClr val="4472C4"/>
    </a:hlink>
    <a:folHlink>
      <a:srgbClr val="BFBFBF"/>
    </a:folHlink>
  </a:clrScheme>
</a:themeOverride>
</file>

<file path=ppt/theme/themeOverride13.xml><?xml version="1.0" encoding="utf-8"?>
<a:themeOverride xmlns:a="http://schemas.openxmlformats.org/drawingml/2006/main">
  <a:clrScheme name="Office 主题​​">
    <a:dk1>
      <a:srgbClr val="000000"/>
    </a:dk1>
    <a:lt1>
      <a:srgbClr val="FFFFFF"/>
    </a:lt1>
    <a:dk2>
      <a:srgbClr val="778495"/>
    </a:dk2>
    <a:lt2>
      <a:srgbClr val="F0F0F0"/>
    </a:lt2>
    <a:accent1>
      <a:srgbClr val="995190"/>
    </a:accent1>
    <a:accent2>
      <a:srgbClr val="B7599A"/>
    </a:accent2>
    <a:accent3>
      <a:srgbClr val="C65E9E"/>
    </a:accent3>
    <a:accent4>
      <a:srgbClr val="D17DB1"/>
    </a:accent4>
    <a:accent5>
      <a:srgbClr val="B4B4B4"/>
    </a:accent5>
    <a:accent6>
      <a:srgbClr val="D8D8D8"/>
    </a:accent6>
    <a:hlink>
      <a:srgbClr val="4472C4"/>
    </a:hlink>
    <a:folHlink>
      <a:srgbClr val="BFBFBF"/>
    </a:folHlink>
  </a:clrScheme>
</a:themeOverride>
</file>

<file path=docProps/app.xml><?xml version="1.0" encoding="utf-8"?>
<Properties xmlns="http://schemas.openxmlformats.org/officeDocument/2006/extended-properties" xmlns:vt="http://schemas.openxmlformats.org/officeDocument/2006/docPropsVTypes">
  <Template>Office Theme</Template>
  <TotalTime>0</TotalTime>
  <Words>6142</Words>
  <Application>WPS 演示</Application>
  <PresentationFormat>宽屏</PresentationFormat>
  <Paragraphs>689</Paragraphs>
  <Slides>19</Slides>
  <Notes>0</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19</vt:i4>
      </vt:variant>
    </vt:vector>
  </HeadingPairs>
  <TitlesOfParts>
    <vt:vector size="40" baseType="lpstr">
      <vt:lpstr>Arial</vt:lpstr>
      <vt:lpstr>宋体</vt:lpstr>
      <vt:lpstr>Wingdings</vt:lpstr>
      <vt:lpstr>黑体</vt:lpstr>
      <vt:lpstr>方正大标宋简体</vt:lpstr>
      <vt:lpstr>华光楷体_CNKI</vt:lpstr>
      <vt:lpstr>华文楷体</vt:lpstr>
      <vt:lpstr>微软雅黑</vt:lpstr>
      <vt:lpstr>微软雅黑 Light</vt:lpstr>
      <vt:lpstr>Lato Light</vt:lpstr>
      <vt:lpstr>Segoe Print</vt:lpstr>
      <vt:lpstr>Helvetica Neue</vt:lpstr>
      <vt:lpstr>Helvetica</vt:lpstr>
      <vt:lpstr>等线</vt:lpstr>
      <vt:lpstr>Lato Regular</vt:lpstr>
      <vt:lpstr>Wingdings</vt:lpstr>
      <vt:lpstr>仿宋</vt:lpstr>
      <vt:lpstr>Helvetica</vt:lpstr>
      <vt:lpstr>Arial Unicode MS</vt:lpstr>
      <vt:lpstr>Calibri</vt:lpstr>
      <vt:lpstr>方案1 配色</vt:lpstr>
      <vt:lpstr>湖仓一体数据平台项目周会</vt:lpstr>
      <vt:lpstr>PowerPoint 演示文稿</vt:lpstr>
      <vt:lpstr>PowerPoint 演示文稿</vt:lpstr>
      <vt:lpstr>1.1 项目目标</vt:lpstr>
      <vt:lpstr>1.2 项目规划蓝图</vt:lpstr>
      <vt:lpstr>1.3 项目部分重要阶段概要说明</vt:lpstr>
      <vt:lpstr>1.4 项目实施计划（包含数据仓库、数据湖2023年度可完成任务总体节奏）</vt:lpstr>
      <vt:lpstr>1.5 项目实施细项（Q1 by week）</vt:lpstr>
      <vt:lpstr>1.6 平台技术架构</vt:lpstr>
      <vt:lpstr>1.7 平台逻辑架构</vt:lpstr>
      <vt:lpstr>1.8 平台生产部署方案</vt:lpstr>
      <vt:lpstr>PowerPoint 演示文稿</vt:lpstr>
      <vt:lpstr>本周进展及产出物</vt:lpstr>
      <vt:lpstr>本周风险及问题</vt:lpstr>
      <vt:lpstr>PowerPoint 演示文稿</vt:lpstr>
      <vt:lpstr>本周专项讨论</vt:lpstr>
      <vt:lpstr>PowerPoint 演示文稿</vt:lpstr>
      <vt:lpstr>下周工作安排</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石云</dc:creator>
  <cp:lastModifiedBy>霍亮~上海</cp:lastModifiedBy>
  <cp:revision>1667</cp:revision>
  <dcterms:created xsi:type="dcterms:W3CDTF">2022-12-20T07:46:00Z</dcterms:created>
  <dcterms:modified xsi:type="dcterms:W3CDTF">2025-12-24T10:05:25Z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F0D03CBA760F42AF9362345D39BF2938_13</vt:lpwstr>
  </property>
  <property fmtid="{D5CDD505-2E9C-101B-9397-08002B2CF9AE}" pid="3" name="KSOProductBuildVer">
    <vt:lpwstr>2052-12.1.0.24034</vt:lpwstr>
  </property>
</Properties>
</file>